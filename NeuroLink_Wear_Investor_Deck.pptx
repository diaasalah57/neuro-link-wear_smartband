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A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995160" y="502920"/>
            <a:ext cx="4343400" cy="4343400"/>
          </a:xfrm>
          <a:prstGeom prst="roundRect">
            <a:avLst>
              <a:gd name="adj" fmla="val 12000"/>
            </a:avLst>
          </a:prstGeom>
          <a:solidFill>
            <a:srgbClr val="171240"/>
          </a:solidFill>
          <a:ln w="12700">
            <a:solidFill>
              <a:srgbClr val="2E25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88352" y="886968"/>
            <a:ext cx="3566160" cy="3566160"/>
          </a:xfrm>
          <a:prstGeom prst="roundRect">
            <a:avLst>
              <a:gd name="adj" fmla="val 12000"/>
            </a:avLst>
          </a:prstGeom>
          <a:solidFill>
            <a:srgbClr val="0D0A24"/>
          </a:solidFill>
          <a:ln w="12700">
            <a:solidFill>
              <a:srgbClr val="2E25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44968" y="1252728"/>
            <a:ext cx="2834640" cy="2834640"/>
          </a:xfrm>
          <a:prstGeom prst="roundRect">
            <a:avLst>
              <a:gd name="adj" fmla="val 12000"/>
            </a:avLst>
          </a:prstGeom>
          <a:solidFill>
            <a:srgbClr val="171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65008" y="1572768"/>
            <a:ext cx="2194560" cy="2194560"/>
          </a:xfrm>
          <a:prstGeom prst="roundRect">
            <a:avLst>
              <a:gd name="adj" fmla="val 12000"/>
            </a:avLst>
          </a:prstGeom>
          <a:solidFill>
            <a:srgbClr val="0D0A24"/>
          </a:solidFill>
          <a:ln w="12700">
            <a:solidFill>
              <a:srgbClr val="2E25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77656" y="2185416"/>
            <a:ext cx="960120" cy="960120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842248" y="658368"/>
            <a:ext cx="658368" cy="4096512"/>
          </a:xfrm>
          <a:prstGeom prst="roundRect">
            <a:avLst>
              <a:gd name="adj" fmla="val 12000"/>
            </a:avLst>
          </a:prstGeom>
          <a:solidFill>
            <a:srgbClr val="170C5E"/>
          </a:solidFill>
          <a:ln w="12700">
            <a:solidFill>
              <a:srgbClr val="6B4F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0" y="1901952"/>
            <a:ext cx="1536192" cy="14996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9D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58784" y="2048256"/>
            <a:ext cx="1243584" cy="1207008"/>
          </a:xfrm>
          <a:prstGeom prst="roundRect">
            <a:avLst>
              <a:gd name="adj" fmla="val 12000"/>
            </a:avLst>
          </a:prstGeom>
          <a:solidFill>
            <a:srgbClr val="F7F6FC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77656" y="2176272"/>
            <a:ext cx="9875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41483"/>
                </a:solidFill>
                <a:latin typeface="Aptos"/>
              </a:rPr>
              <a:t>NLW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68512" y="2487168"/>
            <a:ext cx="10058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1440"/>
                </a:solidFill>
                <a:latin typeface="Aptos"/>
              </a:rPr>
              <a:t>72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41080" y="2843784"/>
            <a:ext cx="10789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7E76A0"/>
                </a:solidFill>
                <a:latin typeface="Aptos"/>
              </a:rPr>
              <a:t>BPM  •  LIVE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566928"/>
            <a:ext cx="164592" cy="164592"/>
          </a:xfrm>
          <a:prstGeom prst="ellipse">
            <a:avLst/>
          </a:prstGeom>
          <a:solidFill>
            <a:srgbClr val="9D9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51206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NEUROLINK  /  WEAR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1417320"/>
            <a:ext cx="2048256" cy="310896"/>
          </a:xfrm>
          <a:prstGeom prst="roundRect">
            <a:avLst>
              <a:gd name="adj" fmla="val 12000"/>
            </a:avLst>
          </a:prstGeom>
          <a:solidFill>
            <a:srgbClr val="171240"/>
          </a:solidFill>
          <a:ln w="12700">
            <a:solidFill>
              <a:srgbClr val="2E25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1426464"/>
            <a:ext cx="193852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D93FF"/>
                </a:solidFill>
                <a:latin typeface="Aptos"/>
              </a:rPr>
              <a:t>INVESTOR + TECHNICAL PITCH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057400"/>
            <a:ext cx="60807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ptos"/>
              </a:rPr>
              <a:t>Care signals.
Clear response.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3675887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C5BFE8"/>
                </a:solidFill>
                <a:latin typeface="Aptos"/>
              </a:rPr>
              <a:t>An explainable wearable health &amp; safety platform
for older adults, families and care teams.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04088" y="4727448"/>
            <a:ext cx="4050792" cy="0"/>
          </a:xfrm>
          <a:prstGeom prst="line">
            <a:avLst/>
          </a:prstGeom>
          <a:ln w="12700">
            <a:solidFill>
              <a:srgbClr val="2E25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13232" y="5010912"/>
            <a:ext cx="1234440" cy="283464"/>
          </a:xfrm>
          <a:prstGeom prst="roundRect">
            <a:avLst>
              <a:gd name="adj" fmla="val 12000"/>
            </a:avLst>
          </a:prstGeom>
          <a:solidFill>
            <a:srgbClr val="171240"/>
          </a:solidFill>
          <a:ln w="12700">
            <a:solidFill>
              <a:srgbClr val="2E25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5020056"/>
            <a:ext cx="112471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ptos"/>
              </a:rPr>
              <a:t>ESP32 + SENSORS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39112" y="5010912"/>
            <a:ext cx="1280160" cy="283464"/>
          </a:xfrm>
          <a:prstGeom prst="roundRect">
            <a:avLst>
              <a:gd name="adj" fmla="val 12000"/>
            </a:avLst>
          </a:prstGeom>
          <a:solidFill>
            <a:srgbClr val="171240"/>
          </a:solidFill>
          <a:ln w="12700">
            <a:solidFill>
              <a:srgbClr val="2E25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93976" y="5020056"/>
            <a:ext cx="1170431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ptos"/>
              </a:rPr>
              <a:t>CALIBRATED 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19856" y="5010912"/>
            <a:ext cx="1389888" cy="283464"/>
          </a:xfrm>
          <a:prstGeom prst="roundRect">
            <a:avLst>
              <a:gd name="adj" fmla="val 12000"/>
            </a:avLst>
          </a:prstGeom>
          <a:solidFill>
            <a:srgbClr val="171240"/>
          </a:solidFill>
          <a:ln w="12700">
            <a:solidFill>
              <a:srgbClr val="2E25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0" y="5020056"/>
            <a:ext cx="128016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ptos"/>
              </a:rPr>
              <a:t>SAFETY WORKFLOW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6190488"/>
            <a:ext cx="5943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8A2BE"/>
                </a:solidFill>
                <a:latin typeface="Aptos"/>
              </a:rPr>
              <a:t>Prototype status: software platform + firmware source; clinical validation is future work.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309360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A2BE"/>
                </a:solidFill>
                <a:latin typeface="Aptos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" y="292608"/>
            <a:ext cx="146304" cy="146304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2376" y="228600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NEUROLINK  /  WEAR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320" y="237744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01  /  INVESTMENT 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9224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1440"/>
                </a:solidFill>
                <a:latin typeface="Aptos"/>
              </a:rPr>
              <a:t>A product platform is built. The evidence agenda is clear.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25296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7E76A0"/>
                </a:solidFill>
                <a:latin typeface="Aptos"/>
              </a:rPr>
              <a:t>Separate implemented capability from what still needs real-world proof.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510528"/>
            <a:ext cx="11137392" cy="0"/>
          </a:xfrm>
          <a:prstGeom prst="line">
            <a:avLst/>
          </a:prstGeom>
          <a:ln w="1016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4023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7E76A0"/>
                </a:solidFill>
                <a:latin typeface="Aptos"/>
              </a:rPr>
              <a:t>WORKING PROTOTYPE  •  DISCUSSION MATERIAL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65392"/>
            <a:ext cx="5669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764792"/>
            <a:ext cx="11045952" cy="9875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1938528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41483"/>
                </a:solidFill>
                <a:latin typeface="Aptos"/>
              </a:rPr>
              <a:t>141 / 141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487168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E76A0"/>
                </a:solidFill>
                <a:latin typeface="Aptos"/>
              </a:rPr>
              <a:t>SOFTWARE QA CHECKS PASS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27248" y="1929384"/>
            <a:ext cx="0" cy="685800"/>
          </a:xfrm>
          <a:prstGeom prst="line">
            <a:avLst/>
          </a:prstGeom>
          <a:ln w="1270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493008" y="1938528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6B4FD0"/>
                </a:solidFill>
                <a:latin typeface="Aptos"/>
              </a:rPr>
              <a:t>74 / 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2487168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E76A0"/>
                </a:solidFill>
                <a:latin typeface="Aptos"/>
              </a:rPr>
              <a:t>CALIBRATION TESTS PASS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596128" y="1929384"/>
            <a:ext cx="0" cy="685800"/>
          </a:xfrm>
          <a:prstGeom prst="line">
            <a:avLst/>
          </a:prstGeom>
          <a:ln w="1270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961888" y="1938528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8A5F"/>
                </a:solidFill>
                <a:latin typeface="Aptos"/>
              </a:rPr>
              <a:t>17 / 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1888" y="2487168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E76A0"/>
                </a:solidFill>
                <a:latin typeface="Aptos"/>
              </a:rPr>
              <a:t>CALIBRATION UI CHECKS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065008" y="1929384"/>
            <a:ext cx="0" cy="685800"/>
          </a:xfrm>
          <a:prstGeom prst="line">
            <a:avLst/>
          </a:prstGeom>
          <a:ln w="1270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394192" y="1938528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440"/>
                </a:solidFill>
                <a:latin typeface="Aptos"/>
              </a:rPr>
              <a:t>Prototype stage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2276856"/>
            <a:ext cx="29077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E76A0"/>
                </a:solidFill>
                <a:latin typeface="Aptos"/>
              </a:rPr>
              <a:t>No clinical validation or commercial traction claimed.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99232"/>
            <a:ext cx="5330952" cy="25420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145536"/>
            <a:ext cx="50292" cy="2249424"/>
          </a:xfrm>
          <a:prstGeom prst="rect">
            <a:avLst/>
          </a:prstGeom>
          <a:solidFill>
            <a:srgbClr val="1E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3" y="3172968"/>
            <a:ext cx="48828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1440"/>
                </a:solidFill>
                <a:latin typeface="Aptos"/>
              </a:rPr>
              <a:t>Built today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3" y="3584448"/>
            <a:ext cx="4882896" cy="18196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3D3566"/>
                </a:solidFill>
                <a:latin typeface="Aptos"/>
              </a:rPr>
              <a:t>• Responsive caregiver dashboard + FastAPI backend
• Live telemetry simulator, WebSocket stream and event feed
• ESP32 firmware source + sensor payload ingest path
• Explainable equation / calibration detection layer
• Alerts, trends, safety timeline, contacts and device management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08192" y="2999232"/>
            <a:ext cx="5504688" cy="25420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08192" y="3145536"/>
            <a:ext cx="50292" cy="2249424"/>
          </a:xfrm>
          <a:prstGeom prst="rect">
            <a:avLst/>
          </a:prstGeom>
          <a:solidFill>
            <a:srgbClr val="C97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3368" y="3172968"/>
            <a:ext cx="50566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1440"/>
                </a:solidFill>
                <a:latin typeface="Aptos"/>
              </a:rPr>
              <a:t>Proof still required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3368" y="3584448"/>
            <a:ext cx="5056631" cy="18196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3D3566"/>
                </a:solidFill>
                <a:latin typeface="Aptos"/>
              </a:rPr>
              <a:t>• Sensor accuracy across wearers, motion and skin tones
• Battery, comfort, adherence and production BOM
• False-alert rate, sensitivity and escalation latency
• Clinical, privacy, security and regulatory pathways
• Live SMS / voice delivery and multi-tenant cloud operations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" y="5925312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41483"/>
                </a:solidFill>
                <a:latin typeface="Aptos"/>
              </a:rPr>
              <a:t>Investor framing: validated software workflow + testable prototype—not a cleared medical device or proven clinical service.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" y="292608"/>
            <a:ext cx="146304" cy="146304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2376" y="228600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NEUROLINK  /  WEAR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320" y="237744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02  /  NEED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9224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1440"/>
                </a:solidFill>
                <a:latin typeface="Aptos"/>
              </a:rPr>
              <a:t>The gap is not another reading. It is context and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25296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7E76A0"/>
                </a:solidFill>
                <a:latin typeface="Aptos"/>
              </a:rPr>
              <a:t>Caregivers often operate between scheduled check-ins, fragmented signals and uncertain next steps.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510528"/>
            <a:ext cx="11137392" cy="0"/>
          </a:xfrm>
          <a:prstGeom prst="line">
            <a:avLst/>
          </a:prstGeom>
          <a:ln w="1016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4023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7E76A0"/>
                </a:solidFill>
                <a:latin typeface="Aptos"/>
              </a:rPr>
              <a:t>WORKING PROTOTYPE  •  DISCUSSION MATERIAL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65392"/>
            <a:ext cx="5669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847088"/>
            <a:ext cx="5340096" cy="16642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0299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41483"/>
                </a:solidFill>
                <a:latin typeface="Apto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35607" y="20116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440"/>
                </a:solidFill>
                <a:latin typeface="Aptos"/>
              </a:rPr>
              <a:t>Signals are isolated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7" y="2432304"/>
            <a:ext cx="4096512" cy="850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3D3566"/>
                </a:solidFill>
                <a:latin typeface="Aptos"/>
              </a:rPr>
              <a:t>A pulse, oxygen value or motion event is hard to interpret without personal history and activity context.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1847088"/>
            <a:ext cx="5340096" cy="16642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224" y="20299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6B4FD0"/>
                </a:solidFill>
                <a:latin typeface="Apto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31736" y="20116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440"/>
                </a:solidFill>
                <a:latin typeface="Aptos"/>
              </a:rPr>
              <a:t>Changes can be subtle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31736" y="2432304"/>
            <a:ext cx="4096512" cy="850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3D3566"/>
                </a:solidFill>
                <a:latin typeface="Aptos"/>
              </a:rPr>
              <a:t>Meaningful deviations may emerge as patterns over time—not one threshold crossing.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85616"/>
            <a:ext cx="5340096" cy="16642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68496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7A14"/>
                </a:solidFill>
                <a:latin typeface="Apto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35607" y="395020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440"/>
                </a:solidFill>
                <a:latin typeface="Aptos"/>
              </a:rPr>
              <a:t>Alert fatigue is real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35607" y="4370832"/>
            <a:ext cx="4096512" cy="850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3D3566"/>
                </a:solidFill>
                <a:latin typeface="Aptos"/>
              </a:rPr>
              <a:t>Generic thresholds can miss personal baselines or create noisy, low-value notifications.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6" y="3785616"/>
            <a:ext cx="5340096" cy="16642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3968496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D32B36"/>
                </a:solidFill>
                <a:latin typeface="Apto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31736" y="395020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440"/>
                </a:solidFill>
                <a:latin typeface="Aptos"/>
              </a:rPr>
              <a:t>Help is a workflow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31736" y="4370832"/>
            <a:ext cx="4096512" cy="850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3D3566"/>
                </a:solidFill>
                <a:latin typeface="Aptos"/>
              </a:rPr>
              <a:t>A risk signal only matters if the wearer or trusted contact can act, confirm and follow through.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5216" y="5907024"/>
            <a:ext cx="1874519" cy="274320"/>
          </a:xfrm>
          <a:prstGeom prst="roundRect">
            <a:avLst>
              <a:gd name="adj" fmla="val 12000"/>
            </a:avLst>
          </a:prstGeom>
          <a:solidFill>
            <a:srgbClr val="EC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916168"/>
            <a:ext cx="1764791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41483"/>
                </a:solidFill>
                <a:latin typeface="Aptos"/>
              </a:rPr>
              <a:t>PROBLEM HYPOTHESIS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33472" y="5916168"/>
            <a:ext cx="8823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E76A0"/>
                </a:solidFill>
                <a:latin typeface="Aptos"/>
              </a:rPr>
              <a:t>Pilot interviews should quantify the pain, current workarounds and willingness to pay.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" y="292608"/>
            <a:ext cx="146304" cy="146304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2376" y="228600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NEUROLINK  /  WEAR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320" y="237744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03  / 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9224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A1440"/>
                </a:solidFill>
                <a:latin typeface="Aptos"/>
              </a:rPr>
              <a:t>Start with the person who needs a safer day—and the person who checks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25296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7E76A0"/>
                </a:solidFill>
                <a:latin typeface="Aptos"/>
              </a:rPr>
              <a:t>A focused initial use case gives the product a clear buyer, user and success metric.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510528"/>
            <a:ext cx="11137392" cy="0"/>
          </a:xfrm>
          <a:prstGeom prst="line">
            <a:avLst/>
          </a:prstGeom>
          <a:ln w="1016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4023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7E76A0"/>
                </a:solidFill>
                <a:latin typeface="Aptos"/>
              </a:rPr>
              <a:t>WORKING PROTOTYPE  •  DISCUSSION MATERIAL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65392"/>
            <a:ext cx="5669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920240"/>
            <a:ext cx="3502152" cy="2514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8096" y="2130552"/>
            <a:ext cx="1170432" cy="256032"/>
          </a:xfrm>
          <a:prstGeom prst="roundRect">
            <a:avLst>
              <a:gd name="adj" fmla="val 12000"/>
            </a:avLst>
          </a:prstGeom>
          <a:solidFill>
            <a:srgbClr val="EC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2139696"/>
            <a:ext cx="106070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241483"/>
                </a:solidFill>
                <a:latin typeface="Aptos"/>
              </a:rPr>
              <a:t>WEARER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578608"/>
            <a:ext cx="3054096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440"/>
                </a:solidFill>
                <a:latin typeface="Aptos"/>
              </a:rPr>
              <a:t>Older adult living independently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3364992"/>
            <a:ext cx="3017520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3D3566"/>
                </a:solidFill>
                <a:latin typeface="Aptos"/>
              </a:rPr>
              <a:t>Wants simple, dignified support; comfortable band, clear on-device status and trusted contact options.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1920240"/>
            <a:ext cx="3502152" cy="2514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17136" y="2130552"/>
            <a:ext cx="1170432" cy="256032"/>
          </a:xfrm>
          <a:prstGeom prst="roundRect">
            <a:avLst>
              <a:gd name="adj" fmla="val 12000"/>
            </a:avLst>
          </a:prstGeom>
          <a:solidFill>
            <a:srgbClr val="EC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1999" y="2139696"/>
            <a:ext cx="106070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6B4FD0"/>
                </a:solidFill>
                <a:latin typeface="Aptos"/>
              </a:rPr>
              <a:t>BUYER / USER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7136" y="2578608"/>
            <a:ext cx="3054096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440"/>
                </a:solidFill>
                <a:latin typeface="Aptos"/>
              </a:rPr>
              <a:t>Family caregiver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7136" y="3364992"/>
            <a:ext cx="3017520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3D3566"/>
                </a:solidFill>
                <a:latin typeface="Aptos"/>
              </a:rPr>
              <a:t>Needs a calm, at-a-glance view, actionable alerts, shared contacts and less uncertainty between visits.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65007" y="1920240"/>
            <a:ext cx="3502152" cy="2514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66175" y="2130552"/>
            <a:ext cx="1170432" cy="256032"/>
          </a:xfrm>
          <a:prstGeom prst="roundRect">
            <a:avLst>
              <a:gd name="adj" fmla="val 12000"/>
            </a:avLst>
          </a:prstGeom>
          <a:solidFill>
            <a:srgbClr val="EC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2139696"/>
            <a:ext cx="106070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E8A5F"/>
                </a:solidFill>
                <a:latin typeface="Aptos"/>
              </a:rPr>
              <a:t>CHANNEL BUYER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5" y="2578608"/>
            <a:ext cx="3054096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440"/>
                </a:solidFill>
                <a:latin typeface="Aptos"/>
              </a:rPr>
              <a:t>Home-care or senior-living team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5" y="3364992"/>
            <a:ext cx="3017520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3D3566"/>
                </a:solidFill>
                <a:latin typeface="Aptos"/>
              </a:rPr>
              <a:t>Needs a manageable multi-wearer workflow, incident history and escalation ownership.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663440"/>
            <a:ext cx="11045952" cy="1161288"/>
          </a:xfrm>
          <a:prstGeom prst="roundRect">
            <a:avLst>
              <a:gd name="adj" fmla="val 12000"/>
            </a:avLst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" y="4855464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D6D0FF"/>
                </a:solidFill>
                <a:latin typeface="Aptos"/>
              </a:rPr>
              <a:t>SECONDARY AUDIENCES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" y="5193792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Aging-at-home programs  •  Post-discharge support partners*  •  Remote-care providers  •  Wellness / stress management later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5916168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E76A0"/>
                </a:solidFill>
                <a:latin typeface="Aptos"/>
              </a:rPr>
              <a:t>*Only with appropriate clinical partner, evidence and regulatory review. Initial wedge: family caregiving / senior-living pilots.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" y="292608"/>
            <a:ext cx="146304" cy="146304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2376" y="228600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NEUROLINK  /  WEAR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320" y="237744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04  / 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9224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A1440"/>
                </a:solidFill>
                <a:latin typeface="Aptos"/>
              </a:rPr>
              <a:t>A bottom-up market case is more credible than an unsupported TAM.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25296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7E76A0"/>
                </a:solidFill>
                <a:latin typeface="Aptos"/>
              </a:rPr>
              <a:t>Focus the first market on aging-at-home safety, then expand through care organizations.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510528"/>
            <a:ext cx="11137392" cy="0"/>
          </a:xfrm>
          <a:prstGeom prst="line">
            <a:avLst/>
          </a:prstGeom>
          <a:ln w="1016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4023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7E76A0"/>
                </a:solidFill>
                <a:latin typeface="Aptos"/>
              </a:rPr>
              <a:t>WORKING PROTOTYPE  •  DISCUSSION MATERIAL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65392"/>
            <a:ext cx="5669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847088"/>
            <a:ext cx="6656832" cy="40782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" y="2084831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41483"/>
                </a:solidFill>
                <a:latin typeface="Aptos"/>
              </a:rPr>
              <a:t>LAND → EXPAND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587752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EC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670048"/>
            <a:ext cx="3291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41483"/>
                </a:solidFill>
                <a:latin typeface="Apto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587752"/>
            <a:ext cx="5074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1440"/>
                </a:solidFill>
                <a:latin typeface="Aptos"/>
              </a:rPr>
              <a:t>Family caregiver households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898648"/>
            <a:ext cx="5166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D3566"/>
                </a:solidFill>
                <a:latin typeface="Aptos"/>
              </a:rPr>
              <a:t>Wearer + 1–3 trusted contacts; direct subscription hypothesis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78992" y="3035808"/>
            <a:ext cx="0" cy="457200"/>
          </a:xfrm>
          <a:prstGeom prst="line">
            <a:avLst/>
          </a:prstGeom>
          <a:ln w="1651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68680" y="3547872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EC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630168"/>
            <a:ext cx="3291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41483"/>
                </a:solidFill>
                <a:latin typeface="Apto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3547872"/>
            <a:ext cx="5074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1440"/>
                </a:solidFill>
                <a:latin typeface="Aptos"/>
              </a:rPr>
              <a:t>Home care &amp; senior living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3858768"/>
            <a:ext cx="5166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D3566"/>
                </a:solidFill>
                <a:latin typeface="Aptos"/>
              </a:rPr>
              <a:t>Multi-wearer dashboard, staff workflow, paid pilots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78992" y="3995928"/>
            <a:ext cx="0" cy="457200"/>
          </a:xfrm>
          <a:prstGeom prst="line">
            <a:avLst/>
          </a:prstGeom>
          <a:ln w="1651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68680" y="4507992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EC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590288"/>
            <a:ext cx="3291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41483"/>
                </a:solidFill>
                <a:latin typeface="Apto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507992"/>
            <a:ext cx="5074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1440"/>
                </a:solidFill>
                <a:latin typeface="Aptos"/>
              </a:rPr>
              <a:t>Remote care ecosystem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4818888"/>
            <a:ext cx="5166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D3566"/>
                </a:solidFill>
                <a:latin typeface="Aptos"/>
              </a:rPr>
              <a:t>Provider / insurer partnerships after proof and integration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16368" y="1847088"/>
            <a:ext cx="4096512" cy="4078224"/>
          </a:xfrm>
          <a:prstGeom prst="roundRect">
            <a:avLst>
              <a:gd name="adj" fmla="val 12000"/>
            </a:avLst>
          </a:prstGeom>
          <a:solidFill>
            <a:srgbClr val="0D0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27264" y="2139696"/>
            <a:ext cx="3429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D93FF"/>
                </a:solidFill>
                <a:latin typeface="Aptos"/>
              </a:rPr>
              <a:t>SCALE ILLUSTRATION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27264" y="2587752"/>
            <a:ext cx="338328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ptos"/>
              </a:rPr>
              <a:t>100,000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27264" y="3227832"/>
            <a:ext cx="3383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5BFE8"/>
                </a:solidFill>
                <a:latin typeface="Aptos"/>
              </a:rPr>
              <a:t>paid wearer accounts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827264" y="3648456"/>
            <a:ext cx="3355848" cy="0"/>
          </a:xfrm>
          <a:prstGeom prst="line">
            <a:avLst/>
          </a:prstGeom>
          <a:ln w="12700">
            <a:solidFill>
              <a:srgbClr val="2E25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827264" y="3867912"/>
            <a:ext cx="33832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9D93FF"/>
                </a:solidFill>
                <a:latin typeface="Aptos"/>
              </a:rPr>
              <a:t>$14.4M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27264" y="4480560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C5BFE8"/>
                </a:solidFill>
                <a:latin typeface="Aptos"/>
              </a:rPr>
              <a:t>annual subscription revenue at $12/mo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27264" y="5093208"/>
            <a:ext cx="336499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A2BE"/>
                </a:solidFill>
                <a:latin typeface="Aptos"/>
              </a:rPr>
              <a:t>Illustrative scale case only—not a market-size estimate or forecast.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117336"/>
            <a:ext cx="10698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 i="0">
                <a:solidFill>
                  <a:srgbClr val="7E76A0"/>
                </a:solidFill>
                <a:latin typeface="Aptos"/>
              </a:rPr>
              <a:t>Next: define launch geography, eligible customer base, channel access, pricing and reimbursement before publishing TAM / SAM.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" y="292608"/>
            <a:ext cx="146304" cy="146304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2376" y="228600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NEUROLINK  /  WEAR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320" y="237744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05  / 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9224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A1440"/>
                </a:solidFill>
                <a:latin typeface="Aptos"/>
              </a:rPr>
              <a:t>One loop: sense, interpret, explain, connect.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25296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7E76A0"/>
                </a:solidFill>
                <a:latin typeface="Aptos"/>
              </a:rPr>
              <a:t>NeuroLink Wear combines a sensor stream with personal context and a caregiver action path.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510528"/>
            <a:ext cx="11137392" cy="0"/>
          </a:xfrm>
          <a:prstGeom prst="line">
            <a:avLst/>
          </a:prstGeom>
          <a:ln w="1016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4023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7E76A0"/>
                </a:solidFill>
                <a:latin typeface="Aptos"/>
              </a:rPr>
              <a:t>WORKING PROTOTYPE  •  DISCUSSION MATERIAL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65392"/>
            <a:ext cx="5669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176272"/>
            <a:ext cx="242316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6" y="2432304"/>
            <a:ext cx="457200" cy="457200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55117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3081528"/>
            <a:ext cx="20482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41483"/>
                </a:solidFill>
                <a:latin typeface="Aptos"/>
              </a:rPr>
              <a:t>SENSE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410712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1440"/>
                </a:solidFill>
                <a:latin typeface="Aptos"/>
              </a:rPr>
              <a:t>Vitals + motion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3813048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D3566"/>
                </a:solidFill>
                <a:latin typeface="Aptos"/>
              </a:rPr>
              <a:t>PPG · GSR · IMU
Temperature · GPS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08960" y="3218688"/>
            <a:ext cx="310896" cy="0"/>
          </a:xfrm>
          <a:prstGeom prst="line">
            <a:avLst/>
          </a:prstGeom>
          <a:ln w="2032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538728" y="2176272"/>
            <a:ext cx="242316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39896" y="2432304"/>
            <a:ext cx="457200" cy="457200"/>
          </a:xfrm>
          <a:prstGeom prst="ellipse">
            <a:avLst/>
          </a:prstGeom>
          <a:solidFill>
            <a:srgbClr val="6B4F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39896" y="255117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39896" y="3081528"/>
            <a:ext cx="20482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4FD0"/>
                </a:solidFill>
                <a:latin typeface="Aptos"/>
              </a:rPr>
              <a:t>INTERPRET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39896" y="3410712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1440"/>
                </a:solidFill>
                <a:latin typeface="Aptos"/>
              </a:rPr>
              <a:t>Personal context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9896" y="3813048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D3566"/>
                </a:solidFill>
                <a:latin typeface="Aptos"/>
              </a:rPr>
              <a:t>Baselines · trends
Clinical safety floors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989320" y="3218688"/>
            <a:ext cx="310896" cy="0"/>
          </a:xfrm>
          <a:prstGeom prst="line">
            <a:avLst/>
          </a:prstGeom>
          <a:ln w="2032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19088" y="2176272"/>
            <a:ext cx="242316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20255" y="2432304"/>
            <a:ext cx="457200" cy="457200"/>
          </a:xfrm>
          <a:prstGeom prst="ellipse">
            <a:avLst/>
          </a:prstGeom>
          <a:solidFill>
            <a:srgbClr val="C97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0255" y="255117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0255" y="3081528"/>
            <a:ext cx="20482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97A14"/>
                </a:solidFill>
                <a:latin typeface="Aptos"/>
              </a:rPr>
              <a:t>EXPLAIN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0255" y="3410712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1440"/>
                </a:solidFill>
                <a:latin typeface="Aptos"/>
              </a:rPr>
              <a:t>Human-readable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0255" y="3813048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D3566"/>
                </a:solidFill>
                <a:latin typeface="Aptos"/>
              </a:rPr>
              <a:t>Why it fired
What to do next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869680" y="3218688"/>
            <a:ext cx="310896" cy="0"/>
          </a:xfrm>
          <a:prstGeom prst="line">
            <a:avLst/>
          </a:prstGeom>
          <a:ln w="2032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299448" y="2176272"/>
            <a:ext cx="242316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500616" y="2432304"/>
            <a:ext cx="457200" cy="457200"/>
          </a:xfrm>
          <a:prstGeom prst="ellipse">
            <a:avLst/>
          </a:prstGeom>
          <a:solidFill>
            <a:srgbClr val="1E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00616" y="255117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00616" y="3081528"/>
            <a:ext cx="20482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E8A5F"/>
                </a:solidFill>
                <a:latin typeface="Aptos"/>
              </a:rPr>
              <a:t>CONNECT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00616" y="3410712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1440"/>
                </a:solidFill>
                <a:latin typeface="Aptos"/>
              </a:rPr>
              <a:t>Care response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00616" y="3813048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D3566"/>
                </a:solidFill>
                <a:latin typeface="Aptos"/>
              </a:rPr>
              <a:t>Acknowledge · contact
Location · event log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709160"/>
            <a:ext cx="10945368" cy="941832"/>
          </a:xfrm>
          <a:prstGeom prst="roundRect">
            <a:avLst>
              <a:gd name="adj" fmla="val 12000"/>
            </a:avLst>
          </a:prstGeom>
          <a:solidFill>
            <a:srgbClr val="F7F6FC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928616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7E76A0"/>
                </a:solidFill>
                <a:latin typeface="Aptos"/>
              </a:rPr>
              <a:t>DESIGN PRINCIPLES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16352" y="4864608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41483"/>
                </a:solidFill>
                <a:latin typeface="Aptos"/>
              </a:rPr>
              <a:t>Explainable over opaque  •  Personal without weakening safety floors  •  Human-led escalation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" y="292608"/>
            <a:ext cx="146304" cy="146304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2376" y="228600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NEUROLINK  /  WEAR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320" y="237744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06  / 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9224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440"/>
                </a:solidFill>
                <a:latin typeface="Aptos"/>
              </a:rPr>
              <a:t>Designed for two screens: the wearer’s wrist and the caregiver’s dashboard.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25296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7E76A0"/>
                </a:solidFill>
                <a:latin typeface="Aptos"/>
              </a:rPr>
              <a:t>A small on-device status surface paired with a responsive, role-aware web experience.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510528"/>
            <a:ext cx="11137392" cy="0"/>
          </a:xfrm>
          <a:prstGeom prst="line">
            <a:avLst/>
          </a:prstGeom>
          <a:ln w="1016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4023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7E76A0"/>
                </a:solidFill>
                <a:latin typeface="Aptos"/>
              </a:rPr>
              <a:t>WORKING PROTOTYPE  •  DISCUSSION MATERIAL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65392"/>
            <a:ext cx="5669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1828800"/>
            <a:ext cx="2852928" cy="3977639"/>
          </a:xfrm>
          <a:prstGeom prst="roundRect">
            <a:avLst>
              <a:gd name="adj" fmla="val 12000"/>
            </a:avLst>
          </a:prstGeom>
          <a:solidFill>
            <a:srgbClr val="0D0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093976"/>
            <a:ext cx="231343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D93FF"/>
                </a:solidFill>
                <a:latin typeface="Aptos"/>
              </a:rPr>
              <a:t>ON-WRIST DISPLAY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80744" y="2697480"/>
            <a:ext cx="1417320" cy="2240280"/>
          </a:xfrm>
          <a:prstGeom prst="roundRect">
            <a:avLst>
              <a:gd name="adj" fmla="val 12000"/>
            </a:avLst>
          </a:prstGeom>
          <a:solidFill>
            <a:srgbClr val="171240"/>
          </a:solidFill>
          <a:ln w="12700">
            <a:solidFill>
              <a:srgbClr val="6B4F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536192" y="2889504"/>
            <a:ext cx="1097280" cy="1810512"/>
          </a:xfrm>
          <a:prstGeom prst="roundRect">
            <a:avLst>
              <a:gd name="adj" fmla="val 12000"/>
            </a:avLst>
          </a:prstGeom>
          <a:solidFill>
            <a:srgbClr val="0D0A24"/>
          </a:solidFill>
          <a:ln w="12700">
            <a:solidFill>
              <a:srgbClr val="2E25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55064" y="3108960"/>
            <a:ext cx="8503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A8A2BE"/>
                </a:solidFill>
                <a:latin typeface="Aptos"/>
              </a:rPr>
              <a:t>HEART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447288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"/>
              </a:rPr>
              <a:t>72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913632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D93FF"/>
                </a:solidFill>
                <a:latin typeface="Aptos"/>
              </a:rPr>
              <a:t>SpO₂  97%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8" y="423367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A2BE"/>
                </a:solidFill>
                <a:latin typeface="Aptos"/>
              </a:rPr>
              <a:t>Resting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5230368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Aptos"/>
              </a:rPr>
              <a:t>Simple, glanceable status;
not a diagnostic display.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22191" y="1828800"/>
            <a:ext cx="7790688" cy="397763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822191" y="1828800"/>
            <a:ext cx="7790688" cy="411480"/>
          </a:xfrm>
          <a:prstGeom prst="roundRect">
            <a:avLst>
              <a:gd name="adj" fmla="val 12000"/>
            </a:avLst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50791" y="1929384"/>
            <a:ext cx="2834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ptos"/>
              </a:rPr>
              <a:t>NEUROLINK  /  OVERVIEW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46336" y="1901952"/>
            <a:ext cx="1572768" cy="228600"/>
          </a:xfrm>
          <a:prstGeom prst="roundRect">
            <a:avLst>
              <a:gd name="adj" fmla="val 12000"/>
            </a:avLst>
          </a:prstGeom>
          <a:solidFill>
            <a:srgbClr val="E8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0" y="1911095"/>
            <a:ext cx="146304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1E8A5F"/>
                </a:solidFill>
                <a:latin typeface="Aptos"/>
              </a:rPr>
              <a:t>DEVICE CONNECTED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50791" y="2468880"/>
            <a:ext cx="1554480" cy="877824"/>
          </a:xfrm>
          <a:prstGeom prst="roundRect">
            <a:avLst>
              <a:gd name="adj" fmla="val 12000"/>
            </a:avLst>
          </a:prstGeom>
          <a:solidFill>
            <a:srgbClr val="F7F6FC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60520" y="2578608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7E76A0"/>
                </a:solidFill>
                <a:latin typeface="Aptos"/>
              </a:rPr>
              <a:t>HEART 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779776"/>
            <a:ext cx="78638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440"/>
                </a:solidFill>
                <a:latin typeface="Aptos"/>
              </a:rPr>
              <a:t>72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0056" y="2907792"/>
            <a:ext cx="4389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E76A0"/>
                </a:solidFill>
                <a:latin typeface="Aptos"/>
              </a:rPr>
              <a:t>bpm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33872" y="2468880"/>
            <a:ext cx="1554480" cy="877824"/>
          </a:xfrm>
          <a:prstGeom prst="roundRect">
            <a:avLst>
              <a:gd name="adj" fmla="val 12000"/>
            </a:avLst>
          </a:prstGeom>
          <a:solidFill>
            <a:srgbClr val="F7F6FC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0" y="2578608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7E76A0"/>
                </a:solidFill>
                <a:latin typeface="Aptos"/>
              </a:rPr>
              <a:t>SpO₂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2779776"/>
            <a:ext cx="78638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440"/>
                </a:solidFill>
                <a:latin typeface="Aptos"/>
              </a:rPr>
              <a:t>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03136" y="2907792"/>
            <a:ext cx="4389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E76A0"/>
                </a:solidFill>
                <a:latin typeface="Aptos"/>
              </a:rPr>
              <a:t>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16952" y="2468880"/>
            <a:ext cx="1554480" cy="877824"/>
          </a:xfrm>
          <a:prstGeom prst="roundRect">
            <a:avLst>
              <a:gd name="adj" fmla="val 12000"/>
            </a:avLst>
          </a:prstGeom>
          <a:solidFill>
            <a:srgbClr val="F7F6FC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6679" y="2578608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7E76A0"/>
                </a:solidFill>
                <a:latin typeface="Aptos"/>
              </a:rPr>
              <a:t>TEMP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26679" y="2779776"/>
            <a:ext cx="78638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440"/>
                </a:solidFill>
                <a:latin typeface="Aptos"/>
              </a:rPr>
              <a:t>36.7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86216" y="2907792"/>
            <a:ext cx="4389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E76A0"/>
                </a:solidFill>
                <a:latin typeface="Aptos"/>
              </a:rPr>
              <a:t>°C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00032" y="2468880"/>
            <a:ext cx="1554480" cy="877824"/>
          </a:xfrm>
          <a:prstGeom prst="roundRect">
            <a:avLst>
              <a:gd name="adj" fmla="val 12000"/>
            </a:avLst>
          </a:prstGeom>
          <a:solidFill>
            <a:srgbClr val="F7F6FC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09759" y="2578608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7E76A0"/>
                </a:solidFill>
                <a:latin typeface="Aptos"/>
              </a:rPr>
              <a:t>STRESS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09759" y="2779776"/>
            <a:ext cx="78638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440"/>
                </a:solidFill>
                <a:latin typeface="Aptos"/>
              </a:rPr>
              <a:t>0.24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69296" y="2907792"/>
            <a:ext cx="4389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E76A0"/>
                </a:solidFill>
                <a:latin typeface="Aptos"/>
              </a:rPr>
              <a:t>index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50791" y="3566160"/>
            <a:ext cx="3931920" cy="1810512"/>
          </a:xfrm>
          <a:prstGeom prst="roundRect">
            <a:avLst>
              <a:gd name="adj" fmla="val 12000"/>
            </a:avLst>
          </a:prstGeom>
          <a:solidFill>
            <a:srgbClr val="F7F6FC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51960" y="3730752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E76A0"/>
                </a:solidFill>
                <a:latin typeface="Aptos"/>
              </a:rPr>
              <a:t>LIVE TELEMETRY  •  TREND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270248" y="4123944"/>
            <a:ext cx="3465576" cy="0"/>
          </a:xfrm>
          <a:prstGeom prst="line">
            <a:avLst/>
          </a:prstGeom>
          <a:ln w="6350">
            <a:solidFill>
              <a:srgbClr val="E8E5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270248" y="4297680"/>
            <a:ext cx="3465576" cy="0"/>
          </a:xfrm>
          <a:prstGeom prst="line">
            <a:avLst/>
          </a:prstGeom>
          <a:ln w="6350">
            <a:solidFill>
              <a:srgbClr val="E8E5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270248" y="4471416"/>
            <a:ext cx="3465576" cy="0"/>
          </a:xfrm>
          <a:prstGeom prst="line">
            <a:avLst/>
          </a:prstGeom>
          <a:ln w="6350">
            <a:solidFill>
              <a:srgbClr val="E8E5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270248" y="4645152"/>
            <a:ext cx="3465576" cy="0"/>
          </a:xfrm>
          <a:prstGeom prst="line">
            <a:avLst/>
          </a:prstGeom>
          <a:ln w="6350">
            <a:solidFill>
              <a:srgbClr val="E8E5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270248" y="4818888"/>
            <a:ext cx="3465576" cy="0"/>
          </a:xfrm>
          <a:prstGeom prst="line">
            <a:avLst/>
          </a:prstGeom>
          <a:ln w="6350">
            <a:solidFill>
              <a:srgbClr val="E8E5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270248" y="4992624"/>
            <a:ext cx="3465576" cy="0"/>
          </a:xfrm>
          <a:prstGeom prst="line">
            <a:avLst/>
          </a:prstGeom>
          <a:ln w="6350">
            <a:solidFill>
              <a:srgbClr val="E8E5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4343400" y="4709160"/>
            <a:ext cx="548640" cy="228600"/>
          </a:xfrm>
          <a:prstGeom prst="line">
            <a:avLst/>
          </a:prstGeom>
          <a:ln w="2540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892040" y="4709160"/>
            <a:ext cx="548640" cy="45720"/>
          </a:xfrm>
          <a:prstGeom prst="line">
            <a:avLst/>
          </a:prstGeom>
          <a:ln w="2540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5440680" y="4434840"/>
            <a:ext cx="548640" cy="320040"/>
          </a:xfrm>
          <a:prstGeom prst="line">
            <a:avLst/>
          </a:prstGeom>
          <a:ln w="2540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5989320" y="4434840"/>
            <a:ext cx="548640" cy="118872"/>
          </a:xfrm>
          <a:prstGeom prst="line">
            <a:avLst/>
          </a:prstGeom>
          <a:ln w="2540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6537960" y="4224528"/>
            <a:ext cx="548640" cy="329184"/>
          </a:xfrm>
          <a:prstGeom prst="line">
            <a:avLst/>
          </a:prstGeom>
          <a:ln w="2540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086600" y="4224528"/>
            <a:ext cx="521208" cy="91440"/>
          </a:xfrm>
          <a:prstGeom prst="line">
            <a:avLst/>
          </a:prstGeom>
          <a:ln w="2540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8211312" y="3566160"/>
            <a:ext cx="3145536" cy="1810512"/>
          </a:xfrm>
          <a:prstGeom prst="roundRect">
            <a:avLst>
              <a:gd name="adj" fmla="val 12000"/>
            </a:avLst>
          </a:prstGeom>
          <a:solidFill>
            <a:srgbClr val="FBEA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8412480" y="3749039"/>
            <a:ext cx="914400" cy="228600"/>
          </a:xfrm>
          <a:prstGeom prst="roundRect">
            <a:avLst>
              <a:gd name="adj" fmla="val 12000"/>
            </a:avLst>
          </a:prstGeom>
          <a:solidFill>
            <a:srgbClr val="D32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67344" y="3758183"/>
            <a:ext cx="80467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ptos"/>
              </a:rPr>
              <a:t>HIGH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0" y="4105656"/>
            <a:ext cx="26883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440"/>
                </a:solidFill>
                <a:latin typeface="Aptos"/>
              </a:rPr>
              <a:t>High-stress pattern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12480" y="4416552"/>
            <a:ext cx="2660904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3D3566"/>
                </a:solidFill>
                <a:latin typeface="Aptos"/>
              </a:rPr>
              <a:t>Personal baseline + elevated GSR and reduced HRV. Check in and confirm wellbeing.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50791" y="5541264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7E76A0"/>
                </a:solidFill>
                <a:latin typeface="Aptos"/>
              </a:rPr>
              <a:t>Illustrative interface; values are mock data. The app uses seeded demo records in the prototype.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" y="292608"/>
            <a:ext cx="146304" cy="146304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2376" y="228600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NEUROLINK  /  WEAR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320" y="237744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07  /  HARDWARE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9224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A1440"/>
                </a:solidFill>
                <a:latin typeface="Aptos"/>
              </a:rPr>
              <a:t>A multi-sensor stack adds context—but every signal needs validation.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25296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7E76A0"/>
                </a:solidFill>
                <a:latin typeface="Aptos"/>
              </a:rPr>
              <a:t>Components referenced by the current ESP32 firmware source; measurements are prototype-grade.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510528"/>
            <a:ext cx="11137392" cy="0"/>
          </a:xfrm>
          <a:prstGeom prst="line">
            <a:avLst/>
          </a:prstGeom>
          <a:ln w="1016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4023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7E76A0"/>
                </a:solidFill>
                <a:latin typeface="Aptos"/>
              </a:rPr>
              <a:t>WORKING PROTOTYPE  •  DISCUSSION MATERIAL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65392"/>
            <a:ext cx="5669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828800"/>
            <a:ext cx="3493008" cy="1545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2048256"/>
            <a:ext cx="384048" cy="384048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020824"/>
            <a:ext cx="2578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E76A0"/>
                </a:solidFill>
                <a:latin typeface="Aptos"/>
              </a:rPr>
              <a:t>PPG MODULE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523744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440"/>
                </a:solidFill>
                <a:latin typeface="Aptos"/>
              </a:rPr>
              <a:t>MAX30105 (firmware)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2798064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3D3566"/>
                </a:solidFill>
                <a:latin typeface="Aptos"/>
              </a:rPr>
              <a:t>Heart rate, HRV estimate, SpO₂ estimate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3063240"/>
            <a:ext cx="310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241483"/>
                </a:solidFill>
                <a:latin typeface="Aptos"/>
              </a:rPr>
              <a:t>Pulse / oxygen context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1828800"/>
            <a:ext cx="3493008" cy="1545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07992" y="2048256"/>
            <a:ext cx="384048" cy="384048"/>
          </a:xfrm>
          <a:prstGeom prst="ellipse">
            <a:avLst/>
          </a:prstGeom>
          <a:solidFill>
            <a:srgbClr val="6B4F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0" y="2020824"/>
            <a:ext cx="2578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E76A0"/>
                </a:solidFill>
                <a:latin typeface="Aptos"/>
              </a:rPr>
              <a:t>GSR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2523744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440"/>
                </a:solidFill>
                <a:latin typeface="Aptos"/>
              </a:rPr>
              <a:t>Analog skin conductance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7992" y="2798064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3D3566"/>
                </a:solidFill>
                <a:latin typeface="Aptos"/>
              </a:rPr>
              <a:t>Conductance + sweat-response proxy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7992" y="3063240"/>
            <a:ext cx="310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6B4FD0"/>
                </a:solidFill>
                <a:latin typeface="Aptos"/>
              </a:rPr>
              <a:t>Arousal / stress context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5007" y="1828800"/>
            <a:ext cx="3493008" cy="1545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57031" y="2048256"/>
            <a:ext cx="384048" cy="384048"/>
          </a:xfrm>
          <a:prstGeom prst="ellipse">
            <a:avLst/>
          </a:prstGeom>
          <a:solidFill>
            <a:srgbClr val="1E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39" y="2020824"/>
            <a:ext cx="2578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E76A0"/>
                </a:solidFill>
                <a:latin typeface="Aptos"/>
              </a:rPr>
              <a:t>IMU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1" y="2523744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440"/>
                </a:solidFill>
                <a:latin typeface="Aptos"/>
              </a:rPr>
              <a:t>MPU6050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7031" y="2798064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3D3566"/>
                </a:solidFill>
                <a:latin typeface="Aptos"/>
              </a:rPr>
              <a:t>3-axis acceleration + gyroscope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7031" y="3063240"/>
            <a:ext cx="310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1E8A5F"/>
                </a:solidFill>
                <a:latin typeface="Aptos"/>
              </a:rPr>
              <a:t>Movement, steps, fall signature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621024"/>
            <a:ext cx="3493008" cy="1545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58952" y="3840480"/>
            <a:ext cx="384048" cy="384048"/>
          </a:xfrm>
          <a:prstGeom prst="ellipse">
            <a:avLst/>
          </a:prstGeom>
          <a:solidFill>
            <a:srgbClr val="C97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80160" y="3813048"/>
            <a:ext cx="2578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E76A0"/>
                </a:solidFill>
                <a:latin typeface="Aptos"/>
              </a:rPr>
              <a:t>TEMPERATURE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" y="431596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440"/>
                </a:solidFill>
                <a:latin typeface="Aptos"/>
              </a:rPr>
              <a:t>MLX90614 IR sensor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4590288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3D3566"/>
                </a:solidFill>
                <a:latin typeface="Aptos"/>
              </a:rPr>
              <a:t>Object / skin-surface temperature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4855464"/>
            <a:ext cx="310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C97A14"/>
                </a:solidFill>
                <a:latin typeface="Aptos"/>
              </a:rPr>
              <a:t>Thermal trend; not core temp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5968" y="3621024"/>
            <a:ext cx="3493008" cy="1545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507992" y="3840480"/>
            <a:ext cx="384048" cy="384048"/>
          </a:xfrm>
          <a:prstGeom prst="ellipse">
            <a:avLst/>
          </a:prstGeom>
          <a:solidFill>
            <a:srgbClr val="D32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3813048"/>
            <a:ext cx="2578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E76A0"/>
                </a:solidFill>
                <a:latin typeface="Aptos"/>
              </a:rPr>
              <a:t>LOCATION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07992" y="431596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440"/>
                </a:solidFill>
                <a:latin typeface="Aptos"/>
              </a:rPr>
              <a:t>NEO-6M GPS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07992" y="4590288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3D3566"/>
                </a:solidFill>
                <a:latin typeface="Aptos"/>
              </a:rPr>
              <a:t>Outdoor position fix + timestamp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07992" y="4855464"/>
            <a:ext cx="310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D32B36"/>
                </a:solidFill>
                <a:latin typeface="Aptos"/>
              </a:rPr>
              <a:t>Context for a safety event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65007" y="3621024"/>
            <a:ext cx="3493008" cy="1545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257031" y="3840480"/>
            <a:ext cx="384048" cy="384048"/>
          </a:xfrm>
          <a:prstGeom prst="ellipse">
            <a:avLst/>
          </a:prstGeom>
          <a:solidFill>
            <a:srgbClr val="4A3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78239" y="3813048"/>
            <a:ext cx="2578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E76A0"/>
                </a:solidFill>
                <a:latin typeface="Aptos"/>
              </a:rPr>
              <a:t>DISPLAY + MCU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57031" y="431596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440"/>
                </a:solidFill>
                <a:latin typeface="Aptos"/>
              </a:rPr>
              <a:t>ESP32 + SSD1306 OLED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57031" y="4590288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3D3566"/>
                </a:solidFill>
                <a:latin typeface="Aptos"/>
              </a:rPr>
              <a:t>Feature processing, local display, Wi-Fi / MQTT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57031" y="4855464"/>
            <a:ext cx="310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A3FC0"/>
                </a:solidFill>
                <a:latin typeface="Aptos"/>
              </a:rPr>
              <a:t>On-wrist status + data transport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623560"/>
            <a:ext cx="10991088" cy="521207"/>
          </a:xfrm>
          <a:prstGeom prst="roundRect">
            <a:avLst>
              <a:gd name="adj" fmla="val 12000"/>
            </a:avLst>
          </a:prstGeom>
          <a:solidFill>
            <a:srgbClr val="FBF1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5528" y="5769864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C97A14"/>
                </a:solidFill>
                <a:latin typeface="Aptos"/>
              </a:rPr>
              <a:t>Validation gate: SpO₂ is a simple red/IR estimate today; benchmark HR, HRV, temperature, motion, fit / skin tone, indoor GPS and power before health claims.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" y="292608"/>
            <a:ext cx="146304" cy="146304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2376" y="228600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NEUROLINK  /  WEAR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320" y="237744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08  /  TECHNICAL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9224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440"/>
                </a:solidFill>
                <a:latin typeface="Aptos"/>
              </a:rPr>
              <a:t>The end-to-end software path is in place; device timing is a field-readiness gate.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25296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7E76A0"/>
                </a:solidFill>
                <a:latin typeface="Aptos"/>
              </a:rPr>
              <a:t>A single ingest and detection pipeline serves both simulator traffic and device payloads.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510528"/>
            <a:ext cx="11137392" cy="0"/>
          </a:xfrm>
          <a:prstGeom prst="line">
            <a:avLst/>
          </a:prstGeom>
          <a:ln w="1016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4023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7E76A0"/>
                </a:solidFill>
                <a:latin typeface="Aptos"/>
              </a:rPr>
              <a:t>WORKING PROTOTYPE  •  DISCUSSION MATERIAL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65392"/>
            <a:ext cx="5669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21408"/>
            <a:ext cx="1618488" cy="1618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2286000"/>
            <a:ext cx="365760" cy="228600"/>
          </a:xfrm>
          <a:prstGeom prst="roundRect">
            <a:avLst>
              <a:gd name="adj" fmla="val 12000"/>
            </a:avLst>
          </a:prstGeom>
          <a:solidFill>
            <a:srgbClr val="EC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2295144"/>
            <a:ext cx="25603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241483"/>
                </a:solidFill>
                <a:latin typeface="Apto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2660904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1440"/>
                </a:solidFill>
                <a:latin typeface="Aptos"/>
              </a:rPr>
              <a:t>ESP32 + sensors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090672"/>
            <a:ext cx="13350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PPG · GSR · IMU
Temp · GPS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85416" y="2898648"/>
            <a:ext cx="246888" cy="0"/>
          </a:xfrm>
          <a:prstGeom prst="line">
            <a:avLst/>
          </a:prstGeom>
          <a:ln w="1905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487168" y="2121408"/>
            <a:ext cx="1618488" cy="1618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42616" y="2286000"/>
            <a:ext cx="365760" cy="228600"/>
          </a:xfrm>
          <a:prstGeom prst="roundRect">
            <a:avLst>
              <a:gd name="adj" fmla="val 12000"/>
            </a:avLst>
          </a:prstGeom>
          <a:solidFill>
            <a:srgbClr val="EC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97480" y="2295144"/>
            <a:ext cx="25603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6B4FD0"/>
                </a:solidFill>
                <a:latin typeface="Apto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42616" y="2660904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1440"/>
                </a:solidFill>
                <a:latin typeface="Aptos"/>
              </a:rPr>
              <a:t>MQTT / ingest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42616" y="3090672"/>
            <a:ext cx="13350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Device payload
Identity + parsing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123944" y="2898648"/>
            <a:ext cx="246888" cy="0"/>
          </a:xfrm>
          <a:prstGeom prst="line">
            <a:avLst/>
          </a:prstGeom>
          <a:ln w="1905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425696" y="2121408"/>
            <a:ext cx="1618488" cy="1618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81144" y="2286000"/>
            <a:ext cx="365760" cy="228600"/>
          </a:xfrm>
          <a:prstGeom prst="roundRect">
            <a:avLst>
              <a:gd name="adj" fmla="val 12000"/>
            </a:avLst>
          </a:prstGeom>
          <a:solidFill>
            <a:srgbClr val="EC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36007" y="2295144"/>
            <a:ext cx="25603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4A3FC0"/>
                </a:solidFill>
                <a:latin typeface="Apto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1144" y="2660904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1440"/>
                </a:solidFill>
                <a:latin typeface="Aptos"/>
              </a:rPr>
              <a:t>Calibration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1144" y="3090672"/>
            <a:ext cx="13350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Patient baselines
Signal context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62472" y="2898648"/>
            <a:ext cx="246888" cy="0"/>
          </a:xfrm>
          <a:prstGeom prst="line">
            <a:avLst/>
          </a:prstGeom>
          <a:ln w="1905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364224" y="2121408"/>
            <a:ext cx="1618488" cy="1618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19672" y="2286000"/>
            <a:ext cx="365760" cy="228600"/>
          </a:xfrm>
          <a:prstGeom prst="roundRect">
            <a:avLst>
              <a:gd name="adj" fmla="val 12000"/>
            </a:avLst>
          </a:prstGeom>
          <a:solidFill>
            <a:srgbClr val="EC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74536" y="2295144"/>
            <a:ext cx="25603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C97A14"/>
                </a:solidFill>
                <a:latin typeface="Aptos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9672" y="2660904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1440"/>
                </a:solidFill>
                <a:latin typeface="Aptos"/>
              </a:rPr>
              <a:t>Detection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9672" y="3090672"/>
            <a:ext cx="13350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Rules + equations
Severity / evidence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001000" y="2898648"/>
            <a:ext cx="246888" cy="0"/>
          </a:xfrm>
          <a:prstGeom prst="line">
            <a:avLst/>
          </a:prstGeom>
          <a:ln w="1905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302752" y="2121408"/>
            <a:ext cx="1618488" cy="1618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458200" y="2286000"/>
            <a:ext cx="365760" cy="228600"/>
          </a:xfrm>
          <a:prstGeom prst="roundRect">
            <a:avLst>
              <a:gd name="adj" fmla="val 12000"/>
            </a:avLst>
          </a:prstGeom>
          <a:solidFill>
            <a:srgbClr val="EC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13064" y="2295144"/>
            <a:ext cx="25603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E8A5F"/>
                </a:solidFill>
                <a:latin typeface="Aptos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58200" y="2660904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1440"/>
                </a:solidFill>
                <a:latin typeface="Aptos"/>
              </a:rPr>
              <a:t>Store + broadcast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3090672"/>
            <a:ext cx="13350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SQLite prototype
REST + WebSocket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939528" y="2898648"/>
            <a:ext cx="246888" cy="0"/>
          </a:xfrm>
          <a:prstGeom prst="line">
            <a:avLst/>
          </a:prstGeom>
          <a:ln w="1905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10241280" y="2121408"/>
            <a:ext cx="1618488" cy="1618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396728" y="2286000"/>
            <a:ext cx="365760" cy="228600"/>
          </a:xfrm>
          <a:prstGeom prst="roundRect">
            <a:avLst>
              <a:gd name="adj" fmla="val 12000"/>
            </a:avLst>
          </a:prstGeom>
          <a:solidFill>
            <a:srgbClr val="EC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451592" y="2295144"/>
            <a:ext cx="25603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D32B36"/>
                </a:solidFill>
                <a:latin typeface="Aptos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96728" y="2660904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1440"/>
                </a:solidFill>
                <a:latin typeface="Aptos"/>
              </a:rPr>
              <a:t>Care dashboard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96728" y="3090672"/>
            <a:ext cx="13350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Trends · alerts
Safety actions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232904" y="4251960"/>
            <a:ext cx="2185416" cy="685800"/>
          </a:xfrm>
          <a:prstGeom prst="roundRect">
            <a:avLst>
              <a:gd name="adj" fmla="val 12000"/>
            </a:avLst>
          </a:prstGeom>
          <a:solidFill>
            <a:srgbClr val="F7F6FC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06640" y="4398264"/>
            <a:ext cx="1856231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41483"/>
                </a:solidFill>
                <a:latin typeface="Aptos"/>
              </a:rPr>
              <a:t>OPTIONAL LLM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88352" y="4636008"/>
            <a:ext cx="1892807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E76A0"/>
                </a:solidFill>
                <a:latin typeface="Aptos"/>
              </a:rPr>
              <a:t>Explanation layer only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525512" y="3767328"/>
            <a:ext cx="0" cy="438912"/>
          </a:xfrm>
          <a:prstGeom prst="line">
            <a:avLst/>
          </a:prstGeom>
          <a:ln w="15240">
            <a:solidFill>
              <a:srgbClr val="6B4F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566928" y="4343400"/>
            <a:ext cx="6199632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5528" y="4544568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E76A0"/>
                </a:solidFill>
                <a:latin typeface="Aptos"/>
              </a:rPr>
              <a:t>DEMO / DEVELOPMENT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528" y="4882896"/>
            <a:ext cx="562356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3D3566"/>
                </a:solidFill>
                <a:latin typeface="Aptos"/>
              </a:rPr>
              <a:t>Simulator → ~2-second dashboard stream • seeded history • scripted fall / stress / fever / low-SpO₂ scenarios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656064" y="4251960"/>
            <a:ext cx="1911095" cy="1225296"/>
          </a:xfrm>
          <a:prstGeom prst="roundRect">
            <a:avLst>
              <a:gd name="adj" fmla="val 12000"/>
            </a:avLst>
          </a:prstGeom>
          <a:solidFill>
            <a:srgbClr val="FBF1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38944" y="4425696"/>
            <a:ext cx="158191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97A14"/>
                </a:solidFill>
                <a:latin typeface="Aptos"/>
              </a:rPr>
              <a:t>CADENCE NOTE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38944" y="4736592"/>
            <a:ext cx="1581912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D3566"/>
                </a:solidFill>
                <a:latin typeface="Aptos"/>
              </a:rPr>
              <a:t>Firmware constant is 60 s today; source comment says 2 s. Reconcile before pilot.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4360" y="5925312"/>
            <a:ext cx="106070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E76A0"/>
                </a:solidFill>
                <a:latin typeface="Aptos"/>
              </a:rPr>
              <a:t>MQTT uses TLS configuration in the bridge; production firmware certificate verification and secrets handling need hardening.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" y="292608"/>
            <a:ext cx="146304" cy="146304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2376" y="228600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NEUROLINK  /  WEAR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320" y="237744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09  / 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9224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1440"/>
                </a:solidFill>
                <a:latin typeface="Aptos"/>
              </a:rPr>
              <a:t>A caregiver workflow—not just a chart—anchors the product.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25296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7E76A0"/>
                </a:solidFill>
                <a:latin typeface="Aptos"/>
              </a:rPr>
              <a:t>Implemented dashboard areas span observation, action, history and operations.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510528"/>
            <a:ext cx="11137392" cy="0"/>
          </a:xfrm>
          <a:prstGeom prst="line">
            <a:avLst/>
          </a:prstGeom>
          <a:ln w="1016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4023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7E76A0"/>
                </a:solidFill>
                <a:latin typeface="Aptos"/>
              </a:rPr>
              <a:t>WORKING PROTOTYPE  •  DISCUSSION MATERIAL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65392"/>
            <a:ext cx="5669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856231"/>
            <a:ext cx="3502152" cy="14996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2002536"/>
            <a:ext cx="50292" cy="1207007"/>
          </a:xfrm>
          <a:prstGeom prst="rect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3" y="2029967"/>
            <a:ext cx="30540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1440"/>
                </a:solidFill>
                <a:latin typeface="Aptos"/>
              </a:rPr>
              <a:t>LIVE OVERVIEW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3" y="2441448"/>
            <a:ext cx="3054096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3D3566"/>
                </a:solidFill>
                <a:latin typeface="Aptos"/>
              </a:rPr>
              <a:t>Vitals + sparklines • IMU/activity • steps • connectivity status • event feed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856231"/>
            <a:ext cx="3502152" cy="14996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2002536"/>
            <a:ext cx="50292" cy="1207007"/>
          </a:xfrm>
          <a:prstGeom prst="rect">
            <a:avLst/>
          </a:prstGeom>
          <a:solidFill>
            <a:srgbClr val="D32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2029967"/>
            <a:ext cx="30540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1440"/>
                </a:solidFill>
                <a:latin typeface="Aptos"/>
              </a:rPr>
              <a:t>ALERTS + INSIGHTS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2441448"/>
            <a:ext cx="3054096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3D3566"/>
                </a:solidFill>
                <a:latin typeface="Aptos"/>
              </a:rPr>
              <a:t>Severity, trigger readings, explanations, recommendations, acknowledge / resolve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5007" y="1856231"/>
            <a:ext cx="3502152" cy="14996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5007" y="2002536"/>
            <a:ext cx="50292" cy="1207007"/>
          </a:xfrm>
          <a:prstGeom prst="rect">
            <a:avLst/>
          </a:prstGeom>
          <a:solidFill>
            <a:srgbClr val="C97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0183" y="2029967"/>
            <a:ext cx="30540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1440"/>
                </a:solidFill>
                <a:latin typeface="Aptos"/>
              </a:rPr>
              <a:t>SAFETY + SOS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0183" y="2441448"/>
            <a:ext cx="3054096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3D3566"/>
                </a:solidFill>
                <a:latin typeface="Aptos"/>
              </a:rPr>
              <a:t>Incident timeline, inactivity monitor, GPS map, contact selection, dispatch log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611879"/>
            <a:ext cx="3502152" cy="14996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758183"/>
            <a:ext cx="50292" cy="1207007"/>
          </a:xfrm>
          <a:prstGeom prst="rect">
            <a:avLst/>
          </a:prstGeom>
          <a:solidFill>
            <a:srgbClr val="6B4F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3" y="3785615"/>
            <a:ext cx="30540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1440"/>
                </a:solidFill>
                <a:latin typeface="Aptos"/>
              </a:rPr>
              <a:t>TRENDS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3" y="4197096"/>
            <a:ext cx="3054096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3D3566"/>
                </a:solidFill>
                <a:latin typeface="Aptos"/>
              </a:rPr>
              <a:t>HRV, temperature / SpO₂, stress / HR, 14-day activity, 24h–30d ranges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15968" y="3611879"/>
            <a:ext cx="3502152" cy="14996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15968" y="3758183"/>
            <a:ext cx="50292" cy="1207007"/>
          </a:xfrm>
          <a:prstGeom prst="rect">
            <a:avLst/>
          </a:prstGeom>
          <a:solidFill>
            <a:srgbClr val="1E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81144" y="3785615"/>
            <a:ext cx="30540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1440"/>
                </a:solidFill>
                <a:latin typeface="Aptos"/>
              </a:rPr>
              <a:t>MANAGEMENT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81144" y="4197096"/>
            <a:ext cx="3054096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3D3566"/>
                </a:solidFill>
                <a:latin typeface="Aptos"/>
              </a:rPr>
              <a:t>Contacts CRUD, device / MQTT pairing, thresholds, wearer profile, care team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7" y="3611879"/>
            <a:ext cx="3502152" cy="14996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5007" y="3758183"/>
            <a:ext cx="50292" cy="1207007"/>
          </a:xfrm>
          <a:prstGeom prst="rect">
            <a:avLst/>
          </a:prstGeom>
          <a:solidFill>
            <a:srgbClr val="4A3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0183" y="3785615"/>
            <a:ext cx="30540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1440"/>
                </a:solidFill>
                <a:latin typeface="Aptos"/>
              </a:rPr>
              <a:t>SETTINGS + UX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0183" y="4197096"/>
            <a:ext cx="3054096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3D3566"/>
                </a:solidFill>
                <a:latin typeface="Aptos"/>
              </a:rPr>
              <a:t>Caregiver / admin roles, persistent session, theme, simulator and system controls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486400"/>
            <a:ext cx="11018520" cy="521207"/>
          </a:xfrm>
          <a:prstGeom prst="roundRect">
            <a:avLst>
              <a:gd name="adj" fmla="val 12000"/>
            </a:avLst>
          </a:prstGeom>
          <a:solidFill>
            <a:srgbClr val="EC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632704"/>
            <a:ext cx="10533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241483"/>
                </a:solidFill>
                <a:latin typeface="Aptos"/>
              </a:rPr>
              <a:t>Experience details: responsive layout • dark / light mode • empty states • skeleton loading • confirmation dialogs • optimistic updates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" y="292608"/>
            <a:ext cx="146304" cy="146304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2376" y="228600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NEUROLINK  /  WEAR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320" y="237744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10  / 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9224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440"/>
                </a:solidFill>
                <a:latin typeface="Aptos"/>
              </a:rPr>
              <a:t>Personal calibration makes the live engine more transparent than a black box.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25296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7E76A0"/>
                </a:solidFill>
                <a:latin typeface="Aptos"/>
              </a:rPr>
              <a:t>Current detection uses equations + two-tier rules. Legacy ML assets remain in the repository, but are not the live engine.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510528"/>
            <a:ext cx="11137392" cy="0"/>
          </a:xfrm>
          <a:prstGeom prst="line">
            <a:avLst/>
          </a:prstGeom>
          <a:ln w="1016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4023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7E76A0"/>
                </a:solidFill>
                <a:latin typeface="Aptos"/>
              </a:rPr>
              <a:t>WORKING PROTOTYPE  •  DISCUSSION MATERIAL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65392"/>
            <a:ext cx="5669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847088"/>
            <a:ext cx="6766560" cy="3995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" y="2093976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41483"/>
                </a:solidFill>
                <a:latin typeface="Aptos"/>
              </a:rPr>
              <a:t>PHYSIOLOGY-INSPIRED SIGNAL FEATURES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2551175"/>
            <a:ext cx="109728" cy="109728"/>
          </a:xfrm>
          <a:prstGeom prst="ellipse">
            <a:avLst/>
          </a:prstGeom>
          <a:solidFill>
            <a:srgbClr val="6B4F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523744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1440"/>
                </a:solidFill>
                <a:latin typeface="Aptos"/>
              </a:rPr>
              <a:t>Robust personal deviation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2523744"/>
            <a:ext cx="38221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Median + MAD z-score; less sensitive to outliers.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3044951"/>
            <a:ext cx="109728" cy="109728"/>
          </a:xfrm>
          <a:prstGeom prst="ellipse">
            <a:avLst/>
          </a:prstGeom>
          <a:solidFill>
            <a:srgbClr val="6B4F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01752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1440"/>
                </a:solidFill>
                <a:latin typeface="Aptos"/>
              </a:rPr>
              <a:t>EDA tonic / phasic split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3017520"/>
            <a:ext cx="38221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Slow baseline separates skin conductance level from response.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3538727"/>
            <a:ext cx="109728" cy="109728"/>
          </a:xfrm>
          <a:prstGeom prst="ellipse">
            <a:avLst/>
          </a:prstGeom>
          <a:solidFill>
            <a:srgbClr val="6B4F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511296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1440"/>
                </a:solidFill>
                <a:latin typeface="Aptos"/>
              </a:rPr>
              <a:t>Composite stress 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511296"/>
            <a:ext cx="38221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GSR change + HRV drop + HR rise at rest; terms stay inspectable.</a:t>
            </a:r>
          </a:p>
        </p:txBody>
      </p:sp>
      <p:sp>
        <p:nvSpPr>
          <p:cNvPr id="21" name="Oval 20"/>
          <p:cNvSpPr/>
          <p:nvPr/>
        </p:nvSpPr>
        <p:spPr>
          <a:xfrm>
            <a:off x="868680" y="4032504"/>
            <a:ext cx="109728" cy="109728"/>
          </a:xfrm>
          <a:prstGeom prst="ellipse">
            <a:avLst/>
          </a:prstGeom>
          <a:solidFill>
            <a:srgbClr val="6B4F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005072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1440"/>
                </a:solidFill>
                <a:latin typeface="Aptos"/>
              </a:rPr>
              <a:t>Thermal trend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4005072"/>
            <a:ext cx="38221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Skin-to-core estimate calibrated against a guided reference; slope matters.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" y="4526280"/>
            <a:ext cx="109728" cy="109728"/>
          </a:xfrm>
          <a:prstGeom prst="ellipse">
            <a:avLst/>
          </a:prstGeom>
          <a:solidFill>
            <a:srgbClr val="6B4F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498848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1440"/>
                </a:solidFill>
                <a:latin typeface="Aptos"/>
              </a:rPr>
              <a:t>Hypoxic burden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4498848"/>
            <a:ext cx="38221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Sustained desaturation accumulates; one noisy sample is not the whole story.</a:t>
            </a:r>
          </a:p>
        </p:txBody>
      </p:sp>
      <p:sp>
        <p:nvSpPr>
          <p:cNvPr id="27" name="Oval 26"/>
          <p:cNvSpPr/>
          <p:nvPr/>
        </p:nvSpPr>
        <p:spPr>
          <a:xfrm>
            <a:off x="868680" y="5020056"/>
            <a:ext cx="109728" cy="109728"/>
          </a:xfrm>
          <a:prstGeom prst="ellipse">
            <a:avLst/>
          </a:prstGeom>
          <a:solidFill>
            <a:srgbClr val="6B4F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992624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1440"/>
                </a:solidFill>
                <a:latin typeface="Aptos"/>
              </a:rPr>
              <a:t>Fall motion sequence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08960" y="4992624"/>
            <a:ext cx="38221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Free-fall-like change → impact → rotation → stillness; tune to device data.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98664" y="1847088"/>
            <a:ext cx="3986784" cy="3995928"/>
          </a:xfrm>
          <a:prstGeom prst="roundRect">
            <a:avLst>
              <a:gd name="adj" fmla="val 12000"/>
            </a:avLst>
          </a:prstGeom>
          <a:solidFill>
            <a:srgbClr val="0D0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91272" y="2139696"/>
            <a:ext cx="336499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D93FF"/>
                </a:solidFill>
                <a:latin typeface="Aptos"/>
              </a:rPr>
              <a:t>CALIBRATION LOOP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91272" y="257860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Auto baseline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91272" y="2825496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C5BFE8"/>
                </a:solidFill>
                <a:latin typeface="Aptos"/>
              </a:rPr>
              <a:t>Quiet-gated EWMA from incoming readings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91272" y="323697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Auto-fit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91272" y="3483864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C5BFE8"/>
                </a:solidFill>
                <a:latin typeface="Aptos"/>
              </a:rPr>
              <a:t>Robust percentiles from recent history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91272" y="389534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Guided references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91272" y="4142231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C5BFE8"/>
                </a:solidFill>
                <a:latin typeface="Aptos"/>
              </a:rPr>
              <a:t>Thermometer, pulse-oximeter, resting HR / HRV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91272" y="45537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Manual override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91272" y="4800600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C5BFE8"/>
                </a:solidFill>
                <a:latin typeface="Aptos"/>
              </a:rPr>
              <a:t>Editable threshold and baseline controls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00416" y="5358384"/>
            <a:ext cx="1883664" cy="256032"/>
          </a:xfrm>
          <a:prstGeom prst="roundRect">
            <a:avLst>
              <a:gd name="adj" fmla="val 12000"/>
            </a:avLst>
          </a:prstGeom>
          <a:solidFill>
            <a:srgbClr val="171240"/>
          </a:solidFill>
          <a:ln w="12700">
            <a:solidFill>
              <a:srgbClr val="2E25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55280" y="5367528"/>
            <a:ext cx="17739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9D93FF"/>
                </a:solidFill>
                <a:latin typeface="Aptos"/>
              </a:rPr>
              <a:t>WARMING → ACTIVE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6035040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E76A0"/>
                </a:solidFill>
                <a:latin typeface="Aptos"/>
              </a:rPr>
              <a:t>Reference sources are tracked (prior / auto / guided / manual); confidence increases with data volume. Baseline snapshots over time are future work.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" y="292608"/>
            <a:ext cx="146304" cy="146304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2376" y="228600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NEUROLINK  /  WEAR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320" y="237744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11  / 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9224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1440"/>
                </a:solidFill>
                <a:latin typeface="Aptos"/>
              </a:rPr>
              <a:t>A broad event set supports useful triage—not diagnosis.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25296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7E76A0"/>
                </a:solidFill>
                <a:latin typeface="Aptos"/>
              </a:rPr>
              <a:t>Alerts include severity, evidence readings, plain-language explanation and suggested next steps.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510528"/>
            <a:ext cx="11137392" cy="0"/>
          </a:xfrm>
          <a:prstGeom prst="line">
            <a:avLst/>
          </a:prstGeom>
          <a:ln w="1016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4023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7E76A0"/>
                </a:solidFill>
                <a:latin typeface="Aptos"/>
              </a:rPr>
              <a:t>WORKING PROTOTYPE  •  DISCUSSION MATERIAL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65392"/>
            <a:ext cx="5669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828800"/>
            <a:ext cx="11018520" cy="402336"/>
          </a:xfrm>
          <a:prstGeom prst="roundRect">
            <a:avLst>
              <a:gd name="adj" fmla="val 12000"/>
            </a:avLst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1929384"/>
            <a:ext cx="2057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ptos"/>
              </a:rPr>
              <a:t>EVENT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62072" y="1929384"/>
            <a:ext cx="5532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ptos"/>
              </a:rPr>
              <a:t>SIGNAL / PATTERN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98864" y="1929384"/>
            <a:ext cx="19385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ptos"/>
              </a:rPr>
              <a:t>SEVERITY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304288"/>
            <a:ext cx="11018520" cy="365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331720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Fall detected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62072" y="2331720"/>
            <a:ext cx="5989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IMU impact / rotation / stillness sequence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98864" y="2331720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D32B36"/>
                </a:solidFill>
                <a:latin typeface="Aptos"/>
              </a:rPr>
              <a:t>Critical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715768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Low oxygen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62072" y="2715768"/>
            <a:ext cx="5989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SpO₂ floor + cumulative desaturation burden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98864" y="2715768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D32B36"/>
                </a:solidFill>
                <a:latin typeface="Aptos"/>
              </a:rPr>
              <a:t>High / urgent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072384"/>
            <a:ext cx="11018520" cy="365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099815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Fever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62072" y="3099815"/>
            <a:ext cx="5989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Temperature level + estimated core / rise over 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8864" y="3099815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C97A14"/>
                </a:solidFill>
                <a:latin typeface="Aptos"/>
              </a:rPr>
              <a:t>Medium / high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3483863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High stress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62072" y="3483863"/>
            <a:ext cx="5989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EDA response + HRV drop + HR context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864" y="3483863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C97A14"/>
                </a:solidFill>
                <a:latin typeface="Aptos"/>
              </a:rPr>
              <a:t>Medium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840479"/>
            <a:ext cx="11018520" cy="365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6384" y="3867911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Panic / acute distress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62072" y="3867911"/>
            <a:ext cx="5989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Fast HR + stress spike + motion context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8864" y="3867911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C97A14"/>
                </a:solidFill>
                <a:latin typeface="Aptos"/>
              </a:rPr>
              <a:t>High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" y="4251960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Tachycardia / bradycardia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62072" y="4251960"/>
            <a:ext cx="5989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HR outside wearer-specific range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98864" y="4251960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241483"/>
                </a:solidFill>
                <a:latin typeface="Aptos"/>
              </a:rPr>
              <a:t>Configurable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4608576"/>
            <a:ext cx="11018520" cy="365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" y="4636008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Fatigue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62072" y="4636008"/>
            <a:ext cx="5989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Sustained low HRV / recovery pattern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98864" y="4636008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C97A14"/>
                </a:solidFill>
                <a:latin typeface="Aptos"/>
              </a:rPr>
              <a:t>Medium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5020056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Inactivity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62072" y="5020056"/>
            <a:ext cx="5989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No meaningful movement beyond configured interval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98864" y="5020056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C97A14"/>
                </a:solidFill>
                <a:latin typeface="Aptos"/>
              </a:rPr>
              <a:t>Medium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5376672"/>
            <a:ext cx="11018520" cy="365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5404104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Emergency SOS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62072" y="5404104"/>
            <a:ext cx="5989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Caregiver / wearer-initiated action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98864" y="5404104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D32B36"/>
                </a:solidFill>
                <a:latin typeface="Aptos"/>
              </a:rPr>
              <a:t>Critical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504" y="5934456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1">
                <a:solidFill>
                  <a:srgbClr val="7E76A0"/>
                </a:solidFill>
                <a:latin typeface="Aptos"/>
              </a:rPr>
              <a:t>A rules-based engine can flag a pattern; sensor confirmation, symptom check and care-team judgement remain essential.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" y="292608"/>
            <a:ext cx="146304" cy="146304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2376" y="228600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NEUROLINK  /  WEAR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320" y="237744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12  /  SAFETY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9224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A1440"/>
                </a:solidFill>
                <a:latin typeface="Aptos"/>
              </a:rPr>
              <a:t>Personalization may add sensitivity; it must never erase a safety floor.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25296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7E76A0"/>
                </a:solidFill>
                <a:latin typeface="Aptos"/>
              </a:rPr>
              <a:t>Each condition can trigger when either the fixed clinical tier or the wearer-specific tier fires.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510528"/>
            <a:ext cx="11137392" cy="0"/>
          </a:xfrm>
          <a:prstGeom prst="line">
            <a:avLst/>
          </a:prstGeom>
          <a:ln w="1016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4023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7E76A0"/>
                </a:solidFill>
                <a:latin typeface="Aptos"/>
              </a:rPr>
              <a:t>WORKING PROTOTYPE  •  DISCUSSION MATERIAL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65392"/>
            <a:ext cx="5669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901952"/>
            <a:ext cx="4956048" cy="24871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139696"/>
            <a:ext cx="1152144" cy="256032"/>
          </a:xfrm>
          <a:prstGeom prst="roundRect">
            <a:avLst>
              <a:gd name="adj" fmla="val 12000"/>
            </a:avLst>
          </a:prstGeom>
          <a:solidFill>
            <a:srgbClr val="FBEA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148839"/>
            <a:ext cx="104241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32B36"/>
                </a:solidFill>
                <a:latin typeface="Aptos"/>
              </a:rPr>
              <a:t>TIER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578608"/>
            <a:ext cx="4343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A1440"/>
                </a:solidFill>
                <a:latin typeface="Aptos"/>
              </a:rPr>
              <a:t>Fixed safety boundaries</a:t>
            </a:r>
          </a:p>
        </p:txBody>
      </p:sp>
      <p:sp>
        <p:nvSpPr>
          <p:cNvPr id="14" name="Oval 13"/>
          <p:cNvSpPr/>
          <p:nvPr/>
        </p:nvSpPr>
        <p:spPr>
          <a:xfrm>
            <a:off x="841248" y="3191256"/>
            <a:ext cx="68580" cy="68580"/>
          </a:xfrm>
          <a:prstGeom prst="ellipse">
            <a:avLst/>
          </a:prstGeom>
          <a:solidFill>
            <a:srgbClr val="D32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099816"/>
            <a:ext cx="4206240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0">
                <a:solidFill>
                  <a:srgbClr val="3D3566"/>
                </a:solidFill>
                <a:latin typeface="Aptos"/>
              </a:rPr>
              <a:t>Non-editable floors in the live engine</a:t>
            </a:r>
          </a:p>
        </p:txBody>
      </p:sp>
      <p:sp>
        <p:nvSpPr>
          <p:cNvPr id="16" name="Oval 15"/>
          <p:cNvSpPr/>
          <p:nvPr/>
        </p:nvSpPr>
        <p:spPr>
          <a:xfrm>
            <a:off x="841248" y="3566160"/>
            <a:ext cx="68580" cy="68580"/>
          </a:xfrm>
          <a:prstGeom prst="ellipse">
            <a:avLst/>
          </a:prstGeom>
          <a:solidFill>
            <a:srgbClr val="D32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474720"/>
            <a:ext cx="4206240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0">
                <a:solidFill>
                  <a:srgbClr val="3D3566"/>
                </a:solidFill>
                <a:latin typeface="Aptos"/>
              </a:rPr>
              <a:t>Illustrative examples: low SpO₂, fever-range estimate, extreme resting HR, fall impact</a:t>
            </a:r>
          </a:p>
        </p:txBody>
      </p:sp>
      <p:sp>
        <p:nvSpPr>
          <p:cNvPr id="18" name="Oval 17"/>
          <p:cNvSpPr/>
          <p:nvPr/>
        </p:nvSpPr>
        <p:spPr>
          <a:xfrm>
            <a:off x="841248" y="3941063"/>
            <a:ext cx="68580" cy="68580"/>
          </a:xfrm>
          <a:prstGeom prst="ellipse">
            <a:avLst/>
          </a:prstGeom>
          <a:solidFill>
            <a:srgbClr val="D32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849624"/>
            <a:ext cx="4206240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0">
                <a:solidFill>
                  <a:srgbClr val="3D3566"/>
                </a:solidFill>
                <a:latin typeface="Aptos"/>
              </a:rPr>
              <a:t>Designed to prevent unsafe baseline drift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1901952"/>
            <a:ext cx="4910328" cy="24871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31152" y="2139696"/>
            <a:ext cx="1152144" cy="256032"/>
          </a:xfrm>
          <a:prstGeom prst="roundRect">
            <a:avLst>
              <a:gd name="adj" fmla="val 12000"/>
            </a:avLst>
          </a:prstGeom>
          <a:solidFill>
            <a:srgbClr val="9D9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86016" y="2148839"/>
            <a:ext cx="104241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41483"/>
                </a:solidFill>
                <a:latin typeface="Aptos"/>
              </a:rPr>
              <a:t>TIER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578608"/>
            <a:ext cx="4315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A1440"/>
                </a:solidFill>
                <a:latin typeface="Aptos"/>
              </a:rPr>
              <a:t>Personal deviation rules</a:t>
            </a:r>
          </a:p>
        </p:txBody>
      </p:sp>
      <p:sp>
        <p:nvSpPr>
          <p:cNvPr id="24" name="Oval 23"/>
          <p:cNvSpPr/>
          <p:nvPr/>
        </p:nvSpPr>
        <p:spPr>
          <a:xfrm>
            <a:off x="6949440" y="3191256"/>
            <a:ext cx="68580" cy="68580"/>
          </a:xfrm>
          <a:prstGeom prst="ellipse">
            <a:avLst/>
          </a:prstGeom>
          <a:solidFill>
            <a:srgbClr val="6B4F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14031" y="3099816"/>
            <a:ext cx="4197096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3D3566"/>
                </a:solidFill>
                <a:latin typeface="Aptos"/>
              </a:rPr>
              <a:t>Per-wearer median / MAD or σ-based thresholds</a:t>
            </a:r>
          </a:p>
        </p:txBody>
      </p:sp>
      <p:sp>
        <p:nvSpPr>
          <p:cNvPr id="26" name="Oval 25"/>
          <p:cNvSpPr/>
          <p:nvPr/>
        </p:nvSpPr>
        <p:spPr>
          <a:xfrm>
            <a:off x="6949440" y="3566160"/>
            <a:ext cx="68580" cy="68580"/>
          </a:xfrm>
          <a:prstGeom prst="ellipse">
            <a:avLst/>
          </a:prstGeom>
          <a:solidFill>
            <a:srgbClr val="6B4F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14031" y="3474720"/>
            <a:ext cx="4197096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3D3566"/>
                </a:solidFill>
                <a:latin typeface="Aptos"/>
              </a:rPr>
              <a:t>Trend-aware deviations: HRV drop, stress, sustained oxygen burden</a:t>
            </a:r>
          </a:p>
        </p:txBody>
      </p:sp>
      <p:sp>
        <p:nvSpPr>
          <p:cNvPr id="28" name="Oval 27"/>
          <p:cNvSpPr/>
          <p:nvPr/>
        </p:nvSpPr>
        <p:spPr>
          <a:xfrm>
            <a:off x="6949440" y="3941063"/>
            <a:ext cx="68580" cy="68580"/>
          </a:xfrm>
          <a:prstGeom prst="ellipse">
            <a:avLst/>
          </a:prstGeom>
          <a:solidFill>
            <a:srgbClr val="6B4F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14031" y="3849624"/>
            <a:ext cx="4197096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3D3566"/>
                </a:solidFill>
                <a:latin typeface="Aptos"/>
              </a:rPr>
              <a:t>Can be calibrated and tuned as evidence grows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522976" y="3127248"/>
            <a:ext cx="438912" cy="0"/>
          </a:xfrm>
          <a:prstGeom prst="line">
            <a:avLst/>
          </a:prstGeom>
          <a:ln w="25400">
            <a:solidFill>
              <a:srgbClr val="D32B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6236208" y="3127248"/>
            <a:ext cx="438912" cy="0"/>
          </a:xfrm>
          <a:prstGeom prst="line">
            <a:avLst/>
          </a:prstGeom>
          <a:ln w="2540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5760720" y="2843784"/>
            <a:ext cx="475488" cy="475488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0" y="2980944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OR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325880" y="4873752"/>
            <a:ext cx="9555480" cy="722376"/>
          </a:xfrm>
          <a:prstGeom prst="roundRect">
            <a:avLst>
              <a:gd name="adj" fmla="val 12000"/>
            </a:avLst>
          </a:prstGeom>
          <a:solidFill>
            <a:srgbClr val="0D0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09344" y="5084064"/>
            <a:ext cx="89794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TIER 1 fires  OR  TIER 2 fires   →   create an evidence-linked alert for a human to review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961888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1">
                <a:solidFill>
                  <a:srgbClr val="7E76A0"/>
                </a:solidFill>
                <a:latin typeface="Aptos"/>
              </a:rPr>
              <a:t>Safety boundaries shown in software are engineering safeguards, not clinically validated thresholds for any individual.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" y="292608"/>
            <a:ext cx="146304" cy="146304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2376" y="228600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NEUROLINK  /  WEAR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320" y="237744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13  / 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9224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1440"/>
                </a:solidFill>
                <a:latin typeface="Aptos"/>
              </a:rPr>
              <a:t>The alert lifecycle connects detection to accountable action.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25296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7E76A0"/>
                </a:solidFill>
                <a:latin typeface="Aptos"/>
              </a:rPr>
              <a:t>Most of the caregiver workflow is implemented; external notification delivery is still a production integration.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510528"/>
            <a:ext cx="11137392" cy="0"/>
          </a:xfrm>
          <a:prstGeom prst="line">
            <a:avLst/>
          </a:prstGeom>
          <a:ln w="1016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4023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7E76A0"/>
                </a:solidFill>
                <a:latin typeface="Aptos"/>
              </a:rPr>
              <a:t>WORKING PROTOTYPE  •  DISCUSSION MATERIAL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65392"/>
            <a:ext cx="5669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331720"/>
            <a:ext cx="1956816" cy="15361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49808" y="2523744"/>
            <a:ext cx="393192" cy="393192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624328"/>
            <a:ext cx="393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054096"/>
            <a:ext cx="15819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41483"/>
                </a:solidFill>
                <a:latin typeface="Aptos"/>
              </a:rPr>
              <a:t>DETECT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364992"/>
            <a:ext cx="1600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3D3566"/>
                </a:solidFill>
                <a:latin typeface="Aptos"/>
              </a:rPr>
              <a:t>Candidate pattern
+ sensor values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32888" y="3099816"/>
            <a:ext cx="292608" cy="0"/>
          </a:xfrm>
          <a:prstGeom prst="line">
            <a:avLst/>
          </a:prstGeom>
          <a:ln w="2032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898648" y="2331720"/>
            <a:ext cx="1956816" cy="15361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081528" y="2523744"/>
            <a:ext cx="393192" cy="393192"/>
          </a:xfrm>
          <a:prstGeom prst="ellipse">
            <a:avLst/>
          </a:prstGeom>
          <a:solidFill>
            <a:srgbClr val="D32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81528" y="2624328"/>
            <a:ext cx="393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1528" y="3054096"/>
            <a:ext cx="15819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32B36"/>
                </a:solidFill>
                <a:latin typeface="Aptos"/>
              </a:rPr>
              <a:t>PRIORITIZE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81528" y="3364992"/>
            <a:ext cx="1600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3D3566"/>
                </a:solidFill>
                <a:latin typeface="Aptos"/>
              </a:rPr>
              <a:t>Severity
+ why it fired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099816"/>
            <a:ext cx="292608" cy="0"/>
          </a:xfrm>
          <a:prstGeom prst="line">
            <a:avLst/>
          </a:prstGeom>
          <a:ln w="2032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230368" y="2331720"/>
            <a:ext cx="1956816" cy="15361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413248" y="2523744"/>
            <a:ext cx="393192" cy="393192"/>
          </a:xfrm>
          <a:prstGeom prst="ellipse">
            <a:avLst/>
          </a:prstGeom>
          <a:solidFill>
            <a:srgbClr val="C97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13248" y="2624328"/>
            <a:ext cx="393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3054096"/>
            <a:ext cx="15819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97A14"/>
                </a:solidFill>
                <a:latin typeface="Aptos"/>
              </a:rPr>
              <a:t>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13248" y="3364992"/>
            <a:ext cx="1600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3D3566"/>
                </a:solidFill>
                <a:latin typeface="Aptos"/>
              </a:rPr>
              <a:t>Acknowledge
+ confirm context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96327" y="3099816"/>
            <a:ext cx="292609" cy="0"/>
          </a:xfrm>
          <a:prstGeom prst="line">
            <a:avLst/>
          </a:prstGeom>
          <a:ln w="2032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562088" y="2331720"/>
            <a:ext cx="1956816" cy="15361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44967" y="2523744"/>
            <a:ext cx="393192" cy="393192"/>
          </a:xfrm>
          <a:prstGeom prst="ellipse">
            <a:avLst/>
          </a:prstGeom>
          <a:solidFill>
            <a:srgbClr val="6B4F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44967" y="2624328"/>
            <a:ext cx="393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44967" y="3054096"/>
            <a:ext cx="15819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4FD0"/>
                </a:solidFill>
                <a:latin typeface="Aptos"/>
              </a:rPr>
              <a:t>ESCALATE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44967" y="3364992"/>
            <a:ext cx="1600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3D3566"/>
                </a:solidFill>
                <a:latin typeface="Aptos"/>
              </a:rPr>
              <a:t>Select trusted
contact / channel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528048" y="3099816"/>
            <a:ext cx="292608" cy="0"/>
          </a:xfrm>
          <a:prstGeom prst="line">
            <a:avLst/>
          </a:prstGeom>
          <a:ln w="2032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893807" y="2331720"/>
            <a:ext cx="1956816" cy="15361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076687" y="2523744"/>
            <a:ext cx="393192" cy="393192"/>
          </a:xfrm>
          <a:prstGeom prst="ellipse">
            <a:avLst/>
          </a:prstGeom>
          <a:solidFill>
            <a:srgbClr val="1E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76687" y="2624328"/>
            <a:ext cx="393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76687" y="3054096"/>
            <a:ext cx="15819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E8A5F"/>
                </a:solidFill>
                <a:latin typeface="Aptos"/>
              </a:rPr>
              <a:t>CLOSE LOOP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76687" y="3364992"/>
            <a:ext cx="1600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3D3566"/>
                </a:solidFill>
                <a:latin typeface="Aptos"/>
              </a:rPr>
              <a:t>Log delivery,
resolve incident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4297680"/>
            <a:ext cx="5321808" cy="1252728"/>
          </a:xfrm>
          <a:prstGeom prst="roundRect">
            <a:avLst>
              <a:gd name="adj" fmla="val 12000"/>
            </a:avLst>
          </a:prstGeom>
          <a:solidFill>
            <a:srgbClr val="E8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4507992"/>
            <a:ext cx="4782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E8A5F"/>
                </a:solidFill>
                <a:latin typeface="Aptos"/>
              </a:rPr>
              <a:t>IN PRODUCT TODAY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4855464"/>
            <a:ext cx="473659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D3566"/>
                </a:solidFill>
                <a:latin typeface="Aptos"/>
              </a:rPr>
              <a:t>Confirm-to-SOS • acknowledge / resolve • contact CRUD • selectable SMS / call / app labels • dispatch history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44768" y="4297680"/>
            <a:ext cx="5440680" cy="1252728"/>
          </a:xfrm>
          <a:prstGeom prst="roundRect">
            <a:avLst>
              <a:gd name="adj" fmla="val 12000"/>
            </a:avLst>
          </a:prstGeom>
          <a:solidFill>
            <a:srgbClr val="FBF1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507992"/>
            <a:ext cx="4855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97A14"/>
                </a:solidFill>
                <a:latin typeface="Aptos"/>
              </a:rPr>
              <a:t>INTEGRATION BEFORE REAL-WORLD USE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4855464"/>
            <a:ext cx="476402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D3566"/>
                </a:solidFill>
                <a:latin typeface="Aptos"/>
              </a:rPr>
              <a:t>Verified SMS / voice / push provider • delivery receipts • retries • offline fallback • consent + escalation policy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" y="5952744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E76A0"/>
                </a:solidFill>
                <a:latin typeface="Aptos"/>
              </a:rPr>
              <a:t>Current dispatch endpoint writes a workflow record in the prototype; it does not place an actual call or send production SMS.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" y="292608"/>
            <a:ext cx="146304" cy="146304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2376" y="228600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NEUROLINK  /  WEAR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320" y="237744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14  /  SAFETY 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9224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A1440"/>
                </a:solidFill>
                <a:latin typeface="Aptos"/>
              </a:rPr>
              <a:t>The safety view keeps incident, location and next action together.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25296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7E76A0"/>
                </a:solidFill>
                <a:latin typeface="Aptos"/>
              </a:rPr>
              <a:t>A calmer response surface reduces the need to jump between tools during an event.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510528"/>
            <a:ext cx="11137392" cy="0"/>
          </a:xfrm>
          <a:prstGeom prst="line">
            <a:avLst/>
          </a:prstGeom>
          <a:ln w="1016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4023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7E76A0"/>
                </a:solidFill>
                <a:latin typeface="Aptos"/>
              </a:rPr>
              <a:t>WORKING PROTOTYPE  •  DISCUSSION MATERIAL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65392"/>
            <a:ext cx="5669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819656"/>
            <a:ext cx="11018520" cy="4114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819656"/>
            <a:ext cx="11018520" cy="384048"/>
          </a:xfrm>
          <a:prstGeom prst="roundRect">
            <a:avLst>
              <a:gd name="adj" fmla="val 12000"/>
            </a:avLst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1920240"/>
            <a:ext cx="310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ptos"/>
              </a:rPr>
              <a:t>SAFETY  /  MARGARET THOMPSON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93808" y="1901952"/>
            <a:ext cx="1335024" cy="210312"/>
          </a:xfrm>
          <a:prstGeom prst="roundRect">
            <a:avLst>
              <a:gd name="adj" fmla="val 12000"/>
            </a:avLst>
          </a:prstGeom>
          <a:solidFill>
            <a:srgbClr val="FBF1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48672" y="1911095"/>
            <a:ext cx="1225295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C97A14"/>
                </a:solidFill>
                <a:latin typeface="Aptos"/>
              </a:rPr>
              <a:t>STATUS: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87168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E76A0"/>
                </a:solidFill>
                <a:latin typeface="Aptos"/>
              </a:rPr>
              <a:t>INCIDENT TIMELINE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32688" y="2898648"/>
            <a:ext cx="0" cy="2377440"/>
          </a:xfrm>
          <a:prstGeom prst="line">
            <a:avLst/>
          </a:prstGeom>
          <a:ln w="2540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832104" y="2880360"/>
            <a:ext cx="201168" cy="201168"/>
          </a:xfrm>
          <a:prstGeom prst="ellipse">
            <a:avLst/>
          </a:prstGeom>
          <a:solidFill>
            <a:srgbClr val="D32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25296" y="2871216"/>
            <a:ext cx="5669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32B36"/>
                </a:solidFill>
                <a:latin typeface="Aptos"/>
              </a:rPr>
              <a:t>18:42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286207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A1440"/>
                </a:solidFill>
                <a:latin typeface="Aptos"/>
              </a:rPr>
              <a:t>Fall-like motion signature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10896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E76A0"/>
                </a:solidFill>
                <a:latin typeface="Aptos"/>
              </a:rPr>
              <a:t>Critical / active</a:t>
            </a:r>
          </a:p>
        </p:txBody>
      </p:sp>
      <p:sp>
        <p:nvSpPr>
          <p:cNvPr id="21" name="Oval 20"/>
          <p:cNvSpPr/>
          <p:nvPr/>
        </p:nvSpPr>
        <p:spPr>
          <a:xfrm>
            <a:off x="832104" y="3675887"/>
            <a:ext cx="201168" cy="201168"/>
          </a:xfrm>
          <a:prstGeom prst="ellipse">
            <a:avLst/>
          </a:prstGeom>
          <a:solidFill>
            <a:srgbClr val="C97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25296" y="3666744"/>
            <a:ext cx="5669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97A14"/>
                </a:solidFill>
                <a:latin typeface="Aptos"/>
              </a:rPr>
              <a:t>18:44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657599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A1440"/>
                </a:solidFill>
                <a:latin typeface="Aptos"/>
              </a:rPr>
              <a:t>Caregiver acknowledged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3904487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E76A0"/>
                </a:solidFill>
                <a:latin typeface="Aptos"/>
              </a:rPr>
              <a:t>Follow-up requested</a:t>
            </a:r>
          </a:p>
        </p:txBody>
      </p:sp>
      <p:sp>
        <p:nvSpPr>
          <p:cNvPr id="25" name="Oval 24"/>
          <p:cNvSpPr/>
          <p:nvPr/>
        </p:nvSpPr>
        <p:spPr>
          <a:xfrm>
            <a:off x="832104" y="4471416"/>
            <a:ext cx="201168" cy="201168"/>
          </a:xfrm>
          <a:prstGeom prst="ellipse">
            <a:avLst/>
          </a:prstGeom>
          <a:solidFill>
            <a:srgbClr val="1E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25296" y="4462272"/>
            <a:ext cx="5669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E8A5F"/>
                </a:solidFill>
                <a:latin typeface="Aptos"/>
              </a:rPr>
              <a:t>18:48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453128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A1440"/>
                </a:solidFill>
                <a:latin typeface="Aptos"/>
              </a:rPr>
              <a:t>Contact selected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4700016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E76A0"/>
                </a:solidFill>
                <a:latin typeface="Aptos"/>
              </a:rPr>
              <a:t>Dispatch record saved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5968" y="2496312"/>
            <a:ext cx="4617720" cy="2926080"/>
          </a:xfrm>
          <a:prstGeom prst="roundRect">
            <a:avLst>
              <a:gd name="adj" fmla="val 12000"/>
            </a:avLst>
          </a:prstGeom>
          <a:solidFill>
            <a:srgbClr val="F5F4FA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4937760" y="2560320"/>
            <a:ext cx="228600" cy="2816352"/>
          </a:xfrm>
          <a:prstGeom prst="line">
            <a:avLst/>
          </a:prstGeom>
          <a:ln w="25400">
            <a:solidFill>
              <a:srgbClr val="E2DF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806440" y="2560320"/>
            <a:ext cx="228600" cy="2816352"/>
          </a:xfrm>
          <a:prstGeom prst="line">
            <a:avLst/>
          </a:prstGeom>
          <a:ln w="25400">
            <a:solidFill>
              <a:srgbClr val="E2DF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675120" y="2560320"/>
            <a:ext cx="228600" cy="2816352"/>
          </a:xfrm>
          <a:prstGeom prst="line">
            <a:avLst/>
          </a:prstGeom>
          <a:ln w="25400">
            <a:solidFill>
              <a:srgbClr val="E2DF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543800" y="2560320"/>
            <a:ext cx="228600" cy="2816352"/>
          </a:xfrm>
          <a:prstGeom prst="line">
            <a:avLst/>
          </a:prstGeom>
          <a:ln w="25400">
            <a:solidFill>
              <a:srgbClr val="E2DF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366760" y="2560320"/>
            <a:ext cx="228600" cy="2816352"/>
          </a:xfrm>
          <a:prstGeom prst="line">
            <a:avLst/>
          </a:prstGeom>
          <a:ln w="25400">
            <a:solidFill>
              <a:srgbClr val="E2DF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370832" y="3017520"/>
            <a:ext cx="4480560" cy="164592"/>
          </a:xfrm>
          <a:prstGeom prst="line">
            <a:avLst/>
          </a:prstGeom>
          <a:ln w="25400">
            <a:solidFill>
              <a:srgbClr val="E2DF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4370832" y="3657600"/>
            <a:ext cx="4480560" cy="164591"/>
          </a:xfrm>
          <a:prstGeom prst="line">
            <a:avLst/>
          </a:prstGeom>
          <a:ln w="25400">
            <a:solidFill>
              <a:srgbClr val="E2DF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370832" y="4297680"/>
            <a:ext cx="4480560" cy="164592"/>
          </a:xfrm>
          <a:prstGeom prst="line">
            <a:avLst/>
          </a:prstGeom>
          <a:ln w="25400">
            <a:solidFill>
              <a:srgbClr val="E2DF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370832" y="4937760"/>
            <a:ext cx="4480560" cy="164592"/>
          </a:xfrm>
          <a:prstGeom prst="line">
            <a:avLst/>
          </a:prstGeom>
          <a:ln w="25400">
            <a:solidFill>
              <a:srgbClr val="E2DF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4736592" y="4572000"/>
            <a:ext cx="841248" cy="530352"/>
          </a:xfrm>
          <a:prstGeom prst="line">
            <a:avLst/>
          </a:prstGeom>
          <a:ln w="29209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5577840" y="4069080"/>
            <a:ext cx="950976" cy="502920"/>
          </a:xfrm>
          <a:prstGeom prst="line">
            <a:avLst/>
          </a:prstGeom>
          <a:ln w="29209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28816" y="4069080"/>
            <a:ext cx="832104" cy="100583"/>
          </a:xfrm>
          <a:prstGeom prst="line">
            <a:avLst/>
          </a:prstGeom>
          <a:ln w="29209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7168896" y="3886200"/>
            <a:ext cx="301752" cy="301752"/>
          </a:xfrm>
          <a:prstGeom prst="ellipse">
            <a:avLst/>
          </a:prstGeom>
          <a:solidFill>
            <a:srgbClr val="D32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32904" y="3950208"/>
            <a:ext cx="182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+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35424" y="5184648"/>
            <a:ext cx="41879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7E76A0"/>
                </a:solidFill>
                <a:latin typeface="Aptos"/>
              </a:rPr>
              <a:t>ILLUSTRATIVE MAP / LOCATION MARKER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44000" y="2496312"/>
            <a:ext cx="2167128" cy="2926080"/>
          </a:xfrm>
          <a:prstGeom prst="roundRect">
            <a:avLst>
              <a:gd name="adj" fmla="val 12000"/>
            </a:avLst>
          </a:prstGeom>
          <a:solidFill>
            <a:srgbClr val="F7F6FC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45168" y="2715768"/>
            <a:ext cx="1764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E76A0"/>
                </a:solidFill>
                <a:latin typeface="Aptos"/>
              </a:rPr>
              <a:t>NEXT ACTION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45168" y="3063240"/>
            <a:ext cx="177393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440"/>
                </a:solidFill>
                <a:latin typeface="Aptos"/>
              </a:rPr>
              <a:t>Check on
wearer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45168" y="3767328"/>
            <a:ext cx="176479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3D3566"/>
                </a:solidFill>
                <a:latin typeface="Aptos"/>
              </a:rPr>
              <a:t>Select trusted contacts and an approved channel.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345168" y="4663440"/>
            <a:ext cx="1755648" cy="283464"/>
          </a:xfrm>
          <a:prstGeom prst="roundRect">
            <a:avLst>
              <a:gd name="adj" fmla="val 12000"/>
            </a:avLst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00032" y="4672583"/>
            <a:ext cx="1645919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ptos"/>
              </a:rPr>
              <a:t>OPEN DISPATCH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" y="5577840"/>
            <a:ext cx="10424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7E76A0"/>
                </a:solidFill>
                <a:latin typeface="Aptos"/>
              </a:rPr>
              <a:t>GPS map / event markers and dispatch history exist in the prototype; map accuracy, provider delivery and indoor location require validation.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" y="292608"/>
            <a:ext cx="146304" cy="146304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2376" y="228600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NEUROLINK  /  WEAR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320" y="237744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15  /  TRENDS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9224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1440"/>
                </a:solidFill>
                <a:latin typeface="Aptos"/>
              </a:rPr>
              <a:t>Longitudinal context turns one alert into a useful history.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25296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7E76A0"/>
                </a:solidFill>
                <a:latin typeface="Aptos"/>
              </a:rPr>
              <a:t>Interactive charts, range filters, clinical overlays and daily activity summaries are implemented.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510528"/>
            <a:ext cx="11137392" cy="0"/>
          </a:xfrm>
          <a:prstGeom prst="line">
            <a:avLst/>
          </a:prstGeom>
          <a:ln w="1016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4023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7E76A0"/>
                </a:solidFill>
                <a:latin typeface="Aptos"/>
              </a:rPr>
              <a:t>WORKING PROTOTYPE  •  DISCUSSION MATERIAL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65392"/>
            <a:ext cx="5669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828800"/>
            <a:ext cx="2542032" cy="8321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975104"/>
            <a:ext cx="21305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7E76A0"/>
                </a:solidFill>
                <a:latin typeface="Aptos"/>
              </a:rPr>
              <a:t>HRV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185416"/>
            <a:ext cx="126187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440"/>
                </a:solidFill>
                <a:latin typeface="Aptos"/>
              </a:rPr>
              <a:t>42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84248" y="2304288"/>
            <a:ext cx="9326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E76A0"/>
                </a:solidFill>
                <a:latin typeface="Aptos"/>
              </a:rPr>
              <a:t>24h avg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1828800"/>
            <a:ext cx="2542032" cy="8321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1975104"/>
            <a:ext cx="21305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7E76A0"/>
                </a:solidFill>
                <a:latin typeface="Aptos"/>
              </a:rPr>
              <a:t>TEMP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185416"/>
            <a:ext cx="126187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440"/>
                </a:solidFill>
                <a:latin typeface="Aptos"/>
              </a:rPr>
              <a:t>36.6 °C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73168" y="2304288"/>
            <a:ext cx="9326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E76A0"/>
                </a:solidFill>
                <a:latin typeface="Aptos"/>
              </a:rPr>
              <a:t>24h avg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1828800"/>
            <a:ext cx="2542032" cy="8321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59" y="1975104"/>
            <a:ext cx="21305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7E76A0"/>
                </a:solidFill>
                <a:latin typeface="Aptos"/>
              </a:rPr>
              <a:t>SpO₂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2185416"/>
            <a:ext cx="126187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440"/>
                </a:solidFill>
                <a:latin typeface="Aptos"/>
              </a:rPr>
              <a:t>96.8 %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62088" y="2304288"/>
            <a:ext cx="9326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E76A0"/>
                </a:solidFill>
                <a:latin typeface="Aptos"/>
              </a:rPr>
              <a:t>24h avg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33687" y="1828800"/>
            <a:ext cx="2542032" cy="8321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79" y="1975104"/>
            <a:ext cx="21305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7E76A0"/>
                </a:solidFill>
                <a:latin typeface="Aptos"/>
              </a:rPr>
              <a:t>STRESS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79" y="2185416"/>
            <a:ext cx="126187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440"/>
                </a:solidFill>
                <a:latin typeface="Aptos"/>
              </a:rPr>
              <a:t>0.29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51007" y="2304288"/>
            <a:ext cx="9326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E76A0"/>
                </a:solidFill>
                <a:latin typeface="Aptos"/>
              </a:rPr>
              <a:t>24h avg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2926080"/>
            <a:ext cx="3493008" cy="21305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090672"/>
            <a:ext cx="3127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E76A0"/>
                </a:solidFill>
                <a:latin typeface="Aptos"/>
              </a:rPr>
              <a:t>HRV HISTORY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86384" y="3493008"/>
            <a:ext cx="3026664" cy="0"/>
          </a:xfrm>
          <a:prstGeom prst="line">
            <a:avLst/>
          </a:prstGeom>
          <a:ln w="7620">
            <a:solidFill>
              <a:srgbClr val="ECEA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86384" y="3895344"/>
            <a:ext cx="3026664" cy="0"/>
          </a:xfrm>
          <a:prstGeom prst="line">
            <a:avLst/>
          </a:prstGeom>
          <a:ln w="7620">
            <a:solidFill>
              <a:srgbClr val="ECEA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86384" y="4297680"/>
            <a:ext cx="3026664" cy="0"/>
          </a:xfrm>
          <a:prstGeom prst="line">
            <a:avLst/>
          </a:prstGeom>
          <a:ln w="7620">
            <a:solidFill>
              <a:srgbClr val="ECEA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22960" y="4140403"/>
            <a:ext cx="409651" cy="142646"/>
          </a:xfrm>
          <a:prstGeom prst="line">
            <a:avLst/>
          </a:prstGeom>
          <a:ln w="2286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232611" y="4228185"/>
            <a:ext cx="409651" cy="54864"/>
          </a:xfrm>
          <a:prstGeom prst="line">
            <a:avLst/>
          </a:prstGeom>
          <a:ln w="2286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642262" y="4228185"/>
            <a:ext cx="409651" cy="164592"/>
          </a:xfrm>
          <a:prstGeom prst="line">
            <a:avLst/>
          </a:prstGeom>
          <a:ln w="2286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2051913" y="4315968"/>
            <a:ext cx="438912" cy="76809"/>
          </a:xfrm>
          <a:prstGeom prst="line">
            <a:avLst/>
          </a:prstGeom>
          <a:ln w="2286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490825" y="4315968"/>
            <a:ext cx="438912" cy="175564"/>
          </a:xfrm>
          <a:prstGeom prst="line">
            <a:avLst/>
          </a:prstGeom>
          <a:ln w="2286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929737" y="4414723"/>
            <a:ext cx="468173" cy="76809"/>
          </a:xfrm>
          <a:prstGeom prst="line">
            <a:avLst/>
          </a:prstGeom>
          <a:ln w="2286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04672" y="3941063"/>
            <a:ext cx="3008376" cy="0"/>
          </a:xfrm>
          <a:prstGeom prst="line">
            <a:avLst/>
          </a:prstGeom>
          <a:ln w="10160">
            <a:solidFill>
              <a:srgbClr val="C97A1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4315968" y="2926080"/>
            <a:ext cx="3493008" cy="21305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98848" y="3090672"/>
            <a:ext cx="3127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E76A0"/>
                </a:solidFill>
                <a:latin typeface="Aptos"/>
              </a:rPr>
              <a:t>TEMP + SpO₂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535424" y="3493008"/>
            <a:ext cx="3026664" cy="0"/>
          </a:xfrm>
          <a:prstGeom prst="line">
            <a:avLst/>
          </a:prstGeom>
          <a:ln w="7620">
            <a:solidFill>
              <a:srgbClr val="ECEA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535424" y="3895344"/>
            <a:ext cx="3026664" cy="0"/>
          </a:xfrm>
          <a:prstGeom prst="line">
            <a:avLst/>
          </a:prstGeom>
          <a:ln w="7620">
            <a:solidFill>
              <a:srgbClr val="ECEA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535424" y="4297680"/>
            <a:ext cx="3026664" cy="0"/>
          </a:xfrm>
          <a:prstGeom prst="line">
            <a:avLst/>
          </a:prstGeom>
          <a:ln w="7620">
            <a:solidFill>
              <a:srgbClr val="ECEA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572000" y="4151376"/>
            <a:ext cx="468172" cy="54864"/>
          </a:xfrm>
          <a:prstGeom prst="line">
            <a:avLst/>
          </a:prstGeom>
          <a:ln w="2286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5040172" y="4162348"/>
            <a:ext cx="468173" cy="43892"/>
          </a:xfrm>
          <a:prstGeom prst="line">
            <a:avLst/>
          </a:prstGeom>
          <a:ln w="2286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508345" y="4162348"/>
            <a:ext cx="468173" cy="175565"/>
          </a:xfrm>
          <a:prstGeom prst="line">
            <a:avLst/>
          </a:prstGeom>
          <a:ln w="2286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5976518" y="4283049"/>
            <a:ext cx="468173" cy="54864"/>
          </a:xfrm>
          <a:prstGeom prst="line">
            <a:avLst/>
          </a:prstGeom>
          <a:ln w="2286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44691" y="4283049"/>
            <a:ext cx="526694" cy="109728"/>
          </a:xfrm>
          <a:prstGeom prst="line">
            <a:avLst/>
          </a:prstGeom>
          <a:ln w="2286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6971385" y="4370832"/>
            <a:ext cx="526694" cy="21945"/>
          </a:xfrm>
          <a:prstGeom prst="line">
            <a:avLst/>
          </a:prstGeom>
          <a:ln w="2286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553712" y="3941063"/>
            <a:ext cx="3008376" cy="0"/>
          </a:xfrm>
          <a:prstGeom prst="line">
            <a:avLst/>
          </a:prstGeom>
          <a:ln w="10160">
            <a:solidFill>
              <a:srgbClr val="C97A1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8065007" y="2926080"/>
            <a:ext cx="3493008" cy="21305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47887" y="3090672"/>
            <a:ext cx="3127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E76A0"/>
                </a:solidFill>
                <a:latin typeface="Aptos"/>
              </a:rPr>
              <a:t>STRESS + HEART RATE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284463" y="3493008"/>
            <a:ext cx="3026664" cy="0"/>
          </a:xfrm>
          <a:prstGeom prst="line">
            <a:avLst/>
          </a:prstGeom>
          <a:ln w="7620">
            <a:solidFill>
              <a:srgbClr val="ECEA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284463" y="3895344"/>
            <a:ext cx="3026664" cy="0"/>
          </a:xfrm>
          <a:prstGeom prst="line">
            <a:avLst/>
          </a:prstGeom>
          <a:ln w="7620">
            <a:solidFill>
              <a:srgbClr val="ECEA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284463" y="4297680"/>
            <a:ext cx="3026664" cy="0"/>
          </a:xfrm>
          <a:prstGeom prst="line">
            <a:avLst/>
          </a:prstGeom>
          <a:ln w="7620">
            <a:solidFill>
              <a:srgbClr val="ECEA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321039" y="4074566"/>
            <a:ext cx="468173" cy="65837"/>
          </a:xfrm>
          <a:prstGeom prst="line">
            <a:avLst/>
          </a:prstGeom>
          <a:ln w="2286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8789212" y="4140403"/>
            <a:ext cx="409651" cy="175565"/>
          </a:xfrm>
          <a:prstGeom prst="line">
            <a:avLst/>
          </a:prstGeom>
          <a:ln w="2286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9198863" y="4250131"/>
            <a:ext cx="468173" cy="65837"/>
          </a:xfrm>
          <a:prstGeom prst="line">
            <a:avLst/>
          </a:prstGeom>
          <a:ln w="2286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667036" y="4250131"/>
            <a:ext cx="409651" cy="219456"/>
          </a:xfrm>
          <a:prstGeom prst="line">
            <a:avLst/>
          </a:prstGeom>
          <a:ln w="2286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10076687" y="4337913"/>
            <a:ext cx="497434" cy="131674"/>
          </a:xfrm>
          <a:prstGeom prst="line">
            <a:avLst/>
          </a:prstGeom>
          <a:ln w="2286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0574121" y="4337913"/>
            <a:ext cx="672998" cy="175565"/>
          </a:xfrm>
          <a:prstGeom prst="line">
            <a:avLst/>
          </a:prstGeom>
          <a:ln w="2286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8302751" y="3941063"/>
            <a:ext cx="3008376" cy="0"/>
          </a:xfrm>
          <a:prstGeom prst="line">
            <a:avLst/>
          </a:prstGeom>
          <a:ln w="10160">
            <a:solidFill>
              <a:srgbClr val="C97A1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612648" y="5330952"/>
            <a:ext cx="667512" cy="246888"/>
          </a:xfrm>
          <a:prstGeom prst="roundRect">
            <a:avLst>
              <a:gd name="adj" fmla="val 12000"/>
            </a:avLst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67512" y="5340096"/>
            <a:ext cx="55778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ptos"/>
              </a:rPr>
              <a:t>24 h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362456" y="5330952"/>
            <a:ext cx="640080" cy="246888"/>
          </a:xfrm>
          <a:prstGeom prst="roundRect">
            <a:avLst>
              <a:gd name="adj" fmla="val 12000"/>
            </a:avLst>
          </a:prstGeom>
          <a:solidFill>
            <a:srgbClr val="EC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417320" y="5340096"/>
            <a:ext cx="5303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7E76A0"/>
                </a:solidFill>
                <a:latin typeface="Aptos"/>
              </a:rPr>
              <a:t>48 h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039112" y="5330952"/>
            <a:ext cx="640080" cy="246888"/>
          </a:xfrm>
          <a:prstGeom prst="roundRect">
            <a:avLst>
              <a:gd name="adj" fmla="val 12000"/>
            </a:avLst>
          </a:prstGeom>
          <a:solidFill>
            <a:srgbClr val="EC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093976" y="5340096"/>
            <a:ext cx="5303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7E76A0"/>
                </a:solidFill>
                <a:latin typeface="Aptos"/>
              </a:rPr>
              <a:t>7 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715768" y="5330952"/>
            <a:ext cx="640080" cy="246888"/>
          </a:xfrm>
          <a:prstGeom prst="roundRect">
            <a:avLst>
              <a:gd name="adj" fmla="val 12000"/>
            </a:avLst>
          </a:prstGeom>
          <a:solidFill>
            <a:srgbClr val="EC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70632" y="5340096"/>
            <a:ext cx="5303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7E76A0"/>
                </a:solidFill>
                <a:latin typeface="Aptos"/>
              </a:rPr>
              <a:t>30 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43400" y="5376672"/>
            <a:ext cx="7178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3D3566"/>
                </a:solidFill>
                <a:latin typeface="Aptos"/>
              </a:rPr>
              <a:t>Also: 14-day step / activity bars • today’s motion mix • average and delta tiles • time-series tooltips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3504" y="5925312"/>
            <a:ext cx="1078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7E76A0"/>
                </a:solidFill>
                <a:latin typeface="Aptos"/>
              </a:rPr>
              <a:t>Charts shown are vector mockups with illustrative data; source dashboard renders dynamic readings and selected time windows.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" y="292608"/>
            <a:ext cx="146304" cy="146304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2376" y="228600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NEUROLINK  /  WEAR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320" y="237744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16  / 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9224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1440"/>
                </a:solidFill>
                <a:latin typeface="Aptos"/>
              </a:rPr>
              <a:t>Caregiver and device administration is part of the core product.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25296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7E76A0"/>
                </a:solidFill>
                <a:latin typeface="Aptos"/>
              </a:rPr>
              <a:t>Operational controls are built into the current management views rather than left to engineering.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510528"/>
            <a:ext cx="11137392" cy="0"/>
          </a:xfrm>
          <a:prstGeom prst="line">
            <a:avLst/>
          </a:prstGeom>
          <a:ln w="1016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4023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7E76A0"/>
                </a:solidFill>
                <a:latin typeface="Aptos"/>
              </a:rPr>
              <a:t>WORKING PROTOTYPE  •  DISCUSSION MATERIAL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65392"/>
            <a:ext cx="5669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847088"/>
            <a:ext cx="5321808" cy="1527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993392"/>
            <a:ext cx="50292" cy="1234439"/>
          </a:xfrm>
          <a:prstGeom prst="rect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3" y="2020824"/>
            <a:ext cx="487375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440"/>
                </a:solidFill>
                <a:latin typeface="Aptos"/>
              </a:rPr>
              <a:t>CONTACTS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3" y="2432304"/>
            <a:ext cx="48737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3D3566"/>
                </a:solidFill>
                <a:latin typeface="Aptos"/>
              </a:rPr>
              <a:t>Create / edit / remove trusted contacts
Priority order + dispatch eligibility
Relationship and communication details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1847088"/>
            <a:ext cx="5321808" cy="1527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993392"/>
            <a:ext cx="50292" cy="1234439"/>
          </a:xfrm>
          <a:prstGeom prst="rect">
            <a:avLst/>
          </a:prstGeom>
          <a:solidFill>
            <a:srgbClr val="6B4F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2020824"/>
            <a:ext cx="487375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440"/>
                </a:solidFill>
                <a:latin typeface="Aptos"/>
              </a:rPr>
              <a:t>DEVICE + MQTT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2432304"/>
            <a:ext cx="48737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3D3566"/>
                </a:solidFill>
                <a:latin typeface="Aptos"/>
              </a:rPr>
              <a:t>Pair / unpair device and serial
Broker, topic, TLS configuration
Connection test with stage-level feedback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648456"/>
            <a:ext cx="5321808" cy="1527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3794760"/>
            <a:ext cx="50292" cy="1234439"/>
          </a:xfrm>
          <a:prstGeom prst="rect">
            <a:avLst/>
          </a:prstGeom>
          <a:solidFill>
            <a:srgbClr val="1E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3" y="3822192"/>
            <a:ext cx="487375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440"/>
                </a:solidFill>
                <a:latin typeface="Aptos"/>
              </a:rPr>
              <a:t>PERSONALIZATION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3" y="4233672"/>
            <a:ext cx="48737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3D3566"/>
                </a:solidFill>
                <a:latin typeface="Aptos"/>
              </a:rPr>
              <a:t>Per-patient alert thresholds
Calibration and reference history
Wearer profile / conditions / notes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3648456"/>
            <a:ext cx="5321808" cy="1527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794760"/>
            <a:ext cx="50292" cy="1234439"/>
          </a:xfrm>
          <a:prstGeom prst="rect">
            <a:avLst/>
          </a:prstGeom>
          <a:solidFill>
            <a:srgbClr val="C97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822192"/>
            <a:ext cx="487375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440"/>
                </a:solidFill>
                <a:latin typeface="Aptos"/>
              </a:rPr>
              <a:t>CARE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233672"/>
            <a:ext cx="48737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3D3566"/>
                </a:solidFill>
                <a:latin typeface="Aptos"/>
              </a:rPr>
              <a:t>Admin user create / edit / remove
Admin and caregiver role gates
Caregiver read-only team access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632704"/>
            <a:ext cx="11018520" cy="429768"/>
          </a:xfrm>
          <a:prstGeom prst="roundRect">
            <a:avLst>
              <a:gd name="adj" fmla="val 12000"/>
            </a:avLst>
          </a:prstGeom>
          <a:solidFill>
            <a:srgbClr val="EC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5751576"/>
            <a:ext cx="10561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241483"/>
                </a:solidFill>
                <a:latin typeface="Aptos"/>
              </a:rPr>
              <a:t>Caregiver UX: persistent login • quick SOS confirmation • dark / light theme • accessible empty states • admin-only actions gated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" y="292608"/>
            <a:ext cx="146304" cy="146304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2376" y="228600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NEUROLINK  /  WEAR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320" y="237744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17  /  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9224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A1440"/>
                </a:solidFill>
                <a:latin typeface="Aptos"/>
              </a:rPr>
              <a:t>Trust is a product requirement—and a current engineering workstream.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25296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7E76A0"/>
                </a:solidFill>
                <a:latin typeface="Aptos"/>
              </a:rPr>
              <a:t>Prototype controls provide a foundation; production deployment needs a formal privacy and security program.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510528"/>
            <a:ext cx="11137392" cy="0"/>
          </a:xfrm>
          <a:prstGeom prst="line">
            <a:avLst/>
          </a:prstGeom>
          <a:ln w="1016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4023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7E76A0"/>
                </a:solidFill>
                <a:latin typeface="Aptos"/>
              </a:rPr>
              <a:t>WORKING PROTOTYPE  •  DISCUSSION MATERIAL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65392"/>
            <a:ext cx="5669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847088"/>
            <a:ext cx="5330952" cy="3593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" y="2093976"/>
            <a:ext cx="4663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E8A5F"/>
                </a:solidFill>
                <a:latin typeface="Aptos"/>
              </a:rPr>
              <a:t>IN PLACE IN THE SOFTWARE PROTOTYPE</a:t>
            </a:r>
          </a:p>
        </p:txBody>
      </p:sp>
      <p:sp>
        <p:nvSpPr>
          <p:cNvPr id="12" name="Oval 11"/>
          <p:cNvSpPr/>
          <p:nvPr/>
        </p:nvSpPr>
        <p:spPr>
          <a:xfrm>
            <a:off x="841248" y="2660904"/>
            <a:ext cx="68580" cy="68580"/>
          </a:xfrm>
          <a:prstGeom prst="ellipse">
            <a:avLst/>
          </a:prstGeom>
          <a:solidFill>
            <a:srgbClr val="1E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569464"/>
            <a:ext cx="445312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 i="0">
                <a:solidFill>
                  <a:srgbClr val="3D3566"/>
                </a:solidFill>
                <a:latin typeface="Aptos"/>
              </a:rPr>
              <a:t>PBKDF2 password hashing; HMAC-signed sessions</a:t>
            </a:r>
          </a:p>
        </p:txBody>
      </p:sp>
      <p:sp>
        <p:nvSpPr>
          <p:cNvPr id="14" name="Oval 13"/>
          <p:cNvSpPr/>
          <p:nvPr/>
        </p:nvSpPr>
        <p:spPr>
          <a:xfrm>
            <a:off x="841248" y="3172968"/>
            <a:ext cx="68580" cy="68580"/>
          </a:xfrm>
          <a:prstGeom prst="ellipse">
            <a:avLst/>
          </a:prstGeom>
          <a:solidFill>
            <a:srgbClr val="1E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081528"/>
            <a:ext cx="445312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 i="0">
                <a:solidFill>
                  <a:srgbClr val="3D3566"/>
                </a:solidFill>
                <a:latin typeface="Aptos"/>
              </a:rPr>
              <a:t>Admin / caregiver role-based permissions</a:t>
            </a:r>
          </a:p>
        </p:txBody>
      </p:sp>
      <p:sp>
        <p:nvSpPr>
          <p:cNvPr id="16" name="Oval 15"/>
          <p:cNvSpPr/>
          <p:nvPr/>
        </p:nvSpPr>
        <p:spPr>
          <a:xfrm>
            <a:off x="841248" y="3685032"/>
            <a:ext cx="68580" cy="68580"/>
          </a:xfrm>
          <a:prstGeom prst="ellipse">
            <a:avLst/>
          </a:prstGeom>
          <a:solidFill>
            <a:srgbClr val="1E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593592"/>
            <a:ext cx="445312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 i="0">
                <a:solidFill>
                  <a:srgbClr val="3D3566"/>
                </a:solidFill>
                <a:latin typeface="Aptos"/>
              </a:rPr>
              <a:t>Device-key protected telemetry ingestion</a:t>
            </a:r>
          </a:p>
        </p:txBody>
      </p:sp>
      <p:sp>
        <p:nvSpPr>
          <p:cNvPr id="18" name="Oval 17"/>
          <p:cNvSpPr/>
          <p:nvPr/>
        </p:nvSpPr>
        <p:spPr>
          <a:xfrm>
            <a:off x="841248" y="4197096"/>
            <a:ext cx="68580" cy="68580"/>
          </a:xfrm>
          <a:prstGeom prst="ellipse">
            <a:avLst/>
          </a:prstGeom>
          <a:solidFill>
            <a:srgbClr val="1E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105656"/>
            <a:ext cx="445312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 i="0">
                <a:solidFill>
                  <a:srgbClr val="3D3566"/>
                </a:solidFill>
                <a:latin typeface="Aptos"/>
              </a:rPr>
              <a:t>MQTT bridge supports TLS certificate validation</a:t>
            </a:r>
          </a:p>
        </p:txBody>
      </p:sp>
      <p:sp>
        <p:nvSpPr>
          <p:cNvPr id="20" name="Oval 19"/>
          <p:cNvSpPr/>
          <p:nvPr/>
        </p:nvSpPr>
        <p:spPr>
          <a:xfrm>
            <a:off x="841248" y="4709160"/>
            <a:ext cx="68580" cy="68580"/>
          </a:xfrm>
          <a:prstGeom prst="ellipse">
            <a:avLst/>
          </a:prstGeom>
          <a:solidFill>
            <a:srgbClr val="1E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617720"/>
            <a:ext cx="445312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 i="0">
                <a:solidFill>
                  <a:srgbClr val="3D3566"/>
                </a:solidFill>
                <a:latin typeface="Aptos"/>
              </a:rPr>
              <a:t>Audit fields for alert acknowledgement / resolution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847088"/>
            <a:ext cx="5413248" cy="3593592"/>
          </a:xfrm>
          <a:prstGeom prst="roundRect">
            <a:avLst>
              <a:gd name="adj" fmla="val 12000"/>
            </a:avLst>
          </a:prstGeom>
          <a:solidFill>
            <a:srgbClr val="FBF1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37376" y="2093976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97A14"/>
                </a:solidFill>
                <a:latin typeface="Aptos"/>
              </a:rPr>
              <a:t>BEFORE PILOT OR COMMERCIAL USE</a:t>
            </a:r>
          </a:p>
        </p:txBody>
      </p:sp>
      <p:sp>
        <p:nvSpPr>
          <p:cNvPr id="24" name="Oval 23"/>
          <p:cNvSpPr/>
          <p:nvPr/>
        </p:nvSpPr>
        <p:spPr>
          <a:xfrm>
            <a:off x="6446520" y="2660904"/>
            <a:ext cx="68580" cy="68580"/>
          </a:xfrm>
          <a:prstGeom prst="ellipse">
            <a:avLst/>
          </a:prstGeom>
          <a:solidFill>
            <a:srgbClr val="C97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11112" y="2569464"/>
            <a:ext cx="451713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90" b="0" i="0">
                <a:solidFill>
                  <a:srgbClr val="3D3566"/>
                </a:solidFill>
                <a:latin typeface="Aptos"/>
              </a:rPr>
              <a:t>Remove source-embedded device credentials; rotate keys</a:t>
            </a:r>
          </a:p>
        </p:txBody>
      </p:sp>
      <p:sp>
        <p:nvSpPr>
          <p:cNvPr id="26" name="Oval 25"/>
          <p:cNvSpPr/>
          <p:nvPr/>
        </p:nvSpPr>
        <p:spPr>
          <a:xfrm>
            <a:off x="6446520" y="3172968"/>
            <a:ext cx="68580" cy="68580"/>
          </a:xfrm>
          <a:prstGeom prst="ellipse">
            <a:avLst/>
          </a:prstGeom>
          <a:solidFill>
            <a:srgbClr val="C97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11112" y="3081528"/>
            <a:ext cx="451713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90" b="0" i="0">
                <a:solidFill>
                  <a:srgbClr val="3D3566"/>
                </a:solidFill>
                <a:latin typeface="Aptos"/>
              </a:rPr>
              <a:t>Replace firmware TLS bypass with certificate validation</a:t>
            </a:r>
          </a:p>
        </p:txBody>
      </p:sp>
      <p:sp>
        <p:nvSpPr>
          <p:cNvPr id="28" name="Oval 27"/>
          <p:cNvSpPr/>
          <p:nvPr/>
        </p:nvSpPr>
        <p:spPr>
          <a:xfrm>
            <a:off x="6446520" y="3685032"/>
            <a:ext cx="68580" cy="68580"/>
          </a:xfrm>
          <a:prstGeom prst="ellipse">
            <a:avLst/>
          </a:prstGeom>
          <a:solidFill>
            <a:srgbClr val="C97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11112" y="3593592"/>
            <a:ext cx="451713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90" b="0" i="0">
                <a:solidFill>
                  <a:srgbClr val="3D3566"/>
                </a:solidFill>
                <a:latin typeface="Aptos"/>
              </a:rPr>
              <a:t>Encrypt data at rest / in transit; multi-tenant isolation</a:t>
            </a:r>
          </a:p>
        </p:txBody>
      </p:sp>
      <p:sp>
        <p:nvSpPr>
          <p:cNvPr id="30" name="Oval 29"/>
          <p:cNvSpPr/>
          <p:nvPr/>
        </p:nvSpPr>
        <p:spPr>
          <a:xfrm>
            <a:off x="6446520" y="4197096"/>
            <a:ext cx="68580" cy="68580"/>
          </a:xfrm>
          <a:prstGeom prst="ellipse">
            <a:avLst/>
          </a:prstGeom>
          <a:solidFill>
            <a:srgbClr val="C97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11112" y="4105656"/>
            <a:ext cx="451713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90" b="0" i="0">
                <a:solidFill>
                  <a:srgbClr val="3D3566"/>
                </a:solidFill>
                <a:latin typeface="Aptos"/>
              </a:rPr>
              <a:t>Consent, purpose limitation, retention and deletion policy</a:t>
            </a:r>
          </a:p>
        </p:txBody>
      </p:sp>
      <p:sp>
        <p:nvSpPr>
          <p:cNvPr id="32" name="Oval 31"/>
          <p:cNvSpPr/>
          <p:nvPr/>
        </p:nvSpPr>
        <p:spPr>
          <a:xfrm>
            <a:off x="6446520" y="4709160"/>
            <a:ext cx="68580" cy="68580"/>
          </a:xfrm>
          <a:prstGeom prst="ellipse">
            <a:avLst/>
          </a:prstGeom>
          <a:solidFill>
            <a:srgbClr val="C97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11112" y="4617720"/>
            <a:ext cx="451713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90" b="0" i="0">
                <a:solidFill>
                  <a:srgbClr val="3D3566"/>
                </a:solidFill>
                <a:latin typeface="Aptos"/>
              </a:rPr>
              <a:t>Threat model, independent penetration test, incident plan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" y="5751576"/>
            <a:ext cx="10789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241483"/>
                </a:solidFill>
                <a:latin typeface="Aptos"/>
              </a:rPr>
              <a:t>Regulatory scope depends on intended use and claims. Do not market diagnosis or treatment until counsel, quality systems and the relevant regulator define the pathway.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" y="292608"/>
            <a:ext cx="146304" cy="146304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2376" y="228600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NEUROLINK  /  WEAR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320" y="237744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18  / 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9224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1440"/>
                </a:solidFill>
                <a:latin typeface="Aptos"/>
              </a:rPr>
              <a:t>The wedge is explainability plus action—not “AI” as a label.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25296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7E76A0"/>
                </a:solidFill>
                <a:latin typeface="Aptos"/>
              </a:rPr>
              <a:t>A credible advantage must be earned through calibration quality, workflow fit and trustworthy field evidence.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510528"/>
            <a:ext cx="11137392" cy="0"/>
          </a:xfrm>
          <a:prstGeom prst="line">
            <a:avLst/>
          </a:prstGeom>
          <a:ln w="1016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4023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7E76A0"/>
                </a:solidFill>
                <a:latin typeface="Aptos"/>
              </a:rPr>
              <a:t>WORKING PROTOTYPE  •  DISCUSSION MATERIAL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65392"/>
            <a:ext cx="5669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847088"/>
            <a:ext cx="11018520" cy="32552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075688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E76A0"/>
                </a:solidFill>
                <a:latin typeface="Aptos"/>
              </a:rPr>
              <a:t>CAPABILITY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75688"/>
            <a:ext cx="3063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E76A0"/>
                </a:solidFill>
                <a:latin typeface="Aptos"/>
              </a:rPr>
              <a:t>GENERIC TRACKER PATTERN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0256" y="2075688"/>
            <a:ext cx="44988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41483"/>
                </a:solidFill>
                <a:latin typeface="Aptos"/>
              </a:rPr>
              <a:t>NEUROLINK DESIGN INTENT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8096" y="2423160"/>
            <a:ext cx="10552176" cy="0"/>
          </a:xfrm>
          <a:prstGeom prst="line">
            <a:avLst/>
          </a:prstGeom>
          <a:ln w="762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2496312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A1440"/>
                </a:solidFill>
                <a:latin typeface="Aptos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496312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7E76A0"/>
                </a:solidFill>
                <a:latin typeface="Aptos"/>
              </a:rPr>
              <a:t>Single-metric reading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0256" y="2496312"/>
            <a:ext cx="44256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3D3566"/>
                </a:solidFill>
                <a:latin typeface="Aptos"/>
              </a:rPr>
              <a:t>Multiple signals + motion / personal history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8096" y="2907791"/>
            <a:ext cx="10552176" cy="0"/>
          </a:xfrm>
          <a:prstGeom prst="line">
            <a:avLst/>
          </a:prstGeom>
          <a:ln w="762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22960" y="2980944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A1440"/>
                </a:solidFill>
                <a:latin typeface="Aptos"/>
              </a:rPr>
              <a:t>Adaptation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2980944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7E76A0"/>
                </a:solidFill>
                <a:latin typeface="Aptos"/>
              </a:rPr>
              <a:t>Fixed one-size threshold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0256" y="2980944"/>
            <a:ext cx="44256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3D3566"/>
                </a:solidFill>
                <a:latin typeface="Aptos"/>
              </a:rPr>
              <a:t>Quiet-gated personal baseline + guided reference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68096" y="3392424"/>
            <a:ext cx="10552176" cy="0"/>
          </a:xfrm>
          <a:prstGeom prst="line">
            <a:avLst/>
          </a:prstGeom>
          <a:ln w="762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22960" y="3465576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A1440"/>
                </a:solidFill>
                <a:latin typeface="Aptos"/>
              </a:rPr>
              <a:t>Explainability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465576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7E76A0"/>
                </a:solidFill>
                <a:latin typeface="Aptos"/>
              </a:rPr>
              <a:t>Score with limited rationale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0256" y="3465576"/>
            <a:ext cx="44256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3D3566"/>
                </a:solidFill>
                <a:latin typeface="Aptos"/>
              </a:rPr>
              <a:t>Expose sensor evidence and rule contribution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68096" y="3877056"/>
            <a:ext cx="10552176" cy="0"/>
          </a:xfrm>
          <a:prstGeom prst="line">
            <a:avLst/>
          </a:prstGeom>
          <a:ln w="762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22960" y="3950208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A1440"/>
                </a:solidFill>
                <a:latin typeface="Aptos"/>
              </a:rPr>
              <a:t>Safety logic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3950208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7E76A0"/>
                </a:solidFill>
                <a:latin typeface="Aptos"/>
              </a:rPr>
              <a:t>One threshold decides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0256" y="3950208"/>
            <a:ext cx="44256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3D3566"/>
                </a:solidFill>
                <a:latin typeface="Aptos"/>
              </a:rPr>
              <a:t>Fixed floors OR wearer-specific deviations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68096" y="4361688"/>
            <a:ext cx="10552176" cy="0"/>
          </a:xfrm>
          <a:prstGeom prst="line">
            <a:avLst/>
          </a:prstGeom>
          <a:ln w="762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22960" y="4434840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A1440"/>
                </a:solidFill>
                <a:latin typeface="Aptos"/>
              </a:rPr>
              <a:t>Response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434840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7E76A0"/>
                </a:solidFill>
                <a:latin typeface="Aptos"/>
              </a:rPr>
              <a:t>Wearer-only notification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0256" y="4434840"/>
            <a:ext cx="44256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3D3566"/>
                </a:solidFill>
                <a:latin typeface="Aptos"/>
              </a:rPr>
              <a:t>Caregiver workflow, GPS context, event history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358384"/>
            <a:ext cx="11018520" cy="521207"/>
          </a:xfrm>
          <a:prstGeom prst="roundRect">
            <a:avLst>
              <a:gd name="adj" fmla="val 12000"/>
            </a:avLst>
          </a:prstGeom>
          <a:solidFill>
            <a:srgbClr val="0D0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6" y="5513832"/>
            <a:ext cx="1049731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9" b="1" i="0">
                <a:solidFill>
                  <a:srgbClr val="FFFFFF"/>
                </a:solidFill>
                <a:latin typeface="Aptos"/>
              </a:rPr>
              <a:t>Defensibility hypothesis: high-quality longitudinal data + low-noise alerting + trusted care workflows + distribution partnerships.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504" y="6035040"/>
            <a:ext cx="106984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1">
                <a:solidFill>
                  <a:srgbClr val="7E76A0"/>
                </a:solidFill>
                <a:latin typeface="Aptos"/>
              </a:rPr>
              <a:t>These are product design choices, not a proven competitive superiority claim. Competitor and IP diligence remain open.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" y="292608"/>
            <a:ext cx="146304" cy="146304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2376" y="228600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NEUROLINK  /  WEAR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320" y="237744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19  /  READINESS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9224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1440"/>
                </a:solidFill>
                <a:latin typeface="Aptos"/>
              </a:rPr>
              <a:t>Software quality is evidenced. Clinical and hardware quality are not yet established.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25296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7E76A0"/>
                </a:solidFill>
                <a:latin typeface="Aptos"/>
              </a:rPr>
              <a:t>The immediate goal is an instrumented, safe, measurable pilot—not a broad launch.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510528"/>
            <a:ext cx="11137392" cy="0"/>
          </a:xfrm>
          <a:prstGeom prst="line">
            <a:avLst/>
          </a:prstGeom>
          <a:ln w="1016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4023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7E76A0"/>
                </a:solidFill>
                <a:latin typeface="Aptos"/>
              </a:rPr>
              <a:t>WORKING PROTOTYPE  •  DISCUSSION MATERIAL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65392"/>
            <a:ext cx="5669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847088"/>
            <a:ext cx="4983480" cy="36393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" y="2103120"/>
            <a:ext cx="43891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41483"/>
                </a:solidFill>
                <a:latin typeface="Aptos"/>
              </a:rPr>
              <a:t>REPOSITORY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2542032"/>
            <a:ext cx="13350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440"/>
                </a:solidFill>
                <a:latin typeface="Aptos"/>
              </a:rPr>
              <a:t>141/141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58568" y="2560320"/>
            <a:ext cx="29443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3D3566"/>
                </a:solidFill>
                <a:latin typeface="Aptos"/>
              </a:rPr>
              <a:t>end-to-end / backend / UI QA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50392" y="2971800"/>
            <a:ext cx="4379976" cy="0"/>
          </a:xfrm>
          <a:prstGeom prst="line">
            <a:avLst/>
          </a:prstGeom>
          <a:ln w="762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50392" y="3172968"/>
            <a:ext cx="13350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440"/>
                </a:solidFill>
                <a:latin typeface="Aptos"/>
              </a:rPr>
              <a:t>74/74 ×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3191256"/>
            <a:ext cx="29443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3D3566"/>
                </a:solidFill>
                <a:latin typeface="Aptos"/>
              </a:rPr>
              <a:t>equations + calibration suite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50392" y="3602735"/>
            <a:ext cx="4379976" cy="0"/>
          </a:xfrm>
          <a:prstGeom prst="line">
            <a:avLst/>
          </a:prstGeom>
          <a:ln w="762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50392" y="3803904"/>
            <a:ext cx="13350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440"/>
                </a:solidFill>
                <a:latin typeface="Aptos"/>
              </a:rPr>
              <a:t>17/17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58568" y="3822191"/>
            <a:ext cx="29443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3D3566"/>
                </a:solidFill>
                <a:latin typeface="Aptos"/>
              </a:rPr>
              <a:t>calibration DOM checks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50392" y="4233672"/>
            <a:ext cx="4379976" cy="0"/>
          </a:xfrm>
          <a:prstGeom prst="line">
            <a:avLst/>
          </a:prstGeom>
          <a:ln w="762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50392" y="4434840"/>
            <a:ext cx="13350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440"/>
                </a:solidFill>
                <a:latin typeface="Aptos"/>
              </a:rPr>
              <a:t>Seeded 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58568" y="4453127"/>
            <a:ext cx="29443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3D3566"/>
                </a:solidFill>
                <a:latin typeface="Aptos"/>
              </a:rPr>
              <a:t>7-day telemetry, alerts, GPS / history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" y="5148072"/>
            <a:ext cx="4389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C97A14"/>
                </a:solidFill>
                <a:latin typeface="Aptos"/>
              </a:rPr>
              <a:t>Strong software test coverage ≠ real-world efficacy.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70448" y="1847088"/>
            <a:ext cx="5715000" cy="3639312"/>
          </a:xfrm>
          <a:prstGeom prst="roundRect">
            <a:avLst>
              <a:gd name="adj" fmla="val 12000"/>
            </a:avLst>
          </a:prstGeom>
          <a:solidFill>
            <a:srgbClr val="FBF1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44768" y="2103120"/>
            <a:ext cx="51206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97A14"/>
                </a:solidFill>
                <a:latin typeface="Aptos"/>
              </a:rPr>
              <a:t>GATES TO PILOT</a:t>
            </a:r>
          </a:p>
        </p:txBody>
      </p:sp>
      <p:sp>
        <p:nvSpPr>
          <p:cNvPr id="26" name="Oval 25"/>
          <p:cNvSpPr/>
          <p:nvPr/>
        </p:nvSpPr>
        <p:spPr>
          <a:xfrm>
            <a:off x="6153912" y="2633472"/>
            <a:ext cx="68580" cy="68580"/>
          </a:xfrm>
          <a:prstGeom prst="ellipse">
            <a:avLst/>
          </a:prstGeom>
          <a:solidFill>
            <a:srgbClr val="C97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542032"/>
            <a:ext cx="4818888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3D3566"/>
                </a:solidFill>
                <a:latin typeface="Aptos"/>
              </a:rPr>
              <a:t>Bench reference tests: HR / SpO₂ / temperature / HRV</a:t>
            </a:r>
          </a:p>
        </p:txBody>
      </p:sp>
      <p:sp>
        <p:nvSpPr>
          <p:cNvPr id="28" name="Oval 27"/>
          <p:cNvSpPr/>
          <p:nvPr/>
        </p:nvSpPr>
        <p:spPr>
          <a:xfrm>
            <a:off x="6153912" y="3081527"/>
            <a:ext cx="68580" cy="68580"/>
          </a:xfrm>
          <a:prstGeom prst="ellipse">
            <a:avLst/>
          </a:prstGeom>
          <a:solidFill>
            <a:srgbClr val="C97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2990087"/>
            <a:ext cx="4818888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3D3566"/>
                </a:solidFill>
                <a:latin typeface="Aptos"/>
              </a:rPr>
              <a:t>Signal quality + motion / fit / skin-tone subgroup analysis</a:t>
            </a:r>
          </a:p>
        </p:txBody>
      </p:sp>
      <p:sp>
        <p:nvSpPr>
          <p:cNvPr id="30" name="Oval 29"/>
          <p:cNvSpPr/>
          <p:nvPr/>
        </p:nvSpPr>
        <p:spPr>
          <a:xfrm>
            <a:off x="6153912" y="3529584"/>
            <a:ext cx="68580" cy="68580"/>
          </a:xfrm>
          <a:prstGeom prst="ellipse">
            <a:avLst/>
          </a:prstGeom>
          <a:solidFill>
            <a:srgbClr val="C97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18504" y="3438144"/>
            <a:ext cx="4818888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3D3566"/>
                </a:solidFill>
                <a:latin typeface="Aptos"/>
              </a:rPr>
              <a:t>Battery life, charge habits, drop / water / wear testing</a:t>
            </a:r>
          </a:p>
        </p:txBody>
      </p:sp>
      <p:sp>
        <p:nvSpPr>
          <p:cNvPr id="32" name="Oval 31"/>
          <p:cNvSpPr/>
          <p:nvPr/>
        </p:nvSpPr>
        <p:spPr>
          <a:xfrm>
            <a:off x="6153912" y="3977639"/>
            <a:ext cx="68580" cy="68580"/>
          </a:xfrm>
          <a:prstGeom prst="ellipse">
            <a:avLst/>
          </a:prstGeom>
          <a:solidFill>
            <a:srgbClr val="C97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18504" y="3886200"/>
            <a:ext cx="4818888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3D3566"/>
                </a:solidFill>
                <a:latin typeface="Aptos"/>
              </a:rPr>
              <a:t>False alerts per wearer-day, sensitivity, latency, adherence</a:t>
            </a:r>
          </a:p>
        </p:txBody>
      </p:sp>
      <p:sp>
        <p:nvSpPr>
          <p:cNvPr id="34" name="Oval 33"/>
          <p:cNvSpPr/>
          <p:nvPr/>
        </p:nvSpPr>
        <p:spPr>
          <a:xfrm>
            <a:off x="6153912" y="4425696"/>
            <a:ext cx="68580" cy="68580"/>
          </a:xfrm>
          <a:prstGeom prst="ellipse">
            <a:avLst/>
          </a:prstGeom>
          <a:solidFill>
            <a:srgbClr val="C97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8504" y="4334256"/>
            <a:ext cx="4818888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3D3566"/>
                </a:solidFill>
                <a:latin typeface="Aptos"/>
              </a:rPr>
              <a:t>Real broker validation; notification provider receipts</a:t>
            </a:r>
          </a:p>
        </p:txBody>
      </p:sp>
      <p:sp>
        <p:nvSpPr>
          <p:cNvPr id="36" name="Oval 35"/>
          <p:cNvSpPr/>
          <p:nvPr/>
        </p:nvSpPr>
        <p:spPr>
          <a:xfrm>
            <a:off x="6153912" y="4873752"/>
            <a:ext cx="68580" cy="68580"/>
          </a:xfrm>
          <a:prstGeom prst="ellipse">
            <a:avLst/>
          </a:prstGeom>
          <a:solidFill>
            <a:srgbClr val="C97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4782312"/>
            <a:ext cx="4818888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3D3566"/>
                </a:solidFill>
                <a:latin typeface="Aptos"/>
              </a:rPr>
              <a:t>Privacy impact, consent, safety-case and clinical review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2648" y="5824728"/>
            <a:ext cx="10698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7E76A0"/>
                </a:solidFill>
                <a:latin typeface="Aptos"/>
              </a:rPr>
              <a:t>No prospective clinical validation, regulatory clearance, production manufacturing qualification, customer revenue or pilot outcomes are claimed in this deck.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" y="292608"/>
            <a:ext cx="146304" cy="146304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2376" y="228600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NEUROLINK  /  WEAR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320" y="237744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20  /  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9224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440"/>
                </a:solidFill>
                <a:latin typeface="Aptos"/>
              </a:rPr>
              <a:t>A blended device + recurring software model aligns value with ongoing 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25296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7E76A0"/>
                </a:solidFill>
                <a:latin typeface="Aptos"/>
              </a:rPr>
              <a:t>Use pilots to test pricing, attach rate, retention and channel economics.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510528"/>
            <a:ext cx="11137392" cy="0"/>
          </a:xfrm>
          <a:prstGeom prst="line">
            <a:avLst/>
          </a:prstGeom>
          <a:ln w="1016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4023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7E76A0"/>
                </a:solidFill>
                <a:latin typeface="Aptos"/>
              </a:rPr>
              <a:t>WORKING PROTOTYPE  •  DISCUSSION MATERIAL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65392"/>
            <a:ext cx="5669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938528"/>
            <a:ext cx="3502152" cy="24140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94560"/>
            <a:ext cx="30266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41483"/>
                </a:solidFill>
                <a:latin typeface="Aptos"/>
              </a:rPr>
              <a:t>DEVICE SALE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33472"/>
            <a:ext cx="3026664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1440"/>
                </a:solidFill>
                <a:latin typeface="Aptos"/>
              </a:rPr>
              <a:t>Illustrative $149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64408"/>
            <a:ext cx="3026664" cy="832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3D3566"/>
                </a:solidFill>
                <a:latin typeface="Aptos"/>
              </a:rPr>
              <a:t>Band + charging kit; upfront revenue; margin depends on verified BOM, yield and warranty.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938528"/>
            <a:ext cx="3502152" cy="24140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194560"/>
            <a:ext cx="30266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4FD0"/>
                </a:solidFill>
                <a:latin typeface="Aptos"/>
              </a:rPr>
              <a:t>FAMILY PLAN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633472"/>
            <a:ext cx="3026664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1440"/>
                </a:solidFill>
                <a:latin typeface="Aptos"/>
              </a:rPr>
              <a:t>Illustrative $12 / 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3264408"/>
            <a:ext cx="3026664" cy="832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3D3566"/>
                </a:solidFill>
                <a:latin typeface="Aptos"/>
              </a:rPr>
              <a:t>Caregiver dashboard, alerts, longer history and trusted-contact workflow; household subscription.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5007" y="1938528"/>
            <a:ext cx="3502152" cy="24140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19" y="2194560"/>
            <a:ext cx="30266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E8A5F"/>
                </a:solidFill>
                <a:latin typeface="Aptos"/>
              </a:rPr>
              <a:t>CARE PARTNER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2633472"/>
            <a:ext cx="3026664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1440"/>
                </a:solidFill>
                <a:latin typeface="Aptos"/>
              </a:rPr>
              <a:t>Illustrative $7–10 / wearer / 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3264408"/>
            <a:ext cx="3026664" cy="832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3D3566"/>
                </a:solidFill>
                <a:latin typeface="Aptos"/>
              </a:rPr>
              <a:t>Volume license, team workflow and reporting; onboarding / integration can be paid separately.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645152"/>
            <a:ext cx="11018520" cy="1069848"/>
          </a:xfrm>
          <a:prstGeom prst="roundRect">
            <a:avLst>
              <a:gd name="adj" fmla="val 12000"/>
            </a:avLst>
          </a:prstGeom>
          <a:solidFill>
            <a:srgbClr val="0D0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85546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D93FF"/>
                </a:solidFill>
                <a:latin typeface="Aptos"/>
              </a:rPr>
              <a:t>EARLY REVENUE BRIDGE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4782312"/>
            <a:ext cx="83667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Paid pilots / setup fees  →  device + family subscriptions  →  care-organization contracts  →  partner distribution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5943600"/>
            <a:ext cx="108813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1">
                <a:solidFill>
                  <a:srgbClr val="7E76A0"/>
                </a:solidFill>
                <a:latin typeface="Aptos"/>
              </a:rPr>
              <a:t>Pricing is an assumption to validate with buyers, not a published offer. Reimbursement is excluded from the base case.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" y="292608"/>
            <a:ext cx="146304" cy="146304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2376" y="228600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NEUROLINK  /  WEAR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320" y="237744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21  /  GO TO 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9224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A1440"/>
                </a:solidFill>
                <a:latin typeface="Aptos"/>
              </a:rPr>
              <a:t>Prove the workflow in a narrow pilot before buying broad consumer reach.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25296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7E76A0"/>
                </a:solidFill>
                <a:latin typeface="Aptos"/>
              </a:rPr>
              <a:t>Success means a trusted response loop, repeat use and a viable cost to serve.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510528"/>
            <a:ext cx="11137392" cy="0"/>
          </a:xfrm>
          <a:prstGeom prst="line">
            <a:avLst/>
          </a:prstGeom>
          <a:ln w="1016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4023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7E76A0"/>
                </a:solidFill>
                <a:latin typeface="Aptos"/>
              </a:rPr>
              <a:t>WORKING PROTOTYPE  •  DISCUSSION MATERIAL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65392"/>
            <a:ext cx="5669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993392"/>
            <a:ext cx="3502152" cy="21305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8096" y="2212848"/>
            <a:ext cx="1042415" cy="246888"/>
          </a:xfrm>
          <a:prstGeom prst="roundRect">
            <a:avLst>
              <a:gd name="adj" fmla="val 12000"/>
            </a:avLst>
          </a:prstGeom>
          <a:solidFill>
            <a:srgbClr val="EC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2221991"/>
            <a:ext cx="932688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241483"/>
                </a:solidFill>
                <a:latin typeface="Aptos"/>
              </a:rPr>
              <a:t>0–3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6791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1440"/>
                </a:solidFill>
                <a:latin typeface="Aptos"/>
              </a:rPr>
              <a:t>PILOT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3099816"/>
            <a:ext cx="306324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3D3566"/>
                </a:solidFill>
                <a:latin typeface="Aptos"/>
              </a:rPr>
              <a:t>2–3 partners
100–150 target wearers
Caregiver + wearer interviews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78224" y="3035808"/>
            <a:ext cx="182880" cy="0"/>
          </a:xfrm>
          <a:prstGeom prst="line">
            <a:avLst/>
          </a:prstGeom>
          <a:ln w="1905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315968" y="1993392"/>
            <a:ext cx="3502152" cy="21305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17136" y="2212848"/>
            <a:ext cx="1042415" cy="246888"/>
          </a:xfrm>
          <a:prstGeom prst="roundRect">
            <a:avLst>
              <a:gd name="adj" fmla="val 12000"/>
            </a:avLst>
          </a:prstGeom>
          <a:solidFill>
            <a:srgbClr val="EC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1999" y="2221991"/>
            <a:ext cx="932688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6B4FD0"/>
                </a:solidFill>
                <a:latin typeface="Aptos"/>
              </a:rPr>
              <a:t>3–9 months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7136" y="26791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1440"/>
                </a:solidFill>
                <a:latin typeface="Aptos"/>
              </a:rPr>
              <a:t>CONTROLLED PILOT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7136" y="3099816"/>
            <a:ext cx="306324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3D3566"/>
                </a:solidFill>
                <a:latin typeface="Aptos"/>
              </a:rPr>
              <a:t>Safety-reviewed protocol
Measure adherence + alerts
Weekly service feedback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27263" y="3035808"/>
            <a:ext cx="182881" cy="0"/>
          </a:xfrm>
          <a:prstGeom prst="line">
            <a:avLst/>
          </a:prstGeom>
          <a:ln w="19050">
            <a:solidFill>
              <a:srgbClr val="6B4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065007" y="1993392"/>
            <a:ext cx="3502152" cy="21305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66175" y="2212848"/>
            <a:ext cx="1042415" cy="246888"/>
          </a:xfrm>
          <a:prstGeom prst="roundRect">
            <a:avLst>
              <a:gd name="adj" fmla="val 12000"/>
            </a:avLst>
          </a:prstGeom>
          <a:solidFill>
            <a:srgbClr val="EC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2221991"/>
            <a:ext cx="932688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E8A5F"/>
                </a:solidFill>
                <a:latin typeface="Aptos"/>
              </a:rPr>
              <a:t>9–18 months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5" y="26791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1440"/>
                </a:solidFill>
                <a:latin typeface="Aptos"/>
              </a:rPr>
              <a:t>REPEATABLE SALES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66175" y="3099816"/>
            <a:ext cx="306324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3D3566"/>
                </a:solidFill>
                <a:latin typeface="Aptos"/>
              </a:rPr>
              <a:t>Convert paid sites
Family plan tests
Channel / support playbook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4498848"/>
            <a:ext cx="11018520" cy="1179576"/>
          </a:xfrm>
          <a:prstGeom prst="roundRect">
            <a:avLst>
              <a:gd name="adj" fmla="val 12000"/>
            </a:avLst>
          </a:prstGeom>
          <a:solidFill>
            <a:srgbClr val="F7F6FC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727448"/>
            <a:ext cx="21031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41483"/>
                </a:solidFill>
                <a:latin typeface="Aptos"/>
              </a:rPr>
              <a:t>PILOT SCORECARD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4663440"/>
            <a:ext cx="833932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D3566"/>
                </a:solidFill>
                <a:latin typeface="Aptos"/>
              </a:rPr>
              <a:t>Wear-days / active days  •  battery days  •  user retention  •  alert PPV / false alerts per day  •  time to acknowledgement  •  contact delivery success  •  willingness to pay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" y="5934456"/>
            <a:ext cx="10698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1">
                <a:solidFill>
                  <a:srgbClr val="7E76A0"/>
                </a:solidFill>
                <a:latin typeface="Aptos"/>
              </a:rPr>
              <a:t>Target channel: family caregiving groups, home-care operators and senior-living pilot partners; no signed partner is represented here.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" y="292608"/>
            <a:ext cx="146304" cy="146304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2376" y="228600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NEUROLINK  /  WEAR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320" y="237744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22  /  FINANCIAL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9224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440"/>
                </a:solidFill>
                <a:latin typeface="Aptos"/>
              </a:rPr>
              <a:t>Illustrative base case: build recurring accounts as device placements scale.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25296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7E76A0"/>
                </a:solidFill>
                <a:latin typeface="Aptos"/>
              </a:rPr>
              <a:t>Management planning scenario only; assumptions are not actual results, commitments or investment guidance.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510528"/>
            <a:ext cx="11137392" cy="0"/>
          </a:xfrm>
          <a:prstGeom prst="line">
            <a:avLst/>
          </a:prstGeom>
          <a:ln w="1016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4023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7E76A0"/>
                </a:solidFill>
                <a:latin typeface="Aptos"/>
              </a:rPr>
              <a:t>WORKING PROTOTYPE  •  DISCUSSION MATERIAL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65392"/>
            <a:ext cx="5669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23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856231"/>
            <a:ext cx="6675120" cy="3611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" y="2075688"/>
            <a:ext cx="603504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7E76A0"/>
                </a:solidFill>
                <a:latin typeface="Aptos"/>
              </a:rPr>
              <a:t>REVENUE BUILD  •  $M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4937628"/>
            <a:ext cx="585216" cy="27563"/>
          </a:xfrm>
          <a:prstGeom prst="roundRect">
            <a:avLst>
              <a:gd name="adj" fmla="val 12000"/>
            </a:avLst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68159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A1440"/>
                </a:solidFill>
                <a:latin typeface="Aptos"/>
              </a:rPr>
              <a:t>$0.19M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" y="505663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E76A0"/>
                </a:solidFill>
                <a:latin typeface="Aptos"/>
              </a:rPr>
              <a:t>Y1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21991" y="4836958"/>
            <a:ext cx="585216" cy="128233"/>
          </a:xfrm>
          <a:prstGeom prst="roundRect">
            <a:avLst>
              <a:gd name="adj" fmla="val 12000"/>
            </a:avLst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57399" y="458092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A1440"/>
                </a:solidFill>
                <a:latin typeface="Aptos"/>
              </a:rPr>
              <a:t>$0.86M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03703" y="505663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E76A0"/>
                </a:solidFill>
                <a:latin typeface="Aptos"/>
              </a:rPr>
              <a:t>Y2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64991" y="4530417"/>
            <a:ext cx="585216" cy="434774"/>
          </a:xfrm>
          <a:prstGeom prst="roundRect">
            <a:avLst>
              <a:gd name="adj" fmla="val 12000"/>
            </a:avLst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399" y="4274385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A1440"/>
                </a:solidFill>
                <a:latin typeface="Aptos"/>
              </a:rPr>
              <a:t>$2.93M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6703" y="505663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E76A0"/>
                </a:solidFill>
                <a:latin typeface="Aptos"/>
              </a:rPr>
              <a:t>Y3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07992" y="3869637"/>
            <a:ext cx="585216" cy="1095554"/>
          </a:xfrm>
          <a:prstGeom prst="roundRect">
            <a:avLst>
              <a:gd name="adj" fmla="val 12000"/>
            </a:avLst>
          </a:prstGeom>
          <a:solidFill>
            <a:srgbClr val="6B4F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3400" y="3613605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A1440"/>
                </a:solidFill>
                <a:latin typeface="Aptos"/>
              </a:rPr>
              <a:t>$7.37M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505663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E76A0"/>
                </a:solidFill>
                <a:latin typeface="Aptos"/>
              </a:rPr>
              <a:t>Y4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50992" y="2716430"/>
            <a:ext cx="585216" cy="2248761"/>
          </a:xfrm>
          <a:prstGeom prst="roundRect">
            <a:avLst>
              <a:gd name="adj" fmla="val 12000"/>
            </a:avLst>
          </a:prstGeom>
          <a:solidFill>
            <a:srgbClr val="6B4F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0" y="246039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A1440"/>
                </a:solidFill>
                <a:latin typeface="Aptos"/>
              </a:rPr>
              <a:t>$15.13M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32704" y="505663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E76A0"/>
                </a:solidFill>
                <a:latin typeface="Aptos"/>
              </a:rPr>
              <a:t>Y5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4400" y="4974336"/>
            <a:ext cx="6062472" cy="0"/>
          </a:xfrm>
          <a:prstGeom prst="line">
            <a:avLst/>
          </a:prstGeom>
          <a:ln w="1016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479792" y="1856231"/>
            <a:ext cx="4105656" cy="3611880"/>
          </a:xfrm>
          <a:prstGeom prst="roundRect">
            <a:avLst>
              <a:gd name="adj" fmla="val 12000"/>
            </a:avLst>
          </a:prstGeom>
          <a:solidFill>
            <a:srgbClr val="0D0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35824" y="2093976"/>
            <a:ext cx="3584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D93FF"/>
                </a:solidFill>
                <a:latin typeface="Aptos"/>
              </a:rPr>
              <a:t>PLANNING INPUTS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54112" y="2542032"/>
            <a:ext cx="153619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C5BFE8"/>
                </a:solidFill>
                <a:latin typeface="Aptos"/>
              </a:rPr>
              <a:t>Devices sold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90304" y="2542032"/>
            <a:ext cx="19842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500 → 50,000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744968" y="2825496"/>
            <a:ext cx="3511296" cy="0"/>
          </a:xfrm>
          <a:prstGeom prst="line">
            <a:avLst/>
          </a:prstGeom>
          <a:ln w="8890">
            <a:solidFill>
              <a:srgbClr val="2E25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754112" y="2990087"/>
            <a:ext cx="153619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C5BFE8"/>
                </a:solidFill>
                <a:latin typeface="Aptos"/>
              </a:rPr>
              <a:t>Avg paid subs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90304" y="2990087"/>
            <a:ext cx="19842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250 → 36,000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744968" y="3273551"/>
            <a:ext cx="3511296" cy="0"/>
          </a:xfrm>
          <a:prstGeom prst="line">
            <a:avLst/>
          </a:prstGeom>
          <a:ln w="8890">
            <a:solidFill>
              <a:srgbClr val="2E25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754112" y="3438144"/>
            <a:ext cx="153619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C5BFE8"/>
                </a:solidFill>
                <a:latin typeface="Aptos"/>
              </a:rPr>
              <a:t>Device ASP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90304" y="3438144"/>
            <a:ext cx="19842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$149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744968" y="3721607"/>
            <a:ext cx="3511296" cy="0"/>
          </a:xfrm>
          <a:prstGeom prst="line">
            <a:avLst/>
          </a:prstGeom>
          <a:ln w="8890">
            <a:solidFill>
              <a:srgbClr val="2E25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754112" y="3886200"/>
            <a:ext cx="153619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C5BFE8"/>
                </a:solidFill>
                <a:latin typeface="Aptos"/>
              </a:rPr>
              <a:t>Subscription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90304" y="3886200"/>
            <a:ext cx="19842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$12 / month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744968" y="4169663"/>
            <a:ext cx="3511296" cy="0"/>
          </a:xfrm>
          <a:prstGeom prst="line">
            <a:avLst/>
          </a:prstGeom>
          <a:ln w="8890">
            <a:solidFill>
              <a:srgbClr val="2E25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754112" y="4334256"/>
            <a:ext cx="153619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C5BFE8"/>
                </a:solidFill>
                <a:latin typeface="Aptos"/>
              </a:rPr>
              <a:t>B2B revenue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90304" y="4334256"/>
            <a:ext cx="19842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$75k → $2.5M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44968" y="4901184"/>
            <a:ext cx="3520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1">
                <a:solidFill>
                  <a:srgbClr val="A8A2BE"/>
                </a:solidFill>
                <a:latin typeface="Aptos"/>
              </a:rPr>
              <a:t>No reimbursement; excludes taxes.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2648" y="5632704"/>
            <a:ext cx="108813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3D3566"/>
                </a:solidFill>
                <a:latin typeface="Aptos"/>
              </a:rPr>
              <a:t>Revenue mix: device ASP × units + average paid subscriptions × $144 annual ARPU + B2B pilot / license revenue.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" y="5980176"/>
            <a:ext cx="107899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7E76A0"/>
                </a:solidFill>
                <a:latin typeface="Aptos"/>
              </a:rPr>
              <a:t>Illustrative 5-year scenario (USD). Actual prices, churn, hardware yield, CAC, returns and partner sales cycles remain unvalidated.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" y="292608"/>
            <a:ext cx="146304" cy="146304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2376" y="228600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NEUROLINK  /  WEAR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320" y="237744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23  / 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9224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1440"/>
                </a:solidFill>
                <a:latin typeface="Aptos"/>
              </a:rPr>
              <a:t>The model can reach operating break-even—but only if hardware and retention assumptions hold.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25296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7E76A0"/>
                </a:solidFill>
                <a:latin typeface="Aptos"/>
              </a:rPr>
              <a:t>Base-case contribution improves with procurement scale and recurring subscriptions.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510528"/>
            <a:ext cx="11137392" cy="0"/>
          </a:xfrm>
          <a:prstGeom prst="line">
            <a:avLst/>
          </a:prstGeom>
          <a:ln w="1016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4023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7E76A0"/>
                </a:solidFill>
                <a:latin typeface="Aptos"/>
              </a:rPr>
              <a:t>WORKING PROTOTYPE  •  DISCUSSION MATERIAL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65392"/>
            <a:ext cx="5669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837943"/>
            <a:ext cx="11018520" cy="3054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084831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241483"/>
                </a:solidFill>
                <a:latin typeface="Aptos"/>
              </a:rPr>
              <a:t>$M except margin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8304" y="2084831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7E76A0"/>
                </a:solidFill>
                <a:latin typeface="Aptos"/>
              </a:rPr>
              <a:t>Y1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2084831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7E76A0"/>
                </a:solidFill>
                <a:latin typeface="Aptos"/>
              </a:rPr>
              <a:t>Y2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51192" y="2084831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7E76A0"/>
                </a:solidFill>
                <a:latin typeface="Aptos"/>
              </a:rPr>
              <a:t>Y3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13064" y="2084831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7E76A0"/>
                </a:solidFill>
                <a:latin typeface="Aptos"/>
              </a:rPr>
              <a:t>Y4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4936" y="2084831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7E76A0"/>
                </a:solidFill>
                <a:latin typeface="Aptos"/>
              </a:rPr>
              <a:t>Y5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523744"/>
            <a:ext cx="3520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Revenue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18304" y="2523744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D3566"/>
                </a:solidFill>
                <a:latin typeface="Aptos"/>
              </a:rPr>
              <a:t>0.19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0176" y="2523744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D3566"/>
                </a:solidFill>
                <a:latin typeface="Aptos"/>
              </a:rPr>
              <a:t>0.86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2048" y="2523744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D3566"/>
                </a:solidFill>
                <a:latin typeface="Aptos"/>
              </a:rPr>
              <a:t>2.93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523744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D3566"/>
                </a:solidFill>
                <a:latin typeface="Aptos"/>
              </a:rPr>
              <a:t>7.37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65792" y="2523744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D3566"/>
                </a:solidFill>
                <a:latin typeface="Aptos"/>
              </a:rPr>
              <a:t>15.13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3816" y="2798063"/>
            <a:ext cx="10405872" cy="0"/>
          </a:xfrm>
          <a:prstGeom prst="line">
            <a:avLst/>
          </a:prstGeom>
          <a:ln w="635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2960" y="2944368"/>
            <a:ext cx="3520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A1440"/>
                </a:solidFill>
                <a:latin typeface="Aptos"/>
              </a:rPr>
              <a:t>Gross profit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18304" y="2944368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0.10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80176" y="2944368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0.49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2048" y="2944368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1.84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2944368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4.83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5792" y="2944368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10.25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3816" y="3218687"/>
            <a:ext cx="10405872" cy="0"/>
          </a:xfrm>
          <a:prstGeom prst="line">
            <a:avLst/>
          </a:prstGeom>
          <a:ln w="635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22960" y="3364991"/>
            <a:ext cx="3520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A1440"/>
                </a:solidFill>
                <a:latin typeface="Aptos"/>
              </a:rPr>
              <a:t>Gross margin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18304" y="3364991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52%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80176" y="3364991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57%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42048" y="3364991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63%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3364991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66%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3364991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68%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13816" y="3639311"/>
            <a:ext cx="10405872" cy="0"/>
          </a:xfrm>
          <a:prstGeom prst="line">
            <a:avLst/>
          </a:prstGeom>
          <a:ln w="635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22960" y="3785615"/>
            <a:ext cx="3520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A1440"/>
                </a:solidFill>
                <a:latin typeface="Aptos"/>
              </a:rPr>
              <a:t>Operating expense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18304" y="3785615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0.70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0176" y="3785615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1.25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42048" y="3785615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2.20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3785615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3.60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65792" y="3785615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D3566"/>
                </a:solidFill>
                <a:latin typeface="Aptos"/>
              </a:rPr>
              <a:t>5.80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13816" y="4059935"/>
            <a:ext cx="10405872" cy="0"/>
          </a:xfrm>
          <a:prstGeom prst="line">
            <a:avLst/>
          </a:prstGeom>
          <a:ln w="635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749808" y="4151376"/>
            <a:ext cx="10497312" cy="374904"/>
          </a:xfrm>
          <a:prstGeom prst="roundRect">
            <a:avLst>
              <a:gd name="adj" fmla="val 12000"/>
            </a:avLst>
          </a:prstGeom>
          <a:solidFill>
            <a:srgbClr val="E8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" y="4206240"/>
            <a:ext cx="3520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EBITDA (planning)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18304" y="420624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D3566"/>
                </a:solidFill>
                <a:latin typeface="Aptos"/>
              </a:rPr>
              <a:t>(0.60)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80176" y="420624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D3566"/>
                </a:solidFill>
                <a:latin typeface="Aptos"/>
              </a:rPr>
              <a:t>(0.76)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42048" y="420624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D3566"/>
                </a:solidFill>
                <a:latin typeface="Aptos"/>
              </a:rPr>
              <a:t>(0.36)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420624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E8A5F"/>
                </a:solidFill>
                <a:latin typeface="Aptos"/>
              </a:rPr>
              <a:t>1.23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65792" y="420624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E8A5F"/>
                </a:solidFill>
                <a:latin typeface="Aptos"/>
              </a:rPr>
              <a:t>4.45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6928" y="5212080"/>
            <a:ext cx="5321808" cy="612648"/>
          </a:xfrm>
          <a:prstGeom prst="roundRect">
            <a:avLst>
              <a:gd name="adj" fmla="val 12000"/>
            </a:avLst>
          </a:prstGeom>
          <a:solidFill>
            <a:srgbClr val="F7F6FC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" y="5330952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7E76A0"/>
                </a:solidFill>
                <a:latin typeface="Aptos"/>
              </a:rPr>
              <a:t>DEVICE CONTRIBUTION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22576" y="5312664"/>
            <a:ext cx="3200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41483"/>
                </a:solidFill>
                <a:latin typeface="Aptos"/>
              </a:rPr>
              <a:t>$149 ASP − $90 → $52 unit COGS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53912" y="5212080"/>
            <a:ext cx="5431536" cy="612648"/>
          </a:xfrm>
          <a:prstGeom prst="roundRect">
            <a:avLst>
              <a:gd name="adj" fmla="val 12000"/>
            </a:avLst>
          </a:prstGeom>
          <a:solidFill>
            <a:srgbClr val="F7F6FC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73368" y="5330952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7E76A0"/>
                </a:solidFill>
                <a:latin typeface="Aptos"/>
              </a:rPr>
              <a:t>SUBSCRIPTION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18704" y="5312664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241483"/>
                </a:solidFill>
                <a:latin typeface="Aptos"/>
              </a:rPr>
              <a:t>$12/mo; model assumes 80% gross margin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3504" y="6016752"/>
            <a:ext cx="107899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1">
                <a:solidFill>
                  <a:srgbClr val="7E76A0"/>
                </a:solidFill>
                <a:latin typeface="Aptos"/>
              </a:rPr>
              <a:t>Before financing, tax, depreciation, working capital, CAC, fulfillment, warranty and returns. Break-even timing is highly sensitive to adoption and support costs.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" y="292608"/>
            <a:ext cx="146304" cy="146304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2376" y="228600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NEUROLINK  /  WEAR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320" y="237744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24  /  PRODUCT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9224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1440"/>
                </a:solidFill>
                <a:latin typeface="Aptos"/>
              </a:rPr>
              <a:t>Build next for reliability, usability and partner readiness.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25296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7E76A0"/>
                </a:solidFill>
                <a:latin typeface="Aptos"/>
              </a:rPr>
              <a:t>Future features are hypotheses and roadmap candidates—not committed or shipped functionality.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510528"/>
            <a:ext cx="11137392" cy="0"/>
          </a:xfrm>
          <a:prstGeom prst="line">
            <a:avLst/>
          </a:prstGeom>
          <a:ln w="1016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4023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7E76A0"/>
                </a:solidFill>
                <a:latin typeface="Aptos"/>
              </a:rPr>
              <a:t>WORKING PROTOTYPE  •  DISCUSSION MATERIAL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65392"/>
            <a:ext cx="5669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947672"/>
            <a:ext cx="3502152" cy="3337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2176272"/>
            <a:ext cx="1124712" cy="256032"/>
          </a:xfrm>
          <a:prstGeom prst="roundRect">
            <a:avLst>
              <a:gd name="adj" fmla="val 12000"/>
            </a:avLst>
          </a:prstGeom>
          <a:solidFill>
            <a:srgbClr val="EC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3" y="2185415"/>
            <a:ext cx="10149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241483"/>
                </a:solidFill>
                <a:latin typeface="Aptos"/>
              </a:rPr>
              <a:t>0–6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33472"/>
            <a:ext cx="3072384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1440"/>
                </a:solidFill>
                <a:latin typeface="Aptos"/>
              </a:rPr>
              <a:t>Hardware + safety foundation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7240" y="3236976"/>
            <a:ext cx="3008375" cy="0"/>
          </a:xfrm>
          <a:prstGeom prst="line">
            <a:avLst/>
          </a:prstGeom>
          <a:ln w="1016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786384" y="3547872"/>
            <a:ext cx="68580" cy="68580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3456432"/>
            <a:ext cx="285292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3D3566"/>
                </a:solidFill>
                <a:latin typeface="Aptos"/>
              </a:rPr>
              <a:t>Fix firmware cadence / time source</a:t>
            </a:r>
          </a:p>
        </p:txBody>
      </p:sp>
      <p:sp>
        <p:nvSpPr>
          <p:cNvPr id="17" name="Oval 16"/>
          <p:cNvSpPr/>
          <p:nvPr/>
        </p:nvSpPr>
        <p:spPr>
          <a:xfrm>
            <a:off x="786384" y="3959351"/>
            <a:ext cx="68580" cy="68580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" y="3867911"/>
            <a:ext cx="285292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3D3566"/>
                </a:solidFill>
                <a:latin typeface="Aptos"/>
              </a:rPr>
              <a:t>Certificate validation + secret rotation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" y="4370831"/>
            <a:ext cx="68580" cy="68580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279392"/>
            <a:ext cx="285292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3D3566"/>
                </a:solidFill>
                <a:latin typeface="Aptos"/>
              </a:rPr>
              <a:t>Bench-test sensors + signal quality</a:t>
            </a:r>
          </a:p>
        </p:txBody>
      </p:sp>
      <p:sp>
        <p:nvSpPr>
          <p:cNvPr id="21" name="Oval 20"/>
          <p:cNvSpPr/>
          <p:nvPr/>
        </p:nvSpPr>
        <p:spPr>
          <a:xfrm>
            <a:off x="786384" y="4782312"/>
            <a:ext cx="68580" cy="68580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" y="4690872"/>
            <a:ext cx="285292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3D3566"/>
                </a:solidFill>
                <a:latin typeface="Aptos"/>
              </a:rPr>
              <a:t>Battery / enclosure / wearability iteration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5968" y="1947672"/>
            <a:ext cx="3502152" cy="3337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26280" y="2176272"/>
            <a:ext cx="1124712" cy="256032"/>
          </a:xfrm>
          <a:prstGeom prst="roundRect">
            <a:avLst>
              <a:gd name="adj" fmla="val 12000"/>
            </a:avLst>
          </a:prstGeom>
          <a:solidFill>
            <a:srgbClr val="EC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81144" y="2185415"/>
            <a:ext cx="10149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6B4FD0"/>
                </a:solidFill>
                <a:latin typeface="Aptos"/>
              </a:rPr>
              <a:t>6–18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2633472"/>
            <a:ext cx="3072384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1440"/>
                </a:solidFill>
                <a:latin typeface="Aptos"/>
              </a:rPr>
              <a:t>Pilot-ready product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26280" y="3236976"/>
            <a:ext cx="3008376" cy="0"/>
          </a:xfrm>
          <a:prstGeom prst="line">
            <a:avLst/>
          </a:prstGeom>
          <a:ln w="1016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4535424" y="3547872"/>
            <a:ext cx="68580" cy="68580"/>
          </a:xfrm>
          <a:prstGeom prst="ellipse">
            <a:avLst/>
          </a:prstGeom>
          <a:solidFill>
            <a:srgbClr val="6B4F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00016" y="3456432"/>
            <a:ext cx="285292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3D3566"/>
                </a:solidFill>
                <a:latin typeface="Aptos"/>
              </a:rPr>
              <a:t>Offline buffering + reconnect UX</a:t>
            </a:r>
          </a:p>
        </p:txBody>
      </p:sp>
      <p:sp>
        <p:nvSpPr>
          <p:cNvPr id="30" name="Oval 29"/>
          <p:cNvSpPr/>
          <p:nvPr/>
        </p:nvSpPr>
        <p:spPr>
          <a:xfrm>
            <a:off x="4535424" y="3959351"/>
            <a:ext cx="68580" cy="68580"/>
          </a:xfrm>
          <a:prstGeom prst="ellipse">
            <a:avLst/>
          </a:prstGeom>
          <a:solidFill>
            <a:srgbClr val="6B4F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00016" y="3867911"/>
            <a:ext cx="285292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3D3566"/>
                </a:solidFill>
                <a:latin typeface="Aptos"/>
              </a:rPr>
              <a:t>Wearer companion app + haptics / SOS</a:t>
            </a:r>
          </a:p>
        </p:txBody>
      </p:sp>
      <p:sp>
        <p:nvSpPr>
          <p:cNvPr id="32" name="Oval 31"/>
          <p:cNvSpPr/>
          <p:nvPr/>
        </p:nvSpPr>
        <p:spPr>
          <a:xfrm>
            <a:off x="4535424" y="4370831"/>
            <a:ext cx="68580" cy="68580"/>
          </a:xfrm>
          <a:prstGeom prst="ellipse">
            <a:avLst/>
          </a:prstGeom>
          <a:solidFill>
            <a:srgbClr val="6B4F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00016" y="4279392"/>
            <a:ext cx="285292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3D3566"/>
                </a:solidFill>
                <a:latin typeface="Aptos"/>
              </a:rPr>
              <a:t>Real SMS / voice / push delivery receipts</a:t>
            </a:r>
          </a:p>
        </p:txBody>
      </p:sp>
      <p:sp>
        <p:nvSpPr>
          <p:cNvPr id="34" name="Oval 33"/>
          <p:cNvSpPr/>
          <p:nvPr/>
        </p:nvSpPr>
        <p:spPr>
          <a:xfrm>
            <a:off x="4535424" y="4782312"/>
            <a:ext cx="68580" cy="68580"/>
          </a:xfrm>
          <a:prstGeom prst="ellipse">
            <a:avLst/>
          </a:prstGeom>
          <a:solidFill>
            <a:srgbClr val="6B4F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00016" y="4690872"/>
            <a:ext cx="285292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3D3566"/>
                </a:solidFill>
                <a:latin typeface="Aptos"/>
              </a:rPr>
              <a:t>Calibration history / drift reports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65007" y="1947672"/>
            <a:ext cx="3502152" cy="3337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275319" y="2176272"/>
            <a:ext cx="1124712" cy="256032"/>
          </a:xfrm>
          <a:prstGeom prst="roundRect">
            <a:avLst>
              <a:gd name="adj" fmla="val 12000"/>
            </a:avLst>
          </a:prstGeom>
          <a:solidFill>
            <a:srgbClr val="EC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30183" y="2185415"/>
            <a:ext cx="10149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E8A5F"/>
                </a:solidFill>
                <a:latin typeface="Aptos"/>
              </a:rPr>
              <a:t>18–36 MONTHS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19" y="2633472"/>
            <a:ext cx="3072384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1440"/>
                </a:solidFill>
                <a:latin typeface="Aptos"/>
              </a:rPr>
              <a:t>Scale + interoperability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275319" y="3236976"/>
            <a:ext cx="3008376" cy="0"/>
          </a:xfrm>
          <a:prstGeom prst="line">
            <a:avLst/>
          </a:prstGeom>
          <a:ln w="1016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8284463" y="3547872"/>
            <a:ext cx="68580" cy="68580"/>
          </a:xfrm>
          <a:prstGeom prst="ellipse">
            <a:avLst/>
          </a:prstGeom>
          <a:solidFill>
            <a:srgbClr val="1E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49055" y="3456432"/>
            <a:ext cx="285292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3D3566"/>
                </a:solidFill>
                <a:latin typeface="Aptos"/>
              </a:rPr>
              <a:t>Multi-tenant care-team portal</a:t>
            </a:r>
          </a:p>
        </p:txBody>
      </p:sp>
      <p:sp>
        <p:nvSpPr>
          <p:cNvPr id="43" name="Oval 42"/>
          <p:cNvSpPr/>
          <p:nvPr/>
        </p:nvSpPr>
        <p:spPr>
          <a:xfrm>
            <a:off x="8284463" y="3959351"/>
            <a:ext cx="68580" cy="68580"/>
          </a:xfrm>
          <a:prstGeom prst="ellipse">
            <a:avLst/>
          </a:prstGeom>
          <a:solidFill>
            <a:srgbClr val="1E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49055" y="3867911"/>
            <a:ext cx="285292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3D3566"/>
                </a:solidFill>
                <a:latin typeface="Aptos"/>
              </a:rPr>
              <a:t>Role / consent / audit / retention controls</a:t>
            </a:r>
          </a:p>
        </p:txBody>
      </p:sp>
      <p:sp>
        <p:nvSpPr>
          <p:cNvPr id="45" name="Oval 44"/>
          <p:cNvSpPr/>
          <p:nvPr/>
        </p:nvSpPr>
        <p:spPr>
          <a:xfrm>
            <a:off x="8284463" y="4370831"/>
            <a:ext cx="68580" cy="68580"/>
          </a:xfrm>
          <a:prstGeom prst="ellipse">
            <a:avLst/>
          </a:prstGeom>
          <a:solidFill>
            <a:srgbClr val="1E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49055" y="4279392"/>
            <a:ext cx="285292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3D3566"/>
                </a:solidFill>
                <a:latin typeface="Aptos"/>
              </a:rPr>
              <a:t>FHIR / provider integrations (partner-led)</a:t>
            </a:r>
          </a:p>
        </p:txBody>
      </p:sp>
      <p:sp>
        <p:nvSpPr>
          <p:cNvPr id="47" name="Oval 46"/>
          <p:cNvSpPr/>
          <p:nvPr/>
        </p:nvSpPr>
        <p:spPr>
          <a:xfrm>
            <a:off x="8284463" y="4782312"/>
            <a:ext cx="68580" cy="68580"/>
          </a:xfrm>
          <a:prstGeom prst="ellipse">
            <a:avLst/>
          </a:prstGeom>
          <a:solidFill>
            <a:srgbClr val="1E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49055" y="4690872"/>
            <a:ext cx="285292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3D3566"/>
                </a:solidFill>
                <a:latin typeface="Aptos"/>
              </a:rPr>
              <a:t>Validated ML / on-device inference if justified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66928" y="5513832"/>
            <a:ext cx="11018520" cy="484632"/>
          </a:xfrm>
          <a:prstGeom prst="roundRect">
            <a:avLst>
              <a:gd name="adj" fmla="val 12000"/>
            </a:avLst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04672" y="5660136"/>
            <a:ext cx="10506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ptos"/>
              </a:rPr>
              <a:t>Roadmap order is evidence-led: safety + reliability first, feature breadth second.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" y="292608"/>
            <a:ext cx="146304" cy="146304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2376" y="228600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NEUROLINK  /  WEAR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320" y="237744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25  /  EXECUTION RISKS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9224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A1440"/>
                </a:solidFill>
                <a:latin typeface="Aptos"/>
              </a:rPr>
              <a:t>The risks are manageable only if we name them early.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25296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7E76A0"/>
                </a:solidFill>
                <a:latin typeface="Aptos"/>
              </a:rPr>
              <a:t>A pilot should be designed to test failure modes, not merely demonstrate the happy path.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510528"/>
            <a:ext cx="11137392" cy="0"/>
          </a:xfrm>
          <a:prstGeom prst="line">
            <a:avLst/>
          </a:prstGeom>
          <a:ln w="1016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4023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7E76A0"/>
                </a:solidFill>
                <a:latin typeface="Aptos"/>
              </a:rPr>
              <a:t>WORKING PROTOTYPE  •  DISCUSSION MATERIAL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65392"/>
            <a:ext cx="5669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819656"/>
            <a:ext cx="11018520" cy="52120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49808" y="1920240"/>
            <a:ext cx="109728" cy="109728"/>
          </a:xfrm>
          <a:prstGeom prst="ellipse">
            <a:avLst/>
          </a:prstGeom>
          <a:solidFill>
            <a:srgbClr val="D32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856231"/>
            <a:ext cx="27432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A1440"/>
                </a:solidFill>
                <a:latin typeface="Aptos"/>
              </a:rPr>
              <a:t>Measurement bias / noise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85615" y="1856231"/>
            <a:ext cx="73334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3D3566"/>
                </a:solidFill>
                <a:latin typeface="Aptos"/>
              </a:rPr>
              <a:t>Reference-instrument bench testing; per-signal quality checks; subgroup review</a:t>
            </a:r>
          </a:p>
        </p:txBody>
      </p:sp>
      <p:sp>
        <p:nvSpPr>
          <p:cNvPr id="14" name="Oval 13"/>
          <p:cNvSpPr/>
          <p:nvPr/>
        </p:nvSpPr>
        <p:spPr>
          <a:xfrm>
            <a:off x="749808" y="2514600"/>
            <a:ext cx="109728" cy="109728"/>
          </a:xfrm>
          <a:prstGeom prst="ellipse">
            <a:avLst/>
          </a:prstGeom>
          <a:solidFill>
            <a:srgbClr val="C97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450591"/>
            <a:ext cx="27432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A1440"/>
                </a:solidFill>
                <a:latin typeface="Aptos"/>
              </a:rPr>
              <a:t>False alerts / missed events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5615" y="2450591"/>
            <a:ext cx="73334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3D3566"/>
                </a:solidFill>
                <a:latin typeface="Aptos"/>
              </a:rPr>
              <a:t>Pre-register endpoints; shadow mode; human review; alert audit and tuning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008376"/>
            <a:ext cx="11018520" cy="52120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9808" y="3108960"/>
            <a:ext cx="109728" cy="109728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044952"/>
            <a:ext cx="27432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A1440"/>
                </a:solidFill>
                <a:latin typeface="Aptos"/>
              </a:rPr>
              <a:t>Battery / wear adherence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85615" y="3044952"/>
            <a:ext cx="73334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3D3566"/>
                </a:solidFill>
                <a:latin typeface="Aptos"/>
              </a:rPr>
              <a:t>Daily wear-time telemetry; charger usability tests; field-replaceable design</a:t>
            </a:r>
          </a:p>
        </p:txBody>
      </p:sp>
      <p:sp>
        <p:nvSpPr>
          <p:cNvPr id="21" name="Oval 20"/>
          <p:cNvSpPr/>
          <p:nvPr/>
        </p:nvSpPr>
        <p:spPr>
          <a:xfrm>
            <a:off x="749808" y="3703320"/>
            <a:ext cx="109728" cy="109728"/>
          </a:xfrm>
          <a:prstGeom prst="ellipse">
            <a:avLst/>
          </a:prstGeom>
          <a:solidFill>
            <a:srgbClr val="6B4F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639312"/>
            <a:ext cx="27432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A1440"/>
                </a:solidFill>
                <a:latin typeface="Aptos"/>
              </a:rPr>
              <a:t>Emergency delivery failure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85615" y="3639312"/>
            <a:ext cx="73334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3D3566"/>
                </a:solidFill>
                <a:latin typeface="Aptos"/>
              </a:rPr>
              <a:t>Provider receipts, retries, escalation fallback and explicit non-emergency disclaimers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97096"/>
            <a:ext cx="11018520" cy="52120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49808" y="4297680"/>
            <a:ext cx="109728" cy="109728"/>
          </a:xfrm>
          <a:prstGeom prst="ellipse">
            <a:avLst/>
          </a:prstGeom>
          <a:solidFill>
            <a:srgbClr val="1E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233672"/>
            <a:ext cx="27432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A1440"/>
                </a:solidFill>
                <a:latin typeface="Aptos"/>
              </a:rPr>
              <a:t>Security / health-data privacy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85615" y="4233672"/>
            <a:ext cx="73334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3D3566"/>
                </a:solidFill>
                <a:latin typeface="Aptos"/>
              </a:rPr>
              <a:t>Credential rotation, verified TLS, threat model, least privilege, retention controls</a:t>
            </a:r>
          </a:p>
        </p:txBody>
      </p:sp>
      <p:sp>
        <p:nvSpPr>
          <p:cNvPr id="28" name="Oval 27"/>
          <p:cNvSpPr/>
          <p:nvPr/>
        </p:nvSpPr>
        <p:spPr>
          <a:xfrm>
            <a:off x="749808" y="4892040"/>
            <a:ext cx="109728" cy="109728"/>
          </a:xfrm>
          <a:prstGeom prst="ellipse">
            <a:avLst/>
          </a:prstGeom>
          <a:solidFill>
            <a:srgbClr val="4A3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828031"/>
            <a:ext cx="27432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A1440"/>
                </a:solidFill>
                <a:latin typeface="Aptos"/>
              </a:rPr>
              <a:t>Regulatory / liability ambiguity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85615" y="4828031"/>
            <a:ext cx="73334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3D3566"/>
                </a:solidFill>
                <a:latin typeface="Aptos"/>
              </a:rPr>
              <a:t>Define intended use; avoid diagnostic claims; clinical and legal review before pilots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" y="5760720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241483"/>
                </a:solidFill>
                <a:latin typeface="Aptos"/>
              </a:rPr>
              <a:t>Product guardrail: wellness / safety support for human review; not a substitute for emergency services or professional medical advice.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" y="292608"/>
            <a:ext cx="146304" cy="146304"/>
          </a:xfrm>
          <a:prstGeom prst="ellipse">
            <a:avLst/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2376" y="228600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A1440"/>
                </a:solidFill>
                <a:latin typeface="Aptos"/>
              </a:rPr>
              <a:t>NEUROLINK  /  WEAR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320" y="237744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26  /  NEXT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9224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A1440"/>
                </a:solidFill>
                <a:latin typeface="Aptos"/>
              </a:rPr>
              <a:t>A focused pre-seed plan can fund the evidence—not just the feature list.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25296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7E76A0"/>
                </a:solidFill>
                <a:latin typeface="Aptos"/>
              </a:rPr>
              <a:t>Illustrative raise scenario: $1.5M for ~18 months to reach a validated, pilot-ready milestone.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" y="6510528"/>
            <a:ext cx="11137392" cy="0"/>
          </a:xfrm>
          <a:prstGeom prst="line">
            <a:avLst/>
          </a:prstGeom>
          <a:ln w="10160">
            <a:solidFill>
              <a:srgbClr val="E3E0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4023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7E76A0"/>
                </a:solidFill>
                <a:latin typeface="Aptos"/>
              </a:rPr>
              <a:t>WORKING PROTOTYPE  •  DISCUSSION MATERIAL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65392"/>
            <a:ext cx="5669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E76A0"/>
                </a:solidFill>
                <a:latin typeface="Aptos"/>
              </a:rPr>
              <a:t>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856231"/>
            <a:ext cx="3904487" cy="3593592"/>
          </a:xfrm>
          <a:prstGeom prst="roundRect">
            <a:avLst>
              <a:gd name="adj" fmla="val 12000"/>
            </a:avLst>
          </a:prstGeom>
          <a:solidFill>
            <a:srgbClr val="0D0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D93FF"/>
                </a:solidFill>
                <a:latin typeface="Aptos"/>
              </a:rPr>
              <a:t>ILLUSTRATIVE FUNDING 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660904"/>
            <a:ext cx="316382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Aptos"/>
              </a:rPr>
              <a:t>$1.5M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83864"/>
            <a:ext cx="31729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5BFE8"/>
                </a:solidFill>
                <a:latin typeface="Aptos"/>
              </a:rPr>
              <a:t>~18 months runway plan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96112" y="3968496"/>
            <a:ext cx="3209544" cy="0"/>
          </a:xfrm>
          <a:prstGeom prst="line">
            <a:avLst/>
          </a:prstGeom>
          <a:ln w="12700">
            <a:solidFill>
              <a:srgbClr val="2E25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96112" y="4187952"/>
            <a:ext cx="3108960" cy="886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Aptos"/>
              </a:rPr>
              <a:t>Outcome: safer hardware cadence, credible sensor evidence, real delivery integrations and partner pilots with measurable endpoints.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55464" y="1856231"/>
            <a:ext cx="6729984" cy="3593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9784" y="2157984"/>
            <a:ext cx="6007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41483"/>
                </a:solidFill>
                <a:latin typeface="Aptos"/>
              </a:rPr>
              <a:t>USE OF FUNDS  •  PLANNING ALLOCATION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38928" y="2615184"/>
            <a:ext cx="306324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3D3566"/>
                </a:solidFill>
                <a:latin typeface="Aptos"/>
              </a:rPr>
              <a:t>Product + hardware verification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02168" y="2651760"/>
            <a:ext cx="2286000" cy="137160"/>
          </a:xfrm>
          <a:prstGeom prst="roundRect">
            <a:avLst>
              <a:gd name="adj" fmla="val 12000"/>
            </a:avLst>
          </a:prstGeom>
          <a:solidFill>
            <a:srgbClr val="EC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02168" y="2651760"/>
            <a:ext cx="2286000" cy="137160"/>
          </a:xfrm>
          <a:prstGeom prst="roundRect">
            <a:avLst>
              <a:gd name="adj" fmla="val 12000"/>
            </a:avLst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88752" y="2606040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241483"/>
                </a:solidFill>
                <a:latin typeface="Aptos"/>
              </a:rPr>
              <a:t>35%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928" y="3108960"/>
            <a:ext cx="306324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3D3566"/>
                </a:solidFill>
                <a:latin typeface="Aptos"/>
              </a:rPr>
              <a:t>Pilot / evidence / safety validation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02168" y="3145536"/>
            <a:ext cx="2286000" cy="137160"/>
          </a:xfrm>
          <a:prstGeom prst="roundRect">
            <a:avLst>
              <a:gd name="adj" fmla="val 12000"/>
            </a:avLst>
          </a:prstGeom>
          <a:solidFill>
            <a:srgbClr val="EC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02168" y="3145536"/>
            <a:ext cx="1632857" cy="137160"/>
          </a:xfrm>
          <a:prstGeom prst="roundRect">
            <a:avLst>
              <a:gd name="adj" fmla="val 12000"/>
            </a:avLst>
          </a:prstGeom>
          <a:solidFill>
            <a:srgbClr val="6B4F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88752" y="309981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6B4FD0"/>
                </a:solidFill>
                <a:latin typeface="Aptos"/>
              </a:rPr>
              <a:t>25%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38928" y="3602736"/>
            <a:ext cx="306324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3D3566"/>
                </a:solidFill>
                <a:latin typeface="Aptos"/>
              </a:rPr>
              <a:t>Engineering + data platform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02168" y="3639312"/>
            <a:ext cx="2286000" cy="137160"/>
          </a:xfrm>
          <a:prstGeom prst="roundRect">
            <a:avLst>
              <a:gd name="adj" fmla="val 12000"/>
            </a:avLst>
          </a:prstGeom>
          <a:solidFill>
            <a:srgbClr val="EC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02168" y="3639312"/>
            <a:ext cx="1306285" cy="137160"/>
          </a:xfrm>
          <a:prstGeom prst="roundRect">
            <a:avLst>
              <a:gd name="adj" fmla="val 12000"/>
            </a:avLst>
          </a:prstGeom>
          <a:solidFill>
            <a:srgbClr val="1E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88752" y="359359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1E8A5F"/>
                </a:solidFill>
                <a:latin typeface="Aptos"/>
              </a:rPr>
              <a:t>20%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38928" y="4096512"/>
            <a:ext cx="306324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3D3566"/>
                </a:solidFill>
                <a:latin typeface="Aptos"/>
              </a:rPr>
              <a:t>Security / privacy / regulatory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02168" y="4133088"/>
            <a:ext cx="2286000" cy="137160"/>
          </a:xfrm>
          <a:prstGeom prst="roundRect">
            <a:avLst>
              <a:gd name="adj" fmla="val 12000"/>
            </a:avLst>
          </a:prstGeom>
          <a:solidFill>
            <a:srgbClr val="EC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02168" y="4133088"/>
            <a:ext cx="653142" cy="137160"/>
          </a:xfrm>
          <a:prstGeom prst="roundRect">
            <a:avLst>
              <a:gd name="adj" fmla="val 12000"/>
            </a:avLst>
          </a:prstGeom>
          <a:solidFill>
            <a:srgbClr val="C97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88752" y="408736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C97A14"/>
                </a:solidFill>
                <a:latin typeface="Aptos"/>
              </a:rPr>
              <a:t>10%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38928" y="4590288"/>
            <a:ext cx="306324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3D3566"/>
                </a:solidFill>
                <a:latin typeface="Aptos"/>
              </a:rPr>
              <a:t>Partner GTM + contingency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02168" y="4626864"/>
            <a:ext cx="2286000" cy="137160"/>
          </a:xfrm>
          <a:prstGeom prst="roundRect">
            <a:avLst>
              <a:gd name="adj" fmla="val 12000"/>
            </a:avLst>
          </a:prstGeom>
          <a:solidFill>
            <a:srgbClr val="EC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202168" y="4626864"/>
            <a:ext cx="653142" cy="137160"/>
          </a:xfrm>
          <a:prstGeom prst="roundRect">
            <a:avLst>
              <a:gd name="adj" fmla="val 12000"/>
            </a:avLst>
          </a:prstGeom>
          <a:solidFill>
            <a:srgbClr val="D32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8752" y="458114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D32B36"/>
                </a:solidFill>
                <a:latin typeface="Aptos"/>
              </a:rPr>
              <a:t>10%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38928" y="5212080"/>
            <a:ext cx="59161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7E76A0"/>
                </a:solidFill>
                <a:latin typeface="Aptos"/>
              </a:rPr>
              <a:t>Milestone: 2–3 pilot partners • 100–150 target wearers • pre-agreed safety / usability metrics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5815584"/>
            <a:ext cx="10698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1">
                <a:solidFill>
                  <a:srgbClr val="7E76A0"/>
                </a:solidFill>
                <a:latin typeface="Aptos"/>
              </a:rPr>
              <a:t>Seeking pilot partners, aging-at-home operators, clinical validation advisors and aligned early-stage investors. Raise size / timing requires founder confirmation.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A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21792" y="502920"/>
            <a:ext cx="155448" cy="155448"/>
          </a:xfrm>
          <a:prstGeom prst="ellipse">
            <a:avLst/>
          </a:prstGeom>
          <a:solidFill>
            <a:srgbClr val="9D9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" y="448056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NEUROLINK  /  WEAR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79792" y="2834639"/>
            <a:ext cx="109728" cy="502920"/>
          </a:xfrm>
          <a:prstGeom prst="roundRect">
            <a:avLst>
              <a:gd name="adj" fmla="val 12000"/>
            </a:avLst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872983" y="2514600"/>
            <a:ext cx="109728" cy="822960"/>
          </a:xfrm>
          <a:prstGeom prst="roundRect">
            <a:avLst>
              <a:gd name="adj" fmla="val 12000"/>
            </a:avLst>
          </a:prstGeom>
          <a:solidFill>
            <a:srgbClr val="6B4F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66175" y="2990088"/>
            <a:ext cx="109728" cy="347472"/>
          </a:xfrm>
          <a:prstGeom prst="roundRect">
            <a:avLst>
              <a:gd name="adj" fmla="val 12000"/>
            </a:avLst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59367" y="2221991"/>
            <a:ext cx="109728" cy="1115568"/>
          </a:xfrm>
          <a:prstGeom prst="roundRect">
            <a:avLst>
              <a:gd name="adj" fmla="val 12000"/>
            </a:avLst>
          </a:prstGeom>
          <a:solidFill>
            <a:srgbClr val="6B4F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052560" y="2670048"/>
            <a:ext cx="109728" cy="667512"/>
          </a:xfrm>
          <a:prstGeom prst="roundRect">
            <a:avLst>
              <a:gd name="adj" fmla="val 12000"/>
            </a:avLst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445752" y="1929384"/>
            <a:ext cx="109728" cy="1408176"/>
          </a:xfrm>
          <a:prstGeom prst="roundRect">
            <a:avLst>
              <a:gd name="adj" fmla="val 12000"/>
            </a:avLst>
          </a:prstGeom>
          <a:solidFill>
            <a:srgbClr val="6B4F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38944" y="2898648"/>
            <a:ext cx="109728" cy="438912"/>
          </a:xfrm>
          <a:prstGeom prst="roundRect">
            <a:avLst>
              <a:gd name="adj" fmla="val 12000"/>
            </a:avLst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32136" y="2368296"/>
            <a:ext cx="109728" cy="969264"/>
          </a:xfrm>
          <a:prstGeom prst="roundRect">
            <a:avLst>
              <a:gd name="adj" fmla="val 12000"/>
            </a:avLst>
          </a:prstGeom>
          <a:solidFill>
            <a:srgbClr val="6B4F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625328" y="2724912"/>
            <a:ext cx="109728" cy="612648"/>
          </a:xfrm>
          <a:prstGeom prst="roundRect">
            <a:avLst>
              <a:gd name="adj" fmla="val 12000"/>
            </a:avLst>
          </a:prstGeom>
          <a:solidFill>
            <a:srgbClr val="241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7333488" y="3337560"/>
            <a:ext cx="3822192" cy="0"/>
          </a:xfrm>
          <a:prstGeom prst="line">
            <a:avLst/>
          </a:prstGeom>
          <a:ln w="12700">
            <a:solidFill>
              <a:srgbClr val="2E25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1618488"/>
            <a:ext cx="651052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ptos"/>
              </a:rPr>
              <a:t>Make the signal
useful to someone.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200400"/>
            <a:ext cx="6172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BFE8"/>
                </a:solidFill>
                <a:latin typeface="Aptos"/>
              </a:rPr>
              <a:t>Wearable context. Explainable alerts. A safer path to human response.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352544"/>
            <a:ext cx="1847088" cy="301752"/>
          </a:xfrm>
          <a:prstGeom prst="roundRect">
            <a:avLst>
              <a:gd name="adj" fmla="val 12000"/>
            </a:avLst>
          </a:prstGeom>
          <a:solidFill>
            <a:srgbClr val="171240"/>
          </a:solidFill>
          <a:ln w="12700">
            <a:solidFill>
              <a:srgbClr val="2E25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4361688"/>
            <a:ext cx="173736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9D93FF"/>
                </a:solidFill>
                <a:latin typeface="Aptos"/>
              </a:rPr>
              <a:t>PILOT + VALIDATION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06624" y="4352544"/>
            <a:ext cx="1965960" cy="301752"/>
          </a:xfrm>
          <a:prstGeom prst="roundRect">
            <a:avLst>
              <a:gd name="adj" fmla="val 12000"/>
            </a:avLst>
          </a:prstGeom>
          <a:solidFill>
            <a:srgbClr val="171240"/>
          </a:solidFill>
          <a:ln w="12700">
            <a:solidFill>
              <a:srgbClr val="2E25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1488" y="4361688"/>
            <a:ext cx="1856231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9D93FF"/>
                </a:solidFill>
                <a:latin typeface="Aptos"/>
              </a:rPr>
              <a:t>PARTNER DISCUSSION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5925312"/>
            <a:ext cx="5669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A2BE"/>
                </a:solidFill>
                <a:latin typeface="Aptos"/>
              </a:rPr>
              <a:t>NeuroLink Wear  •  Investor / technology discussion  • 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5" y="4572000"/>
            <a:ext cx="2880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Let’s prove it
with the people who need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NeuroLink Wear — Investor &amp; Technology Pitch</dc:title>
  <dc:subject>Editable investor presentation covering product, technology, audience, business plan, financial scenario and roadmap</dc:subject>
  <dc:creator>NeuroLink Wear</dc:creator>
  <cp:keywords>NeuroLink Wear, smart band, caregiver safety, wearable, investor deck</cp:keywords>
  <dc:description>All visual elements are native editable PowerPoint text and shapes. Financials/pricing are explicitly illustrative assumptions.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