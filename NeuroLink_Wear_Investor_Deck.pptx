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loop, not the technology: sense → understand → respond. This deck is written so a technical reviewer and an investor can both follow it; every claim carries its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nine sections, each readable on its own. The ✔ / ◦ legend matters — it separates what is running today from what is a roadmap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slide to anchor the conversation: a working prototype exists, the intelligence layer is explainable, and the ask funds evidence rather than more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01 — the problem is not measurement, it is context and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day timeline slowly. The night-time fall with no alert is the emotional centre of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disciplined on market size: name the beachhead, then show that the same platform reaches operators. The scale illustration is arithmetic, not a TAM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timing argument: demographics, normalised wrist behaviour, and a gap that consumer devices deliberately do not 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02 — the product: device, intelligence and care workflow sharing one data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loop closing: alerts feed baselines, so the system gets sharper for that specific wearer.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wireframe of the shipped dashboard, not a screenshot. Demo the live app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explicit: prototype-grade hardware. The sensor list is real, the accuracy work is a pilot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answer for the technical judge: one ingest path serves both simulated payloads and real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03 — intelligence. This is the differentiator: equations plus calibration instead of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two commercial consequences: coverage on day one for a new wearer, and alerts that can be explained to a clinician.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guided reference example is the clearest illustration of personalisation — a nurse's oral thermometer becomes the wearer's own calibration offset.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Detection breadth matters for triage, but repeat the guardrail: this supports decisions, it does not diagnose.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asymmetry: personalisation can only add sensitivity. Clinical floors are immutable.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language layer is optional by design — detection must never depend on an external model being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for diligence questions: three suites, all green, every fixed bug closed with a regression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04 — audience. One wearer, one payer, one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Segments in priority order: beachhead first, enterprise second, ecosystem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Adoption fails on the wrist. If Margaret will not wear it, Sarah's dashboard is irrelevant.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Jobs-to-be-done mapped to shipped features and to the metric that proves each one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05 — roadmap. Nothing advances a horizon until the gate before it is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three horizons visually separate; the honest framing is ‘shipped / next / later’.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Wearer-side features. Each card states the gate that would justify building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Caregiver-side features. Flag that delivery integrations are partner and regulatory dependencies, not just engineering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 bets. The standing rules at the bottom are the guardrails no roadmap item can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06 — business model. Hardware opens the account, software keeps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revenue streams; the subscription is the engine, the device is the entry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 economics are illustrative. The four metrics at the bottom are the ones that decide the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Go-to-market: buy proof before reach. Show the pilot scorecard — this is what the money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is an instrument. Pre-registered endpoints and shadow mode are what make the result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07 — financial plan. Repeat the caveat on every financial slide: planning scenario, not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build from $0.19M to $15.13M with the driver assumptions visible in one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Break-even in year four, and name the three conditions that have to hold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ask: $1.5M buys evidence. Use of funds is a hypothesis too — revisit it after the pilot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are named early with the response already designed. Close on the guardrail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make the signal useful to someone. Ask for pilot partners, clinical validation support and aligned capital. Replace the placeholder contact block before sending.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0"/>
          </a:xfrm>
          <a:prstGeom prst="rect">
            <a:avLst/>
          </a:prstGeom>
          <a:solidFill>
            <a:srgbClr val="F2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749808"/>
            <a:ext cx="384048" cy="54864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 spc="15000">
                <a:solidFill>
                  <a:srgbClr val="6B4FD0"/>
                </a:solidFill>
                <a:latin typeface="Segoe UI"/>
              </a:rPr>
              <a:t>NEUROLINK WEAR  ·  SMART BAND HEALTH &amp; SAFETY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80160"/>
            <a:ext cx="69494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 i="0">
                <a:solidFill>
                  <a:srgbClr val="1A1440"/>
                </a:solidFill>
                <a:latin typeface="Segoe UI"/>
              </a:rPr>
              <a:t>Predictive health intelligence,</a:t>
            </a:r>
          </a:p>
          <a:p>
            <a:pPr algn="l">
              <a:lnSpc>
                <a:spcPct val="106000"/>
              </a:lnSpc>
            </a:pPr>
            <a:r>
              <a:rPr sz="3600" b="1" i="0">
                <a:solidFill>
                  <a:srgbClr val="1A1440"/>
                </a:solidFill>
                <a:latin typeface="Segoe UI"/>
              </a:rPr>
              <a:t>worn every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50592"/>
            <a:ext cx="6309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250" b="0" i="0">
                <a:solidFill>
                  <a:srgbClr val="3D3566"/>
                </a:solidFill>
                <a:latin typeface="Segoe UI"/>
              </a:rPr>
              <a:t>One sensing band, one explainable AI engine and one caregiver dashboard — built to catch a health change between check-ins and turn it into a human response.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529584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7E76A0"/>
                </a:solidFill>
                <a:latin typeface="Segoe UI"/>
              </a:rPr>
              <a:t>Real-time vitals  ·  eight monitored conditions  ·  per-wearer calibration  ·  fall detection with GPS  ·  emergency dispatch  ·  caregiver back-office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280160"/>
            <a:ext cx="3877056" cy="4151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499616"/>
            <a:ext cx="34198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2000">
                <a:solidFill>
                  <a:srgbClr val="7E76A0"/>
                </a:solidFill>
                <a:latin typeface="Segoe UI"/>
              </a:rPr>
              <a:t>LIVE WEARER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755648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Margaret T. · 78 · at home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14432" y="1719072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8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14432" y="1730044"/>
            <a:ext cx="93268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00" b="1" i="0" spc="3000">
                <a:solidFill>
                  <a:srgbClr val="1E8A5F"/>
                </a:solidFill>
                <a:latin typeface="Segoe UI"/>
              </a:rPr>
              <a:t>●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103120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Heart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0928" y="2048255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400" b="1" i="0">
                <a:solidFill>
                  <a:srgbClr val="241483"/>
                </a:solidFill>
                <a:latin typeface="Segoe UI"/>
              </a:rPr>
              <a:t>72</a:t>
            </a:r>
            <a:r>
              <a:rPr sz="850" b="0" i="0">
                <a:solidFill>
                  <a:srgbClr val="7E76A0"/>
                </a:solidFill>
                <a:latin typeface="Segoe UI"/>
              </a:rPr>
              <a:t> bpm</a:t>
            </a:r>
          </a:p>
        </p:txBody>
      </p:sp>
      <p:sp>
        <p:nvSpPr>
          <p:cNvPr id="16" name="Freeform 15"/>
          <p:cNvSpPr/>
          <p:nvPr/>
        </p:nvSpPr>
        <p:spPr>
          <a:xfrm>
            <a:off x="7818120" y="2377440"/>
            <a:ext cx="3364992" cy="256032"/>
          </a:xfrm>
          <a:custGeom>
            <a:avLst/>
            <a:gdLst/>
            <a:ahLst/>
            <a:cxnLst/>
            <a:rect l="l" t="t" r="r" b="b"/>
            <a:pathLst>
              <a:path w="3364992" h="256032">
                <a:moveTo>
                  <a:pt x="0" y="256032"/>
                </a:moveTo>
                <a:lnTo>
                  <a:pt x="152954" y="204826"/>
                </a:lnTo>
                <a:lnTo>
                  <a:pt x="305908" y="153619"/>
                </a:lnTo>
                <a:lnTo>
                  <a:pt x="458863" y="179222"/>
                </a:lnTo>
                <a:lnTo>
                  <a:pt x="611817" y="204826"/>
                </a:lnTo>
                <a:lnTo>
                  <a:pt x="764771" y="128016"/>
                </a:lnTo>
                <a:lnTo>
                  <a:pt x="917725" y="51206"/>
                </a:lnTo>
                <a:lnTo>
                  <a:pt x="1070679" y="76810"/>
                </a:lnTo>
                <a:lnTo>
                  <a:pt x="1223633" y="102413"/>
                </a:lnTo>
                <a:lnTo>
                  <a:pt x="1376588" y="128016"/>
                </a:lnTo>
                <a:lnTo>
                  <a:pt x="1529542" y="153619"/>
                </a:lnTo>
                <a:lnTo>
                  <a:pt x="1682496" y="76810"/>
                </a:lnTo>
                <a:lnTo>
                  <a:pt x="1835450" y="0"/>
                </a:lnTo>
                <a:lnTo>
                  <a:pt x="1988404" y="51206"/>
                </a:lnTo>
                <a:lnTo>
                  <a:pt x="2141359" y="102413"/>
                </a:lnTo>
                <a:lnTo>
                  <a:pt x="2294313" y="128016"/>
                </a:lnTo>
                <a:lnTo>
                  <a:pt x="2447267" y="153619"/>
                </a:lnTo>
                <a:lnTo>
                  <a:pt x="2600221" y="179222"/>
                </a:lnTo>
                <a:lnTo>
                  <a:pt x="2753175" y="204826"/>
                </a:lnTo>
                <a:lnTo>
                  <a:pt x="2906129" y="179222"/>
                </a:lnTo>
                <a:lnTo>
                  <a:pt x="3059084" y="153619"/>
                </a:lnTo>
                <a:lnTo>
                  <a:pt x="3212038" y="153619"/>
                </a:lnTo>
                <a:lnTo>
                  <a:pt x="3364992" y="153619"/>
                </a:lnTo>
              </a:path>
            </a:pathLst>
          </a:custGeom>
          <a:noFill/>
          <a:ln w="16510">
            <a:solidFill>
              <a:srgbClr val="2414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818120" y="2743200"/>
            <a:ext cx="3364992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18120" y="2779776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Blood oxygen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2724912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400" b="1" i="0">
                <a:solidFill>
                  <a:srgbClr val="4C3BD4"/>
                </a:solidFill>
                <a:latin typeface="Segoe UI"/>
              </a:rPr>
              <a:t>97</a:t>
            </a:r>
            <a:r>
              <a:rPr sz="850" b="0" i="0">
                <a:solidFill>
                  <a:srgbClr val="7E76A0"/>
                </a:solidFill>
                <a:latin typeface="Segoe UI"/>
              </a:rPr>
              <a:t> %</a:t>
            </a:r>
          </a:p>
        </p:txBody>
      </p:sp>
      <p:sp>
        <p:nvSpPr>
          <p:cNvPr id="20" name="Freeform 19"/>
          <p:cNvSpPr/>
          <p:nvPr/>
        </p:nvSpPr>
        <p:spPr>
          <a:xfrm>
            <a:off x="7818120" y="3054096"/>
            <a:ext cx="3364992" cy="256032"/>
          </a:xfrm>
          <a:custGeom>
            <a:avLst/>
            <a:gdLst/>
            <a:ahLst/>
            <a:cxnLst/>
            <a:rect l="l" t="t" r="r" b="b"/>
            <a:pathLst>
              <a:path w="3364992" h="256032">
                <a:moveTo>
                  <a:pt x="0" y="128016"/>
                </a:moveTo>
                <a:lnTo>
                  <a:pt x="152954" y="128016"/>
                </a:lnTo>
                <a:lnTo>
                  <a:pt x="305908" y="128016"/>
                </a:lnTo>
                <a:lnTo>
                  <a:pt x="458863" y="192024"/>
                </a:lnTo>
                <a:lnTo>
                  <a:pt x="611817" y="256032"/>
                </a:lnTo>
                <a:lnTo>
                  <a:pt x="764771" y="192024"/>
                </a:lnTo>
                <a:lnTo>
                  <a:pt x="917725" y="128016"/>
                </a:lnTo>
                <a:lnTo>
                  <a:pt x="1070679" y="64008"/>
                </a:lnTo>
                <a:lnTo>
                  <a:pt x="1223633" y="0"/>
                </a:lnTo>
                <a:lnTo>
                  <a:pt x="1376588" y="64008"/>
                </a:lnTo>
                <a:lnTo>
                  <a:pt x="1529542" y="128016"/>
                </a:lnTo>
                <a:lnTo>
                  <a:pt x="1682496" y="128016"/>
                </a:lnTo>
                <a:lnTo>
                  <a:pt x="1835450" y="128016"/>
                </a:lnTo>
                <a:lnTo>
                  <a:pt x="1988404" y="192024"/>
                </a:lnTo>
                <a:lnTo>
                  <a:pt x="2141359" y="256032"/>
                </a:lnTo>
                <a:lnTo>
                  <a:pt x="2294313" y="192024"/>
                </a:lnTo>
                <a:lnTo>
                  <a:pt x="2447267" y="128016"/>
                </a:lnTo>
                <a:lnTo>
                  <a:pt x="2600221" y="128016"/>
                </a:lnTo>
                <a:lnTo>
                  <a:pt x="2753175" y="128016"/>
                </a:lnTo>
                <a:lnTo>
                  <a:pt x="2906129" y="128016"/>
                </a:lnTo>
                <a:lnTo>
                  <a:pt x="3059084" y="128016"/>
                </a:lnTo>
                <a:lnTo>
                  <a:pt x="3212038" y="128016"/>
                </a:lnTo>
                <a:lnTo>
                  <a:pt x="3364992" y="128016"/>
                </a:lnTo>
              </a:path>
            </a:pathLst>
          </a:custGeom>
          <a:noFill/>
          <a:ln w="16510">
            <a:solidFill>
              <a:srgbClr val="4C3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818120" y="3419856"/>
            <a:ext cx="3364992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18120" y="3456432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Skin temp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3401568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400" b="1" i="0">
                <a:solidFill>
                  <a:srgbClr val="6B4FD0"/>
                </a:solidFill>
                <a:latin typeface="Segoe UI"/>
              </a:rPr>
              <a:t>36.4</a:t>
            </a:r>
            <a:r>
              <a:rPr sz="850" b="0" i="0">
                <a:solidFill>
                  <a:srgbClr val="7E76A0"/>
                </a:solidFill>
                <a:latin typeface="Segoe UI"/>
              </a:rPr>
              <a:t> °C</a:t>
            </a:r>
          </a:p>
        </p:txBody>
      </p:sp>
      <p:sp>
        <p:nvSpPr>
          <p:cNvPr id="24" name="Freeform 23"/>
          <p:cNvSpPr/>
          <p:nvPr/>
        </p:nvSpPr>
        <p:spPr>
          <a:xfrm>
            <a:off x="7818120" y="3730752"/>
            <a:ext cx="3364992" cy="256032"/>
          </a:xfrm>
          <a:custGeom>
            <a:avLst/>
            <a:gdLst/>
            <a:ahLst/>
            <a:cxnLst/>
            <a:rect l="l" t="t" r="r" b="b"/>
            <a:pathLst>
              <a:path w="3364992" h="256032">
                <a:moveTo>
                  <a:pt x="0" y="256032"/>
                </a:moveTo>
                <a:lnTo>
                  <a:pt x="152954" y="192024"/>
                </a:lnTo>
                <a:lnTo>
                  <a:pt x="305908" y="128016"/>
                </a:lnTo>
                <a:lnTo>
                  <a:pt x="458863" y="128016"/>
                </a:lnTo>
                <a:lnTo>
                  <a:pt x="611817" y="128016"/>
                </a:lnTo>
                <a:lnTo>
                  <a:pt x="764771" y="64008"/>
                </a:lnTo>
                <a:lnTo>
                  <a:pt x="917725" y="0"/>
                </a:lnTo>
                <a:lnTo>
                  <a:pt x="1070679" y="64008"/>
                </a:lnTo>
                <a:lnTo>
                  <a:pt x="1223633" y="128016"/>
                </a:lnTo>
                <a:lnTo>
                  <a:pt x="1376588" y="128016"/>
                </a:lnTo>
                <a:lnTo>
                  <a:pt x="1529542" y="128016"/>
                </a:lnTo>
                <a:lnTo>
                  <a:pt x="1682496" y="192024"/>
                </a:lnTo>
                <a:lnTo>
                  <a:pt x="1835450" y="256032"/>
                </a:lnTo>
                <a:lnTo>
                  <a:pt x="1988404" y="192024"/>
                </a:lnTo>
                <a:lnTo>
                  <a:pt x="2141359" y="128016"/>
                </a:lnTo>
                <a:lnTo>
                  <a:pt x="2294313" y="128016"/>
                </a:lnTo>
                <a:lnTo>
                  <a:pt x="2447267" y="128016"/>
                </a:lnTo>
                <a:lnTo>
                  <a:pt x="2600221" y="128016"/>
                </a:lnTo>
                <a:lnTo>
                  <a:pt x="2753175" y="128016"/>
                </a:lnTo>
                <a:lnTo>
                  <a:pt x="2906129" y="64008"/>
                </a:lnTo>
                <a:lnTo>
                  <a:pt x="3059084" y="0"/>
                </a:lnTo>
                <a:lnTo>
                  <a:pt x="3212038" y="64008"/>
                </a:lnTo>
                <a:lnTo>
                  <a:pt x="3364992" y="128016"/>
                </a:lnTo>
              </a:path>
            </a:pathLst>
          </a:custGeom>
          <a:noFill/>
          <a:ln w="16510">
            <a:solidFill>
              <a:srgbClr val="6B4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818120" y="4096512"/>
            <a:ext cx="3364992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18120" y="4133088"/>
            <a:ext cx="18288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Stress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4078224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1400" b="1" i="0">
                <a:solidFill>
                  <a:srgbClr val="170C5E"/>
                </a:solidFill>
                <a:latin typeface="Segoe UI"/>
              </a:rPr>
              <a:t>0.28</a:t>
            </a:r>
            <a:r>
              <a:rPr sz="850" b="0" i="0">
                <a:solidFill>
                  <a:srgbClr val="7E76A0"/>
                </a:solidFill>
                <a:latin typeface="Segoe UI"/>
              </a:rPr>
              <a:t> /1</a:t>
            </a:r>
          </a:p>
        </p:txBody>
      </p:sp>
      <p:sp>
        <p:nvSpPr>
          <p:cNvPr id="28" name="Freeform 27"/>
          <p:cNvSpPr/>
          <p:nvPr/>
        </p:nvSpPr>
        <p:spPr>
          <a:xfrm>
            <a:off x="7818120" y="4407408"/>
            <a:ext cx="3364992" cy="256032"/>
          </a:xfrm>
          <a:custGeom>
            <a:avLst/>
            <a:gdLst/>
            <a:ahLst/>
            <a:cxnLst/>
            <a:rect l="l" t="t" r="r" b="b"/>
            <a:pathLst>
              <a:path w="3364992" h="256032">
                <a:moveTo>
                  <a:pt x="0" y="256032"/>
                </a:moveTo>
                <a:lnTo>
                  <a:pt x="152954" y="204826"/>
                </a:lnTo>
                <a:lnTo>
                  <a:pt x="305908" y="153619"/>
                </a:lnTo>
                <a:lnTo>
                  <a:pt x="458863" y="179222"/>
                </a:lnTo>
                <a:lnTo>
                  <a:pt x="611817" y="204826"/>
                </a:lnTo>
                <a:lnTo>
                  <a:pt x="764771" y="102413"/>
                </a:lnTo>
                <a:lnTo>
                  <a:pt x="917725" y="0"/>
                </a:lnTo>
                <a:lnTo>
                  <a:pt x="1070679" y="51206"/>
                </a:lnTo>
                <a:lnTo>
                  <a:pt x="1223633" y="102413"/>
                </a:lnTo>
                <a:lnTo>
                  <a:pt x="1376588" y="153619"/>
                </a:lnTo>
                <a:lnTo>
                  <a:pt x="1529542" y="204826"/>
                </a:lnTo>
                <a:lnTo>
                  <a:pt x="1682496" y="179222"/>
                </a:lnTo>
                <a:lnTo>
                  <a:pt x="1835450" y="153619"/>
                </a:lnTo>
                <a:lnTo>
                  <a:pt x="1988404" y="102413"/>
                </a:lnTo>
                <a:lnTo>
                  <a:pt x="2141359" y="51206"/>
                </a:lnTo>
                <a:lnTo>
                  <a:pt x="2294313" y="76810"/>
                </a:lnTo>
                <a:lnTo>
                  <a:pt x="2447267" y="102413"/>
                </a:lnTo>
                <a:lnTo>
                  <a:pt x="2600221" y="128016"/>
                </a:lnTo>
                <a:lnTo>
                  <a:pt x="2753175" y="153619"/>
                </a:lnTo>
                <a:lnTo>
                  <a:pt x="2906129" y="179222"/>
                </a:lnTo>
                <a:lnTo>
                  <a:pt x="3059084" y="204826"/>
                </a:lnTo>
                <a:lnTo>
                  <a:pt x="3212038" y="153619"/>
                </a:lnTo>
                <a:lnTo>
                  <a:pt x="3364992" y="102413"/>
                </a:lnTo>
              </a:path>
            </a:pathLst>
          </a:custGeom>
          <a:noFill/>
          <a:ln w="16510">
            <a:solidFill>
              <a:srgbClr val="170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7818120" y="4773168"/>
            <a:ext cx="3364992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818120" y="4956048"/>
            <a:ext cx="3364992" cy="292608"/>
          </a:xfrm>
          <a:prstGeom prst="roundRect">
            <a:avLst>
              <a:gd name="adj" fmla="val 50000"/>
            </a:avLst>
          </a:prstGeom>
          <a:solidFill>
            <a:srgbClr val="F7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4967020"/>
            <a:ext cx="33649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00" b="1" i="0" spc="1000">
                <a:solidFill>
                  <a:srgbClr val="3D3566"/>
                </a:solidFill>
                <a:latin typeface="Segoe UI"/>
              </a:rPr>
              <a:t>8 conditions monitored · 2-tier safety rules · 24 h inactivity watch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" y="5742432"/>
            <a:ext cx="10765231" cy="0"/>
          </a:xfrm>
          <a:prstGeom prst="line">
            <a:avLst/>
          </a:prstGeom>
          <a:ln w="9525">
            <a:solidFill>
              <a:srgbClr val="CF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3232" y="5907024"/>
            <a:ext cx="25084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PROPOSITION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6126480"/>
            <a:ext cx="25084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Device + AI + care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4539" y="5907024"/>
            <a:ext cx="25084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FIRST MARKET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4539" y="6126480"/>
            <a:ext cx="25084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Aging at home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5847" y="5907024"/>
            <a:ext cx="25084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STAGE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5847" y="6126480"/>
            <a:ext cx="25084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Working software prototype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7155" y="5907024"/>
            <a:ext cx="25084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155" y="6126480"/>
            <a:ext cx="25084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$1.5M pre-seed · pilot-led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6528816"/>
            <a:ext cx="107652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7E76A0"/>
                </a:solidFill>
                <a:latin typeface="Segoe UI"/>
              </a:rPr>
              <a:t>Investor &amp; technical review deck · September 2026 · financials are illustrative planning scenarios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Nine questions this deck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Each section is built to be read on its own — every figure carries its source and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351129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9000">
                <a:solidFill>
                  <a:srgbClr val="1E8A5F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7685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946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The monitoring gap between check-ins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1129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3911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9000">
                <a:solidFill>
                  <a:srgbClr val="1E8A5F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7685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56946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Who pays, and why now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7" y="1874519"/>
            <a:ext cx="351129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03911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9000">
                <a:solidFill>
                  <a:srgbClr val="1E8A5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27685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56946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Sense → understand → respond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063239"/>
            <a:ext cx="351129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2783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9000">
                <a:solidFill>
                  <a:srgbClr val="1E8A5F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65575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5818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Band, dashboard, safety workflow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063239"/>
            <a:ext cx="351129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22783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9000">
                <a:solidFill>
                  <a:srgbClr val="1E8A5F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465575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75818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Equations, calibration, LLM layer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7" y="3063239"/>
            <a:ext cx="351129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322783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9000">
                <a:solidFill>
                  <a:srgbClr val="1E8A5F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465575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Audience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375818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Segments, personas, beachhead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251959"/>
            <a:ext cx="351129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416551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9000">
                <a:solidFill>
                  <a:srgbClr val="4C3BD4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542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Roadmap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94690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Shipped, next, future features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4251959"/>
            <a:ext cx="351129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4568" y="4416551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9000">
                <a:solidFill>
                  <a:srgbClr val="4C3BD4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46542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Business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494690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Model, pricing, go-to-market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73567" y="4251959"/>
            <a:ext cx="351129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416551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9000">
                <a:solidFill>
                  <a:srgbClr val="4C3BD4"/>
                </a:solidFill>
                <a:latin typeface="Segoe U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6" y="46542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Financials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74736" y="494690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5-year plan, break-even, ask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797296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 spc="1000">
                <a:solidFill>
                  <a:srgbClr val="7E76A0"/>
                </a:solidFill>
                <a:latin typeface="Segoe UI"/>
              </a:rPr>
              <a:t>Status legend used throughout:  ✔ shipped in the current build   ·   ◦ roadmap candidate (not committed)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CONTENTS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What exists, what is next, what it is worth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6B4FD0"/>
                </a:solidFill>
                <a:latin typeface="Segoe UI"/>
              </a:rPr>
              <a:t>WORKING SOFTWARE PROTOTYPE — QA + CALIBRATION SUITES GREEN (141 · 74 · 17 CHECKS)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5230368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773936"/>
            <a:ext cx="41148" cy="658368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755648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Real-time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048256"/>
            <a:ext cx="46634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Heart rate, blood oxygen, skin temperature, GSR stress index and IMU motion streamed live — 2-second WebSocket updates, 8 conditions evaluated on every reading.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572768"/>
            <a:ext cx="5230368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5664" y="1773936"/>
            <a:ext cx="41148" cy="658368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1755648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Explainable AI, no training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2048256"/>
            <a:ext cx="46634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Physiology equations plus per-wearer calibration replace a black box; every alert cites the numbers that triggered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798064"/>
            <a:ext cx="5230368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2999232"/>
            <a:ext cx="41148" cy="658368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980944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Safety floors that never move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273552"/>
            <a:ext cx="46634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Two-tier rules: clinical absolutes OR the wearer's own σ-deviation. Personalisation can only add sensitivity.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2798064"/>
            <a:ext cx="5230368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55664" y="2999232"/>
            <a:ext cx="41148" cy="658368"/>
          </a:xfrm>
          <a:prstGeom prst="roundRect">
            <a:avLst>
              <a:gd name="adj" fmla="val 50000"/>
            </a:avLst>
          </a:prstGeom>
          <a:solidFill>
            <a:srgbClr val="D3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2980944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End-to-end escalation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3273552"/>
            <a:ext cx="46634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Incident timeline, live GPS map, dispatch log and one-click emergency-contact delivery in one safety 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023360"/>
            <a:ext cx="5230368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4224528"/>
            <a:ext cx="41148" cy="658368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206240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Caregiver back-office built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498848"/>
            <a:ext cx="46634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Contacts, device pairing with a staged MQTT connection test, thresholds, calibration wizard, roles and 30-day sessions.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4023360"/>
            <a:ext cx="5230368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4224528"/>
            <a:ext cx="41148" cy="658368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4206240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Measured, not asserted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6" y="4498848"/>
            <a:ext cx="46634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141-check QA battery, 74-check calibration suite, 17 DOM checks — all passing, all re-runnable on demand.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248656"/>
            <a:ext cx="5230368" cy="950976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76672"/>
            <a:ext cx="48280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STATUS HONESTY — WHAT IS NOT PROVEN YET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32704"/>
            <a:ext cx="482803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Wearable is prototype-grade hardware; alert precision, battery life, adherence and regulatory scope are hypotheses that only a field pilot can settle.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4496" y="5248656"/>
            <a:ext cx="5230368" cy="950976"/>
          </a:xfrm>
          <a:prstGeom prst="roundRect">
            <a:avLst>
              <a:gd name="adj" fmla="val 6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5367528"/>
            <a:ext cx="48280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2000">
                <a:solidFill>
                  <a:srgbClr val="9D93FF"/>
                </a:solidFill>
                <a:latin typeface="Segoe UI"/>
              </a:rPr>
              <a:t>THE 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614416"/>
            <a:ext cx="482803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FEDFB"/>
                </a:solidFill>
                <a:latin typeface="Segoe UI"/>
              </a:rPr>
              <a:t>$1.5M pre-seed</a:t>
            </a:r>
          </a:p>
          <a:p>
            <a:pPr algn="l">
              <a:lnSpc>
                <a:spcPct val="124000"/>
              </a:lnSpc>
              <a:spcBef>
                <a:spcPts val="200"/>
              </a:spcBef>
            </a:pPr>
            <a:r>
              <a:rPr sz="850" b="0" i="0">
                <a:solidFill>
                  <a:srgbClr val="C5BFE8"/>
                </a:solidFill>
                <a:latin typeface="Segoe UI"/>
              </a:rPr>
              <a:t>~18 months to a validated, pilot-ready product — 2–3 pilot partners, 100–150 wearers, measured precision and response time.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EXECUTIVE SUMMARY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868680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200" b="1" i="0">
                <a:solidFill>
                  <a:srgbClr val="241B5C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78892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i="0" spc="18000">
                <a:solidFill>
                  <a:srgbClr val="9D93FF"/>
                </a:solidFill>
                <a:latin typeface="Segoe UI"/>
              </a:rPr>
              <a:t>PROBLEM &amp;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090672"/>
            <a:ext cx="5989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FEDFB"/>
                </a:solidFill>
                <a:latin typeface="Segoe UI"/>
              </a:rPr>
              <a:t>The gap between check-ins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4023360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5BFE8"/>
                </a:solidFill>
                <a:latin typeface="Segoe UI"/>
              </a:rPr>
              <a:t>Continuous context and a response path — the problem worth solving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7943" y="221284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Signals without context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7943" y="263347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7943" y="285292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Trends that start quietly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7943" y="327355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7943" y="349300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Responses that are improvised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7943" y="391363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NEUROLINK WEAR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PROTOTYPE  ·  DISCUSSION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8E86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Critical health changes happen between check-ins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Care is delivered in snapshots. A short visit, a phone call, a reading taken once — while the signals that matter are continuous.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605332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975104"/>
            <a:ext cx="548640" cy="548640"/>
          </a:xfrm>
          <a:prstGeom prst="ellipse">
            <a:avLst/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84832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241483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01952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A1440"/>
                </a:solidFill>
                <a:latin typeface="Segoe UI"/>
              </a:rPr>
              <a:t>Signals lose their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94560"/>
            <a:ext cx="4846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A heart rate of 96 bpm is unremarkable on a walk and alarming at rest. Single readings, taken alone, cannot separate the two.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980944"/>
            <a:ext cx="605332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" y="3255263"/>
            <a:ext cx="548640" cy="548640"/>
          </a:xfrm>
          <a:prstGeom prst="ellipse">
            <a:avLst/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364991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6B4FD0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82112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A1440"/>
                </a:solidFill>
                <a:latin typeface="Segoe UI"/>
              </a:rPr>
              <a:t>Early warning is easy to miss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74720"/>
            <a:ext cx="4846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Fever, fatigue, panic and low oxygen usually begin as subtle trends — a slow drift that a person feels only after the fact.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261104"/>
            <a:ext cx="605332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976" y="4535424"/>
            <a:ext cx="548640" cy="548640"/>
          </a:xfrm>
          <a:prstGeom prst="ellipse">
            <a:avLst/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645152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D32B36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62272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A1440"/>
                </a:solidFill>
                <a:latin typeface="Segoe UI"/>
              </a:rPr>
              <a:t>The response path is improvised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54880"/>
            <a:ext cx="4846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When something does go wrong at 3 a.m., the people who care are called in an order nobody wrote down.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541264"/>
            <a:ext cx="6053328" cy="804672"/>
          </a:xfrm>
          <a:prstGeom prst="roundRect">
            <a:avLst>
              <a:gd name="adj" fmla="val 6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705856"/>
            <a:ext cx="5577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2000">
                <a:solidFill>
                  <a:srgbClr val="9D93FF"/>
                </a:solidFill>
                <a:latin typeface="Segoe UI"/>
              </a:rPr>
              <a:t>THE INSIGHT THAT SHAPES THE 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5961888"/>
            <a:ext cx="5577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FEDFB"/>
                </a:solidFill>
                <a:latin typeface="Segoe UI"/>
              </a:rPr>
              <a:t>The missing piece is not another measurement. It is context, timing and a response that already exists.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22592" y="1700784"/>
            <a:ext cx="4443984" cy="2615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8624" y="1883664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A DAY IN THE CURRENT MODEL</a:t>
            </a:r>
          </a:p>
        </p:txBody>
      </p:sp>
      <p:sp>
        <p:nvSpPr>
          <p:cNvPr id="27" name="Oval 26"/>
          <p:cNvSpPr/>
          <p:nvPr/>
        </p:nvSpPr>
        <p:spPr>
          <a:xfrm>
            <a:off x="7296912" y="2281428"/>
            <a:ext cx="82296" cy="82296"/>
          </a:xfrm>
          <a:prstGeom prst="ellipse">
            <a:avLst/>
          </a:prstGeom>
          <a:solidFill>
            <a:srgbClr val="7E7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335316" y="2414016"/>
            <a:ext cx="0" cy="402336"/>
          </a:xfrm>
          <a:prstGeom prst="line">
            <a:avLst/>
          </a:prstGeom>
          <a:ln w="9525">
            <a:solidFill>
              <a:srgbClr val="CF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98079" y="2231136"/>
            <a:ext cx="6583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7E76A0"/>
                </a:solidFill>
                <a:latin typeface="Segoe UI"/>
              </a:rPr>
              <a:t>07:30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2212848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Morning check-in call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3" y="2432304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“I'm fine.” — no data</a:t>
            </a:r>
          </a:p>
        </p:txBody>
      </p:sp>
      <p:sp>
        <p:nvSpPr>
          <p:cNvPr id="32" name="Oval 31"/>
          <p:cNvSpPr/>
          <p:nvPr/>
        </p:nvSpPr>
        <p:spPr>
          <a:xfrm>
            <a:off x="7296912" y="2811780"/>
            <a:ext cx="82296" cy="82296"/>
          </a:xfrm>
          <a:prstGeom prst="ellipse">
            <a:avLst/>
          </a:prstGeom>
          <a:solidFill>
            <a:srgbClr val="7E7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335316" y="2944368"/>
            <a:ext cx="0" cy="402336"/>
          </a:xfrm>
          <a:prstGeom prst="line">
            <a:avLst/>
          </a:prstGeom>
          <a:ln w="9525">
            <a:solidFill>
              <a:srgbClr val="CF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98079" y="2761488"/>
            <a:ext cx="6583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7E76A0"/>
                </a:solidFill>
                <a:latin typeface="Segoe UI"/>
              </a:rPr>
              <a:t>13:10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3" y="2743200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Blood pressure at the clinic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3" y="29626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one reading, archived</a:t>
            </a:r>
          </a:p>
        </p:txBody>
      </p:sp>
      <p:sp>
        <p:nvSpPr>
          <p:cNvPr id="37" name="Oval 36"/>
          <p:cNvSpPr/>
          <p:nvPr/>
        </p:nvSpPr>
        <p:spPr>
          <a:xfrm>
            <a:off x="7296912" y="3342132"/>
            <a:ext cx="82296" cy="82296"/>
          </a:xfrm>
          <a:prstGeom prst="ellipse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7335316" y="3474720"/>
            <a:ext cx="0" cy="402336"/>
          </a:xfrm>
          <a:prstGeom prst="line">
            <a:avLst/>
          </a:prstGeom>
          <a:ln w="9525">
            <a:solidFill>
              <a:srgbClr val="CF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498079" y="3291840"/>
            <a:ext cx="6583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4C3BD4"/>
                </a:solidFill>
                <a:latin typeface="Segoe UI"/>
              </a:rPr>
              <a:t>18:40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3" y="3273552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A slow walk, breathlessness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3" y="3493008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not noticed by anyone</a:t>
            </a:r>
          </a:p>
        </p:txBody>
      </p:sp>
      <p:sp>
        <p:nvSpPr>
          <p:cNvPr id="42" name="Oval 41"/>
          <p:cNvSpPr/>
          <p:nvPr/>
        </p:nvSpPr>
        <p:spPr>
          <a:xfrm>
            <a:off x="7296912" y="3872483"/>
            <a:ext cx="82296" cy="82296"/>
          </a:xfrm>
          <a:prstGeom prst="ellipse">
            <a:avLst/>
          </a:prstGeom>
          <a:solidFill>
            <a:srgbClr val="D3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3822191"/>
            <a:ext cx="6583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D32B36"/>
                </a:solidFill>
                <a:latin typeface="Segoe UI"/>
              </a:rPr>
              <a:t>02:15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3" y="380390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Night-time bathroom fall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3" y="4023359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no alert, no context, no log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22592" y="4425696"/>
            <a:ext cx="4443984" cy="1920240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8624" y="4608576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WHAT FAMILIES ACTUALLY NEED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624" y="4901184"/>
            <a:ext cx="3931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8000"/>
              </a:lnSpc>
              <a:spcAft>
                <a:spcPts val="5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A trend, not a number. </a:t>
            </a:r>
            <a:r>
              <a:rPr sz="900" b="0">
                <a:solidFill>
                  <a:srgbClr val="3D3566"/>
                </a:solidFill>
                <a:latin typeface="Segoe UI"/>
              </a:rPr>
              <a:t>“Her resting pulse has been 12 bpm higher for two days.”</a:t>
            </a:r>
          </a:p>
          <a:p>
            <a:pPr marL="219456" indent="-219456">
              <a:lnSpc>
                <a:spcPct val="128000"/>
              </a:lnSpc>
              <a:spcAft>
                <a:spcPts val="5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A threshold built for one body. </a:t>
            </a:r>
            <a:r>
              <a:rPr sz="900" b="0">
                <a:solidFill>
                  <a:srgbClr val="3D3566"/>
                </a:solidFill>
                <a:latin typeface="Segoe UI"/>
              </a:rPr>
              <a:t>Her normal is not the population average.</a:t>
            </a:r>
          </a:p>
          <a:p>
            <a:pPr marL="219456" indent="-219456">
              <a:lnSpc>
                <a:spcPct val="128000"/>
              </a:lnSpc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A path to a human. </a:t>
            </a:r>
            <a:r>
              <a:rPr sz="900" b="0">
                <a:solidFill>
                  <a:srgbClr val="3D3566"/>
                </a:solidFill>
                <a:latin typeface="Segoe UI"/>
              </a:rPr>
              <a:t>When it matters, someone is reached — and it is logged.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PROBLEM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01 /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Who pays, and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Three segments, one sensing platform — the first commercial wedge stays narrow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91056"/>
            <a:ext cx="336895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773936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3000">
                <a:solidFill>
                  <a:srgbClr val="241483"/>
                </a:solidFill>
                <a:latin typeface="Segoe UI"/>
              </a:rPr>
              <a:t>BEACHHEAD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294833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Aging-at-home households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432304"/>
            <a:ext cx="293004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Family caregiver households with one wearer and 1–3 trusted contacts. Direct subscription paid by a son or daughter.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0976" y="3401568"/>
            <a:ext cx="2930042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50976" y="3529584"/>
            <a:ext cx="293004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32000"/>
              </a:lnSpc>
              <a:spcAft>
                <a:spcPts val="400"/>
              </a:spcAft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~1 in 3 older adults wants to stay home</a:t>
            </a:r>
          </a:p>
          <a:p>
            <a:pPr marL="219456" indent="-219456">
              <a:lnSpc>
                <a:spcPct val="132000"/>
              </a:lnSpc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Informal family care is the default safety 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1642" y="1591056"/>
            <a:ext cx="336895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9386" y="1773936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3000">
                <a:solidFill>
                  <a:srgbClr val="6B4FD0"/>
                </a:solidFill>
                <a:latin typeface="Segoe UI"/>
              </a:rPr>
              <a:t>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386" y="2011680"/>
            <a:ext cx="294833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Home care &amp; senior living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386" y="2432304"/>
            <a:ext cx="293004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Multi-wearer dashboards for professional care teams, paid pilots, staff workflow and reporting.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9386" y="3401568"/>
            <a:ext cx="2930042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39386" y="3529584"/>
            <a:ext cx="293004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32000"/>
              </a:lnSpc>
              <a:spcAft>
                <a:spcPts val="400"/>
              </a:spcAft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Staff-to-resident alerting and audit trail</a:t>
            </a:r>
          </a:p>
          <a:p>
            <a:pPr marL="219456" indent="-219456">
              <a:lnSpc>
                <a:spcPct val="132000"/>
              </a:lnSpc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Buyer already budgets for monitoring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90052" y="1591056"/>
            <a:ext cx="336895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7796" y="1773936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3000">
                <a:solidFill>
                  <a:srgbClr val="4C3BD4"/>
                </a:solidFill>
                <a:latin typeface="Segoe UI"/>
              </a:rPr>
              <a:t>LONG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6" y="2011680"/>
            <a:ext cx="294833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Remote care ecosystem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6" y="2432304"/>
            <a:ext cx="293004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Provider, payer and employer relationships once detection quality and integration are proven.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27796" y="3401568"/>
            <a:ext cx="2930043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27796" y="3529584"/>
            <a:ext cx="293004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32000"/>
              </a:lnSpc>
              <a:spcAft>
                <a:spcPts val="4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Chronic-condition remote monitoring</a:t>
            </a:r>
          </a:p>
          <a:p>
            <a:pPr marL="219456" indent="-219456">
              <a:lnSpc>
                <a:spcPct val="132000"/>
              </a:lnSpc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Escalation evidence unlocks reimbursement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498848"/>
            <a:ext cx="6053328" cy="1810512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46817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2000">
                <a:solidFill>
                  <a:srgbClr val="7E76A0"/>
                </a:solidFill>
                <a:latin typeface="Segoe UI"/>
              </a:rPr>
              <a:t>WHY NOW — FIVE ENABLERS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956048"/>
            <a:ext cx="28529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Sensor economics —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PPG, GSR, IMU and temperature modules are commodity parts.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8496" y="4956048"/>
            <a:ext cx="28529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Edge compute —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An ESP32-class chip runs feature extraction and thresholds on the wrist.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5385816"/>
            <a:ext cx="28529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Transparent AI —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Equation-based models pass comprehension review where black boxes stall.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8496" y="5385816"/>
            <a:ext cx="28529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Remote-care demand —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Care-at-a-distance is now a mainstream family arrangement.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5815583"/>
            <a:ext cx="28529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Open connectivity —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MQTT over Wi-Fi plus a web dashboard removes the app-store gate.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22592" y="4498848"/>
            <a:ext cx="4443984" cy="1810512"/>
          </a:xfrm>
          <a:prstGeom prst="roundRect">
            <a:avLst>
              <a:gd name="adj" fmla="val 6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4681728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9D93FF"/>
                </a:solidFill>
                <a:latin typeface="Segoe UI"/>
              </a:rPr>
              <a:t>SCALE ILLUSTRATION — NOT A TAM CLAIM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0336" y="4992624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FEDFB"/>
                </a:solidFill>
                <a:latin typeface="Segoe UI"/>
              </a:rPr>
              <a:t>100,000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800" b="0" i="0">
                <a:solidFill>
                  <a:srgbClr val="C5BFE8"/>
                </a:solidFill>
                <a:latin typeface="Segoe UI"/>
              </a:rPr>
              <a:t>paid wearer accounts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4992624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FEDFB"/>
                </a:solidFill>
                <a:latin typeface="Segoe UI"/>
              </a:rPr>
              <a:t>$14.4M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800" b="0" i="0">
                <a:solidFill>
                  <a:srgbClr val="C5BFE8"/>
                </a:solidFill>
                <a:latin typeface="Segoe UI"/>
              </a:rPr>
              <a:t>annual subscription revenue at $12/month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2" y="4992624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FEDFB"/>
                </a:solidFill>
                <a:latin typeface="Segoe UI"/>
              </a:rPr>
              <a:t>$14.9M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800" b="0" i="0">
                <a:solidFill>
                  <a:srgbClr val="C5BFE8"/>
                </a:solidFill>
                <a:latin typeface="Segoe UI"/>
              </a:rPr>
              <a:t>one-off device revenue at $149 ASP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0336" y="5724144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C5BFE8"/>
                </a:solidFill>
                <a:latin typeface="Segoe UI"/>
              </a:rPr>
              <a:t>Illustrative capacity case to show model mechanics only. Launch geography, eligible base, reimbursement and pricing require validation before any market-size statement.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MARKET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01 /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The timing argument in one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91056"/>
            <a:ext cx="605332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73936"/>
            <a:ext cx="5577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The demographic curve is not a 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066543"/>
            <a:ext cx="5577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It is arithmetic. Aging populations and caregiving shortages are policy problems already being funded.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98064"/>
            <a:ext cx="6053328" cy="1097280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980944"/>
            <a:ext cx="5577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Consumer wearables normalised the wrist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273552"/>
            <a:ext cx="5577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The behaviour change — charging a device, sleeping with it, reading its app — has already happened.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005072"/>
            <a:ext cx="605332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187952"/>
            <a:ext cx="5577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But consumer devices stop at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480560"/>
            <a:ext cx="5577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Rings and watches report. They do not run a caregiver workflow, escalate to a contact or log a dispatch.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212080"/>
            <a:ext cx="6053328" cy="1097280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5394960"/>
            <a:ext cx="5577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Clinical-grade transparency is now a requirement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5687568"/>
            <a:ext cx="5577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Care organisations ask “why did it alert?” before they ask “how accurate is it?” Explainability is a sales asset.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2592" y="1591056"/>
            <a:ext cx="4443984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8624" y="1773936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2000">
                <a:solidFill>
                  <a:srgbClr val="7E76A0"/>
                </a:solidFill>
                <a:latin typeface="Segoe UI"/>
              </a:rPr>
              <a:t>THE GAP WE OCCUPY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624" y="2139696"/>
            <a:ext cx="3931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3D3566"/>
                </a:solidFill>
                <a:latin typeface="Segoe UI"/>
              </a:rPr>
              <a:t>Fitness trackers  </a:t>
            </a:r>
            <a:r>
              <a:rPr sz="900" b="0" i="0">
                <a:solidFill>
                  <a:srgbClr val="7E76A0"/>
                </a:solidFill>
                <a:latin typeface="Segoe UI"/>
              </a:rPr>
              <a:t>Data, no care workflow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78624" y="2523744"/>
            <a:ext cx="3931920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278624" y="2633472"/>
            <a:ext cx="3931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3D3566"/>
                </a:solidFill>
                <a:latin typeface="Segoe UI"/>
              </a:rPr>
              <a:t>Medical alert buttons  </a:t>
            </a:r>
            <a:r>
              <a:rPr sz="900" b="0" i="0">
                <a:solidFill>
                  <a:srgbClr val="7E76A0"/>
                </a:solidFill>
                <a:latin typeface="Segoe UI"/>
              </a:rPr>
              <a:t>Reactive, one-way, no context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78624" y="3017520"/>
            <a:ext cx="3931920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78624" y="3127248"/>
            <a:ext cx="3931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3D3566"/>
                </a:solidFill>
                <a:latin typeface="Segoe UI"/>
              </a:rPr>
              <a:t>Clinical monitoring  </a:t>
            </a:r>
            <a:r>
              <a:rPr sz="900" b="0" i="0">
                <a:solidFill>
                  <a:srgbClr val="7E76A0"/>
                </a:solidFill>
                <a:latin typeface="Segoe UI"/>
              </a:rPr>
              <a:t>Effective but institution-bound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78624" y="3511296"/>
            <a:ext cx="3931920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78624" y="3621024"/>
            <a:ext cx="3931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NeuroLink Wear  </a:t>
            </a:r>
            <a:r>
              <a:rPr sz="900" b="0" i="0">
                <a:solidFill>
                  <a:srgbClr val="241483"/>
                </a:solidFill>
                <a:latin typeface="Segoe UI"/>
              </a:rPr>
              <a:t>Continuous sensing + explanation +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22592" y="3931920"/>
            <a:ext cx="4443984" cy="2377440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8624" y="4114800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MARKET EVIDENCE TO COLLECT IN THE 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8624" y="4443984"/>
            <a:ext cx="3931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32000"/>
              </a:lnSpc>
              <a:spcAft>
                <a:spcPts val="600"/>
              </a:spcAft>
            </a:pPr>
            <a:r>
              <a:rPr sz="950">
                <a:solidFill>
                  <a:srgbClr val="241483"/>
                </a:solidFill>
                <a:latin typeface="Segoe UI"/>
              </a:rPr>
              <a:t>→   </a:t>
            </a:r>
            <a:r>
              <a:rPr sz="950" b="0">
                <a:solidFill>
                  <a:srgbClr val="3D3566"/>
                </a:solidFill>
                <a:latin typeface="Segoe UI"/>
              </a:rPr>
              <a:t>Willingness to pay: family subscription vs. device-only.</a:t>
            </a:r>
          </a:p>
          <a:p>
            <a:pPr marL="219456" indent="-219456">
              <a:lnSpc>
                <a:spcPct val="132000"/>
              </a:lnSpc>
              <a:spcAft>
                <a:spcPts val="600"/>
              </a:spcAft>
            </a:pPr>
            <a:r>
              <a:rPr sz="950">
                <a:solidFill>
                  <a:srgbClr val="241483"/>
                </a:solidFill>
                <a:latin typeface="Segoe UI"/>
              </a:rPr>
              <a:t>→   </a:t>
            </a:r>
            <a:r>
              <a:rPr sz="950" b="0">
                <a:solidFill>
                  <a:srgbClr val="3D3566"/>
                </a:solidFill>
                <a:latin typeface="Segoe UI"/>
              </a:rPr>
              <a:t>Attach rate inside a home-care operator's caseload.</a:t>
            </a:r>
          </a:p>
          <a:p>
            <a:pPr marL="219456" indent="-219456">
              <a:lnSpc>
                <a:spcPct val="132000"/>
              </a:lnSpc>
              <a:spcAft>
                <a:spcPts val="600"/>
              </a:spcAft>
            </a:pPr>
            <a:r>
              <a:rPr sz="950">
                <a:solidFill>
                  <a:srgbClr val="241483"/>
                </a:solidFill>
                <a:latin typeface="Segoe UI"/>
              </a:rPr>
              <a:t>→   </a:t>
            </a:r>
            <a:r>
              <a:rPr sz="950" b="0">
                <a:solidFill>
                  <a:srgbClr val="3D3566"/>
                </a:solidFill>
                <a:latin typeface="Segoe UI"/>
              </a:rPr>
              <a:t>Cost to serve per wearer per month (support dominates).</a:t>
            </a:r>
          </a:p>
          <a:p>
            <a:pPr marL="219456" indent="-219456">
              <a:lnSpc>
                <a:spcPct val="132000"/>
              </a:lnSpc>
              <a:spcAft>
                <a:spcPts val="600"/>
              </a:spcAft>
            </a:pPr>
            <a:r>
              <a:rPr sz="950">
                <a:solidFill>
                  <a:srgbClr val="241483"/>
                </a:solidFill>
                <a:latin typeface="Segoe UI"/>
              </a:rPr>
              <a:t>→   </a:t>
            </a:r>
            <a:r>
              <a:rPr sz="950" b="0">
                <a:solidFill>
                  <a:srgbClr val="3D3566"/>
                </a:solidFill>
                <a:latin typeface="Segoe UI"/>
              </a:rPr>
              <a:t>Reimbursement pathway questions for the remote-care segment.</a:t>
            </a:r>
          </a:p>
          <a:p>
            <a:pPr marL="219456" indent="-219456">
              <a:lnSpc>
                <a:spcPct val="132000"/>
              </a:lnSpc>
            </a:pPr>
            <a:r>
              <a:rPr sz="950">
                <a:solidFill>
                  <a:srgbClr val="241483"/>
                </a:solidFill>
                <a:latin typeface="Segoe UI"/>
              </a:rPr>
              <a:t>→   </a:t>
            </a:r>
            <a:r>
              <a:rPr sz="950" b="0">
                <a:solidFill>
                  <a:srgbClr val="3D3566"/>
                </a:solidFill>
                <a:latin typeface="Segoe UI"/>
              </a:rPr>
              <a:t>Churn after the first false alert.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MARKET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868680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200" b="1" i="0">
                <a:solidFill>
                  <a:srgbClr val="241B5C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78892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i="0" spc="18000">
                <a:solidFill>
                  <a:srgbClr val="9D93FF"/>
                </a:solidFill>
                <a:latin typeface="Segoe UI"/>
              </a:rPr>
              <a:t>SOLUTION &amp;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090672"/>
            <a:ext cx="5989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FEDFB"/>
                </a:solidFill>
                <a:latin typeface="Segoe UI"/>
              </a:rPr>
              <a:t>Device, intelligence,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4023360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5BFE8"/>
                </a:solidFill>
                <a:latin typeface="Segoe UI"/>
              </a:rPr>
              <a:t>One sensing platform: a wearable band, an explainable AI engine and a caregiver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7943" y="221284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Five sensors on an ESP32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7943" y="263347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7943" y="285292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Two-tier detection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7943" y="327355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7943" y="349300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Six caregiver views shipped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7943" y="391363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NEUROLINK WEAR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PROTOTYPE  ·  DISCUSSION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8E86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02 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Sense, understand, respond — then learn the wearer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A device, an intelligence layer and a care workflow that share one data spine.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27632"/>
            <a:ext cx="3368954" cy="2706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3368954" cy="50292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847088"/>
            <a:ext cx="384048" cy="384048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11095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EFEDFB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88366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 spc="11000">
                <a:solidFill>
                  <a:srgbClr val="241483"/>
                </a:solidFill>
                <a:latin typeface="Segoe UI"/>
              </a:rPr>
              <a:t>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0312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E76A0"/>
                </a:solidFill>
                <a:latin typeface="Segoe UI"/>
              </a:rPr>
              <a:t>PPG, GSR, motion, temperature and GPS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" y="2450592"/>
            <a:ext cx="2893466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50976" y="2596896"/>
            <a:ext cx="289346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The band samples heart rate, blood oxygen, HRV, skin conductance, skin temperature and 6-axis motion — plus location context — and publishes every 1–5 s over MQTT.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0976" y="3877056"/>
            <a:ext cx="2893466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50976" y="3968496"/>
            <a:ext cx="28934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41483"/>
                </a:solidFill>
                <a:latin typeface="Segoe UI"/>
              </a:rPr>
              <a:t>25 Hz motion sampling · 1 Hz vitals · published every 1–5 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09618" y="2871216"/>
            <a:ext cx="164592" cy="146304"/>
          </a:xfrm>
          <a:prstGeom prst="rightArrow">
            <a:avLst/>
          </a:prstGeom>
          <a:solidFill>
            <a:srgbClr val="CF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01642" y="1627632"/>
            <a:ext cx="3368954" cy="2706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1642" y="1627632"/>
            <a:ext cx="3368954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39386" y="1847088"/>
            <a:ext cx="384048" cy="384048"/>
          </a:xfrm>
          <a:prstGeom prst="ellipse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9386" y="1911095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EFEDFB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3162" y="188366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 spc="11000">
                <a:solidFill>
                  <a:srgbClr val="4C3BD4"/>
                </a:solidFill>
                <a:latin typeface="Segoe UI"/>
              </a:rPr>
              <a:t>UNDERSTAND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3162" y="210312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E76A0"/>
                </a:solidFill>
                <a:latin typeface="Segoe UI"/>
              </a:rPr>
              <a:t>Equations + calibration + language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39386" y="2450592"/>
            <a:ext cx="2893466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39386" y="2596896"/>
            <a:ext cx="289346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Raw signals become features, features become equations, equations become a condition — with a plain-language explanation of the evidence behind it.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39386" y="3877056"/>
            <a:ext cx="2893466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39386" y="3968496"/>
            <a:ext cx="28934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C3BD4"/>
                </a:solidFill>
                <a:latin typeface="Segoe UI"/>
              </a:rPr>
              <a:t>Evaluated on every reading at a ~2-second cadence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698028" y="2871216"/>
            <a:ext cx="164592" cy="146304"/>
          </a:xfrm>
          <a:prstGeom prst="rightArrow">
            <a:avLst/>
          </a:prstGeom>
          <a:solidFill>
            <a:srgbClr val="CF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90052" y="1627632"/>
            <a:ext cx="3368954" cy="2706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90052" y="1627632"/>
            <a:ext cx="3368954" cy="50292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27796" y="1847088"/>
            <a:ext cx="384048" cy="384048"/>
          </a:xfrm>
          <a:prstGeom prst="ellipse">
            <a:avLst/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7796" y="1911095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EFEDFB"/>
                </a:solidFill>
                <a:latin typeface="Segoe U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1572" y="188366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 spc="11000">
                <a:solidFill>
                  <a:srgbClr val="6B4FD0"/>
                </a:solidFill>
                <a:latin typeface="Segoe UI"/>
              </a:rPr>
              <a:t>RESPOND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1572" y="210312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E76A0"/>
                </a:solidFill>
                <a:latin typeface="Segoe UI"/>
              </a:rPr>
              <a:t>Explain, recommend, escalate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127796" y="2450592"/>
            <a:ext cx="2893467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27796" y="2596896"/>
            <a:ext cx="289346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0">
                <a:solidFill>
                  <a:srgbClr val="3D3566"/>
                </a:solidFill>
                <a:latin typeface="Segoe UI"/>
              </a:rPr>
              <a:t>The caregiver sees what changed, why it matters and what to do — and can reach a human with one action, with the whole event logged.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27796" y="3877056"/>
            <a:ext cx="2893467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127796" y="3968496"/>
            <a:ext cx="28934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4FD0"/>
                </a:solidFill>
                <a:latin typeface="Segoe UI"/>
              </a:rPr>
              <a:t>notify → confirm → escalate → log, with GPS attached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498848"/>
            <a:ext cx="6053328" cy="1810512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466344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2000">
                <a:solidFill>
                  <a:srgbClr val="7E76A0"/>
                </a:solidFill>
                <a:latin typeface="Segoe UI"/>
              </a:rPr>
              <a:t>THE LOOP CLOSES ON THE WEARER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4919472"/>
            <a:ext cx="5577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3D3566"/>
                </a:solidFill>
                <a:latin typeface="Segoe UI"/>
              </a:rPr>
              <a:t>Every reading and every acknowledged alert feeds back into the wearer's personal baselines, so the next threshold is better than the last.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" y="5632704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5643676"/>
            <a:ext cx="96926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 spc="2000">
                <a:solidFill>
                  <a:srgbClr val="241483"/>
                </a:solidFill>
                <a:latin typeface="Segoe UI"/>
              </a:rPr>
              <a:t>Reading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5632704"/>
            <a:ext cx="128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7E76A0"/>
                </a:solidFill>
                <a:latin typeface="Segoe UI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48256" y="5632704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48256" y="5643676"/>
            <a:ext cx="96926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 spc="2000">
                <a:solidFill>
                  <a:srgbClr val="4C3BD4"/>
                </a:solidFill>
                <a:latin typeface="Segoe UI"/>
              </a:rPr>
              <a:t>Explained alert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632704"/>
            <a:ext cx="128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7E76A0"/>
                </a:solidFill>
                <a:latin typeface="Segoe UI"/>
              </a:rP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45536" y="5632704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45536" y="5643676"/>
            <a:ext cx="96926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 spc="2000">
                <a:solidFill>
                  <a:srgbClr val="6B4FD0"/>
                </a:solidFill>
                <a:latin typeface="Segoe UI"/>
              </a:rPr>
              <a:t>Human response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5632704"/>
            <a:ext cx="128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7E76A0"/>
                </a:solidFill>
                <a:latin typeface="Segoe UI"/>
              </a:rPr>
              <a:t>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42816" y="5632704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2816" y="5643676"/>
            <a:ext cx="96926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 spc="2000">
                <a:solidFill>
                  <a:srgbClr val="1E8A5F"/>
                </a:solidFill>
                <a:latin typeface="Segoe UI"/>
              </a:rPr>
              <a:t>Baseline update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5632704"/>
            <a:ext cx="128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7E76A0"/>
                </a:solidFill>
                <a:latin typeface="Segoe UI"/>
              </a:rPr>
              <a:t>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40096" y="5632704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40096" y="5643676"/>
            <a:ext cx="96926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 spc="2000">
                <a:solidFill>
                  <a:srgbClr val="170C5E"/>
                </a:solidFill>
                <a:latin typeface="Segoe UI"/>
              </a:rPr>
              <a:t>Sharper alert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" y="6053328"/>
            <a:ext cx="5577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E76A0"/>
                </a:solidFill>
                <a:latin typeface="Segoe UI"/>
              </a:rPr>
              <a:t>The last step is the business model: it gets better the longer it is worn.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22592" y="4498848"/>
            <a:ext cx="4443984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60336" y="4663440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2000">
                <a:solidFill>
                  <a:srgbClr val="7E76A0"/>
                </a:solidFill>
                <a:latin typeface="Segoe UI"/>
              </a:rPr>
              <a:t>WHAT MAKES IT DIFFERENT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0336" y="4956048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6000"/>
              </a:lnSpc>
              <a:spcAft>
                <a:spcPts val="5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No dataset dependency. </a:t>
            </a:r>
            <a:r>
              <a:rPr sz="900" b="0">
                <a:solidFill>
                  <a:srgbClr val="3D3566"/>
                </a:solidFill>
                <a:latin typeface="Segoe UI"/>
              </a:rPr>
              <a:t>Works on day one for a new wearer.</a:t>
            </a:r>
          </a:p>
          <a:p>
            <a:pPr marL="219456" indent="-219456">
              <a:lnSpc>
                <a:spcPct val="126000"/>
              </a:lnSpc>
              <a:spcAft>
                <a:spcPts val="5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Same math on device and server. </a:t>
            </a:r>
            <a:r>
              <a:rPr sz="900" b="0">
                <a:solidFill>
                  <a:srgbClr val="3D3566"/>
                </a:solidFill>
                <a:latin typeface="Segoe UI"/>
              </a:rPr>
              <a:t>The ESP32 can run the identical equations.</a:t>
            </a:r>
          </a:p>
          <a:p>
            <a:pPr marL="219456" indent="-219456">
              <a:lnSpc>
                <a:spcPct val="126000"/>
              </a:lnSpc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Explained, not scored. </a:t>
            </a:r>
            <a:r>
              <a:rPr sz="900" b="0">
                <a:solidFill>
                  <a:srgbClr val="3D3566"/>
                </a:solidFill>
                <a:latin typeface="Segoe UI"/>
              </a:rPr>
              <a:t>Alerts name the signals and the deviation.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SOLUTION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02 /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Six views, one caregiver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Shipped in the current build — a responsive, role-aware web app with live WebSocket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91056"/>
            <a:ext cx="705916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591056"/>
            <a:ext cx="7059168" cy="329184"/>
          </a:xfrm>
          <a:prstGeom prst="roundRect">
            <a:avLst>
              <a:gd name="adj" fmla="val 35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755648"/>
            <a:ext cx="7059168" cy="164592"/>
          </a:xfrm>
          <a:prstGeom prst="rect">
            <a:avLst/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709928"/>
            <a:ext cx="91440" cy="91440"/>
          </a:xfrm>
          <a:prstGeom prst="ellipse">
            <a:avLst/>
          </a:prstGeom>
          <a:solidFill>
            <a:srgbClr val="CF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709928"/>
            <a:ext cx="91440" cy="91440"/>
          </a:xfrm>
          <a:prstGeom prst="ellipse">
            <a:avLst/>
          </a:prstGeom>
          <a:solidFill>
            <a:srgbClr val="CF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" y="1709928"/>
            <a:ext cx="91440" cy="91440"/>
          </a:xfrm>
          <a:prstGeom prst="ellipse">
            <a:avLst/>
          </a:prstGeom>
          <a:solidFill>
            <a:srgbClr val="CF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68249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neurolink.health  /  caregiver@…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920240"/>
            <a:ext cx="1481328" cy="3493008"/>
          </a:xfrm>
          <a:prstGeom prst="rect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066543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 spc="8000">
                <a:solidFill>
                  <a:srgbClr val="EFEDFB"/>
                </a:solidFill>
                <a:latin typeface="Segoe UI"/>
              </a:rPr>
              <a:t>NEUROLINK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2340864"/>
            <a:ext cx="1316736" cy="237744"/>
          </a:xfrm>
          <a:prstGeom prst="roundRect">
            <a:avLst>
              <a:gd name="adj" fmla="val 3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36829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>
                <a:solidFill>
                  <a:srgbClr val="EFEDFB"/>
                </a:solidFill>
                <a:latin typeface="Segoe UI"/>
              </a:rPr>
              <a:t>Live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660903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C5BFE8"/>
                </a:solidFill>
                <a:latin typeface="Segoe UI"/>
              </a:rPr>
              <a:t>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5351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C5BFE8"/>
                </a:solidFill>
                <a:latin typeface="Segoe UI"/>
              </a:rPr>
              <a:t>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46120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C5BFE8"/>
                </a:solidFill>
                <a:latin typeface="Segoe UI"/>
              </a:rPr>
              <a:t>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38728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C5BFE8"/>
                </a:solidFill>
                <a:latin typeface="Segoe UI"/>
              </a:rPr>
              <a:t>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31335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C5BFE8"/>
                </a:solidFill>
                <a:latin typeface="Segoe UI"/>
              </a:rPr>
              <a:t>Settings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261104"/>
            <a:ext cx="73152" cy="73152"/>
          </a:xfrm>
          <a:prstGeom prst="ellipse">
            <a:avLst/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1879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00" b="0" i="0">
                <a:solidFill>
                  <a:srgbClr val="C5BFE8"/>
                </a:solidFill>
                <a:latin typeface="Segoe UI"/>
              </a:rPr>
              <a:t>Band connected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901184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C5BFE8"/>
                </a:solidFill>
                <a:latin typeface="Segoe UI"/>
              </a:rPr>
              <a:t>Margaret T. · 78</a:t>
            </a:r>
          </a:p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C5BFE8"/>
                </a:solidFill>
                <a:latin typeface="Segoe UI"/>
              </a:rPr>
              <a:t>Caregiver role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1993392"/>
            <a:ext cx="5413248" cy="237744"/>
          </a:xfrm>
          <a:prstGeom prst="roundRect">
            <a:avLst>
              <a:gd name="adj" fmla="val 30000"/>
            </a:avLst>
          </a:prstGeom>
          <a:solidFill>
            <a:srgbClr val="E8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14016" y="2020824"/>
            <a:ext cx="4937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1E8A5F"/>
                </a:solidFill>
                <a:latin typeface="Segoe UI"/>
              </a:rPr>
              <a:t>● NLW-8842-A online · battery 68% · last sync 2 s ago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59152" y="2322576"/>
            <a:ext cx="1280160" cy="713232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2395728"/>
            <a:ext cx="1005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Heart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256032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41483"/>
                </a:solidFill>
                <a:latin typeface="Segoe UI"/>
              </a:rPr>
              <a:t>72</a:t>
            </a:r>
            <a:r>
              <a:rPr sz="700" b="0" i="0">
                <a:solidFill>
                  <a:srgbClr val="7E76A0"/>
                </a:solidFill>
                <a:latin typeface="Segoe UI"/>
              </a:rPr>
              <a:t> bpm</a:t>
            </a:r>
          </a:p>
        </p:txBody>
      </p:sp>
      <p:sp>
        <p:nvSpPr>
          <p:cNvPr id="31" name="Freeform 30"/>
          <p:cNvSpPr/>
          <p:nvPr/>
        </p:nvSpPr>
        <p:spPr>
          <a:xfrm>
            <a:off x="2468880" y="2834640"/>
            <a:ext cx="1042416" cy="146304"/>
          </a:xfrm>
          <a:custGeom>
            <a:avLst/>
            <a:gdLst/>
            <a:ahLst/>
            <a:cxnLst/>
            <a:rect l="l" t="t" r="r" b="b"/>
            <a:pathLst>
              <a:path w="1042416" h="146304">
                <a:moveTo>
                  <a:pt x="0" y="146304"/>
                </a:moveTo>
                <a:lnTo>
                  <a:pt x="47383" y="100584"/>
                </a:lnTo>
                <a:lnTo>
                  <a:pt x="94765" y="54864"/>
                </a:lnTo>
                <a:lnTo>
                  <a:pt x="142148" y="77724"/>
                </a:lnTo>
                <a:lnTo>
                  <a:pt x="189530" y="100584"/>
                </a:lnTo>
                <a:lnTo>
                  <a:pt x="236913" y="59436"/>
                </a:lnTo>
                <a:lnTo>
                  <a:pt x="284295" y="18288"/>
                </a:lnTo>
                <a:lnTo>
                  <a:pt x="331678" y="36576"/>
                </a:lnTo>
                <a:lnTo>
                  <a:pt x="379060" y="54864"/>
                </a:lnTo>
                <a:lnTo>
                  <a:pt x="426443" y="68580"/>
                </a:lnTo>
                <a:lnTo>
                  <a:pt x="473825" y="82296"/>
                </a:lnTo>
                <a:lnTo>
                  <a:pt x="521208" y="41148"/>
                </a:lnTo>
                <a:lnTo>
                  <a:pt x="568591" y="0"/>
                </a:lnTo>
                <a:lnTo>
                  <a:pt x="615973" y="22860"/>
                </a:lnTo>
                <a:lnTo>
                  <a:pt x="663356" y="45720"/>
                </a:lnTo>
                <a:lnTo>
                  <a:pt x="710738" y="59436"/>
                </a:lnTo>
                <a:lnTo>
                  <a:pt x="758121" y="73152"/>
                </a:lnTo>
                <a:lnTo>
                  <a:pt x="805503" y="54864"/>
                </a:lnTo>
                <a:lnTo>
                  <a:pt x="852886" y="36576"/>
                </a:lnTo>
                <a:lnTo>
                  <a:pt x="900268" y="45720"/>
                </a:lnTo>
                <a:lnTo>
                  <a:pt x="947651" y="54864"/>
                </a:lnTo>
                <a:lnTo>
                  <a:pt x="995033" y="59436"/>
                </a:lnTo>
                <a:lnTo>
                  <a:pt x="1042416" y="64008"/>
                </a:lnTo>
              </a:path>
            </a:pathLst>
          </a:custGeom>
          <a:noFill/>
          <a:ln w="12700">
            <a:solidFill>
              <a:srgbClr val="2414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712464" y="2322576"/>
            <a:ext cx="1280160" cy="713232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22192" y="2395728"/>
            <a:ext cx="1005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Blood Oxygen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2192" y="256032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4C3BD4"/>
                </a:solidFill>
                <a:latin typeface="Segoe UI"/>
              </a:rPr>
              <a:t>97</a:t>
            </a:r>
            <a:r>
              <a:rPr sz="700" b="0" i="0">
                <a:solidFill>
                  <a:srgbClr val="7E76A0"/>
                </a:solidFill>
                <a:latin typeface="Segoe UI"/>
              </a:rPr>
              <a:t> %</a:t>
            </a:r>
          </a:p>
        </p:txBody>
      </p:sp>
      <p:sp>
        <p:nvSpPr>
          <p:cNvPr id="35" name="Freeform 34"/>
          <p:cNvSpPr/>
          <p:nvPr/>
        </p:nvSpPr>
        <p:spPr>
          <a:xfrm>
            <a:off x="3822192" y="2834640"/>
            <a:ext cx="1042416" cy="146304"/>
          </a:xfrm>
          <a:custGeom>
            <a:avLst/>
            <a:gdLst/>
            <a:ahLst/>
            <a:cxnLst/>
            <a:rect l="l" t="t" r="r" b="b"/>
            <a:pathLst>
              <a:path w="1042416" h="146304">
                <a:moveTo>
                  <a:pt x="0" y="146304"/>
                </a:moveTo>
                <a:lnTo>
                  <a:pt x="47383" y="100584"/>
                </a:lnTo>
                <a:lnTo>
                  <a:pt x="94765" y="54864"/>
                </a:lnTo>
                <a:lnTo>
                  <a:pt x="142148" y="77724"/>
                </a:lnTo>
                <a:lnTo>
                  <a:pt x="189530" y="100584"/>
                </a:lnTo>
                <a:lnTo>
                  <a:pt x="236913" y="59436"/>
                </a:lnTo>
                <a:lnTo>
                  <a:pt x="284295" y="18288"/>
                </a:lnTo>
                <a:lnTo>
                  <a:pt x="331678" y="36576"/>
                </a:lnTo>
                <a:lnTo>
                  <a:pt x="379060" y="54864"/>
                </a:lnTo>
                <a:lnTo>
                  <a:pt x="426443" y="68580"/>
                </a:lnTo>
                <a:lnTo>
                  <a:pt x="473825" y="82296"/>
                </a:lnTo>
                <a:lnTo>
                  <a:pt x="521208" y="41148"/>
                </a:lnTo>
                <a:lnTo>
                  <a:pt x="568591" y="0"/>
                </a:lnTo>
                <a:lnTo>
                  <a:pt x="615973" y="22860"/>
                </a:lnTo>
                <a:lnTo>
                  <a:pt x="663356" y="45720"/>
                </a:lnTo>
                <a:lnTo>
                  <a:pt x="710738" y="59436"/>
                </a:lnTo>
                <a:lnTo>
                  <a:pt x="758121" y="73152"/>
                </a:lnTo>
                <a:lnTo>
                  <a:pt x="805503" y="54864"/>
                </a:lnTo>
                <a:lnTo>
                  <a:pt x="852886" y="36576"/>
                </a:lnTo>
                <a:lnTo>
                  <a:pt x="900268" y="45720"/>
                </a:lnTo>
                <a:lnTo>
                  <a:pt x="947651" y="54864"/>
                </a:lnTo>
                <a:lnTo>
                  <a:pt x="995033" y="59436"/>
                </a:lnTo>
                <a:lnTo>
                  <a:pt x="1042416" y="64008"/>
                </a:lnTo>
              </a:path>
            </a:pathLst>
          </a:custGeom>
          <a:noFill/>
          <a:ln w="12700">
            <a:solidFill>
              <a:srgbClr val="4C3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65776" y="2322576"/>
            <a:ext cx="1280160" cy="713232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2395728"/>
            <a:ext cx="1005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Skin Temp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75504" y="256032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6B4FD0"/>
                </a:solidFill>
                <a:latin typeface="Segoe UI"/>
              </a:rPr>
              <a:t>36.4</a:t>
            </a:r>
            <a:r>
              <a:rPr sz="700" b="0" i="0">
                <a:solidFill>
                  <a:srgbClr val="7E76A0"/>
                </a:solidFill>
                <a:latin typeface="Segoe UI"/>
              </a:rPr>
              <a:t> °C</a:t>
            </a:r>
          </a:p>
        </p:txBody>
      </p:sp>
      <p:sp>
        <p:nvSpPr>
          <p:cNvPr id="39" name="Freeform 38"/>
          <p:cNvSpPr/>
          <p:nvPr/>
        </p:nvSpPr>
        <p:spPr>
          <a:xfrm>
            <a:off x="5175504" y="2834640"/>
            <a:ext cx="1042416" cy="146304"/>
          </a:xfrm>
          <a:custGeom>
            <a:avLst/>
            <a:gdLst/>
            <a:ahLst/>
            <a:cxnLst/>
            <a:rect l="l" t="t" r="r" b="b"/>
            <a:pathLst>
              <a:path w="1042416" h="146304">
                <a:moveTo>
                  <a:pt x="0" y="146304"/>
                </a:moveTo>
                <a:lnTo>
                  <a:pt x="47383" y="100584"/>
                </a:lnTo>
                <a:lnTo>
                  <a:pt x="94765" y="54864"/>
                </a:lnTo>
                <a:lnTo>
                  <a:pt x="142148" y="77724"/>
                </a:lnTo>
                <a:lnTo>
                  <a:pt x="189530" y="100584"/>
                </a:lnTo>
                <a:lnTo>
                  <a:pt x="236913" y="59436"/>
                </a:lnTo>
                <a:lnTo>
                  <a:pt x="284295" y="18288"/>
                </a:lnTo>
                <a:lnTo>
                  <a:pt x="331678" y="36576"/>
                </a:lnTo>
                <a:lnTo>
                  <a:pt x="379060" y="54864"/>
                </a:lnTo>
                <a:lnTo>
                  <a:pt x="426443" y="68580"/>
                </a:lnTo>
                <a:lnTo>
                  <a:pt x="473825" y="82296"/>
                </a:lnTo>
                <a:lnTo>
                  <a:pt x="521208" y="41148"/>
                </a:lnTo>
                <a:lnTo>
                  <a:pt x="568591" y="0"/>
                </a:lnTo>
                <a:lnTo>
                  <a:pt x="615973" y="22860"/>
                </a:lnTo>
                <a:lnTo>
                  <a:pt x="663356" y="45720"/>
                </a:lnTo>
                <a:lnTo>
                  <a:pt x="710738" y="59436"/>
                </a:lnTo>
                <a:lnTo>
                  <a:pt x="758121" y="73152"/>
                </a:lnTo>
                <a:lnTo>
                  <a:pt x="805503" y="54864"/>
                </a:lnTo>
                <a:lnTo>
                  <a:pt x="852886" y="36576"/>
                </a:lnTo>
                <a:lnTo>
                  <a:pt x="900268" y="45720"/>
                </a:lnTo>
                <a:lnTo>
                  <a:pt x="947651" y="54864"/>
                </a:lnTo>
                <a:lnTo>
                  <a:pt x="995033" y="59436"/>
                </a:lnTo>
                <a:lnTo>
                  <a:pt x="1042416" y="64008"/>
                </a:lnTo>
              </a:path>
            </a:pathLst>
          </a:custGeom>
          <a:noFill/>
          <a:ln w="12700">
            <a:solidFill>
              <a:srgbClr val="6B4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19088" y="2322576"/>
            <a:ext cx="1280160" cy="713232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2395728"/>
            <a:ext cx="1005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Stress Index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8816" y="256032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70C5E"/>
                </a:solidFill>
                <a:latin typeface="Segoe UI"/>
              </a:rPr>
              <a:t>0.28</a:t>
            </a:r>
            <a:r>
              <a:rPr sz="700" b="0" i="0">
                <a:solidFill>
                  <a:srgbClr val="7E76A0"/>
                </a:solidFill>
                <a:latin typeface="Segoe UI"/>
              </a:rPr>
              <a:t> /1</a:t>
            </a:r>
          </a:p>
        </p:txBody>
      </p:sp>
      <p:sp>
        <p:nvSpPr>
          <p:cNvPr id="43" name="Freeform 42"/>
          <p:cNvSpPr/>
          <p:nvPr/>
        </p:nvSpPr>
        <p:spPr>
          <a:xfrm>
            <a:off x="6528816" y="2834640"/>
            <a:ext cx="1042416" cy="146304"/>
          </a:xfrm>
          <a:custGeom>
            <a:avLst/>
            <a:gdLst/>
            <a:ahLst/>
            <a:cxnLst/>
            <a:rect l="l" t="t" r="r" b="b"/>
            <a:pathLst>
              <a:path w="1042416" h="146304">
                <a:moveTo>
                  <a:pt x="0" y="146304"/>
                </a:moveTo>
                <a:lnTo>
                  <a:pt x="47383" y="100584"/>
                </a:lnTo>
                <a:lnTo>
                  <a:pt x="94765" y="54864"/>
                </a:lnTo>
                <a:lnTo>
                  <a:pt x="142148" y="77724"/>
                </a:lnTo>
                <a:lnTo>
                  <a:pt x="189530" y="100584"/>
                </a:lnTo>
                <a:lnTo>
                  <a:pt x="236913" y="59436"/>
                </a:lnTo>
                <a:lnTo>
                  <a:pt x="284295" y="18288"/>
                </a:lnTo>
                <a:lnTo>
                  <a:pt x="331678" y="36576"/>
                </a:lnTo>
                <a:lnTo>
                  <a:pt x="379060" y="54864"/>
                </a:lnTo>
                <a:lnTo>
                  <a:pt x="426443" y="68580"/>
                </a:lnTo>
                <a:lnTo>
                  <a:pt x="473825" y="82296"/>
                </a:lnTo>
                <a:lnTo>
                  <a:pt x="521208" y="41148"/>
                </a:lnTo>
                <a:lnTo>
                  <a:pt x="568591" y="0"/>
                </a:lnTo>
                <a:lnTo>
                  <a:pt x="615973" y="22860"/>
                </a:lnTo>
                <a:lnTo>
                  <a:pt x="663356" y="45720"/>
                </a:lnTo>
                <a:lnTo>
                  <a:pt x="710738" y="59436"/>
                </a:lnTo>
                <a:lnTo>
                  <a:pt x="758121" y="73152"/>
                </a:lnTo>
                <a:lnTo>
                  <a:pt x="805503" y="54864"/>
                </a:lnTo>
                <a:lnTo>
                  <a:pt x="852886" y="36576"/>
                </a:lnTo>
                <a:lnTo>
                  <a:pt x="900268" y="45720"/>
                </a:lnTo>
                <a:lnTo>
                  <a:pt x="947651" y="54864"/>
                </a:lnTo>
                <a:lnTo>
                  <a:pt x="995033" y="59436"/>
                </a:lnTo>
                <a:lnTo>
                  <a:pt x="1042416" y="64008"/>
                </a:lnTo>
              </a:path>
            </a:pathLst>
          </a:custGeom>
          <a:noFill/>
          <a:ln w="12700">
            <a:solidFill>
              <a:srgbClr val="170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359152" y="3145536"/>
            <a:ext cx="3291840" cy="1243584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0" y="323697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>
                <a:solidFill>
                  <a:srgbClr val="3D3566"/>
                </a:solidFill>
                <a:latin typeface="Segoe UI"/>
              </a:rPr>
              <a:t>Heart-rate variability · 24 h</a:t>
            </a:r>
          </a:p>
        </p:txBody>
      </p:sp>
      <p:sp>
        <p:nvSpPr>
          <p:cNvPr id="46" name="Freeform 45"/>
          <p:cNvSpPr/>
          <p:nvPr/>
        </p:nvSpPr>
        <p:spPr>
          <a:xfrm>
            <a:off x="2487168" y="3511296"/>
            <a:ext cx="3035808" cy="566928"/>
          </a:xfrm>
          <a:custGeom>
            <a:avLst/>
            <a:gdLst/>
            <a:ahLst/>
            <a:cxnLst/>
            <a:rect l="l" t="t" r="r" b="b"/>
            <a:pathLst>
              <a:path w="3035808" h="566928">
                <a:moveTo>
                  <a:pt x="0" y="314960"/>
                </a:moveTo>
                <a:lnTo>
                  <a:pt x="89288" y="377952"/>
                </a:lnTo>
                <a:lnTo>
                  <a:pt x="178577" y="440944"/>
                </a:lnTo>
                <a:lnTo>
                  <a:pt x="267865" y="330708"/>
                </a:lnTo>
                <a:lnTo>
                  <a:pt x="357154" y="220472"/>
                </a:lnTo>
                <a:lnTo>
                  <a:pt x="446442" y="299212"/>
                </a:lnTo>
                <a:lnTo>
                  <a:pt x="535731" y="377952"/>
                </a:lnTo>
                <a:lnTo>
                  <a:pt x="625019" y="440944"/>
                </a:lnTo>
                <a:lnTo>
                  <a:pt x="714308" y="503936"/>
                </a:lnTo>
                <a:lnTo>
                  <a:pt x="803596" y="314960"/>
                </a:lnTo>
                <a:lnTo>
                  <a:pt x="892885" y="125984"/>
                </a:lnTo>
                <a:lnTo>
                  <a:pt x="982173" y="78740"/>
                </a:lnTo>
                <a:lnTo>
                  <a:pt x="1071462" y="31496"/>
                </a:lnTo>
                <a:lnTo>
                  <a:pt x="1160750" y="94488"/>
                </a:lnTo>
                <a:lnTo>
                  <a:pt x="1250039" y="157480"/>
                </a:lnTo>
                <a:lnTo>
                  <a:pt x="1339327" y="283464"/>
                </a:lnTo>
                <a:lnTo>
                  <a:pt x="1428616" y="409448"/>
                </a:lnTo>
                <a:lnTo>
                  <a:pt x="1517904" y="488188"/>
                </a:lnTo>
                <a:lnTo>
                  <a:pt x="1607192" y="566928"/>
                </a:lnTo>
                <a:lnTo>
                  <a:pt x="1696481" y="519684"/>
                </a:lnTo>
                <a:lnTo>
                  <a:pt x="1785769" y="472440"/>
                </a:lnTo>
                <a:lnTo>
                  <a:pt x="1875058" y="330708"/>
                </a:lnTo>
                <a:lnTo>
                  <a:pt x="1964346" y="188976"/>
                </a:lnTo>
                <a:lnTo>
                  <a:pt x="2053635" y="94488"/>
                </a:lnTo>
                <a:lnTo>
                  <a:pt x="2142923" y="0"/>
                </a:lnTo>
                <a:lnTo>
                  <a:pt x="2232212" y="47244"/>
                </a:lnTo>
                <a:lnTo>
                  <a:pt x="2321500" y="94488"/>
                </a:lnTo>
                <a:lnTo>
                  <a:pt x="2410789" y="220472"/>
                </a:lnTo>
                <a:lnTo>
                  <a:pt x="2500077" y="346456"/>
                </a:lnTo>
                <a:lnTo>
                  <a:pt x="2589366" y="440944"/>
                </a:lnTo>
                <a:lnTo>
                  <a:pt x="2678654" y="535432"/>
                </a:lnTo>
                <a:lnTo>
                  <a:pt x="2767943" y="488188"/>
                </a:lnTo>
                <a:lnTo>
                  <a:pt x="2857231" y="440944"/>
                </a:lnTo>
                <a:lnTo>
                  <a:pt x="2946520" y="346456"/>
                </a:lnTo>
                <a:lnTo>
                  <a:pt x="3035808" y="251968"/>
                </a:lnTo>
              </a:path>
            </a:pathLst>
          </a:custGeom>
          <a:noFill/>
          <a:ln w="17780">
            <a:solidFill>
              <a:srgbClr val="4C3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80" y="4151376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50" b="0" i="0">
                <a:solidFill>
                  <a:srgbClr val="7E76A0"/>
                </a:solidFill>
                <a:latin typeface="Segoe UI"/>
              </a:rPr>
              <a:t>RMSSD (ms) · clinical overlay at 20 ms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3145536"/>
            <a:ext cx="1847088" cy="1243584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70448" y="3236976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>
                <a:solidFill>
                  <a:srgbClr val="3D3566"/>
                </a:solidFill>
                <a:latin typeface="Segoe UI"/>
              </a:rPr>
              <a:t>Stress vs HR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88736" y="3879122"/>
            <a:ext cx="148590" cy="180813"/>
          </a:xfrm>
          <a:prstGeom prst="roundRect">
            <a:avLst>
              <a:gd name="adj" fmla="val 18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092190" y="3806797"/>
            <a:ext cx="148590" cy="253138"/>
          </a:xfrm>
          <a:prstGeom prst="roundRect">
            <a:avLst>
              <a:gd name="adj" fmla="val 18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95644" y="3728444"/>
            <a:ext cx="148590" cy="331491"/>
          </a:xfrm>
          <a:prstGeom prst="roundRect">
            <a:avLst>
              <a:gd name="adj" fmla="val 18000"/>
            </a:avLst>
          </a:prstGeom>
          <a:solidFill>
            <a:srgbClr val="C9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499098" y="3830905"/>
            <a:ext cx="148590" cy="229030"/>
          </a:xfrm>
          <a:prstGeom prst="roundRect">
            <a:avLst>
              <a:gd name="adj" fmla="val 18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702552" y="3698308"/>
            <a:ext cx="148590" cy="361627"/>
          </a:xfrm>
          <a:prstGeom prst="roundRect">
            <a:avLst>
              <a:gd name="adj" fmla="val 18000"/>
            </a:avLst>
          </a:prstGeom>
          <a:solidFill>
            <a:srgbClr val="C9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906006" y="3625983"/>
            <a:ext cx="148590" cy="433952"/>
          </a:xfrm>
          <a:prstGeom prst="roundRect">
            <a:avLst>
              <a:gd name="adj" fmla="val 18000"/>
            </a:avLst>
          </a:prstGeom>
          <a:solidFill>
            <a:srgbClr val="D3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109460" y="3758580"/>
            <a:ext cx="148590" cy="301355"/>
          </a:xfrm>
          <a:prstGeom prst="roundRect">
            <a:avLst>
              <a:gd name="adj" fmla="val 18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312914" y="3794742"/>
            <a:ext cx="148590" cy="265193"/>
          </a:xfrm>
          <a:prstGeom prst="roundRect">
            <a:avLst>
              <a:gd name="adj" fmla="val 18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70448" y="4151376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50" b="0" i="0">
                <a:solidFill>
                  <a:srgbClr val="7E76A0"/>
                </a:solidFill>
                <a:latin typeface="Segoe UI"/>
              </a:rPr>
              <a:t>threshold 0.60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59152" y="4462272"/>
            <a:ext cx="5248656" cy="859536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68880" y="4535424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00" b="1" i="0" spc="6000">
                <a:solidFill>
                  <a:srgbClr val="7E76A0"/>
                </a:solidFill>
                <a:latin typeface="Segoe UI"/>
              </a:rPr>
              <a:t>RECENT ALERTS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68880" y="4750307"/>
            <a:ext cx="786384" cy="173736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68880" y="4761280"/>
            <a:ext cx="78638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550" b="1" i="0" spc="2000">
                <a:solidFill>
                  <a:srgbClr val="D32B36"/>
                </a:solidFill>
                <a:latin typeface="Segoe UI"/>
              </a:rPr>
              <a:t>CRITICAL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28415" y="4736592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>
                <a:solidFill>
                  <a:srgbClr val="1A1440"/>
                </a:solidFill>
                <a:latin typeface="Segoe UI"/>
              </a:rPr>
              <a:t>Fall Detected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9552" y="473659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650" b="0" i="0">
                <a:solidFill>
                  <a:srgbClr val="7E76A0"/>
                </a:solidFill>
                <a:latin typeface="Segoe UI"/>
              </a:rPr>
              <a:t>AI explanation ready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468880" y="4969764"/>
            <a:ext cx="786384" cy="173736"/>
          </a:xfrm>
          <a:prstGeom prst="roundRect">
            <a:avLst>
              <a:gd name="adj" fmla="val 50000"/>
            </a:avLst>
          </a:prstGeom>
          <a:solidFill>
            <a:srgbClr val="FB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68880" y="4980736"/>
            <a:ext cx="78638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550" b="1" i="0" spc="2000">
                <a:solidFill>
                  <a:srgbClr val="C97A14"/>
                </a:solidFill>
                <a:latin typeface="Segoe UI"/>
              </a:rPr>
              <a:t>HIGH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28415" y="4956048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>
                <a:solidFill>
                  <a:srgbClr val="1A1440"/>
                </a:solidFill>
                <a:latin typeface="Segoe UI"/>
              </a:rPr>
              <a:t>High Stress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9552" y="495604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650" b="0" i="0">
                <a:solidFill>
                  <a:srgbClr val="7E76A0"/>
                </a:solidFill>
                <a:latin typeface="Segoe UI"/>
              </a:rPr>
              <a:t>AI explanation ready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468880" y="5189220"/>
            <a:ext cx="786384" cy="173736"/>
          </a:xfrm>
          <a:prstGeom prst="roundRect">
            <a:avLst>
              <a:gd name="adj" fmla="val 50000"/>
            </a:avLst>
          </a:prstGeom>
          <a:solidFill>
            <a:srgbClr val="ED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68880" y="5200192"/>
            <a:ext cx="78638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550" b="1" i="0" spc="2000">
                <a:solidFill>
                  <a:srgbClr val="4A3FC0"/>
                </a:solidFill>
                <a:latin typeface="Segoe UI"/>
              </a:rPr>
              <a:t>LOW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28415" y="5175504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>
                <a:solidFill>
                  <a:srgbClr val="1A1440"/>
                </a:solidFill>
                <a:latin typeface="Segoe UI"/>
              </a:rPr>
              <a:t>Fatigue marker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9552" y="5175504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650" b="0" i="0">
                <a:solidFill>
                  <a:srgbClr val="7E76A0"/>
                </a:solidFill>
                <a:latin typeface="Segoe UI"/>
              </a:rPr>
              <a:t>AI explanation ready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82127" y="1591056"/>
            <a:ext cx="35844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2000">
                <a:solidFill>
                  <a:srgbClr val="7E76A0"/>
                </a:solidFill>
                <a:latin typeface="Segoe UI"/>
              </a:rPr>
              <a:t>THE SIX SHIPPED VIEWS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882127" y="1883664"/>
            <a:ext cx="3584448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6719" y="199339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Live Overview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46719" y="22128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Vitals, IMU motion, live feed, device health, AI insight, quick actions.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882127" y="2633472"/>
            <a:ext cx="3584448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46719" y="2743200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Alerts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19" y="296265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Severity, evidence readings, explanation, recommendations, acknowledge / resolve.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882127" y="3383279"/>
            <a:ext cx="3584448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46719" y="3493008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Safety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46719" y="3712463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Incident timeline, GPS map, inactivity watch, one-click dispatch with delivery log.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82127" y="4133087"/>
            <a:ext cx="3584448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46719" y="42428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Trends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46719" y="4462272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HRV, temperature &amp; SpO₂, stress vs HR — 24 h / 48 h / 7 d / 30 d filters.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882127" y="4882896"/>
            <a:ext cx="3584448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46719" y="4992624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Management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46719" y="521208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Contacts, devices &amp; MQTT, thresholds, calibration, wearer profile, users.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882127" y="5632704"/>
            <a:ext cx="3584448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46719" y="574243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Settings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46719" y="596188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Broker configuration, simulator controls, theme, session and role handling.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PRODUCT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02 /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Hardware: a five-sensor band on an ESP32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Components referenced by the current firmware source. Measurements are prototype-grade and require bench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591056"/>
          <a:ext cx="10030968" cy="2724912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1828800"/>
                <a:gridCol w="5120640"/>
                <a:gridCol w="1069848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 spc="6000">
                          <a:solidFill>
                            <a:srgbClr val="7E76A0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91440" marR="91440" marT="18288" marB="18288" anchor="ctr"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 spc="6000">
                          <a:solidFill>
                            <a:srgbClr val="7E76A0"/>
                          </a:solidFill>
                          <a:latin typeface="Segoe UI"/>
                        </a:rPr>
                        <a:t>Measures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 spc="6000">
                          <a:solidFill>
                            <a:srgbClr val="7E76A0"/>
                          </a:solidFill>
                          <a:latin typeface="Segoe UI"/>
                        </a:rPr>
                        <a:t>Role in the system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 spc="6000">
                          <a:solidFill>
                            <a:srgbClr val="7E76A0"/>
                          </a:solidFill>
                          <a:latin typeface="Segoe UI"/>
                        </a:rPr>
                        <a:t>Interface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1">
                          <a:solidFill>
                            <a:srgbClr val="1A1440"/>
                          </a:solidFill>
                          <a:latin typeface="Segoe UI"/>
                        </a:rPr>
                        <a:t>MAX30102 — PPG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Heart rate, SpO₂, HRV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Cardiovascular context, oxygen and recovery signals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I²C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1">
                          <a:solidFill>
                            <a:srgbClr val="1A1440"/>
                          </a:solidFill>
                          <a:latin typeface="Segoe UI"/>
                        </a:rPr>
                        <a:t>GSR electrodes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Skin conductance (µS)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Sympathetic arousal; tonic / phasic EDA split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Analog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1">
                          <a:solidFill>
                            <a:srgbClr val="1A1440"/>
                          </a:solidFill>
                          <a:latin typeface="Segoe UI"/>
                        </a:rPr>
                        <a:t>MPU6050 — IMU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Accel + gyro, 6 axes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Activity state, tremor, steps, fall signature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I²C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1">
                          <a:solidFill>
                            <a:srgbClr val="1A1440"/>
                          </a:solidFill>
                          <a:latin typeface="Segoe UI"/>
                        </a:rPr>
                        <a:t>MLX90614 — IR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Skin temperature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Fever trend and thermal drift, core-temperature estimate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I²C (SMBus)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1">
                          <a:solidFill>
                            <a:srgbClr val="1A1440"/>
                          </a:solidFill>
                          <a:latin typeface="Segoe UI"/>
                        </a:rPr>
                        <a:t>NEO-6M — GNSS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Latitude / longitude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Location context attached to every escalated event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UART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1">
                          <a:solidFill>
                            <a:srgbClr val="1A1440"/>
                          </a:solidFill>
                          <a:latin typeface="Segoe UI"/>
                        </a:rPr>
                        <a:t>ESP32-WROOM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Edge compute + radio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Feature extraction, threshold filtering, MQTT publish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>
                          <a:solidFill>
                            <a:srgbClr val="3D3566"/>
                          </a:solidFill>
                          <a:latin typeface="Segoe UI"/>
                        </a:rPr>
                        <a:t>Wi-Fi / BLE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" y="4517136"/>
            <a:ext cx="6053328" cy="1792224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4700016"/>
            <a:ext cx="5577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FIRMWARE BEHAVIOUR (CURRENT SOURCE)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992624"/>
            <a:ext cx="5577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Publishes JSON over MQTT </a:t>
            </a:r>
            <a:r>
              <a:rPr sz="900" b="0">
                <a:solidFill>
                  <a:srgbClr val="3D3566"/>
                </a:solidFill>
                <a:latin typeface="Segoe UI"/>
              </a:rPr>
              <a:t>to neurolink/wear/&lt;id&gt;/telemetry every 1–5 seconds.</a:t>
            </a:r>
          </a:p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Runs the same equations as the server </a:t>
            </a:r>
            <a:r>
              <a:rPr sz="900" b="0">
                <a:solidFill>
                  <a:srgbClr val="3D3566"/>
                </a:solidFill>
                <a:latin typeface="Segoe UI"/>
              </a:rPr>
              <a:t>— stress index, core-temperature estimate, fall physics.</a:t>
            </a:r>
          </a:p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Local threshold filter </a:t>
            </a:r>
            <a:r>
              <a:rPr sz="900" b="0">
                <a:solidFill>
                  <a:srgbClr val="3D3566"/>
                </a:solidFill>
                <a:latin typeface="Segoe UI"/>
              </a:rPr>
              <a:t>so a broken link cannot silence a critical event.</a:t>
            </a:r>
          </a:p>
          <a:p>
            <a:pPr marL="219456" indent="-219456">
              <a:lnSpc>
                <a:spcPct val="124000"/>
              </a:lnSpc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Two OLED surfaces </a:t>
            </a:r>
            <a:r>
              <a:rPr sz="900" b="0">
                <a:solidFill>
                  <a:srgbClr val="3D3566"/>
                </a:solidFill>
                <a:latin typeface="Segoe UI"/>
              </a:rPr>
              <a:t>for wearer-facing status and battery / link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22592" y="4517136"/>
            <a:ext cx="4443984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0336" y="4700016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PROTOTYPE → PRODUCT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0336" y="4992624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Accuracy —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PPG and temperature validated against reference instruments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0336" y="5303520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Battery —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target multi-day wear between charges, measured per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336" y="5614416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Form factor —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wearable for 24 h including sleep, with a replaceable strap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5925312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Manufacturing —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DFM review, component second-sourcing, EMC pre-scan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02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One ingest path for simulated and real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The end-to-end software path is implemented and running; device timing is the field-readiness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29260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572768"/>
            <a:ext cx="2926080" cy="45720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37360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Sensor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7510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4000">
                <a:solidFill>
                  <a:srgbClr val="241483"/>
                </a:solidFill>
                <a:latin typeface="Segoe UI"/>
              </a:rPr>
              <a:t>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31136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ESP32 band · MQTT publish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68880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Real GNSS + IMU payloads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706624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Simulator scenario 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056" y="1572768"/>
            <a:ext cx="292608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77056" y="1572768"/>
            <a:ext cx="2926080" cy="45720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59936" y="1737360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Ingest &amp;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936" y="197510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4000">
                <a:solidFill>
                  <a:srgbClr val="4C3BD4"/>
                </a:solidFill>
                <a:latin typeface="Segoe UI"/>
              </a:rPr>
              <a:t>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2231136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MQTT bridge (TLS :8883 / WS :8884)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2468880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POST /api/telemetry/ingest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9936" y="2706624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Payload normaliser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572768"/>
            <a:ext cx="443484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40880" y="1572768"/>
            <a:ext cx="4434840" cy="45720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737360"/>
            <a:ext cx="4069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Intelligence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975104"/>
            <a:ext cx="40690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4000">
                <a:solidFill>
                  <a:srgbClr val="6B4FD0"/>
                </a:solidFill>
                <a:latin typeface="Segoe UI"/>
              </a:rPr>
              <a:t>AI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231136"/>
            <a:ext cx="4069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Online per-wearer baselines + physiology equations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468880"/>
            <a:ext cx="4069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Two-tier detection rules (clinical OR personal)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706624"/>
            <a:ext cx="4069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Plain-language explanation + recommendations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675888" y="2194560"/>
            <a:ext cx="274320" cy="155448"/>
          </a:xfrm>
          <a:prstGeom prst="rightArrow">
            <a:avLst/>
          </a:prstGeom>
          <a:solidFill>
            <a:srgbClr val="CF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6839712" y="2194560"/>
            <a:ext cx="274320" cy="155448"/>
          </a:xfrm>
          <a:prstGeom prst="rightArrow">
            <a:avLst/>
          </a:prstGeom>
          <a:solidFill>
            <a:srgbClr val="CF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2" y="3127248"/>
            <a:ext cx="10765231" cy="566928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3218688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DATA SPINE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29184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Reading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8416" y="3291840"/>
            <a:ext cx="1463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1" i="0">
                <a:solidFill>
                  <a:srgbClr val="4C3BD4"/>
                </a:solidFill>
                <a:latin typeface="Segoe UI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29184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Baseline 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3291840"/>
            <a:ext cx="1463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1" i="0">
                <a:solidFill>
                  <a:srgbClr val="4C3BD4"/>
                </a:solidFill>
                <a:latin typeface="Segoe UI"/>
              </a:rP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29184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Two-tier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5856" y="3291840"/>
            <a:ext cx="1463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1" i="0">
                <a:solidFill>
                  <a:srgbClr val="4C3BD4"/>
                </a:solidFill>
                <a:latin typeface="Segoe UI"/>
              </a:rP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329184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Explain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3291840"/>
            <a:ext cx="1463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1" i="0">
                <a:solidFill>
                  <a:srgbClr val="4C3BD4"/>
                </a:solidFill>
                <a:latin typeface="Segoe UI"/>
              </a:rPr>
              <a:t>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29184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Persist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3296" y="3291840"/>
            <a:ext cx="1463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1" i="0">
                <a:solidFill>
                  <a:srgbClr val="4C3BD4"/>
                </a:solidFill>
                <a:latin typeface="Segoe UI"/>
              </a:rPr>
              <a:t>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29184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Broadcast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2016" y="3291840"/>
            <a:ext cx="1463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1" i="0">
                <a:solidFill>
                  <a:srgbClr val="4C3BD4"/>
                </a:solidFill>
                <a:latin typeface="Segoe UI"/>
              </a:rPr>
              <a:t>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29184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Caregiver view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3858768"/>
            <a:ext cx="29260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13232" y="3858768"/>
            <a:ext cx="2926080" cy="45720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4023359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Storage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4000">
                <a:solidFill>
                  <a:srgbClr val="1E8A5F"/>
                </a:solidFill>
                <a:latin typeface="Segoe UI"/>
              </a:rPr>
              <a:t>SQLITE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4517136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17 tables — vitals, alerts, contacts,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" y="4754879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devices, thresholds, calibration refs,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4992623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dispatch log, users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77056" y="3858768"/>
            <a:ext cx="29260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877056" y="3858768"/>
            <a:ext cx="2926080" cy="45720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59936" y="4023359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Interfaces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59936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4000">
                <a:solidFill>
                  <a:srgbClr val="4C3BD4"/>
                </a:solidFill>
                <a:latin typeface="Segoe UI"/>
              </a:rPr>
              <a:t>FASTAPI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59936" y="4517136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REST /api/* (auth, telemetry, alerts,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59936" y="4754879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dispatch, devices, calibration, trends)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59936" y="4992623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WebSocket /ws · OpenAPI docs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40880" y="3858768"/>
            <a:ext cx="44348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040880" y="3858768"/>
            <a:ext cx="4434840" cy="45720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23760" y="4023359"/>
            <a:ext cx="4069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Clients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4261104"/>
            <a:ext cx="40690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4000">
                <a:solidFill>
                  <a:srgbClr val="6B4FD0"/>
                </a:solidFill>
                <a:latin typeface="Segoe UI"/>
              </a:rPr>
              <a:t>WEB + MOBILE WEB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4517136"/>
            <a:ext cx="4069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Responsive caregiver SPA (vanilla ES modules)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23760" y="4754879"/>
            <a:ext cx="4069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No build step · dark / light themes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4992623"/>
            <a:ext cx="4069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Push-ready alert surfaces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3675888" y="4480560"/>
            <a:ext cx="274320" cy="155448"/>
          </a:xfrm>
          <a:prstGeom prst="rightArrow">
            <a:avLst/>
          </a:prstGeom>
          <a:solidFill>
            <a:srgbClr val="CF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Arrow 66"/>
          <p:cNvSpPr/>
          <p:nvPr/>
        </p:nvSpPr>
        <p:spPr>
          <a:xfrm>
            <a:off x="6839712" y="4480560"/>
            <a:ext cx="274320" cy="155448"/>
          </a:xfrm>
          <a:prstGeom prst="rightArrow">
            <a:avLst/>
          </a:prstGeom>
          <a:solidFill>
            <a:srgbClr val="CF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13232" y="5486400"/>
            <a:ext cx="10765231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561441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CROSS-CUTTING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" y="5870448"/>
            <a:ext cx="20848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Roles &amp; sessions ·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PBKDF2 + HMAC, 30 days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90672" y="5870448"/>
            <a:ext cx="20848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Observability ·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staged connection tests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48656" y="5870448"/>
            <a:ext cx="20848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Explainability ·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every alert carries evidence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06640" y="5870448"/>
            <a:ext cx="20848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Deployability ·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$10 VPS to Pi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64624" y="5870448"/>
            <a:ext cx="20848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A1440"/>
                </a:solidFill>
                <a:latin typeface="Segoe UI"/>
              </a:rPr>
              <a:t>Offline tolerance ·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local narrative fallback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ARCHITECTURE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868680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200" b="1" i="0">
                <a:solidFill>
                  <a:srgbClr val="241B5C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78892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i="0" spc="18000">
                <a:solidFill>
                  <a:srgbClr val="9D93FF"/>
                </a:solidFill>
                <a:latin typeface="Segoe UI"/>
              </a:rP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090672"/>
            <a:ext cx="5989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FEDFB"/>
                </a:solidFill>
                <a:latin typeface="Segoe UI"/>
              </a:rPr>
              <a:t>Explainable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4023360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5BFE8"/>
                </a:solidFill>
                <a:latin typeface="Segoe UI"/>
              </a:rPr>
              <a:t>Equations and per-wearer calibration instead of an opaque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7943" y="221284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No training dataset required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7943" y="263347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7943" y="285292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Clinical floors that never move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7943" y="327355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7943" y="349300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Every alert cites its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7943" y="391363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NEUROLINK WEAR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PROTOTYPE  ·  DISCUSSION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8E86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03 /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Explainable AI without a training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Population ML needs data the wearer never generated. Physiological equations plus per-wearer calibration work on day one — and every number can be defended.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591056"/>
          <a:ext cx="10762488" cy="3218688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3877056"/>
                <a:gridCol w="5148072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 spc="6000">
                          <a:solidFill>
                            <a:srgbClr val="7E76A0"/>
                          </a:solidFill>
                          <a:latin typeface="Segoe UI"/>
                        </a:rPr>
                        <a:t>Equation</a:t>
                      </a:r>
                    </a:p>
                  </a:txBody>
                  <a:tcPr marL="91440" marR="91440" marT="18288" marB="18288" anchor="ctr"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 spc="6000">
                          <a:solidFill>
                            <a:srgbClr val="7E76A0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 spc="6000">
                          <a:solidFill>
                            <a:srgbClr val="7E76A0"/>
                          </a:solidFill>
                          <a:latin typeface="Segoe UI"/>
                        </a:rPr>
                        <a:t>What it answers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Robust z-score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z = (x − median) / (1.4826 · MAD)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How far is this reading from HER normal, resistant to outliers?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EDA split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tonic = EWMA(GSR) · phasic = max(0, GSR − tonic)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Is this slow arousal or a sudden sympathetic spike?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Stress index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 = clamp(0.5 + Σσ-evidence / 5)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Combined stress evidence from GSR, HRV and heart rate at rest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Core temperature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T_core ≈ gain · T_skin + offset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Skin reading converted to a core-equivalent, personally offset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Fever score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core level + °C/h slope + HR↔T coupling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Is this a real fever trend or a warm room?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Hypoxic burden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B ← 0.85 · B + minutes · max(0, 92 − SpO₂)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Sustained desaturation instead of a single noisy sample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Fall physics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free-fall → impact ≥ 2.8 g → tumble ≥ 2.4 rad/s → stillness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Four-stage signature that separates a fall from a bump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Expected HR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HR_exp = HR_rest + activity demand · age factor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Is this pulse appropriate for what she is doing right now?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" y="4864608"/>
            <a:ext cx="5120640" cy="1444752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029200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WHY IT MATTERS COMMERCIALLY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285232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300"/>
              </a:spcAft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A new wearer is covered on day one — no cold-start gap.</a:t>
            </a:r>
          </a:p>
          <a:p>
            <a:pPr marL="219456" indent="-219456">
              <a:lnSpc>
                <a:spcPct val="122000"/>
              </a:lnSpc>
              <a:spcAft>
                <a:spcPts val="300"/>
              </a:spcAft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Every alert can be explained in a sentence to a clinician or a regulator.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The same formulas run on the wrist, so cost does not scale with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4864608"/>
            <a:ext cx="5404104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5029200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LEGACY ML ASSETS (KEPT, SUPERSEDED)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5285232"/>
            <a:ext cx="4937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An offline pipeline with Isolation Forest, an LSTM autoencoder and an activity classifier remains in the repository for research comparison.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570585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1,875 </a:t>
            </a:r>
            <a:r>
              <a:rPr sz="800" b="0" i="0">
                <a:solidFill>
                  <a:srgbClr val="7E76A0"/>
                </a:solidFill>
                <a:latin typeface="Segoe UI"/>
              </a:rPr>
              <a:t>training rows · </a:t>
            </a:r>
            <a:r>
              <a:rPr sz="1000" b="1" i="0">
                <a:solidFill>
                  <a:srgbClr val="1A1440"/>
                </a:solidFill>
                <a:latin typeface="Segoe UI"/>
              </a:rPr>
              <a:t>14 </a:t>
            </a:r>
            <a:r>
              <a:rPr sz="800" b="0" i="0">
                <a:solidFill>
                  <a:srgbClr val="7E76A0"/>
                </a:solidFill>
                <a:latin typeface="Segoe UI"/>
              </a:rPr>
              <a:t>channels · </a:t>
            </a:r>
            <a:r>
              <a:rPr sz="800" b="0" i="0">
                <a:solidFill>
                  <a:srgbClr val="7E76A0"/>
                </a:solidFill>
                <a:latin typeface="Segoe UI"/>
              </a:rPr>
              <a:t>IF threshold −0.02 · LSTM AE 0.332.  </a:t>
            </a:r>
            <a:r>
              <a:rPr sz="800" b="1" i="0">
                <a:solidFill>
                  <a:srgbClr val="241483"/>
                </a:solidFill>
                <a:latin typeface="Segoe UI"/>
              </a:rPr>
              <a:t>Not used for live detection.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03 /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The model learns one body, not a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Four sources of truth, tracked per baseline, with confidence that grows as the band is worn.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91056"/>
            <a:ext cx="2490139" cy="1883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 spc="13000">
                <a:solidFill>
                  <a:srgbClr val="241483"/>
                </a:solidFill>
                <a:latin typeface="Segoe UI"/>
              </a:rPr>
              <a:t>AUTO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75104"/>
            <a:ext cx="214266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Every stream tick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267712"/>
            <a:ext cx="228897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395728"/>
            <a:ext cx="228897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Slow EWMA baselines with a quiet gate, so a crisis reading never drags the baseline; robust MAD tracks personal noise.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4539" y="1591056"/>
            <a:ext cx="2490139" cy="1883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5707" y="1755648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 spc="13000">
                <a:solidFill>
                  <a:srgbClr val="4C3BD4"/>
                </a:solidFill>
                <a:latin typeface="Segoe UI"/>
              </a:rPr>
              <a:t>AUTO-FIT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5707" y="1975104"/>
            <a:ext cx="214266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Last 24 h of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05707" y="2267712"/>
            <a:ext cx="2288972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05707" y="2395728"/>
            <a:ext cx="228897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Snapshots baselines to robust percentiles of stored vitals and shows a before / after diff before committing.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7" y="1591056"/>
            <a:ext cx="2490139" cy="1883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7015" y="1755648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 spc="13000">
                <a:solidFill>
                  <a:srgbClr val="6B4FD0"/>
                </a:solidFill>
                <a:latin typeface="Segoe UI"/>
              </a:rPr>
              <a:t>GUIDED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7015" y="1975104"/>
            <a:ext cx="214266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Reference instrument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97015" y="2267712"/>
            <a:ext cx="2288972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97015" y="2395728"/>
            <a:ext cx="228897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Oral thermometer, clinical pulse oximeter, measured resting HR/HRV — each logged with a timestamp.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155" y="1591056"/>
            <a:ext cx="2490139" cy="1883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88323" y="1755648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 spc="13000">
                <a:solidFill>
                  <a:srgbClr val="1E8A5F"/>
                </a:solidFill>
                <a:latin typeface="Segoe UI"/>
              </a:rPr>
              <a:t>MANUAL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323" y="1975104"/>
            <a:ext cx="214266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Clinician or caregiver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88323" y="2267712"/>
            <a:ext cx="2288972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988323" y="2395728"/>
            <a:ext cx="228897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Direct overrides when a professional knows the wearer better than the data yet does.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621024"/>
            <a:ext cx="5120640" cy="2688336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3785615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0000">
                <a:solidFill>
                  <a:srgbClr val="7E76A0"/>
                </a:solidFill>
                <a:latin typeface="Segoe UI"/>
              </a:rPr>
              <a:t>WORKED EXAMPLE — GUIDED CORE-TEMPERATURE OFFSET</a:t>
            </a:r>
          </a:p>
        </p:txBody>
      </p:sp>
      <p:sp>
        <p:nvSpPr>
          <p:cNvPr id="29" name="Oval 28"/>
          <p:cNvSpPr/>
          <p:nvPr/>
        </p:nvSpPr>
        <p:spPr>
          <a:xfrm>
            <a:off x="950976" y="4096511"/>
            <a:ext cx="237744" cy="237744"/>
          </a:xfrm>
          <a:prstGeom prst="ellipse">
            <a:avLst/>
          </a:prstGeom>
          <a:solidFill>
            <a:srgbClr val="EA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4123944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>
                <a:solidFill>
                  <a:srgbClr val="241483"/>
                </a:solidFill>
                <a:latin typeface="Segoe U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078224"/>
            <a:ext cx="3200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Nurse takes an oral temperature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4078224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1" i="0">
                <a:solidFill>
                  <a:srgbClr val="1A1440"/>
                </a:solidFill>
                <a:latin typeface="Segoe UI"/>
              </a:rPr>
              <a:t>37.1 °C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0976" y="4407408"/>
            <a:ext cx="4663440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50976" y="4590288"/>
            <a:ext cx="237744" cy="237744"/>
          </a:xfrm>
          <a:prstGeom prst="ellipse">
            <a:avLst/>
          </a:prstGeom>
          <a:solidFill>
            <a:srgbClr val="EA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461772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>
                <a:solidFill>
                  <a:srgbClr val="241483"/>
                </a:solidFill>
                <a:latin typeface="Segoe U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4572000"/>
            <a:ext cx="3200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Band reports skin temperature at that moment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7136" y="4572000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1" i="0">
                <a:solidFill>
                  <a:srgbClr val="1A1440"/>
                </a:solidFill>
                <a:latin typeface="Segoe UI"/>
              </a:rPr>
              <a:t>36.5 °C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50976" y="4901184"/>
            <a:ext cx="4663440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50976" y="5084064"/>
            <a:ext cx="237744" cy="237744"/>
          </a:xfrm>
          <a:prstGeom prst="ellipse">
            <a:avLst/>
          </a:prstGeom>
          <a:solidFill>
            <a:srgbClr val="EA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5111496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>
                <a:solidFill>
                  <a:srgbClr val="241483"/>
                </a:solidFill>
                <a:latin typeface="Segoe U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5065776"/>
            <a:ext cx="3200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Personal skin → core offset is stored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7136" y="5065776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1" i="0">
                <a:solidFill>
                  <a:srgbClr val="1A1440"/>
                </a:solidFill>
                <a:latin typeface="Segoe UI"/>
              </a:rPr>
              <a:t>+0.6 °C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0976" y="5394960"/>
            <a:ext cx="4663440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950976" y="5577840"/>
            <a:ext cx="237744" cy="237744"/>
          </a:xfrm>
          <a:prstGeom prst="ellipse">
            <a:avLst/>
          </a:prstGeom>
          <a:solidFill>
            <a:srgbClr val="EA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5605272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>
                <a:solidFill>
                  <a:srgbClr val="241483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8448" y="5559552"/>
            <a:ext cx="3200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Every later reading uses the personal offset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17136" y="5559552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1" i="0">
                <a:solidFill>
                  <a:srgbClr val="1A1440"/>
                </a:solidFill>
                <a:latin typeface="Segoe UI"/>
              </a:rPr>
              <a:t>core-equiv. 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" y="596188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41483"/>
                </a:solidFill>
                <a:latin typeface="Segoe UI"/>
              </a:rPr>
              <a:t>Fever now triggers on a core-equivalent temperature, not on a warm forearm.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3621024"/>
            <a:ext cx="4617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BASELINES TRACKED PER WEARER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6144768" y="3858768"/>
          <a:ext cx="4617720" cy="1609344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1417320"/>
                <a:gridCol w="109728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91440" marR="91440" marT="18288" marB="18288" anchor="ctr"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Example value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Resting heart rate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68 bpm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auto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Resting HRV (RMSSD)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44 ms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guided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Tonic skin conductance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0.42 µS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auto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Skin temperature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36.4 °C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auto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SpO₂ offset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−0.5 %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guided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Skin → core offset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+0.6 °C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guided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1" name="Rounded Rectangle 50"/>
          <p:cNvSpPr/>
          <p:nvPr/>
        </p:nvSpPr>
        <p:spPr>
          <a:xfrm>
            <a:off x="6144768" y="5522976"/>
            <a:ext cx="461772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561441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STATUS FLOW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27648" y="5888736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FB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5899708"/>
            <a:ext cx="1024128" cy="256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00" b="1" i="0" spc="2000">
                <a:solidFill>
                  <a:srgbClr val="C97A14"/>
                </a:solidFill>
                <a:latin typeface="Segoe UI"/>
              </a:rPr>
              <a:t>warming_up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61504" y="5888736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E76A0"/>
                </a:solidFill>
                <a:latin typeface="Segoe UI"/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95360" y="5888736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E8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0" y="5899708"/>
            <a:ext cx="1024128" cy="256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00" b="1" i="0" spc="2000">
                <a:solidFill>
                  <a:srgbClr val="1E8A5F"/>
                </a:solidFill>
                <a:latin typeface="Segoe UI"/>
              </a:rPr>
              <a:t>active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29216" y="5888736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E76A0"/>
                </a:solidFill>
                <a:latin typeface="Segoe UI"/>
              </a:rPr>
              <a:t>with confidence %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INTELLIGENCE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03 /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Eight conditions, each with its own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Alerts carry severity, the readings that fired, a plain-language explanation and suggested next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591056"/>
          <a:ext cx="10030968" cy="3072384"/>
        </p:xfrm>
        <a:graphic>
          <a:graphicData uri="http://schemas.openxmlformats.org/drawingml/2006/table">
            <a:tbl>
              <a:tblPr firstRow="0" bandRow="0"/>
              <a:tblGrid>
                <a:gridCol w="1572768"/>
                <a:gridCol w="1225296"/>
                <a:gridCol w="5952744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Condition</a:t>
                      </a:r>
                    </a:p>
                  </a:txBody>
                  <a:tcPr marL="91440" marR="91440" marT="18288" marB="18288" anchor="ctr"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Severity range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Signals that fire it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Tier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Fall Detected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accel ≥ 2.8 g with tumble ≥ 2.4 rad/s plus post-impact stillness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Clinical floor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Low Oxygen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high → critical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SpO₂ &lt; 92 % / &lt; 90 %, or accumulated hypoxic burden ≥ 3 %·min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Both tiers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Fever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medium → high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skin ≥ 37.8 °C or core-equivalent ≥ 37.8 °C, plus °C/h slope and HR coupling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Both tiers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Panic Attack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stress index ≥ 0.72 with HR ≥ 30 bpm above activity expectation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Both tiers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High Stress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medium → high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stress index ≥ 0.60 or personal z ≥ 2.0σ on combined stress evidence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Both tiers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Tachycardia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medium → high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resting HR ≥ 110 bpm, severe from ≥ 135 bpm (absolute floor 140)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Clinical floor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Bradycardia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medium → high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HR ≤ 50 bpm at rest (absolute floor 38 bpm)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Clinical floor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Fatigue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HRV ≤ 20 ms or a ≥ 40 % drop versus the personal resting HRV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Both tiers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Inactivity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medium → high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no movement for the configured window, with a 24 h safety watch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Personal rule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" y="4791456"/>
            <a:ext cx="676656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937760"/>
            <a:ext cx="6309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0000">
                <a:solidFill>
                  <a:srgbClr val="7E76A0"/>
                </a:solidFill>
                <a:latin typeface="Segoe UI"/>
              </a:rPr>
              <a:t>ANATOMY OF ONE ALERT — WHAT A CAREGIVER ACTUALLY RECEIVES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521208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223052"/>
            <a:ext cx="7315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 spc="3000">
                <a:solidFill>
                  <a:srgbClr val="D32B36"/>
                </a:solidFill>
                <a:latin typeface="Segoe UI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5212080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Fall detected — impact signature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5193792"/>
            <a:ext cx="2560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0" i="0">
                <a:solidFill>
                  <a:srgbClr val="7E76A0"/>
                </a:solidFill>
                <a:latin typeface="Segoe UI"/>
              </a:rPr>
              <a:t>02:15 · bathroom · GPS captured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541264"/>
            <a:ext cx="6309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“Acceleration spiked to 3.4 g with 2.9 rad/s of rotation, followed by 40 s without movement. Heart rate rose to 112 bpm afterwards. This matches a fall signature rather than a stumble.”  →  Recommended: call the wearer, then dispatch the primary contact.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17536" y="4791456"/>
            <a:ext cx="3758184" cy="1517904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4937760"/>
            <a:ext cx="3383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0000">
                <a:solidFill>
                  <a:srgbClr val="7E76A0"/>
                </a:solidFill>
                <a:latin typeface="Segoe UI"/>
              </a:rPr>
              <a:t>COVERAGE OF THE LIVE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5248656"/>
            <a:ext cx="3419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241483"/>
                </a:solidFill>
                <a:latin typeface="Segoe UI"/>
              </a:rPr>
              <a:t>8  </a:t>
            </a:r>
            <a:r>
              <a:rPr sz="750" b="0" i="0">
                <a:solidFill>
                  <a:srgbClr val="3D3566"/>
                </a:solidFill>
                <a:latin typeface="Segoe UI"/>
              </a:rPr>
              <a:t>conditions + inactivity 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5577840"/>
            <a:ext cx="3419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241483"/>
                </a:solidFill>
                <a:latin typeface="Segoe UI"/>
              </a:rPr>
              <a:t>2  </a:t>
            </a:r>
            <a:r>
              <a:rPr sz="750" b="0" i="0">
                <a:solidFill>
                  <a:srgbClr val="3D3566"/>
                </a:solidFill>
                <a:latin typeface="Segoe UI"/>
              </a:rPr>
              <a:t>independent trigger tiers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5907024"/>
            <a:ext cx="3419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241483"/>
                </a:solidFill>
                <a:latin typeface="Segoe UI"/>
              </a:rPr>
              <a:t>11  </a:t>
            </a:r>
            <a:r>
              <a:rPr sz="750" b="0" i="0">
                <a:solidFill>
                  <a:srgbClr val="3D3566"/>
                </a:solidFill>
                <a:latin typeface="Segoe UI"/>
              </a:rPr>
              <a:t>immutable clinical safety floors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03 /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Personalisation may add sensitivity, never remove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Every condition is evaluated twice — against fixed clinical floors and against the wearer's own baselines.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64208"/>
            <a:ext cx="5230368" cy="3054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5230368" cy="45720"/>
          </a:xfrm>
          <a:prstGeom prst="roundRect">
            <a:avLst>
              <a:gd name="adj" fmla="val 50000"/>
            </a:avLst>
          </a:prstGeom>
          <a:solidFill>
            <a:srgbClr val="D3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47088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 spc="11000">
                <a:solidFill>
                  <a:srgbClr val="D32B36"/>
                </a:solidFill>
                <a:latin typeface="Segoe UI"/>
              </a:rPr>
              <a:t>TIER 1 — CLINICAL FLOORS (READ-ONLY)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0312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Guideline constants that calibration can never move. A personal baseline must never make a clinical emergency look safe.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88336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SpO₂ urgent / low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90 % / 92 %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88336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Core-equivalent fever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≥ 37.8 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7238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Hypothermia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≤ 35.5 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07238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Urgent tachycardia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≥ 140 bpm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45643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Urgent bradycardia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≤ 38 bpm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45643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Fall impact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≥ 2.8 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84048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Tumble rotation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≥ 2.4 rad/s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2245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D32B36"/>
                </a:solidFill>
                <a:latin typeface="Segoe UI"/>
              </a:rPr>
              <a:t>Immutable in the product: no caregiver edit, no calibration result and no model update can raise or lower these.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1664208"/>
            <a:ext cx="5230368" cy="3054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5352" y="1664208"/>
            <a:ext cx="5230368" cy="45720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1847088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 i="0" spc="11000">
                <a:solidFill>
                  <a:srgbClr val="1E8A5F"/>
                </a:solidFill>
                <a:latin typeface="Segoe UI"/>
              </a:rPr>
              <a:t>TIER 2 — PERSONAL σ-RULES (EDITABLE)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2103120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Deviations versus the wearer's own baselines — the tier that catches what a population threshold would miss.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2688336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Stress evidence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z ≥ 2.0σ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6" y="2688336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Fever deviation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z ≥ 2.5σ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307238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Heart-rate deviation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z ≥ 2.5σ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1976" y="307238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HRV drop vs personal rest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≥ 40 %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45643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Hypoxic burden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≥ 3 %·min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345643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Inactivity window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configurable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387705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1E8A5F"/>
                </a:solidFill>
                <a:latin typeface="Segoe UI"/>
              </a:rPr>
              <a:t>Live in Management → Calibration. Adjustable without a redeploy.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83096" y="4261104"/>
            <a:ext cx="2926080" cy="91440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83096" y="4261104"/>
            <a:ext cx="1170432" cy="91440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438912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7E76A0"/>
                </a:solidFill>
                <a:latin typeface="Segoe UI"/>
              </a:rPr>
              <a:t>Sensitivity slider shown to the caregiver: less sensitive  ←→  more sensitive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882896"/>
            <a:ext cx="10765231" cy="1426464"/>
          </a:xfrm>
          <a:prstGeom prst="roundRect">
            <a:avLst>
              <a:gd name="adj" fmla="val 6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04748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2000">
                <a:solidFill>
                  <a:srgbClr val="9D93FF"/>
                </a:solidFill>
                <a:latin typeface="Segoe UI"/>
              </a:rPr>
              <a:t>THE TRIGGER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53035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EFEDFB"/>
                </a:solidFill>
                <a:latin typeface="Segoe UI"/>
              </a:rPr>
              <a:t>A condition fires when</a:t>
            </a:r>
          </a:p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EFEDFB"/>
                </a:solidFill>
                <a:latin typeface="Segoe UI"/>
              </a:rPr>
              <a:t>EITHER tier fires.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53712" y="5248656"/>
            <a:ext cx="2176272" cy="731520"/>
          </a:xfrm>
          <a:prstGeom prst="roundRect">
            <a:avLst>
              <a:gd name="adj" fmla="val 18000"/>
            </a:avLst>
          </a:prstGeom>
          <a:solidFill>
            <a:srgbClr val="FB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537667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D32B36"/>
                </a:solidFill>
                <a:latin typeface="Segoe UI"/>
              </a:rPr>
              <a:t>Tier 1 fires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8304" y="559612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D32B36"/>
                </a:solidFill>
                <a:latin typeface="Segoe UI"/>
              </a:rPr>
              <a:t>→ alert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12864" y="5248656"/>
            <a:ext cx="2176272" cy="731520"/>
          </a:xfrm>
          <a:prstGeom prst="roundRect">
            <a:avLst>
              <a:gd name="adj" fmla="val 18000"/>
            </a:avLst>
          </a:prstGeom>
          <a:solidFill>
            <a:srgbClr val="E8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77456" y="537667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E8A5F"/>
                </a:solidFill>
                <a:latin typeface="Segoe UI"/>
              </a:rPr>
              <a:t>Tier 2 fires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7456" y="559612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1E8A5F"/>
                </a:solidFill>
                <a:latin typeface="Segoe UI"/>
              </a:rPr>
              <a:t>→ alert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72016" y="5248656"/>
            <a:ext cx="2176272" cy="731520"/>
          </a:xfrm>
          <a:prstGeom prst="roundRect">
            <a:avLst>
              <a:gd name="adj" fmla="val 18000"/>
            </a:avLst>
          </a:prstGeom>
          <a:solidFill>
            <a:srgbClr val="EA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36608" y="537667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41483"/>
                </a:solidFill>
                <a:latin typeface="Segoe UI"/>
              </a:rPr>
              <a:t>Both fire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6608" y="559612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241483"/>
                </a:solidFill>
                <a:latin typeface="Segoe UI"/>
              </a:rPr>
              <a:t>→ higher 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" y="5998464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C5BFE8"/>
                </a:solidFill>
                <a:latin typeface="Segoe UI"/>
              </a:rPr>
              <a:t>Personalisation is therefore an asymmetry in safety, not a trade-off: it can only ever add sensitivity.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SAFETY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03 /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Three layers of explanation, one language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Rules decide. Equations quantify. A language layer translates — and degrades gracefully.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45920"/>
            <a:ext cx="676656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9000">
                <a:solidFill>
                  <a:srgbClr val="241483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1773936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Detection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77393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7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784908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00" b="1" i="0" spc="4000">
                <a:solidFill>
                  <a:srgbClr val="241483"/>
                </a:solidFill>
                <a:latin typeface="Segoe UI"/>
              </a:rPr>
              <a:t>DETERMINISTIC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066544"/>
            <a:ext cx="56692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Threshold and σ-gates decide whether an event exists at all. No probabilistic model sits between the sensor and the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578608"/>
            <a:ext cx="365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00" b="0" i="0">
                <a:solidFill>
                  <a:srgbClr val="CFC9E8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724912"/>
            <a:ext cx="676656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87121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9000">
                <a:solidFill>
                  <a:srgbClr val="4C3BD4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285292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Equation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2852928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7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863900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00" b="1" i="0" spc="4000">
                <a:solidFill>
                  <a:srgbClr val="4C3BD4"/>
                </a:solidFill>
                <a:latin typeface="Segoe UI"/>
              </a:rPr>
              <a:t>QUANTIFIED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145536"/>
            <a:ext cx="56692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The alert stores its own evidence: z-scores, core-equivalent temperature, hypoxic burden, HR vs activity expectation.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3657600"/>
            <a:ext cx="365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00" b="0" i="0">
                <a:solidFill>
                  <a:srgbClr val="CFC9E8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803904"/>
            <a:ext cx="676656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95020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9000">
                <a:solidFill>
                  <a:srgbClr val="6B4FD0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393192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Language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393192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7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394289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00" b="1" i="0" spc="4000">
                <a:solidFill>
                  <a:srgbClr val="6B4FD0"/>
                </a:solidFill>
                <a:latin typeface="Segoe UI"/>
              </a:rPr>
              <a:t>NARRATED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224528"/>
            <a:ext cx="56692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A hosted model turns that evidence into a caregiver-readable explanation and next steps — with a deterministic template fallback offline.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17536" y="1645920"/>
            <a:ext cx="3758184" cy="3090672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6992" y="181051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WHAT THE CAREGIVER READS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2066543"/>
            <a:ext cx="332841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900" b="0" i="0">
                <a:solidFill>
                  <a:srgbClr val="1A1440"/>
                </a:solidFill>
                <a:latin typeface="Segoe UI"/>
              </a:rPr>
              <a:t>“Galvanic skin response rose to 8.4 µS while heart-rate variability fell to 19 ms — the classic electrodermal signature of acute stress. Stress index is 0.74/1.00, well above Margaret's calm baseline.”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36992" y="3584448"/>
            <a:ext cx="3328416" cy="0"/>
          </a:xfrm>
          <a:prstGeom prst="line">
            <a:avLst/>
          </a:prstGeom>
          <a:ln w="9525">
            <a:solidFill>
              <a:srgbClr val="CF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36992" y="3675887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RECOMMENDED 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3913632"/>
            <a:ext cx="332841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3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•   </a:t>
            </a:r>
            <a:r>
              <a:rPr sz="850" b="0">
                <a:solidFill>
                  <a:srgbClr val="3D3566"/>
                </a:solidFill>
                <a:latin typeface="Segoe UI"/>
              </a:rPr>
              <a:t>Call the wearer and confirm how she feels.</a:t>
            </a:r>
          </a:p>
          <a:p>
            <a:pPr marL="219456" indent="-219456">
              <a:lnSpc>
                <a:spcPct val="122000"/>
              </a:lnSpc>
              <a:spcAft>
                <a:spcPts val="3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•   </a:t>
            </a:r>
            <a:r>
              <a:rPr sz="850" b="0">
                <a:solidFill>
                  <a:srgbClr val="3D3566"/>
                </a:solidFill>
                <a:latin typeface="Segoe UI"/>
              </a:rPr>
              <a:t>Ask about pain, breathlessness or recent exertion.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4C3BD4"/>
                </a:solidFill>
                <a:latin typeface="Segoe UI"/>
              </a:rPr>
              <a:t>•   </a:t>
            </a:r>
            <a:r>
              <a:rPr sz="850" b="0">
                <a:solidFill>
                  <a:srgbClr val="3D3566"/>
                </a:solidFill>
                <a:latin typeface="Segoe UI"/>
              </a:rPr>
              <a:t>Escalate to the clinician if the index stays high for 20 minutes.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882896"/>
            <a:ext cx="10765231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04748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WHY A LANGUAGE LAYER — AND WHY IT MUST BE OPTIONAL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5340096"/>
            <a:ext cx="5120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Adoption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Caregivers act on sentences, not on z-scores.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340096"/>
            <a:ext cx="5120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Auditability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Every generated line can be traced back to stored evidence.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5760720"/>
            <a:ext cx="5120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Continuity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If the model provider is unavailable, detection still runs and alerts still write.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5760720"/>
            <a:ext cx="5120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Cost control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Narration is the only call that costs money per event — and it is bounded by alerts, not by readings.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AI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03 /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Verified, not asserted: the evidence in the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Three independent suites run against the live server — all green, all re-runnable on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9344"/>
            <a:ext cx="2490139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09344"/>
            <a:ext cx="2490139" cy="45720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73936"/>
            <a:ext cx="208780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E8A5F"/>
                </a:solidFill>
                <a:latin typeface="Segoe UI"/>
              </a:rPr>
              <a:t>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20878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QA battery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0878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51 UI · 1 session · 55 backend · 1 WebSocket · 8 sign-in · 25 end-to-end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80944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E8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91916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 spc="3000">
                <a:solidFill>
                  <a:srgbClr val="1E8A5F"/>
                </a:solidFill>
                <a:latin typeface="Segoe UI"/>
              </a:rPr>
              <a:t>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4539" y="1609344"/>
            <a:ext cx="2490139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04539" y="1609344"/>
            <a:ext cx="2490139" cy="45720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5707" y="1773936"/>
            <a:ext cx="208780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E8A5F"/>
                </a:solidFill>
                <a:latin typeface="Segoe UI"/>
              </a:rPr>
              <a:t>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5707" y="2212848"/>
            <a:ext cx="20878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Calibration-suite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5707" y="2468880"/>
            <a:ext cx="20878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Equations, calibration module, two-tier OR-gates, HTTP API, demo triggers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5707" y="2980944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E8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5707" y="2991916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 spc="3000">
                <a:solidFill>
                  <a:srgbClr val="1E8A5F"/>
                </a:solidFill>
                <a:latin typeface="Segoe UI"/>
              </a:rPr>
              <a:t>PASS ×2 · idempotent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7" y="1609344"/>
            <a:ext cx="2490139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95847" y="1609344"/>
            <a:ext cx="2490139" cy="45720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7015" y="1773936"/>
            <a:ext cx="208780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E8A5F"/>
                </a:solidFill>
                <a:latin typeface="Segoe UI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7015" y="2212848"/>
            <a:ext cx="20878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DOM interaction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7015" y="2468880"/>
            <a:ext cx="20878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Sign-in regression, Calibration tab panels, auto-fit, guided reference, sliders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7015" y="2980944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E8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7015" y="2991916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 spc="3000">
                <a:solidFill>
                  <a:srgbClr val="1E8A5F"/>
                </a:solidFill>
                <a:latin typeface="Segoe UI"/>
              </a:rPr>
              <a:t>PASS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87155" y="1609344"/>
            <a:ext cx="2490139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87155" y="1609344"/>
            <a:ext cx="2490139" cy="45720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323" y="1773936"/>
            <a:ext cx="208780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41483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8323" y="2212848"/>
            <a:ext cx="20878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A1440"/>
                </a:solidFill>
                <a:latin typeface="Segoe UI"/>
              </a:rPr>
              <a:t>Bugs found and fixed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323" y="2468880"/>
            <a:ext cx="208780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Each one reproduced, root-caused and re-verified by a regression 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88323" y="2980944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EA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8323" y="2991916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50" b="1" i="0" spc="3000">
                <a:solidFill>
                  <a:srgbClr val="241483"/>
                </a:solidFill>
                <a:latin typeface="Segoe UI"/>
              </a:rPr>
              <a:t>CLOSED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713232" y="3474720"/>
          <a:ext cx="10762488" cy="2084832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4261104"/>
                <a:gridCol w="3392424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Defect found by the suites</a:t>
                      </a:r>
                    </a:p>
                  </a:txBody>
                  <a:tcPr marL="91440" marR="91440" marT="18288" marB="18288" anchor="ctr"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Why it mattered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Resolution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Confirm dialogs always cancelled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Every delete / resolve confirmation silently did nothing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Decision flag added to the modal resolver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Buttons disabled after save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A save could leave the UI permanently locked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Element captured before the await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View / WebSocket lifecycle race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Slow renders wrote into dead DOM after navigation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Serialised navigation with null-guarded loaders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Demo stress scenario could not fire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The flagship demo alert never appeared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Scenario recalibrated; forced phases snap within one tick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Wrong password showed “session expired”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A simple credential error looked like a security problem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Login 401 now surfaces the real message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Demo drills swallowed by cooldown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Emergency drills silently suppressed for 10 minutes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Drill triggers clear the duplicate-suppression window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713232" y="5669280"/>
            <a:ext cx="10765231" cy="566928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581558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Reproduce in one command:  python3 calib_suite.py  against a running server — the suite is idempotent and safe to run repeatedly, which is what a diligence reviewer will ask for.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868680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200" b="1" i="0">
                <a:solidFill>
                  <a:srgbClr val="241B5C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78892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i="0" spc="18000">
                <a:solidFill>
                  <a:srgbClr val="9D93FF"/>
                </a:solidFill>
                <a:latin typeface="Segoe UI"/>
              </a:rPr>
              <a:t>TARGET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090672"/>
            <a:ext cx="5989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FEDFB"/>
                </a:solidFill>
                <a:latin typeface="Segoe UI"/>
              </a:rPr>
              <a:t>Who we build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4023360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5BFE8"/>
                </a:solidFill>
                <a:latin typeface="Segoe UI"/>
              </a:rPr>
              <a:t>One wearer, one payer, one operator — each with a concrete job to be done.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7943" y="221284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Older adults at home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7943" y="263347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7943" y="285292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Family caregivers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7943" y="327355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7943" y="349300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Home-care and senior-living operators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7943" y="391363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NEUROLINK WEAR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PROTOTYPE  ·  DISCUSSION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8E86B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04 /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Who we build for,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One wearer, one payer, one operator. Every segment is defined by a concrete job — not by a demographic.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9344"/>
            <a:ext cx="5218023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09344"/>
            <a:ext cx="41148" cy="2084831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7739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3000">
                <a:solidFill>
                  <a:srgbClr val="241483"/>
                </a:solidFill>
                <a:latin typeface="Segoe U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773936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9000">
                <a:solidFill>
                  <a:srgbClr val="7E76A0"/>
                </a:solidFill>
                <a:latin typeface="Segoe UI"/>
              </a:rPr>
              <a:t>WEARER — NOT THE BUYER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011680"/>
            <a:ext cx="47608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Older adults aging at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476082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65+, living alone or with a partner, managing hypertension, COPD, diabetes or frailty.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724912"/>
            <a:ext cx="476082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300"/>
              </a:spcAft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Wants to stay independent and not be “watched”</a:t>
            </a:r>
          </a:p>
          <a:p>
            <a:pPr marL="219456" indent="-219456">
              <a:lnSpc>
                <a:spcPct val="122000"/>
              </a:lnSpc>
              <a:spcAft>
                <a:spcPts val="300"/>
              </a:spcAft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Will not tolerate charging a device daily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Needs the device to be invisible under a sleeve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0976" y="3383280"/>
            <a:ext cx="4742535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0976" y="3456432"/>
            <a:ext cx="476082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41483"/>
                </a:solidFill>
                <a:latin typeface="Segoe UI"/>
              </a:rPr>
              <a:t>Success metric: 20+ wear-hours per day, 90 % of days, after month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7" y="1609344"/>
            <a:ext cx="5218023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95847" y="1609344"/>
            <a:ext cx="41148" cy="2084831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3591" y="17739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3000">
                <a:solidFill>
                  <a:srgbClr val="4C3BD4"/>
                </a:solidFill>
                <a:latin typeface="Segoe UI"/>
              </a:rPr>
              <a:t>PRIMARY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567" y="1773936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9000">
                <a:solidFill>
                  <a:srgbClr val="7E76A0"/>
                </a:solidFill>
                <a:latin typeface="Segoe UI"/>
              </a:rPr>
              <a:t>BUYER + DAILY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011680"/>
            <a:ext cx="47608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Family caregivers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2304288"/>
            <a:ext cx="476082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Adult children aged 40–60 and spouses who already act as the informal safety net from a distance.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2724912"/>
            <a:ext cx="476082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3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Already anxious between calls and visits</a:t>
            </a:r>
          </a:p>
          <a:p>
            <a:pPr marL="219456" indent="-219456">
              <a:lnSpc>
                <a:spcPct val="122000"/>
              </a:lnSpc>
              <a:spcAft>
                <a:spcPts val="3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Pays for peace of mind, not for a gadget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Needs an answer in seconds during a scare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33591" y="3383280"/>
            <a:ext cx="4742536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33591" y="3456432"/>
            <a:ext cx="476082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C3BD4"/>
                </a:solidFill>
                <a:latin typeface="Segoe UI"/>
              </a:rPr>
              <a:t>Success metric: alert acknowledged in under 5 minutes; subscription retained at 6 months.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822191"/>
            <a:ext cx="5218023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3822191"/>
            <a:ext cx="41148" cy="2084831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3986783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3000">
                <a:solidFill>
                  <a:srgbClr val="6B4FD0"/>
                </a:solidFill>
                <a:latin typeface="Segoe UI"/>
              </a:rPr>
              <a:t>SECONDARY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1952" y="3986783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9000">
                <a:solidFill>
                  <a:srgbClr val="7E76A0"/>
                </a:solidFill>
                <a:latin typeface="Segoe UI"/>
              </a:rPr>
              <a:t>ENTERPRISE BUYER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224528"/>
            <a:ext cx="47608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Home care &amp; senior living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517136"/>
            <a:ext cx="476082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Home-care agencies, assisted-living operators and care cooperatives running staffed caseloads.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4937759"/>
            <a:ext cx="476082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300"/>
              </a:spcAft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Needs multi-wearer oversight and an audit trail</a:t>
            </a:r>
          </a:p>
          <a:p>
            <a:pPr marL="219456" indent="-219456">
              <a:lnSpc>
                <a:spcPct val="122000"/>
              </a:lnSpc>
              <a:spcAft>
                <a:spcPts val="300"/>
              </a:spcAft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Buys workflows, not dashboards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Exits trials that create extra staff work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0976" y="5596127"/>
            <a:ext cx="4742535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50976" y="5669279"/>
            <a:ext cx="476082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4FD0"/>
                </a:solidFill>
                <a:latin typeface="Segoe UI"/>
              </a:rPr>
              <a:t>Success metric: staff minutes saved per alert; pilot converts to paid renewal.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5847" y="3822191"/>
            <a:ext cx="5218023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95847" y="3822191"/>
            <a:ext cx="41148" cy="2084831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3591" y="3986783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3000">
                <a:solidFill>
                  <a:srgbClr val="1E8A5F"/>
                </a:solidFill>
                <a:latin typeface="Segoe UI"/>
              </a:rPr>
              <a:t>TERTIARY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4567" y="3986783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9000">
                <a:solidFill>
                  <a:srgbClr val="7E76A0"/>
                </a:solidFill>
                <a:latin typeface="Segoe UI"/>
              </a:rPr>
              <a:t>FUTURE PARTNER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3591" y="4224528"/>
            <a:ext cx="47608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Remote care ecosystem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3591" y="4517136"/>
            <a:ext cx="476082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Remote-monitoring providers, payers and employers exploring supported self-management.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3591" y="4937759"/>
            <a:ext cx="476082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300"/>
              </a:spcAft>
            </a:pPr>
            <a:r>
              <a:rPr sz="850">
                <a:solidFill>
                  <a:srgbClr val="1E8A5F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Requires evidence of detection quality first</a:t>
            </a:r>
          </a:p>
          <a:p>
            <a:pPr marL="219456" indent="-219456">
              <a:lnSpc>
                <a:spcPct val="122000"/>
              </a:lnSpc>
              <a:spcAft>
                <a:spcPts val="300"/>
              </a:spcAft>
            </a:pPr>
            <a:r>
              <a:rPr sz="850">
                <a:solidFill>
                  <a:srgbClr val="1E8A5F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Asks about data governance, retention and consent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1E8A5F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Moves slowly, contracts in multiples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33591" y="5596127"/>
            <a:ext cx="4742536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33591" y="5669279"/>
            <a:ext cx="476082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E8A5F"/>
                </a:solidFill>
                <a:latin typeface="Segoe UI"/>
              </a:rPr>
              <a:t>Success metric: validated evidence pack and a signed integration pilot.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AUDIENCE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04 /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Three people decide whether this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Adoption fails on the wearer's wrist, not in the demo. Design for all three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9344"/>
            <a:ext cx="3368954" cy="45537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09344"/>
            <a:ext cx="3368954" cy="45720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847088"/>
            <a:ext cx="585216" cy="585216"/>
          </a:xfrm>
          <a:prstGeom prst="ellipse">
            <a:avLst/>
          </a:prstGeom>
          <a:solidFill>
            <a:srgbClr val="EA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75104"/>
            <a:ext cx="585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241483"/>
                </a:solidFill>
                <a:latin typeface="Segoe UI"/>
              </a:rPr>
              <a:t>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65376"/>
            <a:ext cx="227167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Margaret, 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21408"/>
            <a:ext cx="227167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4000">
                <a:solidFill>
                  <a:srgbClr val="241483"/>
                </a:solidFill>
                <a:latin typeface="Segoe UI"/>
              </a:rPr>
              <a:t>The wearer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134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50" b="0" i="0" spc="6000">
                <a:solidFill>
                  <a:srgbClr val="7E76A0"/>
                </a:solidFill>
                <a:latin typeface="Segoe UI"/>
              </a:rPr>
              <a:t>TECH COMFORT</a:t>
            </a:r>
          </a:p>
        </p:txBody>
      </p:sp>
      <p:sp>
        <p:nvSpPr>
          <p:cNvPr id="14" name="Oval 13"/>
          <p:cNvSpPr/>
          <p:nvPr/>
        </p:nvSpPr>
        <p:spPr>
          <a:xfrm>
            <a:off x="2414016" y="2350008"/>
            <a:ext cx="82296" cy="82296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42032" y="2350008"/>
            <a:ext cx="82296" cy="82296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70048" y="2350008"/>
            <a:ext cx="82296" cy="82296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542032"/>
            <a:ext cx="289346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Hypertension and mild COPD · lives alone · two falls in 18 months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2980944"/>
            <a:ext cx="2893466" cy="566928"/>
          </a:xfrm>
          <a:prstGeom prst="roundRect">
            <a:avLst>
              <a:gd name="adj" fmla="val 14000"/>
            </a:avLst>
          </a:prstGeom>
          <a:solidFill>
            <a:srgbClr val="F7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054096"/>
            <a:ext cx="263743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1">
                <a:solidFill>
                  <a:srgbClr val="1A1440"/>
                </a:solidFill>
                <a:latin typeface="Segoe UI"/>
              </a:rPr>
              <a:t>“I don't want to be a patient in my own house.”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675887"/>
            <a:ext cx="289346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PAINS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3895344"/>
            <a:ext cx="289346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400"/>
              </a:spcAft>
            </a:pPr>
            <a:r>
              <a:rPr sz="850">
                <a:solidFill>
                  <a:srgbClr val="D32B36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Wants to keep living at home without a nurse in the room</a:t>
            </a:r>
          </a:p>
          <a:p>
            <a:pPr marL="219456" indent="-219456">
              <a:lnSpc>
                <a:spcPct val="122000"/>
              </a:lnSpc>
              <a:spcAft>
                <a:spcPts val="400"/>
              </a:spcAft>
            </a:pPr>
            <a:r>
              <a:rPr sz="850">
                <a:solidFill>
                  <a:srgbClr val="D32B36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Hates being reminded that she is old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D32B36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Will abandon anything that itches, buzzes or needs charging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901184"/>
            <a:ext cx="289346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WHAT EARNS THEIR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5120640"/>
            <a:ext cx="289346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400"/>
              </a:spcAft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Wrist-worn, unnoticeable, multi-day battery</a:t>
            </a:r>
          </a:p>
          <a:p>
            <a:pPr marL="219456" indent="-219456">
              <a:lnSpc>
                <a:spcPct val="122000"/>
              </a:lnSpc>
              <a:spcAft>
                <a:spcPts val="400"/>
              </a:spcAft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Alerts she can dismiss when she is fine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No cameras, no constant calling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1642" y="1609344"/>
            <a:ext cx="3368954" cy="45537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01642" y="1609344"/>
            <a:ext cx="3368954" cy="45720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39386" y="1847088"/>
            <a:ext cx="585216" cy="585216"/>
          </a:xfrm>
          <a:prstGeom prst="ellipse">
            <a:avLst/>
          </a:prstGeom>
          <a:solidFill>
            <a:srgbClr val="EA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9386" y="1975104"/>
            <a:ext cx="585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4C3BD4"/>
                </a:solidFill>
                <a:latin typeface="Segoe UI"/>
              </a:rPr>
              <a:t>SR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4330" y="1865376"/>
            <a:ext cx="227167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Sarah, 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4330" y="2121408"/>
            <a:ext cx="227167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4000">
                <a:solidFill>
                  <a:srgbClr val="4C3BD4"/>
                </a:solidFill>
                <a:latin typeface="Segoe UI"/>
              </a:rPr>
              <a:t>The family caregiver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4330" y="23134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50" b="0" i="0" spc="6000">
                <a:solidFill>
                  <a:srgbClr val="7E76A0"/>
                </a:solidFill>
                <a:latin typeface="Segoe UI"/>
              </a:rPr>
              <a:t>TECH COMFORT</a:t>
            </a:r>
          </a:p>
        </p:txBody>
      </p:sp>
      <p:sp>
        <p:nvSpPr>
          <p:cNvPr id="31" name="Oval 30"/>
          <p:cNvSpPr/>
          <p:nvPr/>
        </p:nvSpPr>
        <p:spPr>
          <a:xfrm>
            <a:off x="6002426" y="2350008"/>
            <a:ext cx="82296" cy="82296"/>
          </a:xfrm>
          <a:prstGeom prst="ellipse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30442" y="2350008"/>
            <a:ext cx="82296" cy="82296"/>
          </a:xfrm>
          <a:prstGeom prst="ellipse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58458" y="2350008"/>
            <a:ext cx="82296" cy="82296"/>
          </a:xfrm>
          <a:prstGeom prst="ellipse">
            <a:avLst/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39386" y="2542032"/>
            <a:ext cx="289346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Lives 90 minutes away · works full time · primary contact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39386" y="2980944"/>
            <a:ext cx="2893466" cy="566928"/>
          </a:xfrm>
          <a:prstGeom prst="roundRect">
            <a:avLst>
              <a:gd name="adj" fmla="val 14000"/>
            </a:avLst>
          </a:prstGeom>
          <a:solidFill>
            <a:srgbClr val="F7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7402" y="3054096"/>
            <a:ext cx="263743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1">
                <a:solidFill>
                  <a:srgbClr val="1A1440"/>
                </a:solidFill>
                <a:latin typeface="Segoe UI"/>
              </a:rPr>
              <a:t>“If something happens at 2 a.m., I need to know before the morning call.”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9386" y="3675887"/>
            <a:ext cx="289346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PAINS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9386" y="3895344"/>
            <a:ext cx="289346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400"/>
              </a:spcAft>
            </a:pPr>
            <a:r>
              <a:rPr sz="850">
                <a:solidFill>
                  <a:srgbClr val="D32B36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Guilt about not being there</a:t>
            </a:r>
          </a:p>
          <a:p>
            <a:pPr marL="219456" indent="-219456">
              <a:lnSpc>
                <a:spcPct val="122000"/>
              </a:lnSpc>
              <a:spcAft>
                <a:spcPts val="400"/>
              </a:spcAft>
            </a:pPr>
            <a:r>
              <a:rPr sz="850">
                <a:solidFill>
                  <a:srgbClr val="D32B36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Already drowning in group chats and check-in calls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D32B36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Cannot interpret a raw vitals chart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9386" y="4901184"/>
            <a:ext cx="289346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WHAT EARNS THEIR TRUST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9386" y="5120640"/>
            <a:ext cx="289346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4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One screen with her mother's real state</a:t>
            </a:r>
          </a:p>
          <a:p>
            <a:pPr marL="219456" indent="-219456">
              <a:lnSpc>
                <a:spcPct val="122000"/>
              </a:lnSpc>
              <a:spcAft>
                <a:spcPts val="4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Plain-language explanation and a next step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One-tap escalation with location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90052" y="1609344"/>
            <a:ext cx="3368954" cy="45537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890052" y="1609344"/>
            <a:ext cx="3368954" cy="45720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27796" y="1847088"/>
            <a:ext cx="585216" cy="585216"/>
          </a:xfrm>
          <a:prstGeom prst="ellipse">
            <a:avLst/>
          </a:prstGeom>
          <a:solidFill>
            <a:srgbClr val="EA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27796" y="1975104"/>
            <a:ext cx="585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6B4FD0"/>
                </a:solidFill>
                <a:latin typeface="Segoe UI"/>
              </a:rPr>
              <a:t>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2740" y="1865376"/>
            <a:ext cx="227167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Dana, 39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2740" y="2121408"/>
            <a:ext cx="227167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4000">
                <a:solidFill>
                  <a:srgbClr val="6B4FD0"/>
                </a:solidFill>
                <a:latin typeface="Segoe UI"/>
              </a:rPr>
              <a:t>The care manager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2740" y="231343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50" b="0" i="0" spc="6000">
                <a:solidFill>
                  <a:srgbClr val="7E76A0"/>
                </a:solidFill>
                <a:latin typeface="Segoe UI"/>
              </a:rPr>
              <a:t>TECH COMFORT</a:t>
            </a:r>
          </a:p>
        </p:txBody>
      </p:sp>
      <p:sp>
        <p:nvSpPr>
          <p:cNvPr id="48" name="Oval 47"/>
          <p:cNvSpPr/>
          <p:nvPr/>
        </p:nvSpPr>
        <p:spPr>
          <a:xfrm>
            <a:off x="9590836" y="2350008"/>
            <a:ext cx="82296" cy="82296"/>
          </a:xfrm>
          <a:prstGeom prst="ellipse">
            <a:avLst/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8852" y="2350008"/>
            <a:ext cx="82296" cy="82296"/>
          </a:xfrm>
          <a:prstGeom prst="ellipse">
            <a:avLst/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846868" y="2350008"/>
            <a:ext cx="82296" cy="82296"/>
          </a:xfrm>
          <a:prstGeom prst="ellipse">
            <a:avLst/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27796" y="2542032"/>
            <a:ext cx="289346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7E76A0"/>
                </a:solidFill>
                <a:latin typeface="Segoe UI"/>
              </a:rPr>
              <a:t>Runs 60 home-care clients · 14 field staff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27796" y="2980944"/>
            <a:ext cx="2893466" cy="566928"/>
          </a:xfrm>
          <a:prstGeom prst="roundRect">
            <a:avLst>
              <a:gd name="adj" fmla="val 14000"/>
            </a:avLst>
          </a:prstGeom>
          <a:solidFill>
            <a:srgbClr val="F7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55812" y="3054096"/>
            <a:ext cx="263743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1">
                <a:solidFill>
                  <a:srgbClr val="1A1440"/>
                </a:solidFill>
                <a:latin typeface="Segoe UI"/>
              </a:rPr>
              <a:t>“I need fewer surprises and an audit trail I can hand to a regulator.”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27796" y="3675887"/>
            <a:ext cx="289346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PAINS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27796" y="3895344"/>
            <a:ext cx="289346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400"/>
              </a:spcAft>
            </a:pPr>
            <a:r>
              <a:rPr sz="850">
                <a:solidFill>
                  <a:srgbClr val="D32B36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Accountable for outcomes she cannot see</a:t>
            </a:r>
          </a:p>
          <a:p>
            <a:pPr marL="219456" indent="-219456">
              <a:lnSpc>
                <a:spcPct val="122000"/>
              </a:lnSpc>
              <a:spcAft>
                <a:spcPts val="400"/>
              </a:spcAft>
            </a:pPr>
            <a:r>
              <a:rPr sz="850">
                <a:solidFill>
                  <a:srgbClr val="D32B36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Field staff resist extra data entry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D32B36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Must justify every subscription 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27796" y="4901184"/>
            <a:ext cx="289346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WHAT EARNS THEIR TRUST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27796" y="5120640"/>
            <a:ext cx="289346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400"/>
              </a:spcAft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Caseload-level triage and trend reporting</a:t>
            </a:r>
          </a:p>
          <a:p>
            <a:pPr marL="219456" indent="-219456">
              <a:lnSpc>
                <a:spcPct val="122000"/>
              </a:lnSpc>
              <a:spcAft>
                <a:spcPts val="400"/>
              </a:spcAft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Evidence trail per incident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Deployment that does not add work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AUDIENCE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04 /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What each person hires the product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Jobs-to-be-done mapped to the feature that answers it today — and to the metric that proves it worked.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572768"/>
          <a:ext cx="10488168" cy="3364992"/>
        </p:xfrm>
        <a:graphic>
          <a:graphicData uri="http://schemas.openxmlformats.org/drawingml/2006/table">
            <a:tbl>
              <a:tblPr firstRow="0" bandRow="0"/>
              <a:tblGrid>
                <a:gridCol w="1481328"/>
                <a:gridCol w="3200400"/>
                <a:gridCol w="4105656"/>
                <a:gridCol w="1700784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Stakeholder</a:t>
                      </a:r>
                    </a:p>
                  </a:txBody>
                  <a:tcPr marL="91440" marR="91440" marT="18288" marB="18288" anchor="ctr"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Job to be done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Feature serving it today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Proof metric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Wearer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“Let me keep living alone without feeling supervised.”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Unobtrusive band, dismissible alerts, no cameras or microphones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Wear-days per month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Wearer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“Tell me when something is actually wrong.”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Two-tier detection with wearer-facing status and vibration cues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Alert acknowledgement rate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Family caregiver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“Show me she is fine without me calling again.”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Live Overview with vitals, motion state and 24 h trend sparklines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Sessions per week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Family caregiver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“When it goes wrong, tell me what to do.”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Plain-language explanation, recommendation list, one-tap dispatch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Time to acknowledgement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Family caregiver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“Keep the record I will need later.”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Incident timeline with GPS, dispatch log, downloadable history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Incidents with complete logs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Care manager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“Triage 60 clients without 60 phone calls.”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Caseload-ready alert queue, severity sorting, per-wearer thresholds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Alerts resolved per staff hour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Care manager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“Defend the decision if something goes wrong.”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Immutable clinical floors plus audit trail on every configuration change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Audit completeness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Clinician (reviewer)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“Understand why an alert fired before I act.”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Evidence panel: z-scores, core-equivalent temperature, hypoxic burden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Clinician agreement rate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502920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THE ADOPTION JOURNEY — WHERE MOST WEARABLES FAIL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285232"/>
            <a:ext cx="202503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5285232"/>
            <a:ext cx="2025030" cy="41148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5394960"/>
            <a:ext cx="17507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6000">
                <a:solidFill>
                  <a:srgbClr val="1E8A5F"/>
                </a:solidFill>
                <a:latin typeface="Segoe UI"/>
              </a:rPr>
              <a:t>Day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5577840"/>
            <a:ext cx="17507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Fit &amp; first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779008"/>
            <a:ext cx="17507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Band paired, MQTT 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8262" y="5596128"/>
            <a:ext cx="1280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CFC9E8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66278" y="5285232"/>
            <a:ext cx="202503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66278" y="5285232"/>
            <a:ext cx="2025030" cy="41148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2582" y="5394960"/>
            <a:ext cx="17507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6000">
                <a:solidFill>
                  <a:srgbClr val="4C3BD4"/>
                </a:solidFill>
                <a:latin typeface="Segoe UI"/>
              </a:rPr>
              <a:t>Day 1–3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2582" y="5577840"/>
            <a:ext cx="17507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Warming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2582" y="5779008"/>
            <a:ext cx="17507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Baselines form, confidence climbs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1308" y="5596128"/>
            <a:ext cx="1280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CFC9E8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9324" y="5285232"/>
            <a:ext cx="202503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19324" y="5285232"/>
            <a:ext cx="2025030" cy="41148"/>
          </a:xfrm>
          <a:prstGeom prst="roundRect">
            <a:avLst>
              <a:gd name="adj" fmla="val 50000"/>
            </a:avLst>
          </a:prstGeom>
          <a:solidFill>
            <a:srgbClr val="C9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5628" y="5394960"/>
            <a:ext cx="17507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6000">
                <a:solidFill>
                  <a:srgbClr val="C97A14"/>
                </a:solidFill>
                <a:latin typeface="Segoe UI"/>
              </a:rPr>
              <a:t>Week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5628" y="5577840"/>
            <a:ext cx="17507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First real 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5628" y="5779008"/>
            <a:ext cx="17507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Explained, acknowledged, resolved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4354" y="5596128"/>
            <a:ext cx="1280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CFC9E8"/>
                </a:solidFill>
                <a:latin typeface="Segoe U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2370" y="5285232"/>
            <a:ext cx="202503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72370" y="5285232"/>
            <a:ext cx="2025030" cy="41148"/>
          </a:xfrm>
          <a:prstGeom prst="roundRect">
            <a:avLst>
              <a:gd name="adj" fmla="val 50000"/>
            </a:avLst>
          </a:prstGeom>
          <a:solidFill>
            <a:srgbClr val="D3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8674" y="5394960"/>
            <a:ext cx="17507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6000">
                <a:solidFill>
                  <a:srgbClr val="D32B36"/>
                </a:solidFill>
                <a:latin typeface="Segoe UI"/>
              </a:rPr>
              <a:t>Week 2–4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8674" y="5577840"/>
            <a:ext cx="17507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Trust or churn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8674" y="5779008"/>
            <a:ext cx="17507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False-alert rate decides 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7400" y="5596128"/>
            <a:ext cx="1280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CFC9E8"/>
                </a:solidFill>
                <a:latin typeface="Segoe U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5416" y="5285232"/>
            <a:ext cx="202503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25416" y="5285232"/>
            <a:ext cx="2025030" cy="41148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71720" y="5394960"/>
            <a:ext cx="17507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6000">
                <a:solidFill>
                  <a:srgbClr val="241483"/>
                </a:solidFill>
                <a:latin typeface="Segoe UI"/>
              </a:rPr>
              <a:t>Month 2+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1720" y="5577840"/>
            <a:ext cx="17507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1A1440"/>
                </a:solidFill>
                <a:latin typeface="Segoe UI"/>
              </a:rPr>
              <a:t>Routine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1720" y="5779008"/>
            <a:ext cx="17507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Baselines sharpen, dependency forms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AUDIENCE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868680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200" b="1" i="0">
                <a:solidFill>
                  <a:srgbClr val="241B5C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78892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i="0" spc="18000">
                <a:solidFill>
                  <a:srgbClr val="9D93FF"/>
                </a:solidFill>
                <a:latin typeface="Segoe U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090672"/>
            <a:ext cx="5989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FEDFB"/>
                </a:solidFill>
                <a:latin typeface="Segoe UI"/>
              </a:rPr>
              <a:t>Roadmap &amp; future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4023360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5BFE8"/>
                </a:solidFill>
                <a:latin typeface="Segoe UI"/>
              </a:rPr>
              <a:t>What is shipped, what pilots next, and what the platform unlocks after that.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7943" y="221284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Shipped today — the working build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7943" y="263347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7943" y="285292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Next 0–12 months — pilot gates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7943" y="327355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7943" y="349300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Later 12–36 months — platform bets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7943" y="391363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NEUROLINK WEAR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PROTOTYPE  ·  DISCUSSION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8E86B8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05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From working prototype to validated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Three horizons. Nothing moves to “next” until the gate before it is passed.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91056"/>
            <a:ext cx="3368954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591056"/>
            <a:ext cx="3368954" cy="45720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73936"/>
            <a:ext cx="291175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3000">
                <a:solidFill>
                  <a:srgbClr val="1E8A5F"/>
                </a:solidFill>
                <a:latin typeface="Segoe UI"/>
              </a:rPr>
              <a:t>HORIZON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29117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Shipped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291175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Working prototype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" y="2560320"/>
            <a:ext cx="2930042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2688" y="2688336"/>
            <a:ext cx="291175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1E8A5F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Live telemetry over WebSocket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1E8A5F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8 conditions + inactivity watch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1E8A5F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Two-tier detection with calibration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1E8A5F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Caregiver dashboard: 6 views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1E8A5F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Safety escalation with GPS + log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1E8A5F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Device pairing and MQTT test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1E8A5F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Roles, sessions, seeded demo data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1E8A5F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QA + calibration suites green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1642" y="1591056"/>
            <a:ext cx="3368954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01642" y="1591056"/>
            <a:ext cx="3368954" cy="45720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1098" y="1773936"/>
            <a:ext cx="291175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3000">
                <a:solidFill>
                  <a:srgbClr val="4C3BD4"/>
                </a:solidFill>
                <a:latin typeface="Segoe UI"/>
              </a:rPr>
              <a:t>HORIZON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1993392"/>
            <a:ext cx="29117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Next — 0–12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098" y="2267712"/>
            <a:ext cx="291175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Pilot-hardening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21098" y="2560320"/>
            <a:ext cx="2930042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1098" y="2688336"/>
            <a:ext cx="291175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Field hardware revision with bench validation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Push, SMS and voice delivery integrations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Native mobile app for the wearer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Caseload / multi-wearer operator view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Alert precision telemetry and tuning loop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Battery and wear-time analytics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Consent, retention and audit controls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4C3BD4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FHIR-ready data 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90052" y="1591056"/>
            <a:ext cx="3368954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90052" y="1591056"/>
            <a:ext cx="3368954" cy="45720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9508" y="1773936"/>
            <a:ext cx="291175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3000">
                <a:solidFill>
                  <a:srgbClr val="6B4FD0"/>
                </a:solidFill>
                <a:latin typeface="Segoe UI"/>
              </a:rPr>
              <a:t>HORIZON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9508" y="1993392"/>
            <a:ext cx="29117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A1440"/>
                </a:solidFill>
                <a:latin typeface="Segoe UI"/>
              </a:rPr>
              <a:t>Later — 12–36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9508" y="2267712"/>
            <a:ext cx="291175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7E76A0"/>
                </a:solidFill>
                <a:latin typeface="Segoe UI"/>
              </a:rPr>
              <a:t>Platform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09508" y="2560320"/>
            <a:ext cx="2930043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09508" y="2688336"/>
            <a:ext cx="291175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On-device equation engine at the edge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Personal risk trajectory modelling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Clinical review console for care teams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Partner SDK and device-agnostic ingest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Multi-condition chronic care programs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Insurer and provider reporting packs</a:t>
            </a:r>
          </a:p>
          <a:p>
            <a:pPr marL="219456" indent="-219456">
              <a:lnSpc>
                <a:spcPct val="122000"/>
              </a:lnSpc>
              <a:spcAft>
                <a:spcPts val="500"/>
              </a:spcAft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Voice assistant and smart-home triggers</a:t>
            </a:r>
          </a:p>
          <a:p>
            <a:pPr marL="219456" indent="-219456">
              <a:lnSpc>
                <a:spcPct val="122000"/>
              </a:lnSpc>
            </a:pPr>
            <a:r>
              <a:rPr sz="850">
                <a:solidFill>
                  <a:srgbClr val="6B4FD0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Regulated pathway filing if evidence supports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632704"/>
            <a:ext cx="10765231" cy="676656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742432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THE GATE BETWEEN HORIZONS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5705856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H1 → H2  </a:t>
            </a:r>
          </a:p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Hardware accuracy validated on a bench and in 100+ wear-days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63056" y="5705856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H2 → H3  </a:t>
            </a:r>
          </a:p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Alert precision and retention targets met in 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5705856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H3 → scale  </a:t>
            </a:r>
          </a:p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D3566"/>
                </a:solidFill>
                <a:latin typeface="Segoe UI"/>
              </a:rPr>
              <a:t>Economics and regulatory scope confirmed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05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Future features I — on the wrist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Wearer-facing additions. Each one is a hypothesis with the gate that would justify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9344"/>
            <a:ext cx="24901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09344"/>
            <a:ext cx="2490139" cy="41148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20878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On-device equation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95728"/>
            <a:ext cx="2087803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Run stress index, fall physics and core-temperature estimation directly on the ESP32 for offline alerts when the network drops.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3383280"/>
            <a:ext cx="2087803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456432"/>
            <a:ext cx="20878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41483"/>
                </a:solidFill>
                <a:latin typeface="Segoe UI"/>
              </a:rPr>
              <a:t>Gate: accuracy parity with the server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4539" y="1609344"/>
            <a:ext cx="24901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4539" y="1609344"/>
            <a:ext cx="2490139" cy="41148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5707" y="1810512"/>
            <a:ext cx="20878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Wear-time &amp; battery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5707" y="2395728"/>
            <a:ext cx="2087803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Track daily wear-hours and charge cycles in-product, with a low-battery escalation path that reaches the caregiver.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05707" y="3383280"/>
            <a:ext cx="2087804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05707" y="3456432"/>
            <a:ext cx="20878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C3BD4"/>
                </a:solidFill>
                <a:latin typeface="Segoe UI"/>
              </a:rPr>
              <a:t>Gate: multi-day measured battery life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7" y="1609344"/>
            <a:ext cx="24901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95847" y="1609344"/>
            <a:ext cx="2490139" cy="41148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7015" y="1810512"/>
            <a:ext cx="20878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Sleep, recovery and circadian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7015" y="2395728"/>
            <a:ext cx="2087803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Turn overnight HRV, temperature and motion into a recovery picture that explains daytime alerts.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97015" y="3383280"/>
            <a:ext cx="2087804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97015" y="3456432"/>
            <a:ext cx="20878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4FD0"/>
                </a:solidFill>
                <a:latin typeface="Segoe UI"/>
              </a:rPr>
              <a:t>Gate: clinician review of the derived 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87155" y="1609344"/>
            <a:ext cx="24901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87155" y="1609344"/>
            <a:ext cx="2490139" cy="41148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8323" y="1810512"/>
            <a:ext cx="20878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Multi-day cellular band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323" y="2395728"/>
            <a:ext cx="2087803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An LTE-M / eSIM variant for wearers with no home Wi-Fi — alerts travel even when the house does not.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88323" y="3383280"/>
            <a:ext cx="2087804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988323" y="3456432"/>
            <a:ext cx="20878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E8A5F"/>
                </a:solidFill>
                <a:latin typeface="Segoe UI"/>
              </a:rPr>
              <a:t>Gate: unit cost and power budget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40480"/>
            <a:ext cx="24901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232" y="3840480"/>
            <a:ext cx="2490139" cy="41148"/>
          </a:xfrm>
          <a:prstGeom prst="roundRect">
            <a:avLst>
              <a:gd name="adj" fmla="val 50000"/>
            </a:avLst>
          </a:prstGeom>
          <a:solidFill>
            <a:srgbClr val="D3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041648"/>
            <a:ext cx="20878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Wrist-worn form factor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626864"/>
            <a:ext cx="2087803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Move from a band prototype to a validated, washable, skin-safe wearable enclosure.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5614416"/>
            <a:ext cx="2087803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14400" y="5687568"/>
            <a:ext cx="20878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D32B36"/>
                </a:solidFill>
                <a:latin typeface="Segoe UI"/>
              </a:rPr>
              <a:t>Gate: DFM review and biocompatibility testing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04539" y="3840480"/>
            <a:ext cx="24901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04539" y="3840480"/>
            <a:ext cx="2490139" cy="41148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5707" y="4041648"/>
            <a:ext cx="20878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Wearer-facing companion 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5707" y="4626864"/>
            <a:ext cx="2087803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A deliberately simple wearer surface: status, dismiss, SOS, and nothing else.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605707" y="5614416"/>
            <a:ext cx="2087804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05707" y="5687568"/>
            <a:ext cx="20878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41483"/>
                </a:solidFill>
                <a:latin typeface="Segoe UI"/>
              </a:rPr>
              <a:t>Gate: wearer usability testing at 70+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95847" y="3840480"/>
            <a:ext cx="24901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095847" y="3840480"/>
            <a:ext cx="2490139" cy="41148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7015" y="4041648"/>
            <a:ext cx="20878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Cardiac rhythm screening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7015" y="4626864"/>
            <a:ext cx="2087803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Extend PPG analysis towards irregular-rhythm flags and AF burden estimates.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297015" y="5614416"/>
            <a:ext cx="2087804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297015" y="5687568"/>
            <a:ext cx="20878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C3BD4"/>
                </a:solidFill>
                <a:latin typeface="Segoe UI"/>
              </a:rPr>
              <a:t>Gate: reference ECG comparison study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87155" y="3840480"/>
            <a:ext cx="24901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787155" y="3840480"/>
            <a:ext cx="2490139" cy="41148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88323" y="4041648"/>
            <a:ext cx="208780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Medication and routine adherence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88323" y="4626864"/>
            <a:ext cx="2087803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Gentle nudges tied to the wearer's routine, correlated with physiological response afterwards.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988323" y="5614416"/>
            <a:ext cx="2087804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988323" y="5687568"/>
            <a:ext cx="20878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4FD0"/>
                </a:solidFill>
                <a:latin typeface="Segoe UI"/>
              </a:rPr>
              <a:t>Gate: adherence improvement measured in pilot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FUTURE FEATURES · WEARER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05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Future features II — on the caregiver's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Everything that shortens the distance between an alert and a human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9344"/>
            <a:ext cx="5181447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742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Push, SMS and voice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47425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Delivery receipts, retry ladders and a defined fallback order, so an urgent alert has more than one way to arrive.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7239" y="1755648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4C3BD4"/>
                </a:solidFill>
                <a:latin typeface="Segoe UI"/>
              </a:rPr>
              <a:t>Gate: partner integration + delivery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670048"/>
            <a:ext cx="5181447" cy="969264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816352"/>
            <a:ext cx="4742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Caseload console for operators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090672"/>
            <a:ext cx="47425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One screen for a care manager's entire roster: triage queue, severity sorting, per-wearer drill-down and shift handover notes.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7239" y="2816352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4C3BD4"/>
                </a:solidFill>
                <a:latin typeface="Segoe UI"/>
              </a:rPr>
              <a:t>Gate: 2–3 signed pilot operators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730752"/>
            <a:ext cx="5181447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877056"/>
            <a:ext cx="4742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Family circle and delegation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151376"/>
            <a:ext cx="47425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Time-boxed access for a sitter or a visiting nurse, with an audit trail showing who saw what.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7239" y="3877056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4C3BD4"/>
                </a:solidFill>
                <a:latin typeface="Segoe UI"/>
              </a:rPr>
              <a:t>Gate: consent model + legal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791455"/>
            <a:ext cx="5181447" cy="969264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937759"/>
            <a:ext cx="4742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Weekly narrative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212079"/>
            <a:ext cx="47425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A written summary per wearer: what changed, how it trended, what was actioned — readable by a clinician.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7239" y="4937759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4C3BD4"/>
                </a:solidFill>
                <a:latin typeface="Segoe UI"/>
              </a:rPr>
              <a:t>Gate: clinician feedback on usefulness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7" y="1609344"/>
            <a:ext cx="5181447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5303" y="1755648"/>
            <a:ext cx="4742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Care-team messaging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303" y="2029968"/>
            <a:ext cx="47425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Discuss an alert in context, attach the evidence and keep the thread attached to the incident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9855" y="1755648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4C3BD4"/>
                </a:solidFill>
                <a:latin typeface="Segoe UI"/>
              </a:rPr>
              <a:t>Gate: pilot feedback on workflow 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5847" y="2670048"/>
            <a:ext cx="5181447" cy="969264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5303" y="2816352"/>
            <a:ext cx="4742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Scheduling and visit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303" y="3090672"/>
            <a:ext cx="47425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Link readings to scheduled visits and to the staff member on duty, so an alert lands with the right person.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9855" y="2816352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4C3BD4"/>
                </a:solidFill>
                <a:latin typeface="Segoe UI"/>
              </a:rPr>
              <a:t>Gate: rostering integration with a pilot partner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5847" y="3730752"/>
            <a:ext cx="5181447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5303" y="3877056"/>
            <a:ext cx="4742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Multilingual, accessible surfaces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303" y="4151376"/>
            <a:ext cx="47425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Localised explanations and a large-text mode for older caregivers — the same alert understood by everyone in the circle.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9855" y="3877056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4C3BD4"/>
                </a:solidFill>
                <a:latin typeface="Segoe UI"/>
              </a:rPr>
              <a:t>Gate: translation review per market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5847" y="4791455"/>
            <a:ext cx="5181447" cy="969264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5303" y="4937759"/>
            <a:ext cx="4742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440"/>
                </a:solidFill>
                <a:latin typeface="Segoe UI"/>
              </a:rPr>
              <a:t>Explainable alert 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5303" y="5212079"/>
            <a:ext cx="47425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A reviewer view that shows why any historical alert fired, with its stored evidence and the thresholds in force at that moment.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9855" y="4937759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4C3BD4"/>
                </a:solidFill>
                <a:latin typeface="Segoe UI"/>
              </a:rPr>
              <a:t>Gate: quality-review workflow in pilot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815584"/>
            <a:ext cx="10765231" cy="493776"/>
          </a:xfrm>
          <a:prstGeom prst="roundRect">
            <a:avLst>
              <a:gd name="adj" fmla="val 6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5943600"/>
            <a:ext cx="103080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EFEDFB"/>
                </a:solidFill>
                <a:latin typeface="Segoe UI"/>
              </a:rPr>
              <a:t>Delivery integrations are a partner dependency, not just a build task — escalation providers, local emergency numbering rules and consent policy differ per market and must be validated before any launch claim.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FUTURE FEATURES · CAREGIVER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05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Future features III — platform, data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The bets that turn one product into an ecosystem — and the evidence that must come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591056"/>
          <a:ext cx="10488168" cy="3529584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3566160"/>
                <a:gridCol w="3520440"/>
                <a:gridCol w="749808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91440" marR="91440" marT="18288" marB="18288" anchor="ctr"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What it adds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Why it matters commercially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Horizon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Partner SDK &amp; device-agnostic ingest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Any sensor payload can be normalised into the same pipeline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Turns competitors' hardware into distribution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Later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Clinical review console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Clinician view of trends, evidence and alert history per wearer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Unlocks provider channel and referral loops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Later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Personal risk trajectory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Longitudinal baselines modelled into drift and deterioration signals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Shifts from alerting to prediction — the defensible layer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Later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FHIR / HL7 export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Structured, standards-based sharing with care systems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Removes the largest integration objection from operators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Next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Reimbursement evidence pack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Outcome reporting designed for payer questions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Converts a subscription into a funded care cost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Later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Data governance programme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Retention controls, consent ledger, least-privilege access, threat model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Precondition for any health-system conversation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Next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Federated personalisation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Improve equation priors across consenting wearers without moving raw data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Better day-one accuracy for every new wearer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Later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Multi-condition programmes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COPD, cardiac and post-surgical monitoring tracks on one platform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Expands account value without new hardware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Later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" y="5541264"/>
            <a:ext cx="10765231" cy="768096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632704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STANDING RULE FOR EVERY FUTURE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870448"/>
            <a:ext cx="3383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Evidence first —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No claim ships before the measurement that supports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870448"/>
            <a:ext cx="3383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Human in the loop —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Every escalation ends with a person, never with an automated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5870448"/>
            <a:ext cx="3383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Safety floors stay —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No roadmap item can move a clinical constant or a consent boundary.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FUTURE FEATURES ·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868680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200" b="1" i="0">
                <a:solidFill>
                  <a:srgbClr val="241B5C"/>
                </a:solidFill>
                <a:latin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78892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i="0" spc="18000">
                <a:solidFill>
                  <a:srgbClr val="9D93FF"/>
                </a:solidFill>
                <a:latin typeface="Segoe UI"/>
              </a:rPr>
              <a:t>BUSINESS &amp;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090672"/>
            <a:ext cx="5989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FEDFB"/>
                </a:solidFill>
                <a:latin typeface="Segoe UI"/>
              </a:rP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4023360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5BFE8"/>
                </a:solidFill>
                <a:latin typeface="Segoe UI"/>
              </a:rPr>
              <a:t>Hardware opens the account; subscriptions and operator contracts fund the company.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7943" y="221284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Device sale at $149 ASP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7943" y="263347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7943" y="285292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Subscription at $12 / month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7943" y="327355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7943" y="349300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Operator licence per wearer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7943" y="391363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NEUROLINK WEAR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PROTOTYPE  ·  DISCUSSION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8E86B8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06 /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Hardware opens the account. Software keeps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Device margin funds acquisition; subscription and operator contracts fund the company.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9344"/>
            <a:ext cx="24901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09344"/>
            <a:ext cx="2490139" cy="45720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92224"/>
            <a:ext cx="20878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0000">
                <a:solidFill>
                  <a:srgbClr val="241483"/>
                </a:solidFill>
                <a:latin typeface="Segoe UI"/>
              </a:rPr>
              <a:t>DEVICE SALE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208780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A1440"/>
                </a:solidFill>
                <a:latin typeface="Segoe UI"/>
              </a:rPr>
              <a:t>$149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20878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 spc="6000">
                <a:solidFill>
                  <a:srgbClr val="7E76A0"/>
                </a:solidFill>
                <a:latin typeface="Segoe UI"/>
              </a:rPr>
              <a:t>one-time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2633472"/>
            <a:ext cx="2087803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2761488"/>
            <a:ext cx="2087803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Band, charging cradle and starter kit. Priced at roughly 1.7× unit cost — deliberately not the profit centre.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4539" y="1609344"/>
            <a:ext cx="24901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04539" y="1609344"/>
            <a:ext cx="2490139" cy="45720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5707" y="1792224"/>
            <a:ext cx="20878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0000">
                <a:solidFill>
                  <a:srgbClr val="4C3BD4"/>
                </a:solidFill>
                <a:latin typeface="Segoe UI"/>
              </a:rPr>
              <a:t>CONSUMER SUBSCRIPTION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5707" y="1993392"/>
            <a:ext cx="208780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A1440"/>
                </a:solidFill>
                <a:latin typeface="Segoe UI"/>
              </a:rPr>
              <a:t>$12 /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5707" y="2395728"/>
            <a:ext cx="20878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 spc="6000">
                <a:solidFill>
                  <a:srgbClr val="7E76A0"/>
                </a:solidFill>
                <a:latin typeface="Segoe UI"/>
              </a:rPr>
              <a:t>recurring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05707" y="2633472"/>
            <a:ext cx="2087804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05707" y="2761488"/>
            <a:ext cx="2087803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AI insights, unlimited history, caregiver circle and safety escalation. The primary revenue engine.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7" y="1609344"/>
            <a:ext cx="24901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95847" y="1609344"/>
            <a:ext cx="2490139" cy="45720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7015" y="1792224"/>
            <a:ext cx="20878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0000">
                <a:solidFill>
                  <a:srgbClr val="6B4FD0"/>
                </a:solidFill>
                <a:latin typeface="Segoe UI"/>
              </a:rPr>
              <a:t>OPERATOR LICENCE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7015" y="1993392"/>
            <a:ext cx="208780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A1440"/>
                </a:solidFill>
                <a:latin typeface="Segoe UI"/>
              </a:rPr>
              <a:t>$9–18 / wearer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7015" y="2395728"/>
            <a:ext cx="20878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 spc="6000">
                <a:solidFill>
                  <a:srgbClr val="7E76A0"/>
                </a:solidFill>
                <a:latin typeface="Segoe UI"/>
              </a:rPr>
              <a:t>contract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97015" y="2633472"/>
            <a:ext cx="2087804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97015" y="2761488"/>
            <a:ext cx="2087803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Caseload console, staff workflow, reporting and audit trail for home-care and living operators.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87155" y="1609344"/>
            <a:ext cx="24901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87155" y="1609344"/>
            <a:ext cx="2490139" cy="45720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323" y="1792224"/>
            <a:ext cx="20878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0000">
                <a:solidFill>
                  <a:srgbClr val="1E8A5F"/>
                </a:solidFill>
                <a:latin typeface="Segoe UI"/>
              </a:rPr>
              <a:t>EVIDENCE &amp;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8323" y="1993392"/>
            <a:ext cx="208780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A1440"/>
                </a:solidFill>
                <a:latin typeface="Segoe UI"/>
              </a:rPr>
              <a:t>Pilot fee + licence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323" y="2395728"/>
            <a:ext cx="20878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 spc="6000">
                <a:solidFill>
                  <a:srgbClr val="7E76A0"/>
                </a:solidFill>
                <a:latin typeface="Segoe UI"/>
              </a:rPr>
              <a:t>strategic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88323" y="2633472"/>
            <a:ext cx="2087804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988323" y="2761488"/>
            <a:ext cx="2087803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Paid pilots with providers and payers that convert to integration contracts once detection quality is proven.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3858768"/>
            <a:ext cx="5358384" cy="2450592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4023360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WHY A SUBSCRIPTION IS DEFENSIBLE 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" y="4315968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6000"/>
              </a:lnSpc>
              <a:spcAft>
                <a:spcPts val="6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Value is continuous, not transactional. </a:t>
            </a:r>
            <a:r>
              <a:rPr sz="900" b="0">
                <a:solidFill>
                  <a:srgbClr val="3D3566"/>
                </a:solidFill>
                <a:latin typeface="Segoe UI"/>
              </a:rPr>
              <a:t>The safety net only exists while the service runs.</a:t>
            </a:r>
          </a:p>
          <a:p>
            <a:pPr marL="219456" indent="-219456">
              <a:lnSpc>
                <a:spcPct val="126000"/>
              </a:lnSpc>
              <a:spcAft>
                <a:spcPts val="6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Switching cost compounds. </a:t>
            </a:r>
            <a:r>
              <a:rPr sz="900" b="0">
                <a:solidFill>
                  <a:srgbClr val="3D3566"/>
                </a:solidFill>
                <a:latin typeface="Segoe UI"/>
              </a:rPr>
              <a:t>Calibration baselines and history belong to this wearer.</a:t>
            </a:r>
          </a:p>
          <a:p>
            <a:pPr marL="219456" indent="-219456">
              <a:lnSpc>
                <a:spcPct val="126000"/>
              </a:lnSpc>
              <a:spcAft>
                <a:spcPts val="6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Marginal cost is low. </a:t>
            </a:r>
            <a:r>
              <a:rPr sz="900" b="0">
                <a:solidFill>
                  <a:srgbClr val="3D3566"/>
                </a:solidFill>
                <a:latin typeface="Segoe UI"/>
              </a:rPr>
              <a:t>Storage and narration per wearer are bounded by alerts, not readings.</a:t>
            </a:r>
          </a:p>
          <a:p>
            <a:pPr marL="219456" indent="-219456">
              <a:lnSpc>
                <a:spcPct val="126000"/>
              </a:lnSpc>
              <a:spcAft>
                <a:spcPts val="6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Operators need the software. </a:t>
            </a:r>
            <a:r>
              <a:rPr sz="900" b="0">
                <a:solidFill>
                  <a:srgbClr val="3D3566"/>
                </a:solidFill>
                <a:latin typeface="Segoe UI"/>
              </a:rPr>
              <a:t>The hardware alone cannot serve a caseload.</a:t>
            </a:r>
          </a:p>
          <a:p>
            <a:pPr marL="219456" indent="-219456">
              <a:lnSpc>
                <a:spcPct val="126000"/>
              </a:lnSpc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Price sits below the alternative. </a:t>
            </a:r>
            <a:r>
              <a:rPr sz="900" b="0">
                <a:solidFill>
                  <a:srgbClr val="3D3566"/>
                </a:solidFill>
                <a:latin typeface="Segoe UI"/>
              </a:rPr>
              <a:t>A private caregiver hour costs far more than a month.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91072" y="3858768"/>
            <a:ext cx="5184648" cy="2450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28816" y="4023360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PRICING PRINCIPLES WE WILL TEST IN 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8816" y="4334256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Annual prepay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discount to reduce churn and fund hardware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4718304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Family circle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up to 3 contacts included, more as an add-on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8816" y="5102352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Operator tiering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per-wearer price steps down with volume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8816" y="5486400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Hardware bundling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band free on a 24-month subscription?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8816" y="5870448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No charge for alerts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monetising safety events would be indefensible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BUSINESS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06 /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Unit economics: where the money is made and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Illustrative base-case assumptions for discussion — not validated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9344"/>
            <a:ext cx="5358384" cy="2615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773936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DEVICE UNIT — BASE CASE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50976" y="2029968"/>
          <a:ext cx="4828032" cy="1773936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969264"/>
                <a:gridCol w="1755648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Line</a:t>
                      </a:r>
                    </a:p>
                  </a:txBody>
                  <a:tcPr marL="91440" marR="91440" marT="18288" marB="18288" anchor="ctr"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Amount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Note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Average selling price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$149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consumer, one-time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Bill of materials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−$62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band, sensors, ESP32, enclosure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Assembly and test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−$12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contract manufacturer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Packaging and freight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−$8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consumer retail pack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Warranty and returns reserve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−$8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3 % return assumption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Gross contribution per device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$59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39 % gross margin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50976" y="3858768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241483"/>
                </a:solidFill>
                <a:latin typeface="Segoe UI"/>
              </a:rPr>
              <a:t>Target: $52 device COGS at 10k units, improving with procurement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609344"/>
            <a:ext cx="5184648" cy="2615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773936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SUBSCRIPTION UNIT — PER WEARER, PER MONTH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28816" y="2029968"/>
          <a:ext cx="4645152" cy="1773936"/>
        </p:xfrm>
        <a:graphic>
          <a:graphicData uri="http://schemas.openxmlformats.org/drawingml/2006/table">
            <a:tbl>
              <a:tblPr firstRow="0" bandRow="0"/>
              <a:tblGrid>
                <a:gridCol w="2231136"/>
                <a:gridCol w="932688"/>
                <a:gridCol w="1481328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Line</a:t>
                      </a:r>
                    </a:p>
                  </a:txBody>
                  <a:tcPr marL="91440" marR="91440" marT="18288" marB="18288" anchor="ctr"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Amount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Note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List price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$12.00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consumer tier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Cloud, storage and narration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−$0.85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bounded by alerts, not readings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Support and service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−$1.60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the real cost driver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Payment, tax, bad debt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−$0.55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≈ 4.5 % of revenue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Contribution per wearer / month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$9.00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75 % gross margin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>
                          <a:solidFill>
                            <a:srgbClr val="1A1440"/>
                          </a:solidFill>
                          <a:latin typeface="Segoe UI"/>
                        </a:rPr>
                        <a:t>Blended CAC target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$85–140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3D3566"/>
                          </a:solidFill>
                          <a:latin typeface="Segoe UI"/>
                        </a:rPr>
                        <a:t>payback in 10–16 months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28816" y="3877056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LTV : CAC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≈ 3.2× at a 24-month average life, before the device contribution is counted.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407408"/>
            <a:ext cx="10765231" cy="1810512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57200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THE FOUR NUMBERS THAT DECIDE THIS 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84632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6000">
                <a:solidFill>
                  <a:srgbClr val="241483"/>
                </a:solidFill>
                <a:latin typeface="Segoe UI"/>
              </a:rPr>
              <a:t>Alert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5047488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1440"/>
                </a:solidFill>
                <a:latin typeface="Segoe UI"/>
              </a:rPr>
              <a:t>&gt; 90 %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5449824"/>
            <a:ext cx="24323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alerts that a caregiver judges actionable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84632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6000">
                <a:solidFill>
                  <a:srgbClr val="D32B36"/>
                </a:solidFill>
                <a:latin typeface="Segoe UI"/>
              </a:rPr>
              <a:t>Time to acknowledgement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047488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1440"/>
                </a:solidFill>
                <a:latin typeface="Segoe UI"/>
              </a:rPr>
              <a:t>&lt; 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449824"/>
            <a:ext cx="24323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median, from alert to human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484632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6000">
                <a:solidFill>
                  <a:srgbClr val="4C3BD4"/>
                </a:solidFill>
                <a:latin typeface="Segoe UI"/>
              </a:rPr>
              <a:t>Wear adherence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5047488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1440"/>
                </a:solidFill>
                <a:latin typeface="Segoe UI"/>
              </a:rPr>
              <a:t>&gt; 20 h/day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5449824"/>
            <a:ext cx="24323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sustained after the first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484632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6000">
                <a:solidFill>
                  <a:srgbClr val="C97A14"/>
                </a:solidFill>
                <a:latin typeface="Segoe UI"/>
              </a:rPr>
              <a:t>Support cost per wearer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5047488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1440"/>
                </a:solidFill>
                <a:latin typeface="Segoe UI"/>
              </a:rPr>
              <a:t>&lt; $1.60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5449824"/>
            <a:ext cx="24323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the margin line most likely to break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UNIT ECONOMICS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06 /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Prove the loop in a narrow pilot, then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Success means a trusted response loop, repeat use, and a cost to serve that survives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9344"/>
            <a:ext cx="3368954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09344"/>
            <a:ext cx="41148" cy="2212848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773936"/>
            <a:ext cx="291175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241483"/>
                </a:solidFill>
                <a:latin typeface="Segoe UI"/>
              </a:rPr>
              <a:t>0–3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975104"/>
            <a:ext cx="29117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A1440"/>
                </a:solidFill>
                <a:latin typeface="Segoe UI"/>
              </a:rPr>
              <a:t>PILOT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22576"/>
            <a:ext cx="291175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0">
                <a:solidFill>
                  <a:srgbClr val="3D3566"/>
                </a:solidFill>
                <a:latin typeface="Segoe UI"/>
              </a:rPr>
              <a:t>2–3 pilot partners signed</a:t>
            </a:r>
          </a:p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0">
                <a:solidFill>
                  <a:srgbClr val="3D3566"/>
                </a:solidFill>
                <a:latin typeface="Segoe UI"/>
              </a:rPr>
              <a:t>100–150 target wearers</a:t>
            </a:r>
          </a:p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0">
                <a:solidFill>
                  <a:srgbClr val="3D3566"/>
                </a:solidFill>
                <a:latin typeface="Segoe UI"/>
              </a:rPr>
              <a:t>Caregiver + wearer interviews</a:t>
            </a:r>
          </a:p>
          <a:p>
            <a:pPr marL="219456" indent="-219456">
              <a:lnSpc>
                <a:spcPct val="124000"/>
              </a:lnSpc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0">
                <a:solidFill>
                  <a:srgbClr val="3D3566"/>
                </a:solidFill>
                <a:latin typeface="Segoe UI"/>
              </a:rPr>
              <a:t>Safety review of escalation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1642" y="1609344"/>
            <a:ext cx="3368954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1642" y="1609344"/>
            <a:ext cx="41148" cy="2212848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9386" y="1773936"/>
            <a:ext cx="291175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4C3BD4"/>
                </a:solidFill>
                <a:latin typeface="Segoe UI"/>
              </a:rPr>
              <a:t>3–9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386" y="1975104"/>
            <a:ext cx="29117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A1440"/>
                </a:solidFill>
                <a:latin typeface="Segoe UI"/>
              </a:rPr>
              <a:t>CONTROLLED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386" y="2322576"/>
            <a:ext cx="291175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900">
                <a:solidFill>
                  <a:srgbClr val="4C3BD4"/>
                </a:solidFill>
                <a:latin typeface="Segoe UI"/>
              </a:rPr>
              <a:t>·   </a:t>
            </a:r>
            <a:r>
              <a:rPr sz="900" b="0">
                <a:solidFill>
                  <a:srgbClr val="3D3566"/>
                </a:solidFill>
                <a:latin typeface="Segoe UI"/>
              </a:rPr>
              <a:t>Pre-registered endpoints</a:t>
            </a:r>
          </a:p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900">
                <a:solidFill>
                  <a:srgbClr val="4C3BD4"/>
                </a:solidFill>
                <a:latin typeface="Segoe UI"/>
              </a:rPr>
              <a:t>·   </a:t>
            </a:r>
            <a:r>
              <a:rPr sz="900" b="0">
                <a:solidFill>
                  <a:srgbClr val="3D3566"/>
                </a:solidFill>
                <a:latin typeface="Segoe UI"/>
              </a:rPr>
              <a:t>Adherence and alert telemetry</a:t>
            </a:r>
          </a:p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900">
                <a:solidFill>
                  <a:srgbClr val="4C3BD4"/>
                </a:solidFill>
                <a:latin typeface="Segoe UI"/>
              </a:rPr>
              <a:t>·   </a:t>
            </a:r>
            <a:r>
              <a:rPr sz="900" b="0">
                <a:solidFill>
                  <a:srgbClr val="3D3566"/>
                </a:solidFill>
                <a:latin typeface="Segoe UI"/>
              </a:rPr>
              <a:t>Weekly service feedback loop</a:t>
            </a:r>
          </a:p>
          <a:p>
            <a:pPr marL="219456" indent="-219456">
              <a:lnSpc>
                <a:spcPct val="124000"/>
              </a:lnSpc>
            </a:pPr>
            <a:r>
              <a:rPr sz="900">
                <a:solidFill>
                  <a:srgbClr val="4C3BD4"/>
                </a:solidFill>
                <a:latin typeface="Segoe UI"/>
              </a:rPr>
              <a:t>·   </a:t>
            </a:r>
            <a:r>
              <a:rPr sz="900" b="0">
                <a:solidFill>
                  <a:srgbClr val="3D3566"/>
                </a:solidFill>
                <a:latin typeface="Segoe UI"/>
              </a:rPr>
              <a:t>Shadow-mode comparison of thresholds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0052" y="1609344"/>
            <a:ext cx="3368954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90052" y="1609344"/>
            <a:ext cx="41148" cy="2212848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7796" y="1773936"/>
            <a:ext cx="291175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6B4FD0"/>
                </a:solidFill>
                <a:latin typeface="Segoe UI"/>
              </a:rPr>
              <a:t>9–18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6" y="1975104"/>
            <a:ext cx="29117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A1440"/>
                </a:solidFill>
                <a:latin typeface="Segoe UI"/>
              </a:rPr>
              <a:t>REPEATABLE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6" y="2322576"/>
            <a:ext cx="291175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900">
                <a:solidFill>
                  <a:srgbClr val="6B4FD0"/>
                </a:solidFill>
                <a:latin typeface="Segoe UI"/>
              </a:rPr>
              <a:t>·   </a:t>
            </a:r>
            <a:r>
              <a:rPr sz="900" b="0">
                <a:solidFill>
                  <a:srgbClr val="3D3566"/>
                </a:solidFill>
                <a:latin typeface="Segoe UI"/>
              </a:rPr>
              <a:t>Convert paid sites</a:t>
            </a:r>
          </a:p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900">
                <a:solidFill>
                  <a:srgbClr val="6B4FD0"/>
                </a:solidFill>
                <a:latin typeface="Segoe UI"/>
              </a:rPr>
              <a:t>·   </a:t>
            </a:r>
            <a:r>
              <a:rPr sz="900" b="0">
                <a:solidFill>
                  <a:srgbClr val="3D3566"/>
                </a:solidFill>
                <a:latin typeface="Segoe UI"/>
              </a:rPr>
              <a:t>Family-plan pricing tests</a:t>
            </a:r>
          </a:p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900">
                <a:solidFill>
                  <a:srgbClr val="6B4FD0"/>
                </a:solidFill>
                <a:latin typeface="Segoe UI"/>
              </a:rPr>
              <a:t>·   </a:t>
            </a:r>
            <a:r>
              <a:rPr sz="900" b="0">
                <a:solidFill>
                  <a:srgbClr val="3D3566"/>
                </a:solidFill>
                <a:latin typeface="Segoe UI"/>
              </a:rPr>
              <a:t>Channel and support playbook</a:t>
            </a:r>
          </a:p>
          <a:p>
            <a:pPr marL="219456" indent="-219456">
              <a:lnSpc>
                <a:spcPct val="124000"/>
              </a:lnSpc>
            </a:pPr>
            <a:r>
              <a:rPr sz="900">
                <a:solidFill>
                  <a:srgbClr val="6B4FD0"/>
                </a:solidFill>
                <a:latin typeface="Segoe UI"/>
              </a:rPr>
              <a:t>·   </a:t>
            </a:r>
            <a:r>
              <a:rPr sz="900" b="0">
                <a:solidFill>
                  <a:srgbClr val="3D3566"/>
                </a:solidFill>
                <a:latin typeface="Segoe UI"/>
              </a:rPr>
              <a:t>Second vertical preparation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968496"/>
            <a:ext cx="5358384" cy="23408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133087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CHANNELS, IN ORDER OF INTENT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425696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1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Direct pilot conversions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The first revenue comes from sites that already tested the product.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4791456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2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Family caregiver communities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Support groups, condition associations and referral from existing families.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157216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3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Home-care operators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Caseload deployments where one contract places many wearers.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5522976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4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Clinician referral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Discharge and chronic-care follow-up, once the evidence pack exists.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5888736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5  </a:t>
            </a:r>
            <a:r>
              <a:rPr sz="900" b="1" i="0">
                <a:solidFill>
                  <a:srgbClr val="1A1440"/>
                </a:solidFill>
                <a:latin typeface="Segoe UI"/>
              </a:rPr>
              <a:t>Pharmacy and retail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Late-stage consumer reach; expensive before proof.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3968496"/>
            <a:ext cx="5184648" cy="2340864"/>
          </a:xfrm>
          <a:prstGeom prst="roundRect">
            <a:avLst>
              <a:gd name="adj" fmla="val 6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4133087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9D93FF"/>
                </a:solidFill>
                <a:latin typeface="Segoe UI"/>
              </a:rPr>
              <a:t>PILOT SCORECARD — WHAT WE MEASURE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425696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FEDFB"/>
                </a:solidFill>
                <a:latin typeface="Segoe UI"/>
              </a:rPr>
              <a:t>Wear-days / active days</a:t>
            </a:r>
          </a:p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C5BFE8"/>
                </a:solidFill>
                <a:latin typeface="Segoe UI"/>
              </a:rPr>
              <a:t>adherence in real life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4425696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FEDFB"/>
                </a:solidFill>
                <a:latin typeface="Segoe UI"/>
              </a:rPr>
              <a:t>Battery days per charge</a:t>
            </a:r>
          </a:p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C5BFE8"/>
                </a:solidFill>
                <a:latin typeface="Segoe UI"/>
              </a:rPr>
              <a:t>the form-factor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4828032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FEDFB"/>
                </a:solidFill>
                <a:latin typeface="Segoe UI"/>
              </a:rPr>
              <a:t>Alert precision (PPV)</a:t>
            </a:r>
          </a:p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C5BFE8"/>
                </a:solidFill>
                <a:latin typeface="Segoe UI"/>
              </a:rPr>
              <a:t>did the alert deserve action?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5984" y="4828032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FEDFB"/>
                </a:solidFill>
                <a:latin typeface="Segoe UI"/>
              </a:rPr>
              <a:t>False alerts per day</a:t>
            </a:r>
          </a:p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C5BFE8"/>
                </a:solidFill>
                <a:latin typeface="Segoe UI"/>
              </a:rPr>
              <a:t>the churn driver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8816" y="5230368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FEDFB"/>
                </a:solidFill>
                <a:latin typeface="Segoe UI"/>
              </a:rPr>
              <a:t>Time to acknowledgement</a:t>
            </a:r>
          </a:p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C5BFE8"/>
                </a:solidFill>
                <a:latin typeface="Segoe UI"/>
              </a:rPr>
              <a:t>is the loop actually closed?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5984" y="5230368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FEDFB"/>
                </a:solidFill>
                <a:latin typeface="Segoe UI"/>
              </a:rPr>
              <a:t>Contact delivery success</a:t>
            </a:r>
          </a:p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C5BFE8"/>
                </a:solidFill>
                <a:latin typeface="Segoe UI"/>
              </a:rPr>
              <a:t>does the escalation path work?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816" y="5632704"/>
            <a:ext cx="24323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FEDFB"/>
                </a:solidFill>
                <a:latin typeface="Segoe UI"/>
              </a:rPr>
              <a:t>Willingness to pay</a:t>
            </a:r>
          </a:p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C5BFE8"/>
                </a:solidFill>
                <a:latin typeface="Segoe UI"/>
              </a:rPr>
              <a:t>price sensitivity, tested directly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6071616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5BFE8"/>
                </a:solidFill>
                <a:latin typeface="Segoe UI"/>
              </a:rPr>
              <a:t>No signed partner is represented here — the pilot funnel is the immediate workstream.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GO TO MARKET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06 /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The pilot is the product: an instrument, not a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Designed to surface failure modes — a pilot that only proves the happy path wastes the money.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91056"/>
            <a:ext cx="10765231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75564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18-MONTH RUNWAY PLAN — WHAT HAPPENS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2996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M0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3053" y="202996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M3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8010" y="202996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M6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2967" y="202996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M9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7924" y="202996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M12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2882" y="202996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M15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0976" y="2249424"/>
            <a:ext cx="10289743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50976" y="2359152"/>
            <a:ext cx="4480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Hardware verification &amp; bench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9552" y="2409444"/>
            <a:ext cx="5681167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59552" y="2409444"/>
            <a:ext cx="5681167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59552" y="2409444"/>
            <a:ext cx="1893722" cy="118872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2615184"/>
            <a:ext cx="4480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Pilot design, safety review, partner onboarding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59552" y="2665476"/>
            <a:ext cx="5681167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59552" y="2665476"/>
            <a:ext cx="5681167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75172" y="2665476"/>
            <a:ext cx="1578102" cy="11887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2871216"/>
            <a:ext cx="4480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Controlled pilot with 100–150 wearers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59552" y="2921508"/>
            <a:ext cx="5681167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59552" y="2921508"/>
            <a:ext cx="5681167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7654" y="2921508"/>
            <a:ext cx="2524963" cy="118872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3127248"/>
            <a:ext cx="4480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Evidence pack, delivery integrations, security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59552" y="3177540"/>
            <a:ext cx="5681167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559552" y="3177540"/>
            <a:ext cx="5681167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53274" y="3177540"/>
            <a:ext cx="2524963" cy="118872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" y="3383280"/>
            <a:ext cx="4480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Repeatable sales playbook and second vertical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59552" y="3433572"/>
            <a:ext cx="5681167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559552" y="3433572"/>
            <a:ext cx="5681167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346996" y="3433572"/>
            <a:ext cx="1893722" cy="118872"/>
          </a:xfrm>
          <a:prstGeom prst="roundRect">
            <a:avLst>
              <a:gd name="adj" fmla="val 50000"/>
            </a:avLst>
          </a:prstGeom>
          <a:solidFill>
            <a:srgbClr val="D3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13232" y="3803904"/>
            <a:ext cx="5358384" cy="2505456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3968496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PILOT DESIGN — THE NON-NEGOTIABLES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" y="4261104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6000"/>
              </a:lnSpc>
              <a:spcAft>
                <a:spcPts val="6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Pre-register the endpoints. </a:t>
            </a:r>
            <a:r>
              <a:rPr sz="900" b="0">
                <a:solidFill>
                  <a:srgbClr val="3D3566"/>
                </a:solidFill>
                <a:latin typeface="Segoe UI"/>
              </a:rPr>
              <a:t>Precision, sensitivity, time-to-response — defined before data.</a:t>
            </a:r>
          </a:p>
          <a:p>
            <a:pPr marL="219456" indent="-219456">
              <a:lnSpc>
                <a:spcPct val="126000"/>
              </a:lnSpc>
              <a:spcAft>
                <a:spcPts val="6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Shadow mode first. </a:t>
            </a:r>
            <a:r>
              <a:rPr sz="900" b="0">
                <a:solidFill>
                  <a:srgbClr val="3D3566"/>
                </a:solidFill>
                <a:latin typeface="Segoe UI"/>
              </a:rPr>
              <a:t>Run detection silently against reference measurements before alerting families.</a:t>
            </a:r>
          </a:p>
          <a:p>
            <a:pPr marL="219456" indent="-219456">
              <a:lnSpc>
                <a:spcPct val="126000"/>
              </a:lnSpc>
              <a:spcAft>
                <a:spcPts val="6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Human review of every alert. </a:t>
            </a:r>
            <a:r>
              <a:rPr sz="900" b="0">
                <a:solidFill>
                  <a:srgbClr val="3D3566"/>
                </a:solidFill>
                <a:latin typeface="Segoe UI"/>
              </a:rPr>
              <a:t>A clinician or nurse adjudicates each event in the first weeks.</a:t>
            </a:r>
          </a:p>
          <a:p>
            <a:pPr marL="219456" indent="-219456">
              <a:lnSpc>
                <a:spcPct val="126000"/>
              </a:lnSpc>
              <a:spcAft>
                <a:spcPts val="600"/>
              </a:spcAft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Instrument the awkward cases. </a:t>
            </a:r>
            <a:r>
              <a:rPr sz="900" b="0">
                <a:solidFill>
                  <a:srgbClr val="3D3566"/>
                </a:solidFill>
                <a:latin typeface="Segoe UI"/>
              </a:rPr>
              <a:t>Charging, showering, sleeping, travel — adherence lives there.</a:t>
            </a:r>
          </a:p>
          <a:p>
            <a:pPr marL="219456" indent="-219456">
              <a:lnSpc>
                <a:spcPct val="126000"/>
              </a:lnSpc>
            </a:pPr>
            <a:r>
              <a:rPr sz="900">
                <a:solidFill>
                  <a:srgbClr val="241483"/>
                </a:solidFill>
                <a:latin typeface="Segoe UI"/>
              </a:rPr>
              <a:t>·   </a:t>
            </a:r>
            <a:r>
              <a:rPr sz="900" b="1">
                <a:solidFill>
                  <a:srgbClr val="1A1440"/>
                </a:solidFill>
                <a:latin typeface="Segoe UI"/>
              </a:rPr>
              <a:t>Consent and retention from day one. </a:t>
            </a:r>
            <a:r>
              <a:rPr sz="900" b="0">
                <a:solidFill>
                  <a:srgbClr val="3D3566"/>
                </a:solidFill>
                <a:latin typeface="Segoe UI"/>
              </a:rPr>
              <a:t>The pilot is where the privacy model must prove itself.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1072" y="3803904"/>
            <a:ext cx="5184648" cy="25054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3968496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FAILURE MODES THE DESIGN MUST CATCH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6528816" y="4224528"/>
          <a:ext cx="4709160" cy="2212848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260604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91440" marR="91440" marT="18288" marB="18288" anchor="ctr"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750" b="1" spc="6000">
                          <a:solidFill>
                            <a:srgbClr val="7E76A0"/>
                          </a:solidFill>
                          <a:latin typeface="Segoe UI"/>
                        </a:rPr>
                        <a:t>Design response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>
                          <a:solidFill>
                            <a:srgbClr val="1A1440"/>
                          </a:solidFill>
                          <a:latin typeface="Segoe UI"/>
                        </a:rPr>
                        <a:t>Measurement bias / sensor noise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0">
                          <a:solidFill>
                            <a:srgbClr val="3D3566"/>
                          </a:solidFill>
                          <a:latin typeface="Segoe UI"/>
                        </a:rPr>
                        <a:t>Bench testing against reference instruments; per-signal quality checks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>
                          <a:solidFill>
                            <a:srgbClr val="1A1440"/>
                          </a:solidFill>
                          <a:latin typeface="Segoe UI"/>
                        </a:rPr>
                        <a:t>False alerts erode trust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0">
                          <a:solidFill>
                            <a:srgbClr val="3D3566"/>
                          </a:solidFill>
                          <a:latin typeface="Segoe UI"/>
                        </a:rPr>
                        <a:t>Shadow mode, adjudication, tuning loop with weekly review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>
                          <a:solidFill>
                            <a:srgbClr val="1A1440"/>
                          </a:solidFill>
                          <a:latin typeface="Segoe UI"/>
                        </a:rPr>
                        <a:t>Battery or wear abandonment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0">
                          <a:solidFill>
                            <a:srgbClr val="3D3566"/>
                          </a:solidFill>
                          <a:latin typeface="Segoe UI"/>
                        </a:rPr>
                        <a:t>Daily wear-time telemetry; usability interviews; charger redesign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>
                          <a:solidFill>
                            <a:srgbClr val="1A1440"/>
                          </a:solidFill>
                          <a:latin typeface="Segoe UI"/>
                        </a:rPr>
                        <a:t>Emergency delivery failure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0">
                          <a:solidFill>
                            <a:srgbClr val="3D3566"/>
                          </a:solidFill>
                          <a:latin typeface="Segoe UI"/>
                        </a:rPr>
                        <a:t>Delivery receipts, retries, fallback contacts, honest disclaimers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>
                          <a:solidFill>
                            <a:srgbClr val="1A1440"/>
                          </a:solidFill>
                          <a:latin typeface="Segoe UI"/>
                        </a:rPr>
                        <a:t>Privacy or security incident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0">
                          <a:solidFill>
                            <a:srgbClr val="3D3566"/>
                          </a:solidFill>
                          <a:latin typeface="Segoe UI"/>
                        </a:rPr>
                        <a:t>Least privilege, retention limits, threat model before pilot start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1">
                          <a:solidFill>
                            <a:srgbClr val="1A1440"/>
                          </a:solidFill>
                          <a:latin typeface="Segoe UI"/>
                        </a:rPr>
                        <a:t>Regulatory scope drift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00" b="0">
                          <a:solidFill>
                            <a:srgbClr val="3D3566"/>
                          </a:solidFill>
                          <a:latin typeface="Segoe UI"/>
                        </a:rPr>
                        <a:t>Define intended use as wellness / safety support, not diagnosis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2" name="Connector 41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PILOT PLAN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868680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200" b="1" i="0">
                <a:solidFill>
                  <a:srgbClr val="241B5C"/>
                </a:solidFill>
                <a:latin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78892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i="0" spc="18000">
                <a:solidFill>
                  <a:srgbClr val="9D93FF"/>
                </a:solidFill>
                <a:latin typeface="Segoe UI"/>
              </a:rPr>
              <a:t>FINANCIALS &amp; FINANCING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090672"/>
            <a:ext cx="5989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FEDFB"/>
                </a:solidFill>
                <a:latin typeface="Segoe UI"/>
              </a:rPr>
              <a:t>Financial plan &amp; 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4023360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5BFE8"/>
                </a:solidFill>
                <a:latin typeface="Segoe UI"/>
              </a:rPr>
              <a:t>An illustrative five-year plan and a $1.5M pre-seed to buy evidence, not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7943" y="221284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Break-even planned in year four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7943" y="263347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7943" y="285292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$1.5M for ~18 months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7943" y="327355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7943" y="3493008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5BFE8"/>
                </a:solidFill>
                <a:latin typeface="Segoe UI"/>
              </a:rPr>
              <a:t>Milestone: validated, pilot-ready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7943" y="3913632"/>
            <a:ext cx="4160520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NEUROLINK WEAR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PROTOTYPE  ·  DISCUSSION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8E86B8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07 / FINANCIAL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Five-year planning model: revenue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Illustrative base case. Assumptions are planning inputs, not forecasts, guidance or commitments.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91056"/>
            <a:ext cx="705916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5564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TOTAL REVENUE BY YEAR — $M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0992" y="1755648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 i="0" spc="6000">
                <a:solidFill>
                  <a:srgbClr val="241483"/>
                </a:solidFill>
                <a:latin typeface="Segoe UI"/>
              </a:rPr>
              <a:t>≈ 140 % CAGR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3936491"/>
            <a:ext cx="724204" cy="32004"/>
          </a:xfrm>
          <a:prstGeom prst="roundRect">
            <a:avLst>
              <a:gd name="adj" fmla="val 18000"/>
            </a:avLst>
          </a:prstGeom>
          <a:solidFill>
            <a:srgbClr val="EA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698748"/>
            <a:ext cx="724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$0.19M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041648"/>
            <a:ext cx="724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0" i="0" spc="4000">
                <a:solidFill>
                  <a:srgbClr val="7E76A0"/>
                </a:solidFill>
                <a:latin typeface="Segoe UI"/>
              </a:rPr>
              <a:t>Y1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7516" y="3868313"/>
            <a:ext cx="724204" cy="100182"/>
          </a:xfrm>
          <a:prstGeom prst="roundRect">
            <a:avLst>
              <a:gd name="adj" fmla="val 18000"/>
            </a:avLst>
          </a:prstGeom>
          <a:solidFill>
            <a:srgbClr val="9D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7516" y="3630569"/>
            <a:ext cx="724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$0.98M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7516" y="4041648"/>
            <a:ext cx="724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0" i="0" spc="4000">
                <a:solidFill>
                  <a:srgbClr val="7E76A0"/>
                </a:solidFill>
                <a:latin typeface="Segoe UI"/>
              </a:rPr>
              <a:t>Y2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39465" y="3647511"/>
            <a:ext cx="724204" cy="320984"/>
          </a:xfrm>
          <a:prstGeom prst="roundRect">
            <a:avLst>
              <a:gd name="adj" fmla="val 18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9465" y="3409767"/>
            <a:ext cx="724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$3.13M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9465" y="4041648"/>
            <a:ext cx="724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0" i="0" spc="4000">
                <a:solidFill>
                  <a:srgbClr val="7E76A0"/>
                </a:solidFill>
                <a:latin typeface="Segoe UI"/>
              </a:rPr>
              <a:t>Y3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1414" y="3152770"/>
            <a:ext cx="724204" cy="815725"/>
          </a:xfrm>
          <a:prstGeom prst="roundRect">
            <a:avLst>
              <a:gd name="adj" fmla="val 18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1414" y="2915026"/>
            <a:ext cx="724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$7.96M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1414" y="4041648"/>
            <a:ext cx="724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0" i="0" spc="4000">
                <a:solidFill>
                  <a:srgbClr val="7E76A0"/>
                </a:solidFill>
                <a:latin typeface="Segoe UI"/>
              </a:rPr>
              <a:t>Y4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63363" y="2417281"/>
            <a:ext cx="724204" cy="1551214"/>
          </a:xfrm>
          <a:prstGeom prst="roundRect">
            <a:avLst>
              <a:gd name="adj" fmla="val 18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63363" y="2179537"/>
            <a:ext cx="724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$15.13M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3363" y="4041648"/>
            <a:ext cx="724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50" b="0" i="0" spc="4000">
                <a:solidFill>
                  <a:srgbClr val="7E76A0"/>
                </a:solidFill>
                <a:latin typeface="Segoe UI"/>
              </a:rPr>
              <a:t>Y5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215798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1000">
                <a:solidFill>
                  <a:srgbClr val="7E76A0"/>
                </a:solidFill>
                <a:latin typeface="Segoe UI"/>
              </a:rPr>
              <a:t>Y5 REVENUE MIX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1616" y="2432304"/>
            <a:ext cx="1554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Subscriptions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2615184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$5.18M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71616" y="2889504"/>
            <a:ext cx="1463040" cy="91440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71616" y="2889504"/>
            <a:ext cx="501149" cy="91440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71616" y="2999232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34 % of Y5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1616" y="3218688"/>
            <a:ext cx="1554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Devices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1616" y="3401568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$7.45M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71616" y="3675887"/>
            <a:ext cx="1463040" cy="91440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71616" y="3675887"/>
            <a:ext cx="720209" cy="91440"/>
          </a:xfrm>
          <a:prstGeom prst="roundRect">
            <a:avLst>
              <a:gd name="adj" fmla="val 50000"/>
            </a:avLst>
          </a:prstGeom>
          <a:solidFill>
            <a:srgbClr val="9D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71616" y="3785615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49 % of Y5 revenue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71616" y="4005072"/>
            <a:ext cx="1554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B2B / operator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1616" y="4187952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$2.50M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71616" y="4462272"/>
            <a:ext cx="1463040" cy="91440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071616" y="4462272"/>
            <a:ext cx="241680" cy="91440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71616" y="457200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00" b="0" i="0">
                <a:solidFill>
                  <a:srgbClr val="7E76A0"/>
                </a:solidFill>
                <a:latin typeface="Segoe UI"/>
              </a:rPr>
              <a:t>17 % of Y5 revenue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10144" y="1591056"/>
            <a:ext cx="3465576" cy="3017520"/>
          </a:xfrm>
          <a:prstGeom prst="roundRect">
            <a:avLst>
              <a:gd name="adj" fmla="val 6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7888" y="1755648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2000">
                <a:solidFill>
                  <a:srgbClr val="9D93FF"/>
                </a:solidFill>
                <a:latin typeface="Segoe UI"/>
              </a:rPr>
              <a:t>PLANNING INPUTS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2048256"/>
            <a:ext cx="1737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C5BFE8"/>
                </a:solidFill>
                <a:latin typeface="Segoe UI"/>
              </a:rPr>
              <a:t>Devices placed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85248" y="2048256"/>
            <a:ext cx="1280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>
                <a:solidFill>
                  <a:srgbClr val="EFEDFB"/>
                </a:solidFill>
                <a:latin typeface="Segoe UI"/>
              </a:rPr>
              <a:t>500 → 50,000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47888" y="2304288"/>
            <a:ext cx="3017520" cy="0"/>
          </a:xfrm>
          <a:prstGeom prst="line">
            <a:avLst/>
          </a:prstGeom>
          <a:ln w="6350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247888" y="2395728"/>
            <a:ext cx="1737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C5BFE8"/>
                </a:solidFill>
                <a:latin typeface="Segoe UI"/>
              </a:rPr>
              <a:t>Paid subscriptions (avg)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5248" y="2395728"/>
            <a:ext cx="1280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>
                <a:solidFill>
                  <a:srgbClr val="EFEDFB"/>
                </a:solidFill>
                <a:latin typeface="Segoe UI"/>
              </a:rPr>
              <a:t>250 → 36,000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247888" y="2651760"/>
            <a:ext cx="3017520" cy="0"/>
          </a:xfrm>
          <a:prstGeom prst="line">
            <a:avLst/>
          </a:prstGeom>
          <a:ln w="6350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247888" y="2743200"/>
            <a:ext cx="1737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C5BFE8"/>
                </a:solidFill>
                <a:latin typeface="Segoe UI"/>
              </a:rPr>
              <a:t>Device ASP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85248" y="2743200"/>
            <a:ext cx="1280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>
                <a:solidFill>
                  <a:srgbClr val="EFEDFB"/>
                </a:solidFill>
                <a:latin typeface="Segoe UI"/>
              </a:rPr>
              <a:t>$149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47888" y="2999232"/>
            <a:ext cx="3017520" cy="0"/>
          </a:xfrm>
          <a:prstGeom prst="line">
            <a:avLst/>
          </a:prstGeom>
          <a:ln w="6350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247888" y="3090672"/>
            <a:ext cx="1737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C5BFE8"/>
                </a:solidFill>
                <a:latin typeface="Segoe UI"/>
              </a:rPr>
              <a:t>Consumer subscription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5248" y="3090672"/>
            <a:ext cx="1280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>
                <a:solidFill>
                  <a:srgbClr val="EFEDFB"/>
                </a:solidFill>
                <a:latin typeface="Segoe UI"/>
              </a:rPr>
              <a:t>$12 / month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247888" y="3346704"/>
            <a:ext cx="3017520" cy="0"/>
          </a:xfrm>
          <a:prstGeom prst="line">
            <a:avLst/>
          </a:prstGeom>
          <a:ln w="6350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247888" y="3438144"/>
            <a:ext cx="1737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C5BFE8"/>
                </a:solidFill>
                <a:latin typeface="Segoe UI"/>
              </a:rPr>
              <a:t>Annual ARPU per subscriber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85248" y="3438144"/>
            <a:ext cx="1280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>
                <a:solidFill>
                  <a:srgbClr val="EFEDFB"/>
                </a:solidFill>
                <a:latin typeface="Segoe UI"/>
              </a:rPr>
              <a:t>$144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247888" y="3694176"/>
            <a:ext cx="3017520" cy="0"/>
          </a:xfrm>
          <a:prstGeom prst="line">
            <a:avLst/>
          </a:prstGeom>
          <a:ln w="6350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247888" y="3785615"/>
            <a:ext cx="1737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C5BFE8"/>
                </a:solidFill>
                <a:latin typeface="Segoe UI"/>
              </a:rPr>
              <a:t>Operator revenue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85248" y="3785615"/>
            <a:ext cx="1280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>
                <a:solidFill>
                  <a:srgbClr val="EFEDFB"/>
                </a:solidFill>
                <a:latin typeface="Segoe UI"/>
              </a:rPr>
              <a:t>$75k → $2.5M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247888" y="4041648"/>
            <a:ext cx="3017520" cy="0"/>
          </a:xfrm>
          <a:prstGeom prst="line">
            <a:avLst/>
          </a:prstGeom>
          <a:ln w="6350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247888" y="4133087"/>
            <a:ext cx="1737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C5BFE8"/>
                </a:solidFill>
                <a:latin typeface="Segoe UI"/>
              </a:rPr>
              <a:t>Blended gross margin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85248" y="4133087"/>
            <a:ext cx="1280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>
                <a:solidFill>
                  <a:srgbClr val="EFEDFB"/>
                </a:solidFill>
                <a:latin typeface="Segoe UI"/>
              </a:rPr>
              <a:t>52 % → 68 %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247888" y="4389120"/>
            <a:ext cx="3017520" cy="0"/>
          </a:xfrm>
          <a:prstGeom prst="line">
            <a:avLst/>
          </a:prstGeom>
          <a:ln w="6350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13232" y="4754880"/>
            <a:ext cx="10765231" cy="1463040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9264" y="491947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WHAT HAS TO BE TRUE — AND WHAT IS DELIBERATELY NOT MODELLED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" y="5193792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Hardware cost reaches $52 per unit at 10k volume and yield holds.</a:t>
            </a:r>
          </a:p>
          <a:p>
            <a:pPr marL="219456" indent="-219456">
              <a:lnSpc>
                <a:spcPct val="124000"/>
              </a:lnSpc>
              <a:spcAft>
                <a:spcPts val="400"/>
              </a:spcAft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Support cost stays under $1.60 per wearer per month as the base grows.</a:t>
            </a:r>
          </a:p>
          <a:p>
            <a:pPr marL="219456" indent="-219456">
              <a:lnSpc>
                <a:spcPct val="124000"/>
              </a:lnSpc>
            </a:pPr>
            <a:r>
              <a:rPr sz="850">
                <a:solidFill>
                  <a:srgbClr val="241483"/>
                </a:solidFill>
                <a:latin typeface="Segoe UI"/>
              </a:rPr>
              <a:t>·   </a:t>
            </a:r>
            <a:r>
              <a:rPr sz="850" b="0">
                <a:solidFill>
                  <a:srgbClr val="3D3566"/>
                </a:solidFill>
                <a:latin typeface="Segoe UI"/>
              </a:rPr>
              <a:t>Subscription churn below 2 % per month after the first 90 days.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1072" y="5193792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Not modelled: reimbursement, acquisition of a competitor, hardware margin expansion beyond scale, or any enterprise contract above $300k.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91072" y="568756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Excluded: taxes, financing costs, depreciation, working capital, warranty tail and R&amp;D capitalisation.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FINANCIAL PLAN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07 / FINANCIAL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Profit and loss: break-even in year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Planning scenario only. Break-even timing is highly sensitive to adoption, support cost and churn.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517904"/>
          <a:ext cx="10762488" cy="3049524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1581912"/>
                <a:gridCol w="1581912"/>
                <a:gridCol w="1581912"/>
                <a:gridCol w="1581912"/>
                <a:gridCol w="160020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1" spc="6000">
                          <a:solidFill>
                            <a:srgbClr val="7E76A0"/>
                          </a:solidFill>
                          <a:latin typeface="Segoe UI"/>
                        </a:rPr>
                        <a:t>$M, except margin and headcount</a:t>
                      </a:r>
                    </a:p>
                  </a:txBody>
                  <a:tcPr marL="91440" marR="91440" marT="18288" marB="18288" anchor="ctr"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1" spc="6000">
                          <a:solidFill>
                            <a:srgbClr val="7E76A0"/>
                          </a:solidFill>
                          <a:latin typeface="Segoe UI"/>
                        </a:rPr>
                        <a:t>Y1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1" spc="6000">
                          <a:solidFill>
                            <a:srgbClr val="7E76A0"/>
                          </a:solidFill>
                          <a:latin typeface="Segoe UI"/>
                        </a:rPr>
                        <a:t>Y2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1" spc="6000">
                          <a:solidFill>
                            <a:srgbClr val="7E76A0"/>
                          </a:solidFill>
                          <a:latin typeface="Segoe UI"/>
                        </a:rPr>
                        <a:t>Y3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1" spc="6000">
                          <a:solidFill>
                            <a:srgbClr val="7E76A0"/>
                          </a:solidFill>
                          <a:latin typeface="Segoe UI"/>
                        </a:rPr>
                        <a:t>Y4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850" b="1" spc="6000">
                          <a:solidFill>
                            <a:srgbClr val="7E76A0"/>
                          </a:solidFill>
                          <a:latin typeface="Segoe UI"/>
                        </a:rPr>
                        <a:t>Y5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9525" cap="flat" cmpd="sng" algn="ctr">
                      <a:solidFill>
                        <a:srgbClr val="CFC9E8"/>
                      </a:solidFill>
                      <a:prstDash val="solid"/>
                    </a:lnB>
                    <a:noFill/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A1440"/>
                          </a:solidFill>
                          <a:latin typeface="Segoe UI"/>
                        </a:rPr>
                        <a:t>Device revenue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0.07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0.45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1.49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3.87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7.45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A1440"/>
                          </a:solidFill>
                          <a:latin typeface="Segoe UI"/>
                        </a:rPr>
                        <a:t>Subscription revenue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0.04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0.23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0.92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2.53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5.18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A1440"/>
                          </a:solidFill>
                          <a:latin typeface="Segoe UI"/>
                        </a:rPr>
                        <a:t>Operator / pilot revenue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0.07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0.30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0.72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1.55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2.50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A1440"/>
                          </a:solidFill>
                          <a:latin typeface="Segoe UI"/>
                        </a:rPr>
                        <a:t>Total revenue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0.19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0.98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3.13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7.96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15.13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A1440"/>
                          </a:solidFill>
                          <a:latin typeface="Segoe UI"/>
                        </a:rPr>
                        <a:t>Cost of revenue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-0.09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-0.44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-1.26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-2.73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-4.69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A1440"/>
                          </a:solidFill>
                          <a:latin typeface="Segoe UI"/>
                        </a:rPr>
                        <a:t>Gross profit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0.10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0.53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1.87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5.23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10.45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A1440"/>
                          </a:solidFill>
                          <a:latin typeface="Segoe UI"/>
                        </a:rPr>
                        <a:t>Gross margin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52 %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55 %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60 %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66 %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69 %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solidFill>
                      <a:srgbClr val="F7F6F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A1440"/>
                          </a:solidFill>
                          <a:latin typeface="Segoe UI"/>
                        </a:rPr>
                        <a:t>Operating expense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-0.70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-1.25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-2.20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-3.60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0">
                          <a:solidFill>
                            <a:srgbClr val="3D3566"/>
                          </a:solidFill>
                          <a:latin typeface="Segoe UI"/>
                        </a:rPr>
                        <a:t>-5.80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noFill/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E8A5F"/>
                          </a:solidFill>
                          <a:latin typeface="Segoe UI"/>
                        </a:rPr>
                        <a:t>EBITDA (planning)</a:t>
                      </a:r>
                    </a:p>
                  </a:txBody>
                  <a:tcPr marL="91440" marR="91440" marT="18288" marB="18288" anchor="ctr"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solidFill>
                      <a:srgbClr val="EAE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C97A14"/>
                          </a:solidFill>
                          <a:latin typeface="Segoe UI"/>
                        </a:rPr>
                        <a:t>-0.60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solidFill>
                      <a:srgbClr val="EAE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C97A14"/>
                          </a:solidFill>
                          <a:latin typeface="Segoe UI"/>
                        </a:rPr>
                        <a:t>-0.72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solidFill>
                      <a:srgbClr val="EAE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C97A14"/>
                          </a:solidFill>
                          <a:latin typeface="Segoe UI"/>
                        </a:rPr>
                        <a:t>-0.33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solidFill>
                      <a:srgbClr val="EAE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E8A5F"/>
                          </a:solidFill>
                          <a:latin typeface="Segoe UI"/>
                        </a:rPr>
                        <a:t>1.63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solidFill>
                      <a:srgbClr val="EAE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E8A5F"/>
                          </a:solidFill>
                          <a:latin typeface="Segoe UI"/>
                        </a:rPr>
                        <a:t>4.65</a:t>
                      </a:r>
                    </a:p>
                  </a:txBody>
                  <a:tcPr marL="91440" marR="91440" marT="18288" marB="18288" anchor="ctr">
                    <a:lnL w="5080" cap="flat" cmpd="sng" algn="ctr">
                      <a:solidFill>
                        <a:srgbClr val="E3E0F2"/>
                      </a:solidFill>
                      <a:prstDash val="solid"/>
                    </a:lnL>
                    <a:lnB w="6350" cap="flat" cmpd="sng" algn="ctr">
                      <a:solidFill>
                        <a:srgbClr val="E3E0F2"/>
                      </a:solidFill>
                      <a:prstDash val="solid"/>
                    </a:lnB>
                    <a:solidFill>
                      <a:srgbClr val="EAE6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" y="4791456"/>
            <a:ext cx="6053328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493776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GROSS MARGIN TRAJECTORY — WHY IT IMPROVES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5410811"/>
            <a:ext cx="830275" cy="368196"/>
          </a:xfrm>
          <a:prstGeom prst="roundRect">
            <a:avLst>
              <a:gd name="adj" fmla="val 18000"/>
            </a:avLst>
          </a:prstGeom>
          <a:solidFill>
            <a:srgbClr val="EA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173067"/>
            <a:ext cx="8302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52 %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5299" y="5391015"/>
            <a:ext cx="830275" cy="387992"/>
          </a:xfrm>
          <a:prstGeom prst="roundRect">
            <a:avLst>
              <a:gd name="adj" fmla="val 18000"/>
            </a:avLst>
          </a:prstGeom>
          <a:solidFill>
            <a:srgbClr val="9D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5299" y="5153271"/>
            <a:ext cx="8302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55 %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6470" y="5354986"/>
            <a:ext cx="830275" cy="424021"/>
          </a:xfrm>
          <a:prstGeom prst="roundRect">
            <a:avLst>
              <a:gd name="adj" fmla="val 18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6470" y="5117242"/>
            <a:ext cx="8302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60 %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7641" y="5312700"/>
            <a:ext cx="830275" cy="466307"/>
          </a:xfrm>
          <a:prstGeom prst="roundRect">
            <a:avLst>
              <a:gd name="adj" fmla="val 18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7641" y="5074956"/>
            <a:ext cx="8302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66 %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88812" y="5289150"/>
            <a:ext cx="830275" cy="489857"/>
          </a:xfrm>
          <a:prstGeom prst="roundRect">
            <a:avLst>
              <a:gd name="adj" fmla="val 18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8812" y="5051406"/>
            <a:ext cx="8302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69 %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5888736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00" b="0" i="0">
                <a:solidFill>
                  <a:srgbClr val="7E76A0"/>
                </a:solidFill>
                <a:latin typeface="Segoe UI"/>
              </a:rPr>
              <a:t>Y1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5299" y="5888736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00" b="0" i="0">
                <a:solidFill>
                  <a:srgbClr val="7E76A0"/>
                </a:solidFill>
                <a:latin typeface="Segoe UI"/>
              </a:rPr>
              <a:t>Y2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6470" y="5888736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00" b="0" i="0">
                <a:solidFill>
                  <a:srgbClr val="7E76A0"/>
                </a:solidFill>
                <a:latin typeface="Segoe UI"/>
              </a:rPr>
              <a:t>Y3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7641" y="5888736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00" b="0" i="0">
                <a:solidFill>
                  <a:srgbClr val="7E76A0"/>
                </a:solidFill>
                <a:latin typeface="Segoe UI"/>
              </a:rPr>
              <a:t>Y4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8812" y="5888736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800" b="0" i="0">
                <a:solidFill>
                  <a:srgbClr val="7E76A0"/>
                </a:solidFill>
                <a:latin typeface="Segoe UI"/>
              </a:rPr>
              <a:t>Y5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04304" y="4791456"/>
            <a:ext cx="4471416" cy="1426464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2048" y="4937760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THE THREE CONDITIONS FOR BREAK-EVEN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523036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Mix shifts to software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subscription share rises from 24 % to 34 % of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5559552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Hardware stops losing money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COGS falls from $90 to $52 per unit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5888736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>
                <a:solidFill>
                  <a:srgbClr val="241483"/>
                </a:solidFill>
                <a:latin typeface="Segoe UI"/>
              </a:rPr>
              <a:t>Support scales sub-linearly — </a:t>
            </a:r>
            <a:r>
              <a:rPr sz="900" b="0" i="0">
                <a:solidFill>
                  <a:srgbClr val="3D3566"/>
                </a:solidFill>
                <a:latin typeface="Segoe UI"/>
              </a:rPr>
              <a:t>automation before headcount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FINANCIAL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07 / FINANCIAL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The ask: $1.5M to buy evidence, not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An 18-month plan to reach a validated, pilot-ready product with measurable endpoints.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9344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773936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3000">
                <a:solidFill>
                  <a:srgbClr val="9D93FF"/>
                </a:solidFill>
                <a:latin typeface="Segoe UI"/>
              </a:rPr>
              <a:t>RAISE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99339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FEDFB"/>
                </a:solidFill>
                <a:latin typeface="Segoe UI"/>
              </a:rPr>
              <a:t>$1.5M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596896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 spc="6000">
                <a:solidFill>
                  <a:srgbClr val="9D93FF"/>
                </a:solidFill>
                <a:latin typeface="Segoe UI"/>
              </a:rPr>
              <a:t>pre-seed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907792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5BFE8"/>
                </a:solidFill>
                <a:latin typeface="Segoe UI"/>
              </a:rPr>
              <a:t>≈ 18 months of runway to a validated, pilot-ready milestone.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7952" y="1609344"/>
            <a:ext cx="728776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1773936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USE OF FUNDS — PLANNING 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2066543"/>
            <a:ext cx="30175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Product &amp; hardware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116836"/>
            <a:ext cx="2770632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0" y="2116836"/>
            <a:ext cx="969721" cy="118872"/>
          </a:xfrm>
          <a:prstGeom prst="roundRect">
            <a:avLst>
              <a:gd name="adj" fmla="val 50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96728" y="2066543"/>
            <a:ext cx="841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35%  $0.52M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377439"/>
            <a:ext cx="30175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Pilot, evidence &amp; safety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427732"/>
            <a:ext cx="2770632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0" y="2427732"/>
            <a:ext cx="692658" cy="11887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96728" y="2377439"/>
            <a:ext cx="841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25%  $0.38M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2688336"/>
            <a:ext cx="30175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Engineering &amp; data platform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2738628"/>
            <a:ext cx="2770632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20" y="2738628"/>
            <a:ext cx="554126" cy="118872"/>
          </a:xfrm>
          <a:prstGeom prst="roundRect">
            <a:avLst>
              <a:gd name="adj" fmla="val 50000"/>
            </a:avLst>
          </a:prstGeom>
          <a:solidFill>
            <a:srgbClr val="6B4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96728" y="2688336"/>
            <a:ext cx="841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20%  $0.30M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2999232"/>
            <a:ext cx="30175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Security, privacy &amp; regulatory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3049524"/>
            <a:ext cx="2770632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89520" y="3049524"/>
            <a:ext cx="277063" cy="118872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96728" y="2999232"/>
            <a:ext cx="841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10%  $0.15M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3310128"/>
            <a:ext cx="30175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3D3566"/>
                </a:solidFill>
                <a:latin typeface="Segoe UI"/>
              </a:rPr>
              <a:t>Partner GTM &amp; contingency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3360420"/>
            <a:ext cx="2770632" cy="118872"/>
          </a:xfrm>
          <a:prstGeom prst="roundRect">
            <a:avLst>
              <a:gd name="adj" fmla="val 50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89520" y="3360420"/>
            <a:ext cx="277063" cy="118872"/>
          </a:xfrm>
          <a:prstGeom prst="roundRect">
            <a:avLst>
              <a:gd name="adj" fmla="val 50000"/>
            </a:avLst>
          </a:prstGeom>
          <a:solidFill>
            <a:srgbClr val="C9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96728" y="3310128"/>
            <a:ext cx="841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>
                <a:solidFill>
                  <a:srgbClr val="1A1440"/>
                </a:solidFill>
                <a:latin typeface="Segoe UI"/>
              </a:rPr>
              <a:t>10%  $0.15M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895344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WHAT THE MONEY BUYS — MILESTONES AT MONTH 18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4151376"/>
            <a:ext cx="20299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2976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700" b="1" i="0">
                <a:solidFill>
                  <a:srgbClr val="241483"/>
                </a:solidFill>
                <a:latin typeface="Segoe UI"/>
              </a:rPr>
              <a:t>2–3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4700016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pilot partners signed with written protocols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360" y="4151376"/>
            <a:ext cx="20299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63240" y="42976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700" b="1" i="0">
                <a:solidFill>
                  <a:srgbClr val="241483"/>
                </a:solidFill>
                <a:latin typeface="Segoe UI"/>
              </a:rPr>
              <a:t>100–150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4700016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target wearers generating continuous data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47488" y="4151376"/>
            <a:ext cx="20299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0368" y="42976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700" b="1" i="0">
                <a:solidFill>
                  <a:srgbClr val="241483"/>
                </a:solidFill>
                <a:latin typeface="Segoe UI"/>
              </a:rPr>
              <a:t>&lt; 5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0368" y="4700016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median time from alert to acknowledgement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14616" y="4151376"/>
            <a:ext cx="20299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97496" y="42976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700" b="1" i="0">
                <a:solidFill>
                  <a:srgbClr val="241483"/>
                </a:solidFill>
                <a:latin typeface="Segoe UI"/>
              </a:rPr>
              <a:t>&gt; 90 %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7496" y="4700016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target alert precision, adjudicated by clinicians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81744" y="4151376"/>
            <a:ext cx="20299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64624" y="42976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700" b="1" i="0">
                <a:solidFill>
                  <a:srgbClr val="241483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4700016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evidence pack suitable for a provider or payer conversation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232" y="5486400"/>
            <a:ext cx="10765231" cy="768096"/>
          </a:xfrm>
          <a:prstGeom prst="roundRect">
            <a:avLst>
              <a:gd name="adj" fmla="val 6000"/>
            </a:avLst>
          </a:prstGeom>
          <a:solidFill>
            <a:srgbClr val="F7F6FC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" y="559612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7E76A0"/>
                </a:solidFill>
                <a:latin typeface="Segoe UI"/>
              </a:rPr>
              <a:t>USE OF FUNDS IS A HYPOTHESIS TOO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" y="583387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Allocation shown is a planning view. Raise size, valuation, instrument and timing require founder and legal confirmation, and will be revisited after the pilot readout — capital should follow evidence, not precede it.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FINANCING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65760"/>
            <a:ext cx="274320" cy="50292"/>
          </a:xfrm>
          <a:prstGeom prst="roundRect">
            <a:avLst>
              <a:gd name="adj" fmla="val 50000"/>
            </a:avLst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4000">
                <a:solidFill>
                  <a:srgbClr val="6B4FD0"/>
                </a:solidFill>
                <a:latin typeface="Segoe UI"/>
              </a:rPr>
              <a:t>07 / FINANCIAL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105823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A1440"/>
                </a:solidFill>
                <a:latin typeface="Segoe UI"/>
              </a:rPr>
              <a:t>Risks named early, with the response already designed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52144"/>
            <a:ext cx="97593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D3566"/>
                </a:solidFill>
                <a:latin typeface="Segoe UI"/>
              </a:rPr>
              <a:t>A pilot exists to test failure modes. These are the six that would end the company if unmanaged.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783" y="274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1" i="0" spc="14000">
                <a:solidFill>
                  <a:srgbClr val="7E76A0"/>
                </a:solidFill>
                <a:latin typeface="Segoe UI"/>
              </a:rP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9344"/>
            <a:ext cx="5181447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Measurement bias and noise</a:t>
            </a:r>
          </a:p>
        </p:txBody>
      </p:sp>
      <p:sp>
        <p:nvSpPr>
          <p:cNvPr id="9" name="Oval 8"/>
          <p:cNvSpPr/>
          <p:nvPr/>
        </p:nvSpPr>
        <p:spPr>
          <a:xfrm>
            <a:off x="4833975" y="1810512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80279" y="1810512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26583" y="1810512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11680"/>
            <a:ext cx="4742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Prototype sensors drift with skin, motion and temperature.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2688" y="2377440"/>
            <a:ext cx="4742535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2688" y="2450592"/>
            <a:ext cx="47425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Response: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Bench validation against reference instruments; per-signal quality gates; subgroup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7" y="1609344"/>
            <a:ext cx="5181447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5303" y="175564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False alerts erode trust</a:t>
            </a:r>
          </a:p>
        </p:txBody>
      </p:sp>
      <p:sp>
        <p:nvSpPr>
          <p:cNvPr id="17" name="Oval 16"/>
          <p:cNvSpPr/>
          <p:nvPr/>
        </p:nvSpPr>
        <p:spPr>
          <a:xfrm>
            <a:off x="10216591" y="1810512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62895" y="1810512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09199" y="1810512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5303" y="2011680"/>
            <a:ext cx="4742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One bad night-time alert can end a family's willingness to continue.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15303" y="2377440"/>
            <a:ext cx="4742536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15303" y="2450592"/>
            <a:ext cx="47425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Response: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Shadow mode before alerting; clinician adjudication; tuning loop with a published false-alert target.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926080"/>
            <a:ext cx="5181447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072384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Battery and wear abandonment</a:t>
            </a:r>
          </a:p>
        </p:txBody>
      </p:sp>
      <p:sp>
        <p:nvSpPr>
          <p:cNvPr id="25" name="Oval 24"/>
          <p:cNvSpPr/>
          <p:nvPr/>
        </p:nvSpPr>
        <p:spPr>
          <a:xfrm>
            <a:off x="4833975" y="3127248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80279" y="3127248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26583" y="3127248"/>
            <a:ext cx="91440" cy="91440"/>
          </a:xfrm>
          <a:prstGeom prst="ellipse">
            <a:avLst/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328416"/>
            <a:ext cx="4742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A band that is not worn cannot save anyone.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2688" y="3694176"/>
            <a:ext cx="4742535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2688" y="3767328"/>
            <a:ext cx="47425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Response: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Daily wear-time telemetry; usability interviews; charger and enclosure redesign in Horizon 2.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5847" y="2926080"/>
            <a:ext cx="5181447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5303" y="3072384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Emergency delivery failure</a:t>
            </a:r>
          </a:p>
        </p:txBody>
      </p:sp>
      <p:sp>
        <p:nvSpPr>
          <p:cNvPr id="33" name="Oval 32"/>
          <p:cNvSpPr/>
          <p:nvPr/>
        </p:nvSpPr>
        <p:spPr>
          <a:xfrm>
            <a:off x="10216591" y="3127248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62895" y="3127248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09199" y="3127248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5303" y="3328416"/>
            <a:ext cx="4742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A missed escalation is the most serious failure mode in the product.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15303" y="3694176"/>
            <a:ext cx="4742536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15303" y="3767328"/>
            <a:ext cx="47425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Response: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Delivery receipts, retry ladder, fallback contacts, explicit non-emergency disclaimers, human confirmation.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242816"/>
            <a:ext cx="5181447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4389120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Privacy and health-data exposure</a:t>
            </a:r>
          </a:p>
        </p:txBody>
      </p:sp>
      <p:sp>
        <p:nvSpPr>
          <p:cNvPr id="41" name="Oval 40"/>
          <p:cNvSpPr/>
          <p:nvPr/>
        </p:nvSpPr>
        <p:spPr>
          <a:xfrm>
            <a:off x="4833975" y="4443983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980279" y="4443983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126583" y="4443983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4645152"/>
            <a:ext cx="4742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Health data attracts both regulation and attackers.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32688" y="5010912"/>
            <a:ext cx="4742535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32688" y="5084064"/>
            <a:ext cx="47425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Response: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Least privilege, credential rotation, retention limits, threat model and audit logging before pilot start.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95847" y="4242816"/>
            <a:ext cx="5181447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15303" y="4389120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1A1440"/>
                </a:solidFill>
                <a:latin typeface="Segoe UI"/>
              </a:rPr>
              <a:t>Regulatory scope drift</a:t>
            </a:r>
          </a:p>
        </p:txBody>
      </p:sp>
      <p:sp>
        <p:nvSpPr>
          <p:cNvPr id="49" name="Oval 48"/>
          <p:cNvSpPr/>
          <p:nvPr/>
        </p:nvSpPr>
        <p:spPr>
          <a:xfrm>
            <a:off x="10216591" y="4443983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62895" y="4443983"/>
            <a:ext cx="91440" cy="91440"/>
          </a:xfrm>
          <a:prstGeom prst="ellipse">
            <a:avLst/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509199" y="4443983"/>
            <a:ext cx="91440" cy="91440"/>
          </a:xfrm>
          <a:prstGeom prst="ellipse">
            <a:avLst/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15303" y="4645152"/>
            <a:ext cx="4742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3D3566"/>
                </a:solidFill>
                <a:latin typeface="Segoe UI"/>
              </a:rPr>
              <a:t>A wellness product can drift into a medical device claim by accident.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315303" y="5010912"/>
            <a:ext cx="4742536" cy="0"/>
          </a:xfrm>
          <a:prstGeom prst="line">
            <a:avLst/>
          </a:prstGeom>
          <a:ln w="6350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315303" y="5084064"/>
            <a:ext cx="47425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 i="0">
                <a:solidFill>
                  <a:srgbClr val="241483"/>
                </a:solidFill>
                <a:latin typeface="Segoe UI"/>
              </a:rPr>
              <a:t>Response: </a:t>
            </a:r>
            <a:r>
              <a:rPr sz="850" b="0" i="0">
                <a:solidFill>
                  <a:srgbClr val="3D3566"/>
                </a:solidFill>
                <a:latin typeface="Segoe UI"/>
              </a:rPr>
              <a:t>Define intended use; no diagnostic language; clinical and legal review before each pilot.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577840"/>
            <a:ext cx="10765231" cy="731520"/>
          </a:xfrm>
          <a:prstGeom prst="roundRect">
            <a:avLst>
              <a:gd name="adj" fmla="val 6000"/>
            </a:avLst>
          </a:prstGeom>
          <a:solidFill>
            <a:srgbClr val="241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264" y="5687568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2000">
                <a:solidFill>
                  <a:srgbClr val="9D93FF"/>
                </a:solidFill>
                <a:latin typeface="Segoe UI"/>
              </a:rPr>
              <a:t>PRODUCT GUARDRAIL — NON-NEGOTIABLE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" y="5925312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EFEDFB"/>
                </a:solidFill>
                <a:latin typeface="Segoe UI"/>
              </a:rPr>
              <a:t>NeuroLink Wear supports wellness and safety decisions made by humans. It is not a diagnostic device, does not replace emergency services, and never presents a single sensor reading as a clinical conclusion.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E3E0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NEUROLINK WEAR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7E76A0"/>
                </a:solidFill>
                <a:latin typeface="Segoe UI"/>
              </a:rPr>
              <a:t>RISKS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7E76A0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13855" y="0"/>
            <a:ext cx="5577840" cy="6858000"/>
          </a:xfrm>
          <a:prstGeom prst="rect">
            <a:avLst/>
          </a:prstGeom>
          <a:solidFill>
            <a:srgbClr val="171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00584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i="0" spc="20000">
                <a:solidFill>
                  <a:srgbClr val="9D93FF"/>
                </a:solidFill>
                <a:latin typeface="Segoe UI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1353312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 i="0">
                <a:solidFill>
                  <a:srgbClr val="EFEDFB"/>
                </a:solidFill>
                <a:latin typeface="Segoe UI"/>
              </a:rPr>
              <a:t>Make the signal useful</a:t>
            </a:r>
          </a:p>
          <a:p>
            <a:pPr algn="l">
              <a:lnSpc>
                <a:spcPct val="106000"/>
              </a:lnSpc>
            </a:pPr>
            <a:r>
              <a:rPr sz="3400" b="1" i="0">
                <a:solidFill>
                  <a:srgbClr val="EFEDFB"/>
                </a:solidFill>
                <a:latin typeface="Segoe UI"/>
              </a:rPr>
              <a:t>to someone.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98064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00" b="0" i="0">
                <a:solidFill>
                  <a:srgbClr val="C5BFE8"/>
                </a:solidFill>
                <a:latin typeface="Segoe UI"/>
              </a:rPr>
              <a:t>Wearable context. Explainable alerts. A safer path to human response — and the evidence to prove it before we ask anyone to trust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63931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9D93FF"/>
                </a:solidFill>
                <a:latin typeface="Segoe UI"/>
              </a:rPr>
              <a:t>PILOT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877056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5BFE8"/>
                </a:solidFill>
                <a:latin typeface="Segoe UI"/>
              </a:rPr>
              <a:t>Home-care or senior-living operators willing to run 100–150 wearers with written endpoints.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4256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9D93FF"/>
                </a:solidFill>
                <a:latin typeface="Segoe UI"/>
              </a:rPr>
              <a:t>CLINICAL VALIDATION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6344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5BFE8"/>
                </a:solidFill>
                <a:latin typeface="Segoe UI"/>
              </a:rPr>
              <a:t>Advisors to pre-register endpoints and adjudicate alerts during the pilot.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21208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 spc="11000">
                <a:solidFill>
                  <a:srgbClr val="9D93FF"/>
                </a:solidFill>
                <a:latin typeface="Segoe UI"/>
              </a:rPr>
              <a:t>INVESTORS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44982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C5BFE8"/>
                </a:solidFill>
                <a:latin typeface="Segoe UI"/>
              </a:rPr>
              <a:t>$1.5M pre-seed aligned with a pilot-led, evidence-first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1055" y="10058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 i="0" spc="16000">
                <a:solidFill>
                  <a:srgbClr val="8E86B8"/>
                </a:solidFill>
                <a:latin typeface="Segoe UI"/>
              </a:rPr>
              <a:t>THE PLAN IN ONE COLUMN</a:t>
            </a:r>
          </a:p>
        </p:txBody>
      </p:sp>
      <p:sp>
        <p:nvSpPr>
          <p:cNvPr id="15" name="Oval 14"/>
          <p:cNvSpPr/>
          <p:nvPr/>
        </p:nvSpPr>
        <p:spPr>
          <a:xfrm>
            <a:off x="7071055" y="1508760"/>
            <a:ext cx="100584" cy="100584"/>
          </a:xfrm>
          <a:prstGeom prst="ellipse">
            <a:avLst/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116775" y="1645920"/>
            <a:ext cx="0" cy="969264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81951" y="1463040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 spc="3000">
                <a:solidFill>
                  <a:srgbClr val="1E8A5F"/>
                </a:solidFill>
                <a:latin typeface="Segoe UI"/>
              </a:rPr>
              <a:t>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1951" y="1719072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5BFE8"/>
                </a:solidFill>
                <a:latin typeface="Segoe UI"/>
              </a:rPr>
              <a:t>Working prototype: live telemetry, two-tier detection, caregiver workflow, green test suites.</a:t>
            </a:r>
          </a:p>
        </p:txBody>
      </p:sp>
      <p:sp>
        <p:nvSpPr>
          <p:cNvPr id="19" name="Oval 18"/>
          <p:cNvSpPr/>
          <p:nvPr/>
        </p:nvSpPr>
        <p:spPr>
          <a:xfrm>
            <a:off x="7071055" y="2660904"/>
            <a:ext cx="100584" cy="100584"/>
          </a:xfrm>
          <a:prstGeom prst="ellipse">
            <a:avLst/>
          </a:prstGeom>
          <a:solidFill>
            <a:srgbClr val="4C3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16775" y="2798064"/>
            <a:ext cx="0" cy="969264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81951" y="2615184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 spc="3000">
                <a:solidFill>
                  <a:srgbClr val="4C3BD4"/>
                </a:solidFill>
                <a:latin typeface="Segoe UI"/>
              </a:rPr>
              <a:t>Next 6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1951" y="2871216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5BFE8"/>
                </a:solidFill>
                <a:latin typeface="Segoe UI"/>
              </a:rPr>
              <a:t>Hardware verification, delivery integrations, pilot onboarding with 2–3 partners.</a:t>
            </a:r>
          </a:p>
        </p:txBody>
      </p:sp>
      <p:sp>
        <p:nvSpPr>
          <p:cNvPr id="23" name="Oval 22"/>
          <p:cNvSpPr/>
          <p:nvPr/>
        </p:nvSpPr>
        <p:spPr>
          <a:xfrm>
            <a:off x="7071055" y="3813048"/>
            <a:ext cx="100584" cy="100584"/>
          </a:xfrm>
          <a:prstGeom prst="ellipse">
            <a:avLst/>
          </a:prstGeom>
          <a:solidFill>
            <a:srgbClr val="9D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116775" y="3950208"/>
            <a:ext cx="0" cy="969264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81951" y="376732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 spc="3000">
                <a:solidFill>
                  <a:srgbClr val="9D93FF"/>
                </a:solidFill>
                <a:latin typeface="Segoe UI"/>
              </a:rPr>
              <a:t>Next 18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1951" y="4023360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5BFE8"/>
                </a:solidFill>
                <a:latin typeface="Segoe UI"/>
              </a:rPr>
              <a:t>100–150 wearers instrumented, precision and response-time evidence, paid renewals.</a:t>
            </a:r>
          </a:p>
        </p:txBody>
      </p:sp>
      <p:sp>
        <p:nvSpPr>
          <p:cNvPr id="27" name="Oval 26"/>
          <p:cNvSpPr/>
          <p:nvPr/>
        </p:nvSpPr>
        <p:spPr>
          <a:xfrm>
            <a:off x="7071055" y="4965192"/>
            <a:ext cx="100584" cy="100584"/>
          </a:xfrm>
          <a:prstGeom prst="ellipse">
            <a:avLst/>
          </a:prstGeom>
          <a:solidFill>
            <a:srgbClr val="EF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1951" y="4919472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 spc="3000">
                <a:solidFill>
                  <a:srgbClr val="EFEDFB"/>
                </a:solidFill>
                <a:latin typeface="Segoe UI"/>
              </a:rPr>
              <a:t>Then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1951" y="5175504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5BFE8"/>
                </a:solidFill>
                <a:latin typeface="Segoe UI"/>
              </a:rPr>
              <a:t>Operator contracts, remote-care partnerships, platform expansion on proven detection quality.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71055" y="5504688"/>
            <a:ext cx="4206240" cy="786384"/>
          </a:xfrm>
          <a:prstGeom prst="roundRect">
            <a:avLst>
              <a:gd name="adj" fmla="val 6000"/>
            </a:avLst>
          </a:prstGeom>
          <a:solidFill>
            <a:srgbClr val="1D1750"/>
          </a:solidFill>
          <a:ln w="9525">
            <a:solidFill>
              <a:srgbClr val="2E2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2223" y="5596128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1" i="0" spc="12000">
                <a:solidFill>
                  <a:srgbClr val="8E86B8"/>
                </a:solidFill>
                <a:latin typeface="Segoe UI"/>
              </a:rPr>
              <a:t>CONTACT — EDIT BEFORE SENDING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2223" y="5797296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EFEDFB"/>
                </a:solidFill>
                <a:latin typeface="Segoe UI"/>
              </a:rPr>
              <a:t>founders@neurolinkwear.example  ·  +00 000 000 000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2223" y="6035040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8E86B8"/>
                </a:solidFill>
                <a:latin typeface="Segoe UI"/>
              </a:rPr>
              <a:t>Replace with the real contact details.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3232" y="6428232"/>
            <a:ext cx="10765231" cy="0"/>
          </a:xfrm>
          <a:prstGeom prst="line">
            <a:avLst/>
          </a:prstGeom>
          <a:ln w="9525">
            <a:solidFill>
              <a:srgbClr val="2E2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13232" y="6519672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NEUROLINK WEAR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6463" y="6519672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0" i="0" spc="11000">
                <a:solidFill>
                  <a:srgbClr val="8E86B8"/>
                </a:solidFill>
                <a:latin typeface="Segoe UI"/>
              </a:rPr>
              <a:t>THANK YOU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21263" y="651967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750" b="1" i="0">
                <a:solidFill>
                  <a:srgbClr val="8E86B8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