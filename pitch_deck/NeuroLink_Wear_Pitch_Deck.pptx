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one-liner: NeuroLink Wear is a smart band that watches the vital signs of the people we love and turns them into timely, understandable action — on the wrist, in the cloud and on a caregiver's phone.</a:t>
            </a:r>
          </a:p>
          <a:p>
            <a:r>
              <a:t>Set expectations: this is a prototype-stage company; we will show what is built, what we have learned, and exactly what we need to reach a validated pilot.</a:t>
            </a:r>
          </a:p>
          <a:p>
            <a:r>
              <a:t>Timing: 30 seconds. Do not read the slide — let the product render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failure modes of today's care: no context (a single number tells you nothing), no early warning (deterioration is gradual), and no escalation (a fall at home is only discovered hours later).</a:t>
            </a:r>
          </a:p>
          <a:p>
            <a:r>
              <a:t>Anchor with the WHO numbers: an estimated 684 000 fatal falls a year, over 80% of them in low- and middle-income countries; 37.3 million falls a year need medical attention. Adults over 60 suffer the greatest number of fatal falls. (WHO fact sheet on falls, 2021.)</a:t>
            </a:r>
          </a:p>
          <a:p>
            <a:r>
              <a:t>Localise: Egypt's 60+ population reached 9.3 million in 2024 — 8.8% of Egyptians — according to CAPMAS. Most live at home with family who work during the day.</a:t>
            </a:r>
          </a:p>
          <a:p>
            <a:r>
              <a:t>Transition: "We built one system that senses, understands and responds."</a:t>
            </a:r>
          </a:p>
          <a:p>
            <a:r>
              <a:t>Source URLs for the appendix: who.int/news-room/fact-sheets/detail/falls; globalissues.org/news/2024/10/24/38051 (CAPMAS figures).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product is a loop, not a gadget: sense → understand → respond.</a:t>
            </a:r>
          </a:p>
          <a:p>
            <a:r>
              <a:t>Sense: five sensors on one wrist give a richer picture than any single metric. Understand: light features are computed on the band itself; anomaly and time-series models run in the cloud. Respond: the band talks to the wearer first — a simple "Are you OK?" — and only then escalates to family with a location link.</a:t>
            </a:r>
          </a:p>
          <a:p>
            <a:r>
              <a:t>Emphasise dignity: the wearer stays in control; escalation happens only when they cannot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table top to bottom in one breath each: PPG for heart rate, oxygen and heart-rate variability; GSR for arousal; the IMU for steps, tremor and impacts; the IR thermometer for fever trends; GPS for location when it matters.</a:t>
            </a:r>
          </a:p>
          <a:p>
            <a:r>
              <a:t>Everything hangs off a dual-core ESP32 — one core samples sensors and drives the OLED and button, the other handles Wi-Fi, TLS and MQTT.</a:t>
            </a:r>
          </a:p>
          <a:p>
            <a:r>
              <a:t>Be candid: the prototype uses off-the-shelf modules; industrial design and a custom PCB are in the roadmap, and the band is positioned as a wellness/safety product, not a diagnostic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right: sensors sample at up to 100 Hz; the ESP32 reduces that to physiologically meaningful features and publishes a compact JSON packet every two seconds over TLS to a managed MQTT broker (HiveMQ Cloud).</a:t>
            </a:r>
          </a:p>
          <a:p>
            <a:r>
              <a:t>The AI core (FastAPI service) runs an Isolation Forest for point anomalies, an LSTM autoencoder for temporal anomalies, a rule-based condition classifier, and an optional LLM layer that writes the explanation and advice. Decisions flow back down the same broker to the band and the dashboard.</a:t>
            </a:r>
          </a:p>
          <a:p>
            <a:r>
              <a:t>Design principle: the time-critical decisions (fall verification, the "Are you OK?" prompt) never depend on the cloud; the cloud adds insight, not safety-critical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technical moat at this stage: the band already produces the exact feature vector the models were trained on, and it verifies falls locally — impact, free-fall cue, orientation change and a four-second immobility check — before it ever prompts the wearer.</a:t>
            </a:r>
          </a:p>
          <a:p>
            <a:r>
              <a:t>Everything time-critical is on the wrist; the cloud can be slow or offline and the safety loop still completes (emergency packets are queued and retried for ten minutes).</a:t>
            </a:r>
          </a:p>
          <a:p>
            <a:r>
              <a:t>Validation so far is host-side: the firmware compiles against the real sensor and MQTT libraries and passes 87 automated behavioural checks on synthetic data. Bench and on-body validation is the next milestone — say so before anyone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condition maps to a signal pattern and a detection approach — this is why five sensors matter: stress is HRV down plus GSR up plus temperature up, not any one of them.</a:t>
            </a:r>
          </a:p>
          <a:p>
            <a:r>
              <a:t>The stack is layered for robustness: Isolation Forest for point anomalies, an LSTM autoencoder for temporal drift, a rule-based classifier that always produces an explainable label, and an optional LLM that only writes the explanation — it never makes the safety decision.</a:t>
            </a:r>
          </a:p>
          <a:p>
            <a:r>
              <a:t>Data today: 1,875 labelled readings across five activity states, with derived features such as HR deviation from the expected value for the current activity. The pilot will replace synthetic/lab data with real-world wear data — that is the single most valuable asset we will build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it as a story: the wearer falls in the kitchen at 11 a.m. The band feels a 4 g impact followed by four seconds without movement while lying down. The screen lights up: "Are you OK?" — 30 seconds to press the button. She cannot. The band publishes an emergency packet with her vitals, the time and a maps link; the backend notifies her daughter; the band shows HELP REQUESTED until someone acknowledges.</a:t>
            </a:r>
          </a:p>
          <a:p>
            <a:r>
              <a:t>Two design choices matter to investors: the wearer is asked first (dignity and fewer false alarms), and the whole loop is deterministic and testable — no model in the critical path.</a:t>
            </a:r>
          </a:p>
          <a:p>
            <a:r>
              <a:t>Be transparent about what is not yet validated: thresholds, consent and failure handling will be tuned in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buyer is usually the adult child; the wearer is the parent. The app is built for the buyer's anxiety: a green circle that says "all good" is the feature people pay for every month.</a:t>
            </a:r>
          </a:p>
          <a:p>
            <a:r>
              <a:t>Today: a live web dashboard already consumes the pipeline output; the mobile app is the next build item. Show the dashboard live if the demo network allows it.</a:t>
            </a:r>
          </a:p>
          <a:p>
            <a:r>
              <a:t>Alert grading (low / medium / high / critical) maps directly to what the band shows on the wrist, so family and wearer always see the same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revenue yet — say it plainly — but the whole stack exists: data and trained models, an inference service, a live dashboard, a cloud broker, and firmware for the complete sensor stack including the safety workflow.</a:t>
            </a:r>
          </a:p>
          <a:p>
            <a:r>
              <a:t>That de-risks the next step: the pilot is an integration and validation exercise, not an invention exercise.</a:t>
            </a:r>
          </a:p>
          <a:p>
            <a:r>
              <a:t>Firmware verification is host-side so far (compiles against the real libraries; 87 behavioural checks). On-body validation and battery-life measurements come from the bench phase starting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wins: the first commercial wedge is independent aging in Egypt — 9.3 million people over 60 (8.8 % of the population, CAPMAS 2024), most living at home, with adult children who work.</a:t>
            </a:r>
          </a:p>
          <a:p>
            <a:r>
              <a:t>The buyer and the wearer are different people; pricing, onboarding and the app are designed for the buyer, the band for the wearer.</a:t>
            </a:r>
          </a:p>
          <a:p>
            <a:r>
              <a:t>Global context: WHO estimates 684 000 fatal falls a year and 37.3 million falls needing medical attention; over 80 % of fall deaths happen in low- and middle-income countries — exactly the markets premium smartwatches under-serve.</a:t>
            </a:r>
          </a:p>
          <a:p>
            <a:r>
              <a:t>TAM/SAM/SOM in currency terms is deliberately left for the appendix until pilot data supports a defensible price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streams, in order of maturity: a device sale to get the band on the wrist, a family subscription that carries the recurring value (insight, history, escalation), and B2B2C channels where an insurer or care provider pays per seat.</a:t>
            </a:r>
          </a:p>
          <a:p>
            <a:r>
              <a:t>Unit economics are hypotheses: the prototype BOM with off-the-shelf modules is roughly 45–60 dollars; a custom PCB at a few thousand units should bring it under 30. Price points are stated in dollar equivalents but will be set in EGP after the pilot's willingness-to-pay interviews.</a:t>
            </a:r>
          </a:p>
          <a:p>
            <a:r>
              <a:t>Do not defend the numbers — defend the method: the pilot is designed to replace every assumption on this slide with measured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Fitness bands are cheap but blind to safety; premium smartwatches have fall detection but cost several hundred dollars, assume a paired smartphone on the wearer, and are not designed around a caregiver; medical alert pendants react to a button press but never predict anything.</a:t>
            </a:r>
          </a:p>
          <a:p>
            <a:r>
              <a:t>We sit in the gap: continuous multi-signal vitals, prediction, on-device fall verification and caregiver escalation — at a price a family in Cairo can pay, and without the wearer needing a smartphone.</a:t>
            </a:r>
          </a:p>
          <a:p>
            <a:r>
              <a:t>Keep competitor claims general and fair; if asked about a specific brand, compare on price, caregiver features and phone dependence.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phases, each with a measurable exit: bench accuracy against reference devices; a 30–50 household pilot measuring detection reliability, false-alarm rate and willingness to pay; a safety and compliance phase that turns the workflow into SOPs and assesses the regulatory pathway; then scale with care partners in Egypt and B2B2C pilots.</a:t>
            </a:r>
          </a:p>
          <a:p>
            <a:r>
              <a:t>Name the risks before investors do: wrist PPG accuracy, alarm fatigue, battery life with GPS, privacy and consent, supply chain. Each has an owner and a test in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proof point per person — what each has shipped or published — beats a list of titles. Highlight the complementary split: embedded/product, AI/data, clinical, growth.</a:t>
            </a:r>
          </a:p>
          <a:p>
            <a:r>
              <a:t>State the open seats as a strength: a geriatrics advisor and a partnerships lead are being recruited for the pilot phase, and part of the raise funds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mission line, then be concrete: three asks — pilot partners, clinical validation support, and a pre-seed round sized for 18 months (fill in the amount before presenting).</a:t>
            </a:r>
          </a:p>
          <a:p>
            <a:r>
              <a:t>Use of funds is indicative: roughly 40 % hardware and compliance, 35 % pilot and validation, 25 % team and app.</a:t>
            </a:r>
          </a:p>
          <a:p>
            <a:r>
              <a:t>End with the next step you want from this room: an introduction to a care provider, a pilot site, or a follow-up meeting on the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_band.jpg"/>
          <p:cNvPicPr>
            <a:picLocks noChangeAspect="1"/>
          </p:cNvPicPr>
          <p:nvPr/>
        </p:nvPicPr>
        <p:blipFill>
          <a:blip r:embed="rId2"/>
          <a:srcRect l="24475" r="150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54880" y="0"/>
            <a:ext cx="3291840" cy="6858000"/>
          </a:xfrm>
          <a:prstGeom prst="rect">
            <a:avLst/>
          </a:prstGeom>
          <a:gradFill rotWithShape="1">
            <a:gsLst>
              <a:gs pos="0">
                <a:srgbClr val="0F0E2A"/>
              </a:gs>
              <a:gs pos="55000">
                <a:srgbClr val="0F0E2A">
                  <a:alpha val="55000"/>
                </a:srgbClr>
              </a:gs>
              <a:gs pos="100000">
                <a:srgbClr val="0F0E2A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4764024" cy="6858000"/>
          </a:xfrm>
          <a:prstGeom prst="rect">
            <a:avLst/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-365760" y="4572000"/>
            <a:ext cx="2926080" cy="2926080"/>
          </a:xfrm>
          <a:prstGeom prst="ellipse">
            <a:avLst/>
          </a:prstGeom>
          <a:solidFill>
            <a:srgbClr val="6C3CE9">
              <a:alpha val="77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31673" y="5069433"/>
            <a:ext cx="1931212" cy="1931212"/>
          </a:xfrm>
          <a:prstGeom prst="ellipse">
            <a:avLst/>
          </a:prstGeom>
          <a:solidFill>
            <a:srgbClr val="6C3CE9">
              <a:alpha val="13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12063" y="5449823"/>
            <a:ext cx="1170432" cy="1170432"/>
          </a:xfrm>
          <a:prstGeom prst="ellipse">
            <a:avLst/>
          </a:prstGeom>
          <a:solidFill>
            <a:srgbClr val="6C3CE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50292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000" b="1" i="0" spc="200">
                <a:solidFill>
                  <a:srgbClr val="FFFFFF"/>
                </a:solidFill>
                <a:latin typeface="Calibri"/>
              </a:rPr>
              <a:t>NEUROLINK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000" b="1" i="0" spc="200">
                <a:solidFill>
                  <a:srgbClr val="FFFFFF"/>
                </a:solidFill>
                <a:latin typeface="Calibri"/>
              </a:rPr>
              <a:t>WEAR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E4E4F4"/>
                </a:solidFill>
                <a:latin typeface="Calibri"/>
              </a:rPr>
              <a:t>Predictive health intelligence,
worn every 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548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1" i="0" spc="80">
                <a:solidFill>
                  <a:srgbClr val="22D3EE"/>
                </a:solidFill>
                <a:latin typeface="Calibri"/>
              </a:rPr>
              <a:t>SMART WEARABLE</a:t>
            </a:r>
            <a:r>
              <a:rPr sz="900" b="1" i="0" spc="80">
                <a:solidFill>
                  <a:srgbClr val="A9A9C7"/>
                </a:solidFill>
                <a:latin typeface="Calibri"/>
              </a:rPr>
              <a:t>  +  </a:t>
            </a:r>
            <a:r>
              <a:rPr sz="900" b="1" i="0" spc="80">
                <a:solidFill>
                  <a:srgbClr val="22D3EE"/>
                </a:solidFill>
                <a:latin typeface="Calibri"/>
              </a:rPr>
              <a:t>EDGE &amp; CLOUD AI</a:t>
            </a:r>
            <a:r>
              <a:rPr sz="900" b="1" i="0" spc="80">
                <a:solidFill>
                  <a:srgbClr val="A9A9C7"/>
                </a:solidFill>
                <a:latin typeface="Calibri"/>
              </a:rPr>
              <a:t>  +  </a:t>
            </a:r>
            <a:r>
              <a:rPr sz="900" b="1" i="0" spc="80">
                <a:solidFill>
                  <a:srgbClr val="22D3EE"/>
                </a:solidFill>
                <a:latin typeface="Calibri"/>
              </a:rPr>
              <a:t>CAREGIVER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Investor pitch  ·  Prototype stage  ·  Giza, Egypt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949440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7172F"/>
                </a:solidFill>
                <a:latin typeface="Calibri"/>
              </a:rPr>
              <a:t>Critical health changes happen
between check-ins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55064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5B5B7A"/>
                </a:solidFill>
                <a:latin typeface="Calibri"/>
              </a:rPr>
              <a:t>A wearable can close the gap between an isolated reading and a timely response.</a:t>
            </a:r>
          </a:p>
        </p:txBody>
      </p:sp>
      <p:sp>
        <p:nvSpPr>
          <p:cNvPr id="4" name="Oval 3"/>
          <p:cNvSpPr/>
          <p:nvPr/>
        </p:nvSpPr>
        <p:spPr>
          <a:xfrm>
            <a:off x="576072" y="2331720"/>
            <a:ext cx="402336" cy="402336"/>
          </a:xfrm>
          <a:prstGeom prst="ellipse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76072" y="23317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31343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172F"/>
                </a:solidFill>
                <a:latin typeface="Calibri"/>
              </a:rPr>
              <a:t>Signals lack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313432"/>
            <a:ext cx="34290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Heart rate, oxygen, temperature and stress indicators only become meaningful when patterns are tracked together over time.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34440" y="3291839"/>
            <a:ext cx="6035039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76072" y="3520439"/>
            <a:ext cx="402336" cy="402336"/>
          </a:xfrm>
          <a:prstGeom prst="ellipse">
            <a:avLst/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6072" y="352043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02151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172F"/>
                </a:solidFill>
                <a:latin typeface="Calibri"/>
              </a:rPr>
              <a:t>Early warning is difficult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502151"/>
            <a:ext cx="34290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Fatigue, fever, panic and low oxygen begin as subtle deviations — rarely as one obvious event.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4480559"/>
            <a:ext cx="6035039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76072" y="4709159"/>
            <a:ext cx="402336" cy="402336"/>
          </a:xfrm>
          <a:prstGeom prst="ellipse">
            <a:avLst/>
          </a:prstGeom>
          <a:solidFill>
            <a:srgbClr val="F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76072" y="470915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69087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172F"/>
                </a:solidFill>
                <a:latin typeface="Calibri"/>
              </a:rPr>
              <a:t>Emergencies need escalation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690872"/>
            <a:ext cx="34290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A fall or a dangerous reading needs a prompt to the wearer and, if there is no answer, an automatic call for help.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914400"/>
            <a:ext cx="3824935" cy="5212080"/>
          </a:xfrm>
          <a:prstGeom prst="roundRect">
            <a:avLst>
              <a:gd name="adj" fmla="val 4303"/>
            </a:avLst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859975" y="4343400"/>
            <a:ext cx="1645920" cy="1645920"/>
          </a:xfrm>
          <a:prstGeom prst="ellipse">
            <a:avLst/>
          </a:prstGeom>
          <a:solidFill>
            <a:srgbClr val="6C3CE9">
              <a:alpha val="9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0139781" y="4623206"/>
            <a:ext cx="1086307" cy="1086307"/>
          </a:xfrm>
          <a:prstGeom prst="ellipse">
            <a:avLst/>
          </a:prstGeom>
          <a:solidFill>
            <a:srgbClr val="6C3CE9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353751" y="4837176"/>
            <a:ext cx="658368" cy="658368"/>
          </a:xfrm>
          <a:prstGeom prst="ellipse">
            <a:avLst/>
          </a:prstGeom>
          <a:solidFill>
            <a:srgbClr val="6C3CE9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12344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 i="0" spc="160">
                <a:solidFill>
                  <a:srgbClr val="22D3EE"/>
                </a:solidFill>
                <a:latin typeface="Calibri"/>
              </a:rPr>
              <a:t>WHY IT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16459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684 000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04288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people die from falls every year worldwide — the second leading cause of unintentional injury death (WHO).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108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80%+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767328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of fall deaths occur in low- and middle-income countries such as Egypt (WHO).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45720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9.3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5230368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Egyptians are aged 60+ (8.8% of the population) and the share keeps rising (CAPMAS 2024).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5B5B7A"/>
                </a:solidFill>
                <a:latin typeface="Calibri"/>
              </a:rPr>
              <a:t>PROBLEM</a:t>
            </a:r>
            <a:r>
              <a:rPr sz="800" b="0" i="0" spc="140">
                <a:solidFill>
                  <a:srgbClr val="5B5B7A"/>
                </a:solidFill>
                <a:latin typeface="Calibri"/>
              </a:rPr>
              <a:t>   |   CONTINUOUS CONTEXT AND RESPONSE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6C3CE9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One system senses, explains
and responds</a:t>
            </a:r>
          </a:p>
        </p:txBody>
      </p:sp>
      <p:pic>
        <p:nvPicPr>
          <p:cNvPr id="3" name="Picture 2" descr="elder_home.jpg"/>
          <p:cNvPicPr>
            <a:picLocks noChangeAspect="1"/>
          </p:cNvPicPr>
          <p:nvPr/>
        </p:nvPicPr>
        <p:blipFill>
          <a:blip r:embed="rId2"/>
          <a:srcRect l="27457" r="11767"/>
          <a:stretch>
            <a:fillRect/>
          </a:stretch>
        </p:blipFill>
        <p:spPr>
          <a:xfrm>
            <a:off x="548640" y="1828800"/>
            <a:ext cx="4480560" cy="4114800"/>
          </a:xfrm>
          <a:prstGeom prst="roundRect">
            <a:avLst>
              <a:gd name="adj" fmla="val 4444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577840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22D3E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9" y="1965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22D3EE"/>
                </a:solidFill>
                <a:latin typeface="Calibri"/>
              </a:rPr>
              <a:t>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9" y="225856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E4E4F4"/>
                </a:solidFill>
                <a:latin typeface="Calibri"/>
              </a:rPr>
              <a:t>PPG, GSR, motion, skin temperature and GPS create a continuous, multi-signal view of the wearer.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126479" y="3108960"/>
            <a:ext cx="5486401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0" y="32918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C3CE9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9" y="33375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6C3CE9"/>
                </a:solidFill>
                <a:latin typeface="Calibri"/>
              </a:rPr>
              <a:t>UNDERSTAND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9" y="363016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E4E4F4"/>
                </a:solidFill>
                <a:latin typeface="Calibri"/>
              </a:rPr>
              <a:t>Edge features and anomaly models separate a normal day from stress, fever, low oxygen, fatigue — or a fall.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79" y="4480560"/>
            <a:ext cx="5486401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7784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79" y="47091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34D399"/>
                </a:solidFill>
                <a:latin typeface="Calibri"/>
              </a:rPr>
              <a:t>RESPOND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9" y="500176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E4E4F4"/>
                </a:solidFill>
                <a:latin typeface="Calibri"/>
              </a:rPr>
              <a:t>The band asks "Are you OK?"; the app explains the signal, advises the next step and escalates danger to caregivers with location.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SOLUTION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DEVICE, INTELLIGENCE AND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Five sensors, one wrist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9A9C7"/>
                </a:solidFill>
                <a:latin typeface="Calibri"/>
              </a:rPr>
              <a:t>Each signal answers a different question; the AI layer combines them when one metric is not enough.</a:t>
            </a:r>
          </a:p>
        </p:txBody>
      </p:sp>
      <p:pic>
        <p:nvPicPr>
          <p:cNvPr id="4" name="Picture 3" descr="exploded_band.jpg"/>
          <p:cNvPicPr>
            <a:picLocks noChangeAspect="1"/>
          </p:cNvPicPr>
          <p:nvPr/>
        </p:nvPicPr>
        <p:blipFill>
          <a:blip r:embed="rId2"/>
          <a:srcRect l="21786" r="21786"/>
          <a:stretch>
            <a:fillRect/>
          </a:stretch>
        </p:blipFill>
        <p:spPr>
          <a:xfrm>
            <a:off x="548640" y="1874519"/>
            <a:ext cx="4206240" cy="4160520"/>
          </a:xfrm>
          <a:prstGeom prst="roundRect">
            <a:avLst>
              <a:gd name="adj" fmla="val 4395"/>
            </a:avLst>
          </a:prstGeom>
        </p:spPr>
      </p:pic>
      <p:sp>
        <p:nvSpPr>
          <p:cNvPr id="5" name="Rectangle 4"/>
          <p:cNvSpPr/>
          <p:nvPr/>
        </p:nvSpPr>
        <p:spPr>
          <a:xfrm>
            <a:off x="5120640" y="1874519"/>
            <a:ext cx="6537959" cy="365760"/>
          </a:xfrm>
          <a:prstGeom prst="rect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230368" y="187451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7" y="1874519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MEASURES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7" y="1874519"/>
            <a:ext cx="2606039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ROLE IN THE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2240279"/>
            <a:ext cx="6537959" cy="420624"/>
          </a:xfrm>
          <a:prstGeom prst="rect">
            <a:avLst/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5120640" y="2660903"/>
            <a:ext cx="653796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30368" y="2240279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2D3EE"/>
                </a:solidFill>
                <a:latin typeface="Calibri"/>
              </a:rPr>
              <a:t>MAX30102 PPG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7" y="2240279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Heart rate · SpO₂ · HRV (RMSSD)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240279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Cardiovascular context, oxygen, recovery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660903"/>
            <a:ext cx="6537959" cy="420624"/>
          </a:xfrm>
          <a:prstGeom prst="rect">
            <a:avLst/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5120640" y="3081527"/>
            <a:ext cx="653796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230368" y="2660903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2D3EE"/>
                </a:solidFill>
                <a:latin typeface="Calibri"/>
              </a:rPr>
              <a:t>GSR electrodes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7" y="2660903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Skin conductance (µS)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407" y="2660903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Stress &amp; sympathetic arousal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3081527"/>
            <a:ext cx="6537959" cy="420624"/>
          </a:xfrm>
          <a:prstGeom prst="rect">
            <a:avLst/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5120640" y="3502151"/>
            <a:ext cx="653796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230368" y="3081527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2D3EE"/>
                </a:solidFill>
                <a:latin typeface="Calibri"/>
              </a:rPr>
              <a:t>MPU6050 IMU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7" y="3081527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Acceleration · rotation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7" y="3081527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Steps, tremor, impact &amp; fall detection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502151"/>
            <a:ext cx="6537959" cy="420624"/>
          </a:xfrm>
          <a:prstGeom prst="rect">
            <a:avLst/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>
            <a:off x="5120640" y="3922776"/>
            <a:ext cx="653796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230368" y="3502151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2D3EE"/>
                </a:solidFill>
                <a:latin typeface="Calibri"/>
              </a:rPr>
              <a:t>MLX90614 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7" y="3502151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Skin &amp; ambient temperature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7" y="3502151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Fever trend, thermal change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3922776"/>
            <a:ext cx="6537959" cy="420624"/>
          </a:xfrm>
          <a:prstGeom prst="rect">
            <a:avLst/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5120640" y="4343400"/>
            <a:ext cx="653796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30368" y="392277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2D3EE"/>
                </a:solidFill>
                <a:latin typeface="Calibri"/>
              </a:rPr>
              <a:t>NEO-6M GPS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407" y="3922776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Position · UTC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7" y="3922776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Location for safety escalation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20640" y="2240279"/>
            <a:ext cx="653796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120640" y="4663440"/>
            <a:ext cx="1440180" cy="256032"/>
          </a:xfrm>
          <a:prstGeom prst="roundRect">
            <a:avLst>
              <a:gd name="adj" fmla="val 50000"/>
            </a:avLst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120640" y="4663440"/>
            <a:ext cx="144018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ESP32 DUAL-CORE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0548" y="4663440"/>
            <a:ext cx="1129284" cy="256032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70548" y="4663440"/>
            <a:ext cx="11292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OLED PROMPT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09560" y="4663440"/>
            <a:ext cx="2139696" cy="256032"/>
          </a:xfrm>
          <a:prstGeom prst="roundRect">
            <a:avLst>
              <a:gd name="adj" fmla="val 50000"/>
            </a:avLst>
          </a:prstGeom>
          <a:solidFill>
            <a:srgbClr val="F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909560" y="4663440"/>
            <a:ext cx="213969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ONE BUTTON: I'M OK / SOS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20640" y="5029200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120640" y="5029200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0F0E2A"/>
                </a:solidFill>
                <a:latin typeface="Calibri"/>
              </a:rPr>
              <a:t>WI-FI · TLS MQTT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48272" y="5029200"/>
            <a:ext cx="1284732" cy="25603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748272" y="5029200"/>
            <a:ext cx="12847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0F0E2A"/>
                </a:solidFill>
                <a:latin typeface="Calibri"/>
              </a:rPr>
              <a:t>LI-PO · USB-C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5468112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A9A9C7"/>
                </a:solidFill>
                <a:latin typeface="Calibri"/>
              </a:rPr>
              <a:t>Wellness and safety insights — not a diagnostic medical device. Off-the-shelf modules today; a custom PCB is part of the roadmap.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HARDWARE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CORE SENSOR STACK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32688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7172F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5B5B7A"/>
                </a:solidFill>
                <a:latin typeface="Calibri"/>
              </a:rPr>
              <a:t>A continuous pipeline turns raw sensor data into understandable guidance and safety 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33172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331720" cy="109728"/>
          </a:xfrm>
          <a:prstGeom prst="roundRect">
            <a:avLst>
              <a:gd name="adj" fmla="val 50000"/>
            </a:avLst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3B5BFF"/>
                </a:solidFill>
                <a:latin typeface="Calibri"/>
              </a:rPr>
              <a:t>SENSORS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34639"/>
            <a:ext cx="1920239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PPG · GSR · IMU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Temperature · GPS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up to 100 samples / 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81528" y="3099815"/>
            <a:ext cx="292608" cy="292608"/>
          </a:xfrm>
          <a:prstGeom prst="rightArrow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474720" y="2103120"/>
            <a:ext cx="233172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474720" y="2103120"/>
            <a:ext cx="2331720" cy="109728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03320" y="242316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6C3CE9"/>
                </a:solidFill>
                <a:latin typeface="Calibri"/>
              </a:rPr>
              <a:t>ESP32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834639"/>
            <a:ext cx="1920239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HR · HRV · SpO₂ · steps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Fall verification + prompt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Telemetry every 2 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6168" y="3099815"/>
            <a:ext cx="292608" cy="292608"/>
          </a:xfrm>
          <a:prstGeom prst="rightArrow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309359" y="2103120"/>
            <a:ext cx="233172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309359" y="2103120"/>
            <a:ext cx="2331720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537959" y="242316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8B5CF6"/>
                </a:solidFill>
                <a:latin typeface="Calibri"/>
              </a:rPr>
              <a:t>AI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39"/>
            <a:ext cx="1920239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Isolation Forest + LSTM AE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Rule-based conditions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LLM explanation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50807" y="3099815"/>
            <a:ext cx="292608" cy="292608"/>
          </a:xfrm>
          <a:prstGeom prst="rightArrow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144000" y="2103120"/>
            <a:ext cx="233172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144000" y="2103120"/>
            <a:ext cx="2331720" cy="10972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242316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0F9F6E"/>
                </a:solidFill>
                <a:latin typeface="Calibri"/>
              </a:rPr>
              <a:t>APP + CAREGIVERS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39"/>
            <a:ext cx="1920239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Live vitals · trends · advice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Alerts · emergency contacts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GPS link on escalation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55367" y="4663440"/>
            <a:ext cx="7680960" cy="292608"/>
          </a:xfrm>
          <a:prstGeom prst="roundRect">
            <a:avLst>
              <a:gd name="adj" fmla="val 50000"/>
            </a:avLst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255367" y="4663440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MQTT OVER TLS 1.2  ·  HIVEMQ CLOUD  ·  JSON ≤ 1 KB  ·  EVERY 2 S  ·  ALERTS BACK TO THE BAND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03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2356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RMSSD, motion variance, tremor frequency and impact peaks computed on the wrist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5303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43400" y="5303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562356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Statistical threshold rules keep working if the cloud or a model is unavailable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5303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046720" y="5303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62356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Offline outbox: emergency packets are retried for 10 minutes; last-will status for presence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5B5B7A"/>
                </a:solidFill>
                <a:latin typeface="Calibri"/>
              </a:rPr>
              <a:t>TECHNOLOGY</a:t>
            </a:r>
            <a:r>
              <a:rPr sz="800" b="0" i="0" spc="140">
                <a:solidFill>
                  <a:srgbClr val="5B5B7A"/>
                </a:solidFill>
                <a:latin typeface="Calibri"/>
              </a:rPr>
              <a:t>   |   EDGE-TO-CLOUD DATA PIPELINE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6C3CE9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229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wrist does the time-critical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9A9C7"/>
                </a:solidFill>
                <a:latin typeface="Calibri"/>
              </a:rPr>
              <a:t>Firmware v1.0 turns raw samples into clinical-style features and a verified safety prompt — with or without the cloud.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2395728" cy="1600200"/>
          </a:xfrm>
          <a:prstGeom prst="roundRect">
            <a:avLst>
              <a:gd name="adj" fmla="val 8000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2286000"/>
            <a:ext cx="54864" cy="1051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224028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Heart rate &amp; HRV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670048"/>
            <a:ext cx="198424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Beat-to-beat intervals with artifact rejection; RMSSD over the last 20 beats.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27248" y="2011680"/>
            <a:ext cx="2395728" cy="1600200"/>
          </a:xfrm>
          <a:prstGeom prst="roundRect">
            <a:avLst>
              <a:gd name="adj" fmla="val 8000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27248" y="2286000"/>
            <a:ext cx="54864" cy="1051560"/>
          </a:xfrm>
          <a:prstGeom prst="rect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83280" y="224028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SpO₂ estimate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70048"/>
            <a:ext cx="198424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Ratio-of-ratios on rolling red/IR AC-DC with perfusion and contact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05856" y="2011680"/>
            <a:ext cx="2395728" cy="1600200"/>
          </a:xfrm>
          <a:prstGeom prst="roundRect">
            <a:avLst>
              <a:gd name="adj" fmla="val 8000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705856" y="2286000"/>
            <a:ext cx="54864" cy="1051560"/>
          </a:xfrm>
          <a:prstGeom prst="rect">
            <a:avLst/>
          </a:prstGeom>
          <a:solidFill>
            <a:srgbClr val="F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61888" y="224028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Fall detector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670048"/>
            <a:ext cx="198424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Impact &gt; 3 g, free-fall cue, orientation change and a 4 s immobility check → confidence score.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94760"/>
            <a:ext cx="2395728" cy="1600200"/>
          </a:xfrm>
          <a:prstGeom prst="roundRect">
            <a:avLst>
              <a:gd name="adj" fmla="val 8000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8640" y="4069080"/>
            <a:ext cx="54864" cy="1051560"/>
          </a:xfrm>
          <a:prstGeom prst="rect">
            <a:avLst/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" y="402336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Motion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53128"/>
            <a:ext cx="198424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Pedometer, cadence, variance and dominant tremor frequency from 50 Hz IMU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7248" y="3794760"/>
            <a:ext cx="2395728" cy="1600200"/>
          </a:xfrm>
          <a:prstGeom prst="roundRect">
            <a:avLst>
              <a:gd name="adj" fmla="val 8000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27248" y="4069080"/>
            <a:ext cx="54864" cy="10515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83280" y="402336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Resilient 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453128"/>
            <a:ext cx="198424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TLS MQTT, retained presence, offline outbox with 10-minute retry for emergencies.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05856" y="3794760"/>
            <a:ext cx="2395728" cy="1600200"/>
          </a:xfrm>
          <a:prstGeom prst="roundRect">
            <a:avLst>
              <a:gd name="adj" fmla="val 8000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705856" y="4069080"/>
            <a:ext cx="54864" cy="1051560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961888" y="402336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Honest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4453128"/>
            <a:ext cx="198424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Validity flags for every vital; missing sensors are reported, never faked.</a:t>
            </a:r>
          </a:p>
        </p:txBody>
      </p:sp>
      <p:sp>
        <p:nvSpPr>
          <p:cNvPr id="28" name="Oval 27"/>
          <p:cNvSpPr/>
          <p:nvPr/>
        </p:nvSpPr>
        <p:spPr>
          <a:xfrm>
            <a:off x="8961119" y="1760220"/>
            <a:ext cx="2377440" cy="2377440"/>
          </a:xfrm>
          <a:prstGeom prst="ellipse">
            <a:avLst/>
          </a:prstGeom>
          <a:solidFill>
            <a:srgbClr val="22D3EE">
              <a:alpha val="34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65284" y="2164384"/>
            <a:ext cx="1569110" cy="156911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674352" y="2473452"/>
            <a:ext cx="950976" cy="950976"/>
          </a:xfrm>
          <a:prstGeom prst="ellipse">
            <a:avLst/>
          </a:prstGeom>
          <a:solidFill>
            <a:srgbClr val="22D3EE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641080" y="2011680"/>
            <a:ext cx="3017520" cy="1874519"/>
          </a:xfrm>
          <a:prstGeom prst="roundRect">
            <a:avLst>
              <a:gd name="adj" fmla="val 5853"/>
            </a:avLst>
          </a:prstGeom>
          <a:solidFill>
            <a:srgbClr val="05050F"/>
          </a:solidFill>
          <a:ln w="19050">
            <a:solidFill>
              <a:srgbClr val="262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869680" y="21945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 i="0" spc="160">
                <a:solidFill>
                  <a:srgbClr val="F43F7A"/>
                </a:solidFill>
                <a:latin typeface="Calibri"/>
              </a:rPr>
              <a:t>FALL DETECTED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24688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Are you OK?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2395728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22D3EE"/>
                </a:solidFill>
                <a:latin typeface="Calibri"/>
              </a:rPr>
              <a:t>27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0" y="31546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8869680" y="3154680"/>
            <a:ext cx="2304288" cy="73152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0" y="3337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A9A9C7"/>
                </a:solidFill>
                <a:latin typeface="Calibri"/>
              </a:rPr>
              <a:t>press button = I'm OK   ·   no answer in 30 s → help is called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4023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A9A9C7"/>
                </a:solidFill>
                <a:latin typeface="Calibri"/>
              </a:rPr>
              <a:t>On-device prompt (SSD1306 OLED)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41080" y="4526280"/>
            <a:ext cx="3017520" cy="1051560"/>
          </a:xfrm>
          <a:prstGeom prst="roundRect">
            <a:avLst>
              <a:gd name="adj" fmla="val 12173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69680" y="4617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87 automated logic checks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498348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A9A9C7"/>
                </a:solidFill>
                <a:latin typeface="Calibri"/>
              </a:rPr>
              <a:t>HR ±0.1 bpm · exact RMSSD · fall vs. walking · step counts · JSON contract · prompt → ack / timeout → emergency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FIRMWARE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ESP32 EDGE INTELLIGENCE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229600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7172F"/>
                </a:solidFill>
                <a:latin typeface="Calibri"/>
              </a:rPr>
              <a:t>The intelligence engine combines
anomalies, trends and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2103120"/>
            <a:ext cx="6995160" cy="384048"/>
          </a:xfrm>
          <a:prstGeom prst="rect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2103120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CONDITION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5688" y="210312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SIGNAL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8928" y="210312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DETECTION 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87168"/>
            <a:ext cx="6995160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548640" y="2916935"/>
            <a:ext cx="69951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87168"/>
            <a:ext cx="123444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6C3CE9"/>
                </a:solidFill>
                <a:latin typeface="Calibri"/>
              </a:rPr>
              <a:t>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487168"/>
            <a:ext cx="288036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HRV ↓ · GSR ↑ · temperature 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8928" y="2487168"/>
            <a:ext cx="233172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Combined anomaly 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16935"/>
            <a:ext cx="6995160" cy="429768"/>
          </a:xfrm>
          <a:prstGeom prst="rect">
            <a:avLst/>
          </a:prstGeom>
          <a:solidFill>
            <a:srgbClr val="F5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548640" y="3346703"/>
            <a:ext cx="69951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2916935"/>
            <a:ext cx="123444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6C3CE9"/>
                </a:solidFill>
                <a:latin typeface="Calibri"/>
              </a:rPr>
              <a:t>Panic attack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916935"/>
            <a:ext cx="288036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Heart-rate spike · GSR spike · no 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916935"/>
            <a:ext cx="233172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Sudden deviation +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3"/>
            <a:ext cx="6995160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548640" y="3776471"/>
            <a:ext cx="69951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346703"/>
            <a:ext cx="123444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6C3CE9"/>
                </a:solidFill>
                <a:latin typeface="Calibri"/>
              </a:rPr>
              <a:t>Fever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3346703"/>
            <a:ext cx="288036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Temperature rising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3346703"/>
            <a:ext cx="233172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Continuous 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76471"/>
            <a:ext cx="6995160" cy="429768"/>
          </a:xfrm>
          <a:prstGeom prst="rect">
            <a:avLst/>
          </a:prstGeom>
          <a:solidFill>
            <a:srgbClr val="F5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548640" y="4206239"/>
            <a:ext cx="69951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3776471"/>
            <a:ext cx="123444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6C3CE9"/>
                </a:solidFill>
                <a:latin typeface="Calibri"/>
              </a:rPr>
              <a:t>Low oxygen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5688" y="3776471"/>
            <a:ext cx="288036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SpO₂ below 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3776471"/>
            <a:ext cx="233172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Threshold rule (fallback-safe)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06239"/>
            <a:ext cx="6995160" cy="429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548640" y="4636007"/>
            <a:ext cx="69951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4206239"/>
            <a:ext cx="123444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6C3CE9"/>
                </a:solidFill>
                <a:latin typeface="Calibri"/>
              </a:rPr>
              <a:t>Fatigue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75688" y="4206239"/>
            <a:ext cx="288036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Sustained low HRV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4206239"/>
            <a:ext cx="233172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Long-term trend analysis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636007"/>
            <a:ext cx="6995160" cy="429768"/>
          </a:xfrm>
          <a:prstGeom prst="rect">
            <a:avLst/>
          </a:prstGeom>
          <a:solidFill>
            <a:srgbClr val="F5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548640" y="5065775"/>
            <a:ext cx="69951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8368" y="4636007"/>
            <a:ext cx="123444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6C3CE9"/>
                </a:solidFill>
                <a:latin typeface="Calibri"/>
              </a:rPr>
              <a:t>Fall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5688" y="4636007"/>
            <a:ext cx="288036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Impact + immobility (edge-verified)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8928" y="4636007"/>
            <a:ext cx="233172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7172F"/>
                </a:solidFill>
                <a:latin typeface="Calibri"/>
              </a:rPr>
              <a:t>IMU rule + LSTM motion anomaly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2487168"/>
            <a:ext cx="69951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01000" y="2103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6C3CE9"/>
                </a:solidFill>
                <a:latin typeface="Calibri"/>
              </a:rPr>
              <a:t>MODEL STACK</a:t>
            </a:r>
          </a:p>
        </p:txBody>
      </p:sp>
      <p:sp>
        <p:nvSpPr>
          <p:cNvPr id="39" name="Oval 38"/>
          <p:cNvSpPr/>
          <p:nvPr/>
        </p:nvSpPr>
        <p:spPr>
          <a:xfrm>
            <a:off x="8019288" y="2532888"/>
            <a:ext cx="329184" cy="329184"/>
          </a:xfrm>
          <a:prstGeom prst="ellipse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019288" y="25328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249631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17172F"/>
                </a:solidFill>
                <a:latin typeface="Calibri"/>
              </a:rPr>
              <a:t>Isolation Forest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27889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Point anomalies across 21 engineered features</a:t>
            </a:r>
          </a:p>
        </p:txBody>
      </p:sp>
      <p:sp>
        <p:nvSpPr>
          <p:cNvPr id="43" name="Oval 42"/>
          <p:cNvSpPr/>
          <p:nvPr/>
        </p:nvSpPr>
        <p:spPr>
          <a:xfrm>
            <a:off x="8019288" y="3429000"/>
            <a:ext cx="329184" cy="329184"/>
          </a:xfrm>
          <a:prstGeom prst="ellipse">
            <a:avLst/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019288" y="342900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339242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17172F"/>
                </a:solidFill>
                <a:latin typeface="Calibri"/>
              </a:rPr>
              <a:t>LSTM autoencoder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3685032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Temporal anomalies over rolling windows (threshold 0.33 reconstruction error)</a:t>
            </a:r>
          </a:p>
        </p:txBody>
      </p:sp>
      <p:sp>
        <p:nvSpPr>
          <p:cNvPr id="47" name="Oval 46"/>
          <p:cNvSpPr/>
          <p:nvPr/>
        </p:nvSpPr>
        <p:spPr>
          <a:xfrm>
            <a:off x="8019288" y="4325112"/>
            <a:ext cx="329184" cy="32918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019288" y="432511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0F0E2A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28853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17172F"/>
                </a:solidFill>
                <a:latin typeface="Calibri"/>
              </a:rPr>
              <a:t>Rule-based classifier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581144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Explainable condition labels; safe fallback if a model is unavailable</a:t>
            </a:r>
          </a:p>
        </p:txBody>
      </p:sp>
      <p:sp>
        <p:nvSpPr>
          <p:cNvPr id="51" name="Oval 50"/>
          <p:cNvSpPr/>
          <p:nvPr/>
        </p:nvSpPr>
        <p:spPr>
          <a:xfrm>
            <a:off x="8019288" y="5221224"/>
            <a:ext cx="329184" cy="32918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019288" y="522122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0F0E2A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518464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17172F"/>
                </a:solidFill>
                <a:latin typeface="Calibri"/>
              </a:rPr>
              <a:t>LLM layer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477255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Plain-language explanation and personalised next steps (optional, non-blocking)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3212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B5B7A"/>
                </a:solidFill>
                <a:latin typeface="Calibri"/>
              </a:rPr>
              <a:t>Trained on 1,875 labelled readings across five activity states (resting, sleeping, walking, exercising, running). Activity intensity, HR deviation, SpO₂ and fever risk scores are derived per reading.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5B5B7A"/>
                </a:solidFill>
                <a:latin typeface="Calibri"/>
              </a:rPr>
              <a:t>AI / ML</a:t>
            </a:r>
            <a:r>
              <a:rPr sz="800" b="0" i="0" spc="140">
                <a:solidFill>
                  <a:srgbClr val="5B5B7A"/>
                </a:solidFill>
                <a:latin typeface="Calibri"/>
              </a:rPr>
              <a:t>   |   ANOMALY DETECTION AND EXPLANATION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6C3CE9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lder_home.jpg"/>
          <p:cNvPicPr>
            <a:picLocks noChangeAspect="1"/>
          </p:cNvPicPr>
          <p:nvPr/>
        </p:nvPicPr>
        <p:blipFill>
          <a:blip r:embed="rId2"/>
          <a:srcRect l="42889" r="16679"/>
          <a:stretch>
            <a:fillRect/>
          </a:stretch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23760" y="0"/>
            <a:ext cx="2011680" cy="6858000"/>
          </a:xfrm>
          <a:prstGeom prst="rect">
            <a:avLst/>
          </a:prstGeom>
          <a:gradFill rotWithShape="1">
            <a:gsLst>
              <a:gs pos="0">
                <a:srgbClr val="0F0E2A"/>
              </a:gs>
              <a:gs pos="100000">
                <a:srgbClr val="0F0E2A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0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 fall triggers a verified
safety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 i="0" spc="160">
                <a:solidFill>
                  <a:srgbClr val="22D3EE"/>
                </a:solidFill>
                <a:latin typeface="Calibri"/>
              </a:rPr>
              <a:t>DESIGNED EMERGENCY ESCALATION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2286000"/>
            <a:ext cx="0" cy="3145536"/>
          </a:xfrm>
          <a:prstGeom prst="line">
            <a:avLst/>
          </a:prstGeom>
          <a:ln w="19050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85216" y="2093976"/>
            <a:ext cx="384048" cy="38404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5216" y="20939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0F0E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7568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031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Impact above 3 g, a free-fall cue, or a dangerous vital pattern from the AI core</a:t>
            </a:r>
          </a:p>
        </p:txBody>
      </p:sp>
      <p:sp>
        <p:nvSpPr>
          <p:cNvPr id="11" name="Oval 10"/>
          <p:cNvSpPr/>
          <p:nvPr/>
        </p:nvSpPr>
        <p:spPr>
          <a:xfrm>
            <a:off x="585216" y="2880360"/>
            <a:ext cx="384048" cy="384048"/>
          </a:xfrm>
          <a:prstGeom prst="ellipse">
            <a:avLst/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" y="288036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620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889503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Post-impact immobility (4 s), orientation change, severity and GPS fix → confidence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585216" y="3666744"/>
            <a:ext cx="384048" cy="384048"/>
          </a:xfrm>
          <a:prstGeom prst="ellipse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5216" y="36667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6484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675887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OLED asks "Are you OK?" — one button press ends it; caregivers see a pre-alert</a:t>
            </a:r>
          </a:p>
        </p:txBody>
      </p:sp>
      <p:sp>
        <p:nvSpPr>
          <p:cNvPr id="19" name="Oval 18"/>
          <p:cNvSpPr/>
          <p:nvPr/>
        </p:nvSpPr>
        <p:spPr>
          <a:xfrm>
            <a:off x="585216" y="4453128"/>
            <a:ext cx="384048" cy="384048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85216" y="445312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0F0E2A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348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462272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No answer within 30 s → emergency packet: event, vitals, timestamp, Google Maps link</a:t>
            </a:r>
          </a:p>
        </p:txBody>
      </p:sp>
      <p:sp>
        <p:nvSpPr>
          <p:cNvPr id="23" name="Oval 22"/>
          <p:cNvSpPr/>
          <p:nvPr/>
        </p:nvSpPr>
        <p:spPr>
          <a:xfrm>
            <a:off x="585216" y="5239512"/>
            <a:ext cx="384048" cy="384048"/>
          </a:xfrm>
          <a:prstGeom prst="ellipse">
            <a:avLst/>
          </a:prstGeom>
          <a:solidFill>
            <a:srgbClr val="F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5216" y="523951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2122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Notify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5248656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Backend dispatches to saved contacts; band shows HELP REQUESTED until acknowledged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i="1">
                <a:solidFill>
                  <a:srgbClr val="A9A9C7"/>
                </a:solidFill>
                <a:latin typeface="Calibri"/>
              </a:rPr>
              <a:t>Escalation thresholds, consent flows and failure handling are validated in the pilot before any public launch.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SAFETY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DESIGNED EMERGENCY ESCALATION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7172F"/>
                </a:solidFill>
                <a:latin typeface="Calibri"/>
              </a:rPr>
              <a:t>Live data becomes clear action
for families</a:t>
            </a:r>
          </a:p>
        </p:txBody>
      </p:sp>
      <p:pic>
        <p:nvPicPr>
          <p:cNvPr id="3" name="Picture 2" descr="caregiver_app.jpg"/>
          <p:cNvPicPr>
            <a:picLocks noChangeAspect="1"/>
          </p:cNvPicPr>
          <p:nvPr/>
        </p:nvPicPr>
        <p:blipFill>
          <a:blip r:embed="rId2"/>
          <a:srcRect l="11199" r="20798"/>
          <a:stretch>
            <a:fillRect/>
          </a:stretch>
        </p:blipFill>
        <p:spPr>
          <a:xfrm>
            <a:off x="548640" y="2011680"/>
            <a:ext cx="4846320" cy="3977639"/>
          </a:xfrm>
          <a:prstGeom prst="roundRect">
            <a:avLst>
              <a:gd name="adj" fmla="val 4597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943600" y="20116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6C3CE9"/>
                </a:solidFill>
                <a:latin typeface="Calibri"/>
              </a:rPr>
              <a:t>CAREGIVER APP &amp;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2496312"/>
            <a:ext cx="73152" cy="4572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72200" y="24231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20">
                <a:solidFill>
                  <a:srgbClr val="17172F"/>
                </a:solidFill>
                <a:latin typeface="Calibri"/>
              </a:rPr>
              <a:t>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40487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7172F"/>
                </a:solidFill>
                <a:latin typeface="Calibri"/>
              </a:rPr>
              <a:t>Current vitals, activity state and band presence — green means all good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72200" y="3044952"/>
            <a:ext cx="53949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943600" y="3227832"/>
            <a:ext cx="73152" cy="457200"/>
          </a:xfrm>
          <a:prstGeom prst="roundRect">
            <a:avLst>
              <a:gd name="adj" fmla="val 50000"/>
            </a:avLst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172200" y="31546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20">
                <a:solidFill>
                  <a:srgbClr val="3B5BFF"/>
                </a:solidFill>
                <a:latin typeface="Calibri"/>
              </a:rPr>
              <a:t>TRENDS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13639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7172F"/>
                </a:solidFill>
                <a:latin typeface="Calibri"/>
              </a:rPr>
              <a:t>HRV, temperature and anomaly history to catch slow deterioration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72200" y="3776472"/>
            <a:ext cx="53949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943600" y="3959352"/>
            <a:ext cx="73152" cy="457200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38862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20">
                <a:solidFill>
                  <a:srgbClr val="6C3CE9"/>
                </a:solidFill>
                <a:latin typeface="Calibri"/>
              </a:rPr>
              <a:t>ADVICE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86791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7172F"/>
                </a:solidFill>
                <a:latin typeface="Calibri"/>
              </a:rPr>
              <a:t>LLM-written explanations and personalised next steps for the wearer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72200" y="4507992"/>
            <a:ext cx="53949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43600" y="4690872"/>
            <a:ext cx="73152" cy="457200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72200" y="46177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20">
                <a:solidFill>
                  <a:srgbClr val="17172F"/>
                </a:solidFill>
                <a:latin typeface="Calibri"/>
              </a:rPr>
              <a:t>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59943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7172F"/>
                </a:solidFill>
                <a:latin typeface="Calibri"/>
              </a:rPr>
              <a:t>Stress, fever, low oxygen and fall notifications, graded by severity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72200" y="5239512"/>
            <a:ext cx="53949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943600" y="5422392"/>
            <a:ext cx="73152" cy="457200"/>
          </a:xfrm>
          <a:prstGeom prst="roundRect">
            <a:avLst>
              <a:gd name="adj" fmla="val 50000"/>
            </a:avLst>
          </a:prstGeom>
          <a:solidFill>
            <a:srgbClr val="F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172200" y="534924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20">
                <a:solidFill>
                  <a:srgbClr val="F43F7A"/>
                </a:solidFill>
                <a:latin typeface="Calibri"/>
              </a:rPr>
              <a:t>SAFETY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33095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7172F"/>
                </a:solidFill>
                <a:latin typeface="Calibri"/>
              </a:rPr>
              <a:t>Emergency contacts, GPS context and a full alert timeline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72200" y="5971031"/>
            <a:ext cx="539496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5B5B7A"/>
                </a:solidFill>
                <a:latin typeface="Calibri"/>
              </a:rPr>
              <a:t>PRODUCT</a:t>
            </a:r>
            <a:r>
              <a:rPr sz="800" b="0" i="0" spc="140">
                <a:solidFill>
                  <a:srgbClr val="5B5B7A"/>
                </a:solidFill>
                <a:latin typeface="Calibri"/>
              </a:rPr>
              <a:t>   |   CAREGIVER APP AND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6C3CE9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32688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already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9A9C7"/>
                </a:solidFill>
                <a:latin typeface="Calibri"/>
              </a:rPr>
              <a:t>Prototype stage — every layer of the stack exists end to 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606040" cy="2148840"/>
          </a:xfrm>
          <a:prstGeom prst="roundRect">
            <a:avLst>
              <a:gd name="adj" fmla="val 6808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06040" cy="91440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59" y="237744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1,875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0175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 i="0" spc="160">
                <a:solidFill>
                  <a:srgbClr val="6C3CE9"/>
                </a:solidFill>
                <a:latin typeface="Calibri"/>
              </a:rPr>
              <a:t>LABELLED READINGS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5 activity states · 14 raw signals · 21 engineered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2103120"/>
            <a:ext cx="2606040" cy="2148840"/>
          </a:xfrm>
          <a:prstGeom prst="roundRect">
            <a:avLst>
              <a:gd name="adj" fmla="val 6808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374136" y="2103120"/>
            <a:ext cx="2606040" cy="91440"/>
          </a:xfrm>
          <a:prstGeom prst="roundRect">
            <a:avLst>
              <a:gd name="adj" fmla="val 50000"/>
            </a:avLst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48456" y="237744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3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30175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 i="0" spc="160">
                <a:solidFill>
                  <a:srgbClr val="3B5BFF"/>
                </a:solidFill>
                <a:latin typeface="Calibri"/>
              </a:rPr>
              <a:t>MODEL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33832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Isolation Forest · LSTM autoencoder · rule classifier · optional LLM advice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1" y="2103120"/>
            <a:ext cx="2606040" cy="2148840"/>
          </a:xfrm>
          <a:prstGeom prst="roundRect">
            <a:avLst>
              <a:gd name="adj" fmla="val 6808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199631" y="2103120"/>
            <a:ext cx="2606040" cy="9144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73951" y="237744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v1.0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30175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 i="0" spc="160">
                <a:solidFill>
                  <a:srgbClr val="22D3EE"/>
                </a:solidFill>
                <a:latin typeface="Calibri"/>
              </a:rPr>
              <a:t>ESP32 FIRMWARE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1" y="33832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Full sensor stack, fall/SOS workflow, TLS MQTT — 87 automated checks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5128" y="2103120"/>
            <a:ext cx="2606040" cy="2148840"/>
          </a:xfrm>
          <a:prstGeom prst="roundRect">
            <a:avLst>
              <a:gd name="adj" fmla="val 6808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025128" y="2103120"/>
            <a:ext cx="2606040" cy="914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299448" y="237744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9448" y="30175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 i="0" spc="160">
                <a:solidFill>
                  <a:srgbClr val="34D399"/>
                </a:solidFill>
                <a:latin typeface="Calibri"/>
              </a:rPr>
              <a:t>CLOUD PATH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33832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HiveMQ Cloud broker · FastAPI service · web dashboard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5074920"/>
            <a:ext cx="10332720" cy="0"/>
          </a:xfrm>
          <a:prstGeom prst="line">
            <a:avLst/>
          </a:prstGeom>
          <a:ln w="25400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22960" y="4983480"/>
            <a:ext cx="182880" cy="182880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53492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A9A9C7"/>
                </a:solidFill>
                <a:latin typeface="Calibri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23559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system design, dataset, models</a:t>
            </a:r>
          </a:p>
        </p:txBody>
      </p:sp>
      <p:sp>
        <p:nvSpPr>
          <p:cNvPr id="28" name="Oval 27"/>
          <p:cNvSpPr/>
          <p:nvPr/>
        </p:nvSpPr>
        <p:spPr>
          <a:xfrm>
            <a:off x="4160520" y="4937759"/>
            <a:ext cx="274320" cy="27432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023360" y="4800600"/>
            <a:ext cx="548640" cy="548640"/>
          </a:xfrm>
          <a:prstGeom prst="ellipse">
            <a:avLst/>
          </a:prstGeom>
          <a:noFill/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3886200" y="429768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886200" y="42976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 i="0" spc="120">
                <a:solidFill>
                  <a:srgbClr val="0F0E2A"/>
                </a:solidFill>
                <a:latin typeface="Calibri"/>
              </a:rPr>
              <a:t>WE ARE HERE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3492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623559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firmware + cloud + dashboard</a:t>
            </a:r>
          </a:p>
        </p:txBody>
      </p:sp>
      <p:sp>
        <p:nvSpPr>
          <p:cNvPr id="34" name="Oval 33"/>
          <p:cNvSpPr/>
          <p:nvPr/>
        </p:nvSpPr>
        <p:spPr>
          <a:xfrm>
            <a:off x="7589520" y="4983480"/>
            <a:ext cx="182880" cy="182880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80" y="53492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A9A9C7"/>
                </a:solidFill>
                <a:latin typeface="Calibri"/>
              </a:rPr>
              <a:t>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5623559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30–50 households, 3 months</a:t>
            </a:r>
          </a:p>
        </p:txBody>
      </p:sp>
      <p:sp>
        <p:nvSpPr>
          <p:cNvPr id="37" name="Oval 36"/>
          <p:cNvSpPr/>
          <p:nvPr/>
        </p:nvSpPr>
        <p:spPr>
          <a:xfrm>
            <a:off x="10972800" y="4983480"/>
            <a:ext cx="182880" cy="182880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881360" y="53492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A9A9C7"/>
                </a:solidFill>
                <a:latin typeface="Calibri"/>
              </a:rPr>
              <a:t>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5623559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Egypt, then MENA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TRACTION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PROTOTYPE STATUS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7172F"/>
                </a:solidFill>
                <a:latin typeface="Calibri"/>
              </a:rPr>
              <a:t>Start with independent aging in Egypt,
expand across MENA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3520440" cy="283464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59" y="2331720"/>
            <a:ext cx="1129284" cy="256032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11292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FIRST WEDGE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8892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7172F"/>
                </a:solidFill>
                <a:latin typeface="Calibri"/>
              </a:rPr>
              <a:t>Independent aging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29184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Older adults living at home who benefit from fall detection and proactive monitoring.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59" y="4251960"/>
            <a:ext cx="2971801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437083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6C3CE9"/>
                </a:solidFill>
                <a:latin typeface="Calibri"/>
              </a:rPr>
              <a:t>9.3 M Egyptians aged 60+ (8.8%) — CAPMAS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5" y="2103120"/>
            <a:ext cx="3520440" cy="283464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608575" y="2331720"/>
            <a:ext cx="973836" cy="256032"/>
          </a:xfrm>
          <a:prstGeom prst="roundRect">
            <a:avLst>
              <a:gd name="adj" fmla="val 50000"/>
            </a:avLst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08575" y="233172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THE BUYER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5" y="278892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7172F"/>
                </a:solidFill>
                <a:latin typeface="Calibri"/>
              </a:rPr>
              <a:t>Family &amp; caregivers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5" y="329184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Adult children who want alerts, location context and peace of mind while at work.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08575" y="4251960"/>
            <a:ext cx="297180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608575" y="437083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3B5BFF"/>
                </a:solidFill>
                <a:latin typeface="Calibri"/>
              </a:rPr>
              <a:t>Household decision-maker; subscription payer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2103120"/>
            <a:ext cx="3520440" cy="283464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394192" y="2331720"/>
            <a:ext cx="973836" cy="256032"/>
          </a:xfrm>
          <a:prstGeom prst="roundRect">
            <a:avLst>
              <a:gd name="adj" fmla="val 50000"/>
            </a:avLst>
          </a:prstGeom>
          <a:solidFill>
            <a:srgbClr val="0F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94192" y="233172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Calibri"/>
              </a:rPr>
              <a:t>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78892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7172F"/>
                </a:solidFill>
                <a:latin typeface="Calibri"/>
              </a:rPr>
              <a:t>Wellness &amp; stress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29184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Professionals who want context on stress, sleep and recovery — not another raw score.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94192" y="4251960"/>
            <a:ext cx="297180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394192" y="437083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F9F6E"/>
                </a:solidFill>
                <a:latin typeface="Calibri"/>
              </a:rPr>
              <a:t>Same band, different app mode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4736"/>
            </a:avLst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68680" y="53492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684 000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534924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fatal falls per year worldwide (WHO)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3492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37.3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534924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falls a year need medical attention (WHO)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53492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80%+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534924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A9A9C7"/>
                </a:solidFill>
                <a:latin typeface="Calibri"/>
              </a:rPr>
              <a:t>of fall deaths are in low- and middle-income countries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5B5B7A"/>
                </a:solidFill>
                <a:latin typeface="Calibri"/>
              </a:rPr>
              <a:t>MARKET</a:t>
            </a:r>
            <a:r>
              <a:rPr sz="800" b="0" i="0" spc="140">
                <a:solidFill>
                  <a:srgbClr val="5B5B7A"/>
                </a:solidFill>
                <a:latin typeface="Calibri"/>
              </a:rPr>
              <a:t>   |   ENTRY WEDGE AND 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6C3CE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32688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7172F"/>
                </a:solidFill>
                <a:latin typeface="Calibri"/>
              </a:rPr>
              <a:t>Commercial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5B5B7A"/>
                </a:solidFill>
                <a:latin typeface="Calibri"/>
              </a:rPr>
              <a:t>Hypotheses for a prototype-stage company — pricing and unit economics are validated in the pilot.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6C3CE9"/>
                </a:solidFill>
                <a:latin typeface="Calibri"/>
              </a:rPr>
              <a:t>REVENUE STREAMS</a:t>
            </a:r>
          </a:p>
        </p:txBody>
      </p:sp>
      <p:sp>
        <p:nvSpPr>
          <p:cNvPr id="5" name="Oval 4"/>
          <p:cNvSpPr/>
          <p:nvPr/>
        </p:nvSpPr>
        <p:spPr>
          <a:xfrm>
            <a:off x="557784" y="2478024"/>
            <a:ext cx="384048" cy="384048"/>
          </a:xfrm>
          <a:prstGeom prst="ellipse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4505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17172F"/>
                </a:solidFill>
                <a:latin typeface="Calibri"/>
              </a:rPr>
              <a:t>Device 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78892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B5B7A"/>
                </a:solidFill>
                <a:latin typeface="Calibri"/>
              </a:rPr>
              <a:t>One-time revenue from the band and charger; target hardware margin ≥ 35 % at volume.</a:t>
            </a:r>
          </a:p>
        </p:txBody>
      </p:sp>
      <p:sp>
        <p:nvSpPr>
          <p:cNvPr id="9" name="Oval 8"/>
          <p:cNvSpPr/>
          <p:nvPr/>
        </p:nvSpPr>
        <p:spPr>
          <a:xfrm>
            <a:off x="557784" y="3529584"/>
            <a:ext cx="384048" cy="384048"/>
          </a:xfrm>
          <a:prstGeom prst="ellipse">
            <a:avLst/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57784" y="35295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021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17172F"/>
                </a:solidFill>
                <a:latin typeface="Calibri"/>
              </a:rPr>
              <a:t>Family subscription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4048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B5B7A"/>
                </a:solidFill>
                <a:latin typeface="Calibri"/>
              </a:rPr>
              <a:t>Monthly access to AI insights, longer history, multi-caregiver alerts and emergency dispatch.</a:t>
            </a:r>
          </a:p>
        </p:txBody>
      </p:sp>
      <p:sp>
        <p:nvSpPr>
          <p:cNvPr id="13" name="Oval 12"/>
          <p:cNvSpPr/>
          <p:nvPr/>
        </p:nvSpPr>
        <p:spPr>
          <a:xfrm>
            <a:off x="557784" y="4581144"/>
            <a:ext cx="384048" cy="384048"/>
          </a:xfrm>
          <a:prstGeom prst="ellipse">
            <a:avLst/>
          </a:prstGeom>
          <a:solidFill>
            <a:srgbClr val="0F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57784" y="45811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5537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17172F"/>
                </a:solidFill>
                <a:latin typeface="Calibri"/>
              </a:rPr>
              <a:t>B2B / B2B2C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9204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B5B7A"/>
                </a:solidFill>
                <a:latin typeface="Calibri"/>
              </a:rPr>
              <a:t>Pilots with senior-care providers, insurers, employers and remote-care partners; per-seat pricing.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92240" y="2103120"/>
            <a:ext cx="0" cy="3566159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0" y="2057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6C3CE9"/>
                </a:solidFill>
                <a:latin typeface="Calibri"/>
              </a:rPr>
              <a:t>UNIT ECONOMICS — WORKING ASSUMPTIONS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2468880"/>
            <a:ext cx="4754880" cy="365760"/>
          </a:xfrm>
          <a:prstGeom prst="rect">
            <a:avLst/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67728" y="2468880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7" y="2468880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2468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VOLUME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834640"/>
            <a:ext cx="47548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6858000" y="3255264"/>
            <a:ext cx="475488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67728" y="2834640"/>
            <a:ext cx="11430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6C3CE9"/>
                </a:solidFill>
                <a:latin typeface="Calibri"/>
              </a:rPr>
              <a:t>Bill of materials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7" y="2834640"/>
            <a:ext cx="12344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≈ US$ 45–60 (modules)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2834640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&lt; US$ 30 (custom PCB, 5k units)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3255264"/>
            <a:ext cx="4754880" cy="420624"/>
          </a:xfrm>
          <a:prstGeom prst="rect">
            <a:avLst/>
          </a:prstGeom>
          <a:solidFill>
            <a:srgbClr val="F5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Connector 28"/>
          <p:cNvCxnSpPr/>
          <p:nvPr/>
        </p:nvCxnSpPr>
        <p:spPr>
          <a:xfrm>
            <a:off x="6858000" y="3675888"/>
            <a:ext cx="475488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67728" y="3255264"/>
            <a:ext cx="11430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6C3CE9"/>
                </a:solidFill>
                <a:latin typeface="Calibri"/>
              </a:rPr>
              <a:t>Device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7" y="3255264"/>
            <a:ext cx="12344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0928" y="3255264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US$ 79–99 equivalent, local pricing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675888"/>
            <a:ext cx="47548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6858000" y="4096512"/>
            <a:ext cx="475488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967728" y="3675888"/>
            <a:ext cx="11430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6C3CE9"/>
                </a:solidFill>
                <a:latin typeface="Calibri"/>
              </a:rPr>
              <a:t>Subscription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7" y="3675888"/>
            <a:ext cx="12344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0928" y="3675888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US$ 3–6 / month per household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4096512"/>
            <a:ext cx="4754880" cy="420624"/>
          </a:xfrm>
          <a:prstGeom prst="rect">
            <a:avLst/>
          </a:prstGeom>
          <a:solidFill>
            <a:srgbClr val="F5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6858000" y="4517136"/>
            <a:ext cx="475488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967728" y="4096512"/>
            <a:ext cx="11430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6C3CE9"/>
                </a:solidFill>
                <a:latin typeface="Calibri"/>
              </a:rPr>
              <a:t>Gross margin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7" y="4096512"/>
            <a:ext cx="12344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n/a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928" y="409651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7172F"/>
                </a:solidFill>
                <a:latin typeface="Calibri"/>
              </a:rPr>
              <a:t>≥ 60 % blended after year 1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0" y="2834640"/>
            <a:ext cx="4754880" cy="0"/>
          </a:xfrm>
          <a:prstGeom prst="line">
            <a:avLst/>
          </a:prstGeom>
          <a:ln w="9525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0" y="4892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B5B7A"/>
                </a:solidFill>
                <a:latin typeface="Calibri"/>
              </a:rPr>
              <a:t>Assumptions to validate: willingness to pay in EGP, churn after the first alert, and B2B2C reimbursement partners.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5B5B7A"/>
                </a:solidFill>
                <a:latin typeface="Calibri"/>
              </a:rPr>
              <a:t>BUSINESS</a:t>
            </a:r>
            <a:r>
              <a:rPr sz="800" b="0" i="0" spc="140">
                <a:solidFill>
                  <a:srgbClr val="5B5B7A"/>
                </a:solidFill>
                <a:latin typeface="Calibri"/>
              </a:rPr>
              <a:t>   |   COMMERCIAL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6C3CE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229600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Positioned between fitness bands
and medical alert pendants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5740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829800" y="2057400"/>
            <a:ext cx="1783080" cy="3639311"/>
          </a:xfrm>
          <a:prstGeom prst="roundRect">
            <a:avLst>
              <a:gd name="adj" fmla="val 4102"/>
            </a:avLst>
          </a:prstGeom>
          <a:solidFill>
            <a:srgbClr val="6C3CE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205740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10">
                <a:solidFill>
                  <a:srgbClr val="A9A9C7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205740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50" b="1" i="0" spc="110">
                <a:solidFill>
                  <a:srgbClr val="A9A9C7"/>
                </a:solidFill>
                <a:latin typeface="Calibri"/>
              </a:rPr>
              <a:t>FITNESS BANDS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05740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50" b="1" i="0" spc="110">
                <a:solidFill>
                  <a:srgbClr val="A9A9C7"/>
                </a:solidFill>
                <a:latin typeface="Calibri"/>
              </a:rPr>
              <a:t>PREMIUM SMARTWATCHES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05740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50" b="1" i="0" spc="110">
                <a:solidFill>
                  <a:srgbClr val="A9A9C7"/>
                </a:solidFill>
                <a:latin typeface="Calibri"/>
              </a:rPr>
              <a:t>MEDICAL ALERT PENDANTS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20574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50" b="1" i="0" spc="110">
                <a:solidFill>
                  <a:srgbClr val="22D3EE"/>
                </a:solidFill>
                <a:latin typeface="Calibri"/>
              </a:rPr>
              <a:t>NEUROLINK WEAR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4206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Continuous multi-signal vitals (HR, SpO₂, HRV, temp, GSR)</a:t>
            </a:r>
          </a:p>
        </p:txBody>
      </p:sp>
      <p:sp>
        <p:nvSpPr>
          <p:cNvPr id="11" name="Oval 10"/>
          <p:cNvSpPr/>
          <p:nvPr/>
        </p:nvSpPr>
        <p:spPr>
          <a:xfrm>
            <a:off x="5737860" y="2688336"/>
            <a:ext cx="182880" cy="182880"/>
          </a:xfrm>
          <a:prstGeom prst="ellipse">
            <a:avLst/>
          </a:prstGeom>
          <a:noFill/>
          <a:ln w="15875">
            <a:solidFill>
              <a:srgbClr val="A9A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338060" y="2688336"/>
            <a:ext cx="182880" cy="182880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956548" y="2766060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0629900" y="2688336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548640" y="3044952"/>
            <a:ext cx="1106424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44952"/>
            <a:ext cx="4206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Predictive anomaly detection (stress, fever, fatigue)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6148" y="3296412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338060" y="3218688"/>
            <a:ext cx="182880" cy="182880"/>
          </a:xfrm>
          <a:prstGeom prst="ellipse">
            <a:avLst/>
          </a:prstGeom>
          <a:noFill/>
          <a:ln w="15875">
            <a:solidFill>
              <a:srgbClr val="A9A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956548" y="3296412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0629900" y="3218688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548640" y="3575304"/>
            <a:ext cx="1106424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575304"/>
            <a:ext cx="4206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On-device fall verification + wearer prompt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56148" y="3826764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338060" y="3749040"/>
            <a:ext cx="182880" cy="182880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938260" y="3749040"/>
            <a:ext cx="182880" cy="182880"/>
          </a:xfrm>
          <a:prstGeom prst="ellipse">
            <a:avLst/>
          </a:prstGeom>
          <a:noFill/>
          <a:ln w="15875">
            <a:solidFill>
              <a:srgbClr val="A9A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0629900" y="374904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548640" y="4105656"/>
            <a:ext cx="1106424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05656"/>
            <a:ext cx="4206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Caregiver escalation with vitals and GPS link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56148" y="4357116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338060" y="4279392"/>
            <a:ext cx="182880" cy="182880"/>
          </a:xfrm>
          <a:prstGeom prst="ellipse">
            <a:avLst/>
          </a:prstGeom>
          <a:noFill/>
          <a:ln w="15875">
            <a:solidFill>
              <a:srgbClr val="A9A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938260" y="4279392"/>
            <a:ext cx="182880" cy="182880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0629900" y="4279392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548640" y="4636008"/>
            <a:ext cx="1106424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4636008"/>
            <a:ext cx="4206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Explains the signal in plain language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56148" y="4887468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356348" y="4887468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956548" y="4887468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0629900" y="4809744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548640" y="5166360"/>
            <a:ext cx="1106424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5166360"/>
            <a:ext cx="4206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Affordable for LMIC families, no smartphone needed to wear</a:t>
            </a:r>
          </a:p>
        </p:txBody>
      </p:sp>
      <p:sp>
        <p:nvSpPr>
          <p:cNvPr id="41" name="Oval 40"/>
          <p:cNvSpPr/>
          <p:nvPr/>
        </p:nvSpPr>
        <p:spPr>
          <a:xfrm>
            <a:off x="5737860" y="5340096"/>
            <a:ext cx="182880" cy="182880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356348" y="5417820"/>
            <a:ext cx="146304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938260" y="5340096"/>
            <a:ext cx="182880" cy="182880"/>
          </a:xfrm>
          <a:prstGeom prst="ellipse">
            <a:avLst/>
          </a:prstGeom>
          <a:noFill/>
          <a:ln w="15875">
            <a:solidFill>
              <a:srgbClr val="A9A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629900" y="5340096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548640" y="5696712"/>
            <a:ext cx="11064240" cy="0"/>
          </a:xfrm>
          <a:prstGeom prst="line">
            <a:avLst/>
          </a:prstGeom>
          <a:ln w="9525">
            <a:solidFill>
              <a:srgbClr val="262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66928" y="5897880"/>
            <a:ext cx="146304" cy="146304"/>
          </a:xfrm>
          <a:prstGeom prst="ellipse">
            <a:avLst/>
          </a:prstGeom>
          <a:solidFill>
            <a:srgbClr val="A9A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7240" y="586130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A9A9C7"/>
                </a:solidFill>
                <a:latin typeface="Calibri"/>
              </a:rPr>
              <a:t>Full</a:t>
            </a:r>
          </a:p>
        </p:txBody>
      </p:sp>
      <p:sp>
        <p:nvSpPr>
          <p:cNvPr id="48" name="Oval 47"/>
          <p:cNvSpPr/>
          <p:nvPr/>
        </p:nvSpPr>
        <p:spPr>
          <a:xfrm>
            <a:off x="1554480" y="5897880"/>
            <a:ext cx="146304" cy="146304"/>
          </a:xfrm>
          <a:prstGeom prst="ellipse">
            <a:avLst/>
          </a:prstGeom>
          <a:noFill/>
          <a:ln w="15875">
            <a:solidFill>
              <a:srgbClr val="A9A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783080" y="586130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A9A9C7"/>
                </a:solidFill>
                <a:latin typeface="Calibri"/>
              </a:rPr>
              <a:t>Partial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97480" y="5957316"/>
            <a:ext cx="128016" cy="27432"/>
          </a:xfrm>
          <a:prstGeom prst="rect">
            <a:avLst/>
          </a:prstGeom>
          <a:solidFill>
            <a:srgbClr val="26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926080" y="586130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A9A9C7"/>
                </a:solidFill>
                <a:latin typeface="Calibri"/>
              </a:rPr>
              <a:t>None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83387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A9A9C7"/>
                </a:solidFill>
                <a:latin typeface="Calibri"/>
              </a:rPr>
              <a:t>Premium watches do parts of this at 5–10× the price and assume a paired smartphone; pendants react but never predict.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POSITIONING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WHY WE WIN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32688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7172F"/>
                </a:solidFill>
                <a:latin typeface="Calibri"/>
              </a:rPr>
              <a:t>Validation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5B5B7A"/>
                </a:solidFill>
                <a:latin typeface="Calibri"/>
              </a:rPr>
              <a:t>From a working prototype to a validated safety product in 18 months.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240280"/>
            <a:ext cx="10332720" cy="0"/>
          </a:xfrm>
          <a:prstGeom prst="line">
            <a:avLst/>
          </a:prstGeom>
          <a:ln w="25400">
            <a:solidFill>
              <a:srgbClr val="E6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758952" y="2084832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8952" y="20848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 i="0">
                <a:solidFill>
                  <a:srgbClr val="0F0E2A"/>
                </a:solidFill>
                <a:latin typeface="Calibr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2606040" cy="3017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59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7172F"/>
                </a:solidFill>
                <a:latin typeface="Calibri"/>
              </a:rPr>
              <a:t>Bench &amp; on-body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 i="0" spc="160">
                <a:solidFill>
                  <a:srgbClr val="0891B2"/>
                </a:solidFill>
                <a:latin typeface="Calibri"/>
              </a:rPr>
              <a:t>Q4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57600"/>
            <a:ext cx="210312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Sensor accuracy vs. reference devices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Fall thresholds on 20+ scripted falls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Battery life, strap &amp; enclosure v1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2084832"/>
            <a:ext cx="310896" cy="310896"/>
          </a:xfrm>
          <a:prstGeom prst="ellipse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84448" y="20848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4136" y="2651760"/>
            <a:ext cx="2606040" cy="3017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48456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7172F"/>
                </a:solidFill>
                <a:latin typeface="Calibri"/>
              </a:rPr>
              <a:t>Controlled 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2461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 i="0" spc="160">
                <a:solidFill>
                  <a:srgbClr val="6C3CE9"/>
                </a:solidFill>
                <a:latin typeface="Calibri"/>
              </a:rPr>
              <a:t>H1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3657600"/>
            <a:ext cx="210312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30–50 households in Giza &amp; Cairo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Detection reliability, false-alarm rate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Caregiver app, willingness to pay</a:t>
            </a:r>
          </a:p>
        </p:txBody>
      </p:sp>
      <p:sp>
        <p:nvSpPr>
          <p:cNvPr id="17" name="Oval 16"/>
          <p:cNvSpPr/>
          <p:nvPr/>
        </p:nvSpPr>
        <p:spPr>
          <a:xfrm>
            <a:off x="6409944" y="2084832"/>
            <a:ext cx="310896" cy="310896"/>
          </a:xfrm>
          <a:prstGeom prst="ellipse">
            <a:avLst/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9944" y="20848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1" y="2651760"/>
            <a:ext cx="2606040" cy="3017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73951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7172F"/>
                </a:solidFill>
                <a:latin typeface="Calibri"/>
              </a:rPr>
              <a:t>Safety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1" y="32461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 i="0" spc="160">
                <a:solidFill>
                  <a:srgbClr val="3B5BFF"/>
                </a:solidFill>
                <a:latin typeface="Calibri"/>
              </a:rPr>
              <a:t>H2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3657600"/>
            <a:ext cx="210312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Escalation SOPs, consent, privacy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Regulatory pathway assessment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Custom PCB, DFM, supplier quotes</a:t>
            </a:r>
          </a:p>
        </p:txBody>
      </p:sp>
      <p:sp>
        <p:nvSpPr>
          <p:cNvPr id="23" name="Oval 22"/>
          <p:cNvSpPr/>
          <p:nvPr/>
        </p:nvSpPr>
        <p:spPr>
          <a:xfrm>
            <a:off x="9235440" y="2084832"/>
            <a:ext cx="310896" cy="310896"/>
          </a:xfrm>
          <a:prstGeom prst="ellipse">
            <a:avLst/>
          </a:prstGeom>
          <a:solidFill>
            <a:srgbClr val="0F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0848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25128" y="2651760"/>
            <a:ext cx="2606040" cy="3017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9525">
            <a:solidFill>
              <a:srgbClr val="E6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99448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7172F"/>
                </a:solidFill>
                <a:latin typeface="Calibri"/>
              </a:rPr>
              <a:t>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8" y="324612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 i="0" spc="160">
                <a:solidFill>
                  <a:srgbClr val="0F9F6E"/>
                </a:solidFill>
                <a:latin typeface="Calibri"/>
              </a:rPr>
              <a:t>2028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8" y="3657600"/>
            <a:ext cx="210312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Egypt launch with care partners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B2B2C insurer / employer pilots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B5B7A"/>
                </a:solidFill>
                <a:latin typeface="Calibri"/>
              </a:rPr>
              <a:t>–  GCC &amp; MENA expansion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i="1">
                <a:solidFill>
                  <a:srgbClr val="5B5B7A"/>
                </a:solidFill>
                <a:latin typeface="Calibri"/>
              </a:rPr>
              <a:t>Key risks we track: clinical validity of wrist PPG · false-alarm fatigue · battery life with GPS · data privacy and consent · hardware supply.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5B5B7A"/>
                </a:solidFill>
                <a:latin typeface="Calibri"/>
              </a:rPr>
              <a:t>ROADMAP</a:t>
            </a:r>
            <a:r>
              <a:rPr sz="800" b="0" i="0" spc="140">
                <a:solidFill>
                  <a:srgbClr val="5B5B7A"/>
                </a:solidFill>
                <a:latin typeface="Calibri"/>
              </a:rPr>
              <a:t>   |   VALIDATION 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6C3CE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32688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9A9C7"/>
                </a:solidFill>
                <a:latin typeface="Calibri"/>
              </a:rPr>
              <a:t>Builders across embedded systems, data science and care — with advisors we are actively recruiting.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606040" cy="3200400"/>
          </a:xfrm>
          <a:prstGeom prst="roundRect">
            <a:avLst>
              <a:gd name="adj" fmla="val 5614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60" y="2331720"/>
            <a:ext cx="822960" cy="822960"/>
          </a:xfrm>
          <a:prstGeom prst="ellipse">
            <a:avLst/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3832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[Founder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30752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6C3CE9"/>
                </a:solidFill>
                <a:latin typeface="Calibri"/>
              </a:rPr>
              <a:t>CEO · Product &amp; embedded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29768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Firmware, sensor integration, system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74136" y="2103120"/>
            <a:ext cx="2606040" cy="3200400"/>
          </a:xfrm>
          <a:prstGeom prst="roundRect">
            <a:avLst>
              <a:gd name="adj" fmla="val 5614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48455" y="2331720"/>
            <a:ext cx="822960" cy="822960"/>
          </a:xfrm>
          <a:prstGeom prst="ellipse">
            <a:avLst/>
          </a:prstGeom>
          <a:solidFill>
            <a:srgbClr val="3B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48455" y="2331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33832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[Co-founder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730752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3B5BFF"/>
                </a:solidFill>
                <a:latin typeface="Calibri"/>
              </a:rPr>
              <a:t>CTO · AI &amp;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429768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Anomaly models, pipeline, cloud services and dashboard.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2103120"/>
            <a:ext cx="2606040" cy="3200400"/>
          </a:xfrm>
          <a:prstGeom prst="roundRect">
            <a:avLst>
              <a:gd name="adj" fmla="val 5614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73951" y="2331720"/>
            <a:ext cx="822960" cy="82296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73951" y="2331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 i="0">
                <a:solidFill>
                  <a:srgbClr val="0F0E2A"/>
                </a:solidFill>
                <a:latin typeface="Calibri"/>
              </a:rPr>
              <a:t>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1" y="33832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[Clinical advisor]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1" y="3730752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22D3EE"/>
                </a:solidFill>
                <a:latin typeface="Calibri"/>
              </a:rPr>
              <a:t>Geriatrics / family medicine — recruiting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1" y="429768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Protocol design, clinical validity, pilot ethics.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5128" y="2103120"/>
            <a:ext cx="2606040" cy="3200400"/>
          </a:xfrm>
          <a:prstGeom prst="roundRect">
            <a:avLst>
              <a:gd name="adj" fmla="val 5614"/>
            </a:avLst>
          </a:prstGeom>
          <a:solidFill>
            <a:srgbClr val="1B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299448" y="2331720"/>
            <a:ext cx="822960" cy="82296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99448" y="2331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 i="0">
                <a:solidFill>
                  <a:srgbClr val="0F0E2A"/>
                </a:solidFill>
                <a:latin typeface="Calibri"/>
              </a:rPr>
              <a:t>GP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33832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[Growth lead]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3730752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34D399"/>
                </a:solidFill>
                <a:latin typeface="Calibri"/>
              </a:rPr>
              <a:t>Partnerships &amp; go-to-market — recruiting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8" y="429768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A9A9C7"/>
                </a:solidFill>
                <a:latin typeface="Calibri"/>
              </a:rPr>
              <a:t>Senior-care providers, insurers, distribution.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i="1">
                <a:solidFill>
                  <a:srgbClr val="A9A9C7"/>
                </a:solidFill>
                <a:latin typeface="Calibri"/>
              </a:rPr>
              <a:t>Replace the bracketed placeholders with names, photos and one proof point each (previous product shipped, publication, clinical role).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TEAM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WHO IS BUILDING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_band.jpg"/>
          <p:cNvPicPr>
            <a:picLocks noChangeAspect="1"/>
          </p:cNvPicPr>
          <p:nvPr/>
        </p:nvPicPr>
        <p:blipFill>
          <a:blip r:embed="rId2"/>
          <a:srcRect l="32431" r="17463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0" y="0"/>
            <a:ext cx="2743200" cy="6858000"/>
          </a:xfrm>
          <a:prstGeom prst="rect">
            <a:avLst/>
          </a:prstGeom>
          <a:gradFill rotWithShape="1">
            <a:gsLst>
              <a:gs pos="0">
                <a:srgbClr val="0F0E2A"/>
              </a:gs>
              <a:gs pos="100000">
                <a:srgbClr val="0F0E2A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6044184" cy="6858000"/>
          </a:xfrm>
          <a:prstGeom prst="rect">
            <a:avLst/>
          </a:prstGeom>
          <a:solidFill>
            <a:srgbClr val="0F0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-822959" y="5669280"/>
            <a:ext cx="2194560" cy="2194560"/>
          </a:xfrm>
          <a:prstGeom prst="ellipse">
            <a:avLst/>
          </a:prstGeom>
          <a:solidFill>
            <a:srgbClr val="6C3CE9">
              <a:alpha val="63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-449884" y="6042355"/>
            <a:ext cx="1448409" cy="1448409"/>
          </a:xfrm>
          <a:prstGeom prst="ellipse">
            <a:avLst/>
          </a:prstGeom>
          <a:solidFill>
            <a:srgbClr val="6C3CE9">
              <a:alpha val="10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-164592" y="6327648"/>
            <a:ext cx="877824" cy="877824"/>
          </a:xfrm>
          <a:prstGeom prst="ellipse">
            <a:avLst/>
          </a:prstGeom>
          <a:solidFill>
            <a:srgbClr val="6C3CE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777240"/>
            <a:ext cx="50292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Help us close the gap between
a reading and a response.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 i="0" spc="160">
                <a:solidFill>
                  <a:srgbClr val="22D3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008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Pilot partners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227832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Senior-care providers, clinics and insurers in Egypt for a 30–50 household pilot.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59" y="3703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Clinical validation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005072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A geriatrics advisor and access to reference devices for accuracy studies.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4456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59" y="4480559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Pre-seed funding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782312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A9A9C7"/>
                </a:solidFill>
                <a:latin typeface="Calibri"/>
              </a:rPr>
              <a:t>[US$ ___ k] for 18 months — bench validation, pilot, custom PCB and the mobile app.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303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 i="0" spc="160">
                <a:solidFill>
                  <a:srgbClr val="A9A9C7"/>
                </a:solidFill>
                <a:latin typeface="Calibri"/>
              </a:rPr>
              <a:t>INDICATIVE USE OF FUNDS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04688"/>
            <a:ext cx="2121408" cy="146304"/>
          </a:xfrm>
          <a:prstGeom prst="roundRect">
            <a:avLst>
              <a:gd name="adj" fmla="val 31250"/>
            </a:avLst>
          </a:prstGeom>
          <a:solidFill>
            <a:srgbClr val="6C3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568756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 i="0">
                <a:solidFill>
                  <a:srgbClr val="A9A9C7"/>
                </a:solidFill>
                <a:latin typeface="Calibri"/>
              </a:rPr>
              <a:t>40%  Hardware &amp;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06624" y="5504688"/>
            <a:ext cx="1851660" cy="146304"/>
          </a:xfrm>
          <a:prstGeom prst="roundRect">
            <a:avLst>
              <a:gd name="adj" fmla="val 3125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706624" y="5687568"/>
            <a:ext cx="18882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 i="0">
                <a:solidFill>
                  <a:srgbClr val="A9A9C7"/>
                </a:solidFill>
                <a:latin typeface="Calibri"/>
              </a:rPr>
              <a:t>35%  Pilot &amp; validation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94860" y="5504688"/>
            <a:ext cx="1312164" cy="146304"/>
          </a:xfrm>
          <a:prstGeom prst="roundRect">
            <a:avLst>
              <a:gd name="adj" fmla="val 3125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94860" y="5687568"/>
            <a:ext cx="13487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 i="0">
                <a:solidFill>
                  <a:srgbClr val="A9A9C7"/>
                </a:solidFill>
                <a:latin typeface="Calibri"/>
              </a:rPr>
              <a:t>25%  Team &amp;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350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 i="0">
                <a:solidFill>
                  <a:srgbClr val="A9A9C7"/>
                </a:solidFill>
                <a:latin typeface="Calibri"/>
              </a:rPr>
              <a:t>[founder@neurolinkwear.example]  ·  [+20 1xx xxx xxxx]  ·  github.com/DiaaSalah57/Neuro-Link-Wear_SmartBand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 spc="140">
                <a:solidFill>
                  <a:srgbClr val="A9A9C7"/>
                </a:solidFill>
                <a:latin typeface="Calibri"/>
              </a:rPr>
              <a:t>NEXT STEP</a:t>
            </a:r>
            <a:r>
              <a:rPr sz="800" b="0" i="0" spc="140">
                <a:solidFill>
                  <a:srgbClr val="A9A9C7"/>
                </a:solidFill>
                <a:latin typeface="Calibri"/>
              </a:rPr>
              <a:t>   |   PILOT, VALIDATION, FUNDING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4572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