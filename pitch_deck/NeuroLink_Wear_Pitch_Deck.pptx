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with the one-liner: NeuroLink Wear is a smart band that watches the vital signs of the people we love and turns them into timely, understandable action — on the wrist, in the cloud and on a caregiver's phone.</a:t>
            </a:r>
          </a:p>
          <a:p>
            <a:r>
              <a:t>Set expectations: this is a prototype-stage company; we will show what is built, what we have learned, and exactly what we need to reach a validated pilot.</a:t>
            </a:r>
          </a:p>
          <a:p>
            <a:r>
              <a:t>Timing: 30 seconds. Do not read the slide — let the product render do the work.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failure modes of today's care: no context (a single number tells you nothing), no early warning (deterioration is gradual), and no escalation (a fall at home is only discovered hours later).</a:t>
            </a:r>
          </a:p>
          <a:p>
            <a:r>
              <a:t>Anchor with the WHO numbers: an estimated 684 000 fatal falls a year, over 80% of them in low- and middle-income countries; 37.3 million falls a year need medical attention. Adults over 60 suffer the greatest number of fatal falls. (WHO fact sheet on falls, 2021.)</a:t>
            </a:r>
          </a:p>
          <a:p>
            <a:r>
              <a:t>Localise: Egypt's 60+ population reached 9.3 million in 2024 — 8.8% of Egyptians — according to CAPMAS. Most live at home with family who work during the day.</a:t>
            </a:r>
          </a:p>
          <a:p>
            <a:r>
              <a:t>Transition: "We built one system that senses, understands and responds."</a:t>
            </a:r>
          </a:p>
          <a:p>
            <a:r>
              <a:t>Source URLs for the appendix: who.int/news-room/fact-sheets/detail/falls; globalissues.org/news/2024/10/24/38051 (CAPMAS figures).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product is a loop, not a gadget: sense → understand → respond.</a:t>
            </a:r>
          </a:p>
          <a:p>
            <a:r>
              <a:t>Sense: five sensors on one wrist give a richer picture than any single metric. Understand: light features are computed on the band itself; anomaly and time-series models run in the cloud. Respond: the band talks to the wearer first — a simple "Are you OK?" — and only then escalates to family with a location link.</a:t>
            </a:r>
          </a:p>
          <a:p>
            <a:r>
              <a:t>Emphasise dignity: the wearer stays in control; escalation happens only when they cannot answer.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table top to bottom in one breath each: PPG for heart rate, oxygen and heart-rate variability; GSR for arousal; the IMU for steps, tremor and impacts; the IR thermometer for fever trends; GPS for location when it matters.</a:t>
            </a:r>
          </a:p>
          <a:p>
            <a:r>
              <a:t>Everything hangs off a dual-core ESP32 — one core samples sensors and drives the OLED and button, the other handles Wi-Fi, TLS and MQTT.</a:t>
            </a:r>
          </a:p>
          <a:p>
            <a:r>
              <a:t>Be candid: the prototype uses off-the-shelf modules; industrial design and a custom PCB are in the roadmap, and the band is positioned as a wellness/safety product, not a diagnostic device.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Left to right: sensors sample at up to 100 Hz; the ESP32 reduces that to physiologically meaningful features and publishes a compact JSON packet every two seconds over TLS to a managed MQTT broker (HiveMQ Cloud).</a:t>
            </a:r>
          </a:p>
          <a:p>
            <a:r>
              <a:t>The AI core (FastAPI service) runs an Isolation Forest for point anomalies, an LSTM autoencoder for temporal anomalies, a rule-based condition classifier, and an optional LLM layer that writes the explanation and advice. Decisions flow back down the same broker to the band and the dashboard.</a:t>
            </a:r>
          </a:p>
          <a:p>
            <a:r>
              <a:t>Design principle: the time-critical decisions (fall verification, the "Are you OK?" prompt) never depend on the cloud; the cloud adds insight, not safety-critical latency.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our technical moat at this stage: the band already produces the exact feature vector the models were trained on, and it verifies falls locally — impact, free-fall cue, orientation change and a four-second immobility check — before it ever prompts the wearer.</a:t>
            </a:r>
          </a:p>
          <a:p>
            <a:r>
              <a:t>Everything time-critical is on the wrist; the cloud can be slow or offline and the safety loop still completes (emergency packets are queued and retried for ten minutes).</a:t>
            </a:r>
          </a:p>
          <a:p>
            <a:r>
              <a:t>Validation so far is host-side: the firmware compiles against the real sensor and MQTT libraries and passes 87 automated behavioural checks on synthetic data. Bench and on-body validation is the next milestone — say so before anyone asks.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condition maps to a signal pattern and a detection approach — this is why five sensors matter: stress is HRV down plus GSR up plus temperature up, not any one of them.</a:t>
            </a:r>
          </a:p>
          <a:p>
            <a:r>
              <a:t>The stack is layered for robustness: Isolation Forest for point anomalies, an LSTM autoencoder for temporal drift, a rule-based classifier that always produces an explainable label, and an optional LLM that only writes the explanation — it never makes the safety decision.</a:t>
            </a:r>
          </a:p>
          <a:p>
            <a:r>
              <a:t>Data today: 1,875 labelled readings across five activity states, with derived features such as HR deviation from the expected value for the current activity. The pilot will replace synthetic/lab data with real-world wear data — that is the single most valuable asset we will build next.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left to right: the band supplies sensor readings; the backend normalizes and derives features, predicts activity context, updates an intended personal baseline, evaluates the alert paths, and delivers an explanation to the dashboard.</a:t>
            </a:r>
          </a:p>
          <a:p>
            <a:r>
              <a:t>Status matters: the EWMA calibration and fully independent three-tier OR policy on the next slides are the target design and require integration/validation; do not describe them as shipped until wired and tested.</a:t>
            </a:r>
          </a:p>
          <a:p>
            <a:r>
              <a:t>The current repository also has an integration mismatch to resolve before a live demo: firmware publishes to a cloud topic while main.py subscribes to a local broker/topic. The WebSocket dashboard path exists, but the end-to-end broker contract needs alignment.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Random Forest receives seven motion inputs only: accelerometer axes, gyroscope axes and step count. It predicts one of five activity classes. That label informs context; it is not itself an alert.</a:t>
            </a:r>
          </a:p>
          <a:p>
            <a:r>
              <a:t>The Isolation Forest is unsupervised and consumes the 23-feature numeric row (vitals, motion, engineered signals and activity intensity). It returns an anomaly score for a single reading. The condition mapper adds a label after the anomaly decision.</a:t>
            </a:r>
          </a:p>
          <a:p>
            <a:r>
              <a:t>These two models do not need a rolling buffer for inference. Separately, the existing LSTM autoencoder uses a ten-reading window, so avoid claiming that every model is memoryless.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these as preliminary offline results, not a clinical claim. The activity classifier was evaluated on 375 held-out readings: 94% accuracy and 0.94 macro F1. Sleeping and resting are approximately 0.99 F1, walking 0.97, running 0.89 and exercising 0.85.</a:t>
            </a:r>
          </a:p>
          <a:p>
            <a:r>
              <a:t>On the same-size held-out set, the Isolation Forest flagged 37 readings (about 9.9%). The condition mapping assigned 35 a cause: 18 low-oxygen and 17 fever; two remained unexplained.</a:t>
            </a:r>
          </a:p>
          <a:p>
            <a:r>
              <a:t>Before presenting externally, reproduce these metrics from the exact split, verify no leakage between train and test, and state that the dataset evaluation is not an on-body or clinical validation study.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These are interpretable score definitions, not learned weights: stress combines electrodermal arousal, HRV drop and resting-HR rise; core temperature estimates from skin temperature through a gain/offset calibration; fever combines level, rate of rise and HR-temperature coupling; hypoxic burden accumulates desaturation over time to ignore isolated noisy dips; fall logic requires a sequence of motion cues.</a:t>
            </a:r>
          </a:p>
          <a:p>
            <a:r>
              <a:t>The repository implements only part of this catalog today (for example, normalized stress, SpO2/fever risk features and local fall verification). Confirm each equation and threshold is wired, tested and clinically reviewed before describing the entire library as deployed.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the EWMA intuitively: each new valid measurement nudges a personal reference, with recent readings weighted more heavily, rather than moving the baseline abruptly. Update HR, HRV, GSR, temperature and SpO2 references separately.</a:t>
            </a:r>
          </a:p>
          <a:p>
            <a:r>
              <a:t>The safeguards are important: active-alert readings are excluded; a caregiver can anchor calibration using a reference device; and a confidence state stays warming_up until enough reliable wear data exist. Fixed clinical floors are never calibrated away.</a:t>
            </a:r>
          </a:p>
          <a:p>
            <a:r>
              <a:t>Implementation status: this calibration policy is not yet wired into the current pipeline.py runtime. Present it as a pilot design/roadmap capability until the update loop, gating, persistence and tests are implemented.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Describe the intended policy as three independent paths. Tier 1 is a fixed clinical floor (examples supplied: SpO2 under 90%, estimated core temperature at or above 37.8°C, fall impact at or above 2.8 g); personalization cannot disable it. Tier 2 evaluates deviation from the wearer’s per-activity baseline. Tier 3 is the Isolation Forest as a third opinion with activity in its feature vector. Any one tier should be sufficient to alert; OR, never AND.</a:t>
            </a:r>
          </a:p>
          <a:p>
            <a:r>
              <a:t>Important implementation caveat: the current pipeline.py does not yet implement this exact independent OR policy. Today the IF anomaly gates the condition mapper, and IF/LSTM labels are combined into a confidence ensemble. Treat this slide as target architecture until the code is changed and threshold behavior is tested. Clinical limits and sensor-derived core temperature also require validation.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Tell it as a story: the wearer falls in the kitchen at 11 a.m. The band feels a 4 g impact followed by four seconds without movement while lying down. The screen lights up: "Are you OK?" — 30 seconds to press the button. She cannot. The band publishes an emergency packet with her vitals, the time and a maps link; the backend notifies her daughter; the band shows HELP REQUESTED until someone acknowledges.</a:t>
            </a:r>
          </a:p>
          <a:p>
            <a:r>
              <a:t>Two design choices matter to investors: the wearer is asked first (dignity and fewer false alarms), and the whole loop is deterministic and testable — no model in the critical path.</a:t>
            </a:r>
          </a:p>
          <a:p>
            <a:r>
              <a:t>Be transparent about what is not yet validated: thresholds, consent and failure handling will be tuned in the pilot.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buyer is usually the adult child; the wearer is the parent. The app is built for the buyer's anxiety: a green circle that says "all good" is the feature people pay for every month.</a:t>
            </a:r>
          </a:p>
          <a:p>
            <a:r>
              <a:t>Today: a live web dashboard already consumes the pipeline output; the mobile app is the next build item. Show the dashboard live if the demo network allows it.</a:t>
            </a:r>
          </a:p>
          <a:p>
            <a:r>
              <a:t>Alert grading (low / medium / high / critical) maps directly to what the band shows on the wrist, so family and wearer always see the same truth.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 revenue yet — say it plainly — but the whole stack exists: data and trained models, an inference service, a live dashboard, a cloud broker, and firmware for the complete sensor stack including the safety workflow.</a:t>
            </a:r>
          </a:p>
          <a:p>
            <a:r>
              <a:t>That de-risks the next step: the pilot is an integration and validation exercise, not an invention exercise.</a:t>
            </a:r>
          </a:p>
          <a:p>
            <a:r>
              <a:t>Firmware verification is host-side so far (compiles against the real libraries; 87 behavioural checks). On-body validation and battery-life measurements come from the bench phase starting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Focus wins: the first commercial wedge is independent aging in Egypt — 9.3 million people over 60 (8.8 % of the population, CAPMAS 2024), most living at home, with adult children who work.</a:t>
            </a:r>
          </a:p>
          <a:p>
            <a:r>
              <a:t>The buyer and the wearer are different people; pricing, onboarding and the app are designed for the buyer, the band for the wearer.</a:t>
            </a:r>
          </a:p>
          <a:p>
            <a:r>
              <a:t>Global context: WHO estimates 684 000 fatal falls a year and 37.3 million falls needing medical attention; over 80 % of fall deaths happen in low- and middle-income countries — exactly the markets premium smartwatches under-serve.</a:t>
            </a:r>
          </a:p>
          <a:p>
            <a:r>
              <a:t>TAM/SAM/SOM in currency terms is deliberately left for the appendix until pilot data supports a defensible price point.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Three streams, in order of maturity: a device sale to get the band on the wrist, a family subscription that carries the recurring value (insight, history, escalation), and B2B2C channels where an insurer or care provider pays per seat.</a:t>
            </a:r>
          </a:p>
          <a:p>
            <a:r>
              <a:t>Unit economics are hypotheses: the prototype BOM with off-the-shelf modules is roughly 45–60 dollars; a custom PCB at a few thousand units should bring it under 30. Price points are stated in dollar equivalents but will be set in EGP after the pilot's willingness-to-pay interviews.</a:t>
            </a:r>
          </a:p>
          <a:p>
            <a:r>
              <a:t>Do not defend the numbers — defend the method: the pilot is designed to replace every assumption on this slide with measured data.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Fitness bands are cheap but blind to safety; premium smartwatches have fall detection but cost several hundred dollars, assume a paired smartphone on the wearer, and are not designed around a caregiver; medical alert pendants react to a button press but never predict anything.</a:t>
            </a:r>
          </a:p>
          <a:p>
            <a:r>
              <a:t>We sit in the gap: continuous multi-signal vitals, prediction, on-device fall verification and caregiver escalation — at a price a family in Cairo can pay, and without the wearer needing a smartphone.</a:t>
            </a:r>
          </a:p>
          <a:p>
            <a:r>
              <a:t>Keep competitor claims general and fair; if asked about a specific brand, compare on price, caregiver features and phone dependence.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phases, each with a measurable exit: bench accuracy against reference devices; a 30–50 household pilot measuring detection reliability, false-alarm rate and willingness to pay; a safety and compliance phase that turns the workflow into SOPs and assesses the regulatory pathway; then scale with care partners in Egypt and B2B2C pilots.</a:t>
            </a:r>
          </a:p>
          <a:p>
            <a:r>
              <a:t>Name the risks before investors do: wrist PPG accuracy, alarm fatigue, battery life with GPS, privacy and consent, supply chain. Each has an owner and a test in the plan.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proof point per person — what each has shipped or published — beats a list of titles. Highlight the complementary split: embedded/product, AI/data, clinical, growth.</a:t>
            </a:r>
          </a:p>
          <a:p>
            <a:r>
              <a:t>State the open seats as a strength: a geriatrics advisor and a partnerships lead are being recruited for the pilot phase, and part of the raise funds them.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mission line, then be concrete: three asks — pilot partners, clinical validation support, and a pre-seed round sized for 18 months (fill in the amount before presenting).</a:t>
            </a:r>
          </a:p>
          <a:p>
            <a:r>
              <a:t>Use of funds is indicative: roughly 40 % hardware and compliance, 35 % pilot and validation, 25 % team and app.</a:t>
            </a:r>
          </a:p>
          <a:p>
            <a:r>
              <a:t>End with the next step you want from this room: an introduction to a care provider, a pilot site, or a follow-up meeting on the round.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band.jpg"/>
          <p:cNvPicPr>
            <a:picLocks noChangeAspect="1"/>
          </p:cNvPicPr>
          <p:nvPr/>
        </p:nvPicPr>
        <p:blipFill>
          <a:blip r:embed="rId2"/>
          <a:srcRect l="24475" r="15001"/>
          <a:stretch>
            <a:fillRect/>
          </a:stretch>
        </p:blipFill>
        <p:spPr>
          <a:xfrm>
            <a:off x="4754880" y="0"/>
            <a:ext cx="743681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754880" y="0"/>
            <a:ext cx="3291840" cy="6858000"/>
          </a:xfrm>
          <a:prstGeom prst="rect">
            <a:avLst/>
          </a:prstGeom>
          <a:gradFill rotWithShape="1">
            <a:gsLst>
              <a:gs pos="0">
                <a:srgbClr val="0F0E2A"/>
              </a:gs>
              <a:gs pos="55000">
                <a:srgbClr val="0F0E2A">
                  <a:alpha val="55000"/>
                </a:srgbClr>
              </a:gs>
              <a:gs pos="100000">
                <a:srgbClr val="0F0E2A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4764024" cy="6858000"/>
          </a:xfrm>
          <a:prstGeom prst="rect">
            <a:avLst/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-365760" y="4572000"/>
            <a:ext cx="2926080" cy="2926080"/>
          </a:xfrm>
          <a:prstGeom prst="ellipse">
            <a:avLst/>
          </a:prstGeom>
          <a:solidFill>
            <a:srgbClr val="6C3CE9">
              <a:alpha val="77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131673" y="5069433"/>
            <a:ext cx="1931212" cy="1931212"/>
          </a:xfrm>
          <a:prstGeom prst="ellipse">
            <a:avLst/>
          </a:prstGeom>
          <a:solidFill>
            <a:srgbClr val="6C3CE9">
              <a:alpha val="132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12063" y="5449823"/>
            <a:ext cx="1170432" cy="1170432"/>
          </a:xfrm>
          <a:prstGeom prst="ellipse">
            <a:avLst/>
          </a:prstGeom>
          <a:solidFill>
            <a:srgbClr val="6C3CE9">
              <a:alpha val="2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1051560"/>
            <a:ext cx="50292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417320"/>
            <a:ext cx="457200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 i="0" spc="200">
                <a:solidFill>
                  <a:srgbClr val="FFFFFF"/>
                </a:solidFill>
                <a:latin typeface="Calibri"/>
              </a:rPr>
              <a:t>NEUROLINK</a:t>
            </a:r>
          </a:p>
          <a:p>
            <a:pPr algn="l">
              <a:lnSpc>
                <a:spcPct val="95000"/>
              </a:lnSpc>
              <a:spcAft>
                <a:spcPts val="0"/>
              </a:spcAft>
            </a:pPr>
            <a:r>
              <a:rPr sz="5000" b="1" i="0" spc="200">
                <a:solidFill>
                  <a:srgbClr val="FFFFFF"/>
                </a:solidFill>
                <a:latin typeface="Calibri"/>
              </a:rPr>
              <a:t>WEAR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29000"/>
            <a:ext cx="420624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2000" b="0" i="0">
                <a:solidFill>
                  <a:srgbClr val="E4E4F4"/>
                </a:solidFill>
                <a:latin typeface="Calibri"/>
              </a:rPr>
              <a:t>Predictive health intelligence,
worn every day.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4206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900" b="1" i="0" spc="80">
                <a:solidFill>
                  <a:srgbClr val="22D3EE"/>
                </a:solidFill>
                <a:latin typeface="Calibri"/>
              </a:rPr>
              <a:t>SMART WEARABLE</a:t>
            </a:r>
            <a:r>
              <a:rPr sz="900" b="1" i="0" spc="80">
                <a:solidFill>
                  <a:srgbClr val="A9A9C7"/>
                </a:solidFill>
                <a:latin typeface="Calibri"/>
              </a:rPr>
              <a:t>  +  </a:t>
            </a:r>
            <a:r>
              <a:rPr sz="900" b="1" i="0" spc="80">
                <a:solidFill>
                  <a:srgbClr val="22D3EE"/>
                </a:solidFill>
                <a:latin typeface="Calibri"/>
              </a:rPr>
              <a:t>EDGE &amp; CLOUD AI</a:t>
            </a:r>
            <a:r>
              <a:rPr sz="900" b="1" i="0" spc="80">
                <a:solidFill>
                  <a:srgbClr val="A9A9C7"/>
                </a:solidFill>
                <a:latin typeface="Calibri"/>
              </a:rPr>
              <a:t>  +  </a:t>
            </a:r>
            <a:r>
              <a:rPr sz="900" b="1" i="0" spc="80">
                <a:solidFill>
                  <a:srgbClr val="22D3EE"/>
                </a:solidFill>
                <a:latin typeface="Calibri"/>
              </a:rPr>
              <a:t>CAREGIVER SAFETY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72200"/>
            <a:ext cx="5486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0">
                <a:solidFill>
                  <a:srgbClr val="A9A9C7"/>
                </a:solidFill>
                <a:latin typeface="Calibri"/>
              </a:rPr>
              <a:t>Investor pitch  ·  Prototype stage  ·  Giza, Egypt  · 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6949440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7172F"/>
                </a:solidFill>
                <a:latin typeface="Calibri"/>
              </a:rPr>
              <a:t>Critical health changes happen
between check-ins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55064"/>
            <a:ext cx="69494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B5B7A"/>
                </a:solidFill>
                <a:latin typeface="Calibri"/>
              </a:rPr>
              <a:t>A wearable can close the gap between an isolated reading and a timely response.</a:t>
            </a:r>
          </a:p>
        </p:txBody>
      </p:sp>
      <p:sp>
        <p:nvSpPr>
          <p:cNvPr id="4" name="Oval 3"/>
          <p:cNvSpPr/>
          <p:nvPr/>
        </p:nvSpPr>
        <p:spPr>
          <a:xfrm>
            <a:off x="576072" y="2331720"/>
            <a:ext cx="402336" cy="402336"/>
          </a:xfrm>
          <a:prstGeom prst="ellipse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76072" y="2331720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2313432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2F"/>
                </a:solidFill>
                <a:latin typeface="Calibri"/>
              </a:rPr>
              <a:t>Signals lack context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840480" y="2313432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Heart rate, oxygen, temperature and stress indicators only become meaningful when patterns are tracked together over time.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234440" y="3291839"/>
            <a:ext cx="6035039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Oval 8"/>
          <p:cNvSpPr/>
          <p:nvPr/>
        </p:nvSpPr>
        <p:spPr>
          <a:xfrm>
            <a:off x="576072" y="3520439"/>
            <a:ext cx="402336" cy="402336"/>
          </a:xfrm>
          <a:prstGeom prst="ellipse">
            <a:avLst/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76072" y="3520439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02151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2F"/>
                </a:solidFill>
                <a:latin typeface="Calibri"/>
              </a:rPr>
              <a:t>Early warning is difficult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502151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Fatigue, fever, panic and low oxygen begin as subtle deviations — rarely as one obvious event.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1234440" y="4480559"/>
            <a:ext cx="6035039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576072" y="4709159"/>
            <a:ext cx="402336" cy="402336"/>
          </a:xfrm>
          <a:prstGeom prst="ellipse">
            <a:avLst/>
          </a:prstGeom>
          <a:solidFill>
            <a:srgbClr val="F4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76072" y="4709159"/>
            <a:ext cx="402336" cy="40233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690872"/>
            <a:ext cx="25146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500" b="1" i="0">
                <a:solidFill>
                  <a:srgbClr val="17172F"/>
                </a:solidFill>
                <a:latin typeface="Calibri"/>
              </a:rPr>
              <a:t>Emergencies need escalation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840480" y="4690872"/>
            <a:ext cx="342900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A fall or a dangerous reading needs a prompt to the wearer and, if there is no answer, an automatic call for help.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818120" y="914400"/>
            <a:ext cx="3824935" cy="5212080"/>
          </a:xfrm>
          <a:prstGeom prst="roundRect">
            <a:avLst>
              <a:gd name="adj" fmla="val 4303"/>
            </a:avLst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9859975" y="4343400"/>
            <a:ext cx="1645920" cy="1645920"/>
          </a:xfrm>
          <a:prstGeom prst="ellipse">
            <a:avLst/>
          </a:prstGeom>
          <a:solidFill>
            <a:srgbClr val="6C3CE9">
              <a:alpha val="9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0139781" y="4623206"/>
            <a:ext cx="1086307" cy="1086307"/>
          </a:xfrm>
          <a:prstGeom prst="ellipse">
            <a:avLst/>
          </a:prstGeom>
          <a:solidFill>
            <a:srgbClr val="6C3CE9">
              <a:alpha val="16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Oval 20"/>
          <p:cNvSpPr/>
          <p:nvPr/>
        </p:nvSpPr>
        <p:spPr>
          <a:xfrm>
            <a:off x="10353751" y="4837176"/>
            <a:ext cx="658368" cy="658368"/>
          </a:xfrm>
          <a:prstGeom prst="ellipse">
            <a:avLst/>
          </a:prstGeom>
          <a:solidFill>
            <a:srgbClr val="6C3CE9">
              <a:alpha val="2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183880" y="1234440"/>
            <a:ext cx="32004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 i="0" spc="160">
                <a:solidFill>
                  <a:srgbClr val="22D3EE"/>
                </a:solidFill>
                <a:latin typeface="Calibri"/>
              </a:rPr>
              <a:t>WHY IT MATTERS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164592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684 000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83880" y="2304288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people die from falls every year worldwide — the second leading cause of unintentional injury death (WHO).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83880" y="310896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80%+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83880" y="3767328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of fall deaths occur in low- and middle-income countries such as Egypt (WHO).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83880" y="4572000"/>
            <a:ext cx="3291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9.3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183880" y="5230368"/>
            <a:ext cx="324612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Egyptians are aged 60+ (8.8% of the population) and the share keeps rising (CAPMAS 2024).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5B5B7A"/>
                </a:solidFill>
                <a:latin typeface="Calibri"/>
              </a:rPr>
              <a:t>PROBLEM</a:t>
            </a:r>
            <a:r>
              <a:rPr sz="800" b="0" i="0" spc="140">
                <a:solidFill>
                  <a:srgbClr val="5B5B7A"/>
                </a:solidFill>
                <a:latin typeface="Calibri"/>
              </a:rPr>
              <a:t>   |   CONTINUOUS CONTEXT AND RESPONSE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C3CE9"/>
                </a:solidFill>
                <a:latin typeface="Calibri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One system senses, explains
and responds</a:t>
            </a:r>
          </a:p>
        </p:txBody>
      </p:sp>
      <p:pic>
        <p:nvPicPr>
          <p:cNvPr id="3" name="Picture 2" descr="elder_home.jpg"/>
          <p:cNvPicPr>
            <a:picLocks noChangeAspect="1"/>
          </p:cNvPicPr>
          <p:nvPr/>
        </p:nvPicPr>
        <p:blipFill>
          <a:blip r:embed="rId2"/>
          <a:srcRect l="27457" r="11767"/>
          <a:stretch>
            <a:fillRect/>
          </a:stretch>
        </p:blipFill>
        <p:spPr>
          <a:xfrm>
            <a:off x="548640" y="1828800"/>
            <a:ext cx="4480560" cy="4114800"/>
          </a:xfrm>
          <a:prstGeom prst="roundRect">
            <a:avLst>
              <a:gd name="adj" fmla="val 4444"/>
            </a:avLst>
          </a:prstGeom>
        </p:spPr>
      </p:pic>
      <p:sp>
        <p:nvSpPr>
          <p:cNvPr id="4" name="TextBox 3"/>
          <p:cNvSpPr txBox="1"/>
          <p:nvPr/>
        </p:nvSpPr>
        <p:spPr>
          <a:xfrm>
            <a:off x="5577840" y="19202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22D3EE"/>
                </a:solidFill>
                <a:latin typeface="Calibri"/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126479" y="19659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60">
                <a:solidFill>
                  <a:srgbClr val="22D3EE"/>
                </a:solidFill>
                <a:latin typeface="Calibri"/>
              </a:rPr>
              <a:t>SENSE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126479" y="2258568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E4E4F4"/>
                </a:solidFill>
                <a:latin typeface="Calibri"/>
              </a:rPr>
              <a:t>PPG, GSR, motion, skin temperature and GPS create a continuous, multi-signal view of the wearer.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6126479" y="3108960"/>
            <a:ext cx="5486401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5577840" y="32918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6C3CE9"/>
                </a:solidFill>
                <a:latin typeface="Calibri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79" y="33375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60">
                <a:solidFill>
                  <a:srgbClr val="6C3CE9"/>
                </a:solidFill>
                <a:latin typeface="Calibri"/>
              </a:rPr>
              <a:t>UNDERSTAND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79" y="3630168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E4E4F4"/>
                </a:solidFill>
                <a:latin typeface="Calibri"/>
              </a:rPr>
              <a:t>Edge features and anomaly models separate a normal day from stress, fever, low oxygen, fatigue — or a fall.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126479" y="4480560"/>
            <a:ext cx="5486401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577840" y="4663440"/>
            <a:ext cx="4572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34D399"/>
                </a:solidFill>
                <a:latin typeface="Calibri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126479" y="470916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60">
                <a:solidFill>
                  <a:srgbClr val="34D399"/>
                </a:solidFill>
                <a:latin typeface="Calibri"/>
              </a:rPr>
              <a:t>RESPOND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79" y="5001768"/>
            <a:ext cx="5486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250" b="0" i="0">
                <a:solidFill>
                  <a:srgbClr val="E4E4F4"/>
                </a:solidFill>
                <a:latin typeface="Calibri"/>
              </a:rPr>
              <a:t>The band asks "Are you OK?"; the app explains the signal, advises the next step and escalates danger to caregivers with location.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A9A9C7"/>
                </a:solidFill>
                <a:latin typeface="Calibri"/>
              </a:rPr>
              <a:t>SOLUTION</a:t>
            </a:r>
            <a:r>
              <a:rPr sz="800" b="0" i="0" spc="140">
                <a:solidFill>
                  <a:srgbClr val="A9A9C7"/>
                </a:solidFill>
                <a:latin typeface="Calibri"/>
              </a:rPr>
              <a:t>   |   DEVICE, INTELLIGENCE AND ACTION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alibri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77240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Five sensors, one wrist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10515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9A9C7"/>
                </a:solidFill>
                <a:latin typeface="Calibri"/>
              </a:rPr>
              <a:t>Each signal answers a different question; the AI layer combines them when one metric is not enough.</a:t>
            </a:r>
          </a:p>
        </p:txBody>
      </p:sp>
      <p:pic>
        <p:nvPicPr>
          <p:cNvPr id="4" name="Picture 3" descr="exploded_band.jpg"/>
          <p:cNvPicPr>
            <a:picLocks noChangeAspect="1"/>
          </p:cNvPicPr>
          <p:nvPr/>
        </p:nvPicPr>
        <p:blipFill>
          <a:blip r:embed="rId2"/>
          <a:srcRect l="21786" r="21786"/>
          <a:stretch>
            <a:fillRect/>
          </a:stretch>
        </p:blipFill>
        <p:spPr>
          <a:xfrm>
            <a:off x="548640" y="1874519"/>
            <a:ext cx="4206240" cy="4160520"/>
          </a:xfrm>
          <a:prstGeom prst="roundRect">
            <a:avLst>
              <a:gd name="adj" fmla="val 4395"/>
            </a:avLst>
          </a:prstGeom>
        </p:spPr>
      </p:pic>
      <p:sp>
        <p:nvSpPr>
          <p:cNvPr id="5" name="Rectangle 4"/>
          <p:cNvSpPr/>
          <p:nvPr/>
        </p:nvSpPr>
        <p:spPr>
          <a:xfrm>
            <a:off x="5120640" y="1874519"/>
            <a:ext cx="6537959" cy="365760"/>
          </a:xfrm>
          <a:prstGeom prst="rect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230368" y="1874519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SENSOR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93407" y="1874519"/>
            <a:ext cx="210312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MEASURES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979407" y="1874519"/>
            <a:ext cx="2606039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ROLE IN THE SYSTEM</a:t>
            </a:r>
          </a:p>
        </p:txBody>
      </p:sp>
      <p:sp>
        <p:nvSpPr>
          <p:cNvPr id="9" name="Rectangle 8"/>
          <p:cNvSpPr/>
          <p:nvPr/>
        </p:nvSpPr>
        <p:spPr>
          <a:xfrm>
            <a:off x="5120640" y="2240279"/>
            <a:ext cx="6537959" cy="420624"/>
          </a:xfrm>
          <a:prstGeom prst="rect">
            <a:avLst/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0" name="Connector 9"/>
          <p:cNvCxnSpPr/>
          <p:nvPr/>
        </p:nvCxnSpPr>
        <p:spPr>
          <a:xfrm>
            <a:off x="5120640" y="2660903"/>
            <a:ext cx="653796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230368" y="2240279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alibri"/>
              </a:rPr>
              <a:t>MAX30102 PPG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693407" y="2240279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Heart rate · SpO₂ · HRV (RMSSD)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79407" y="2240279"/>
            <a:ext cx="260603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Cardiovascular context, oxygen, recovery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120640" y="2660903"/>
            <a:ext cx="6537959" cy="420624"/>
          </a:xfrm>
          <a:prstGeom prst="rect">
            <a:avLst/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5120640" y="3081527"/>
            <a:ext cx="653796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5230368" y="2660903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alibri"/>
              </a:rPr>
              <a:t>GSR electrodes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693407" y="2660903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Skin conductance (µS)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979407" y="2660903"/>
            <a:ext cx="260603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Stress &amp; sympathetic arousal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20640" y="3081527"/>
            <a:ext cx="6537959" cy="420624"/>
          </a:xfrm>
          <a:prstGeom prst="rect">
            <a:avLst/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0" name="Connector 19"/>
          <p:cNvCxnSpPr/>
          <p:nvPr/>
        </p:nvCxnSpPr>
        <p:spPr>
          <a:xfrm>
            <a:off x="5120640" y="3502151"/>
            <a:ext cx="653796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5230368" y="3081527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alibri"/>
              </a:rPr>
              <a:t>MPU6050 IMU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93407" y="3081527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Acceleration · rotation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79407" y="3081527"/>
            <a:ext cx="260603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Steps, tremor, impact &amp; fall detection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120640" y="3502151"/>
            <a:ext cx="6537959" cy="420624"/>
          </a:xfrm>
          <a:prstGeom prst="rect">
            <a:avLst/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5" name="Connector 24"/>
          <p:cNvCxnSpPr/>
          <p:nvPr/>
        </p:nvCxnSpPr>
        <p:spPr>
          <a:xfrm>
            <a:off x="5120640" y="3922776"/>
            <a:ext cx="653796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5230368" y="3502151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alibri"/>
              </a:rPr>
              <a:t>MLX90614 IR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93407" y="3502151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Skin &amp; ambient temperature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79407" y="3502151"/>
            <a:ext cx="260603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Fever trend, thermal change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120640" y="3922776"/>
            <a:ext cx="6537959" cy="420624"/>
          </a:xfrm>
          <a:prstGeom prst="rect">
            <a:avLst/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0" name="Connector 29"/>
          <p:cNvCxnSpPr/>
          <p:nvPr/>
        </p:nvCxnSpPr>
        <p:spPr>
          <a:xfrm>
            <a:off x="5120640" y="4343400"/>
            <a:ext cx="653796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5230368" y="3922776"/>
            <a:ext cx="128016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22D3EE"/>
                </a:solidFill>
                <a:latin typeface="Calibri"/>
              </a:rPr>
              <a:t>NEO-6M GPS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693407" y="3922776"/>
            <a:ext cx="210312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Position · UTC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79407" y="3922776"/>
            <a:ext cx="2606039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Location for safety escalation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5120640" y="2240279"/>
            <a:ext cx="653796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120640" y="4663440"/>
            <a:ext cx="1440180" cy="256032"/>
          </a:xfrm>
          <a:prstGeom prst="roundRect">
            <a:avLst>
              <a:gd name="adj" fmla="val 50000"/>
            </a:avLst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5120640" y="4663440"/>
            <a:ext cx="14401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Calibri"/>
              </a:rPr>
              <a:t>ESP32 DUAL-CORE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670548" y="4663440"/>
            <a:ext cx="1129284" cy="256032"/>
          </a:xfrm>
          <a:prstGeom prst="roundRect">
            <a:avLst>
              <a:gd name="adj" fmla="val 5000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6670548" y="4663440"/>
            <a:ext cx="112928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Calibri"/>
              </a:rPr>
              <a:t>OLED PROMPT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7909560" y="4663440"/>
            <a:ext cx="2139696" cy="256032"/>
          </a:xfrm>
          <a:prstGeom prst="roundRect">
            <a:avLst>
              <a:gd name="adj" fmla="val 50000"/>
            </a:avLst>
          </a:prstGeom>
          <a:solidFill>
            <a:srgbClr val="F4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7909560" y="4663440"/>
            <a:ext cx="213969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Calibri"/>
              </a:rPr>
              <a:t>ONE BUTTON: I'M OK / SOS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5120640" y="5029200"/>
            <a:ext cx="1517904" cy="25603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TextBox 41"/>
          <p:cNvSpPr txBox="1"/>
          <p:nvPr/>
        </p:nvSpPr>
        <p:spPr>
          <a:xfrm>
            <a:off x="5120640" y="5029200"/>
            <a:ext cx="151790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1" i="0" spc="120">
                <a:solidFill>
                  <a:srgbClr val="0F0E2A"/>
                </a:solidFill>
                <a:latin typeface="Calibri"/>
              </a:rPr>
              <a:t>WI-FI · TLS MQTT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6748272" y="5029200"/>
            <a:ext cx="1284732" cy="25603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6748272" y="5029200"/>
            <a:ext cx="1284732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1" i="0" spc="120">
                <a:solidFill>
                  <a:srgbClr val="0F0E2A"/>
                </a:solidFill>
                <a:latin typeface="Calibri"/>
              </a:rPr>
              <a:t>LI-PO · USB-C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120640" y="5468112"/>
            <a:ext cx="6492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A9A9C7"/>
                </a:solidFill>
                <a:latin typeface="Calibri"/>
              </a:rPr>
              <a:t>Wellness and safety insights — not a diagnostic medical device. Off-the-shelf modules today; a custom PCB is part of the roadmap.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A9A9C7"/>
                </a:solidFill>
                <a:latin typeface="Calibri"/>
              </a:rPr>
              <a:t>HARDWARE</a:t>
            </a:r>
            <a:r>
              <a:rPr sz="800" b="0" i="0" spc="140">
                <a:solidFill>
                  <a:srgbClr val="A9A9C7"/>
                </a:solidFill>
                <a:latin typeface="Calibri"/>
              </a:rPr>
              <a:t>   |   CORE SENSOR STACK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alibri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32688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7172F"/>
                </a:solidFill>
                <a:latin typeface="Calibri"/>
              </a:rPr>
              <a:t>System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B5B7A"/>
                </a:solidFill>
                <a:latin typeface="Calibri"/>
              </a:rPr>
              <a:t>A continuous pipeline turns raw sensor data into understandable guidance and safety actions.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2103120"/>
            <a:ext cx="233172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640080" y="2103120"/>
            <a:ext cx="2331720" cy="109728"/>
          </a:xfrm>
          <a:prstGeom prst="roundRect">
            <a:avLst>
              <a:gd name="adj" fmla="val 50000"/>
            </a:avLst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68680" y="242316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60">
                <a:solidFill>
                  <a:srgbClr val="3B5BFF"/>
                </a:solidFill>
                <a:latin typeface="Calibri"/>
              </a:rPr>
              <a:t>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834639"/>
            <a:ext cx="1920239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PPG · GSR · IMU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Temperature · GPS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up to 100 samples / s</a:t>
            </a:r>
          </a:p>
        </p:txBody>
      </p:sp>
      <p:sp>
        <p:nvSpPr>
          <p:cNvPr id="8" name="Right Arrow 7"/>
          <p:cNvSpPr/>
          <p:nvPr/>
        </p:nvSpPr>
        <p:spPr>
          <a:xfrm>
            <a:off x="3081528" y="3099815"/>
            <a:ext cx="292608" cy="292608"/>
          </a:xfrm>
          <a:prstGeom prst="rightArrow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ounded Rectangle 8"/>
          <p:cNvSpPr/>
          <p:nvPr/>
        </p:nvSpPr>
        <p:spPr>
          <a:xfrm>
            <a:off x="3474720" y="2103120"/>
            <a:ext cx="233172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474720" y="2103120"/>
            <a:ext cx="2331720" cy="109728"/>
          </a:xfrm>
          <a:prstGeom prst="roundRect">
            <a:avLst>
              <a:gd name="adj" fmla="val 5000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03320" y="242316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60">
                <a:solidFill>
                  <a:srgbClr val="6C3CE9"/>
                </a:solidFill>
                <a:latin typeface="Calibri"/>
              </a:rPr>
              <a:t>ESP32 EDGE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703320" y="2834639"/>
            <a:ext cx="1920239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HR · HRV · SpO₂ · steps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Fall verification + prompt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Telemetry every 2 s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916168" y="3099815"/>
            <a:ext cx="292608" cy="292608"/>
          </a:xfrm>
          <a:prstGeom prst="rightArrow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6309359" y="2103120"/>
            <a:ext cx="233172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309359" y="2103120"/>
            <a:ext cx="2331720" cy="109728"/>
          </a:xfrm>
          <a:prstGeom prst="roundRect">
            <a:avLst>
              <a:gd name="adj" fmla="val 50000"/>
            </a:avLst>
          </a:prstGeom>
          <a:solidFill>
            <a:srgbClr val="8B5C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37959" y="242316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60">
                <a:solidFill>
                  <a:srgbClr val="8B5CF6"/>
                </a:solidFill>
                <a:latin typeface="Calibri"/>
              </a:rPr>
              <a:t>AI CORE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37959" y="2834639"/>
            <a:ext cx="1920239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Isolation Forest + LSTM AE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Rule-based conditions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LLM explanation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750807" y="3099815"/>
            <a:ext cx="292608" cy="292608"/>
          </a:xfrm>
          <a:prstGeom prst="rightArrow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ounded Rectangle 18"/>
          <p:cNvSpPr/>
          <p:nvPr/>
        </p:nvSpPr>
        <p:spPr>
          <a:xfrm>
            <a:off x="9144000" y="2103120"/>
            <a:ext cx="233172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144000" y="2103120"/>
            <a:ext cx="2331720" cy="109728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372600" y="2423160"/>
            <a:ext cx="196596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60">
                <a:solidFill>
                  <a:srgbClr val="0F9F6E"/>
                </a:solidFill>
                <a:latin typeface="Calibri"/>
              </a:rPr>
              <a:t>APP + CAREGIVERS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372600" y="2834639"/>
            <a:ext cx="1920239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Live vitals · trends · advice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Alerts · emergency contacts</a:t>
            </a:r>
          </a:p>
          <a:p>
            <a:pPr algn="l">
              <a:lnSpc>
                <a:spcPct val="115000"/>
              </a:lnSpc>
              <a:spcAft>
                <a:spcPts val="5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GPS link on escalation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255367" y="4663440"/>
            <a:ext cx="7680960" cy="292608"/>
          </a:xfrm>
          <a:prstGeom prst="roundRect">
            <a:avLst>
              <a:gd name="adj" fmla="val 50000"/>
            </a:avLst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255367" y="4663440"/>
            <a:ext cx="7680960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MQTT OVER TLS 1.2  ·  HIVEMQ CLOUD  ·  JSON ≤ 1 KB  ·  EVERY 2 S  ·  ALERTS BACK TO THE BAND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3035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640080" y="530352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Calibri"/>
              </a:rPr>
              <a:t>EDGE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562356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B5B7A"/>
                </a:solidFill>
                <a:latin typeface="Calibri"/>
              </a:rPr>
              <a:t>RMSSD, motion variance, tremor frequency and impact peaks computed on the wrist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43400" y="53035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4343400" y="530352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Calibri"/>
              </a:rPr>
              <a:t>FALLBACK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43400" y="562356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B5B7A"/>
                </a:solidFill>
                <a:latin typeface="Calibri"/>
              </a:rPr>
              <a:t>Statistical threshold rules keep working if the cloud or a model is unavailable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046720" y="5303520"/>
            <a:ext cx="960120" cy="256032"/>
          </a:xfrm>
          <a:prstGeom prst="roundRect">
            <a:avLst>
              <a:gd name="adj" fmla="val 50000"/>
            </a:avLst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046720" y="5303520"/>
            <a:ext cx="96012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Calibri"/>
              </a:rPr>
              <a:t>RESILIENCE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046720" y="5623560"/>
            <a:ext cx="35204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B5B7A"/>
                </a:solidFill>
                <a:latin typeface="Calibri"/>
              </a:rPr>
              <a:t>Offline outbox: emergency packets are retried for 10 minutes; last-will status for presence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5B5B7A"/>
                </a:solidFill>
                <a:latin typeface="Calibri"/>
              </a:rPr>
              <a:t>TECHNOLOGY</a:t>
            </a:r>
            <a:r>
              <a:rPr sz="800" b="0" i="0" spc="140">
                <a:solidFill>
                  <a:srgbClr val="5B5B7A"/>
                </a:solidFill>
                <a:latin typeface="Calibri"/>
              </a:rPr>
              <a:t>   |   EDGE-TO-CLOUD DATA PIPELINE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C3CE9"/>
                </a:solidFill>
                <a:latin typeface="Calibri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The wrist does the time-critical work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9A9C7"/>
                </a:solidFill>
                <a:latin typeface="Calibri"/>
              </a:rPr>
              <a:t>Firmware v1.0 turns raw samples into clinical-style features and a verified safety prompt — with or without the cloud.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011680"/>
            <a:ext cx="2395728" cy="1600200"/>
          </a:xfrm>
          <a:prstGeom prst="roundRect">
            <a:avLst>
              <a:gd name="adj" fmla="val 8000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548640" y="2286000"/>
            <a:ext cx="54864" cy="1051560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04672" y="2240280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Heart rate &amp; HRV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2670048"/>
            <a:ext cx="198424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Beat-to-beat intervals with artifact rejection; RMSSD over the last 20 beats.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127248" y="2011680"/>
            <a:ext cx="2395728" cy="1600200"/>
          </a:xfrm>
          <a:prstGeom prst="roundRect">
            <a:avLst>
              <a:gd name="adj" fmla="val 8000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127248" y="2286000"/>
            <a:ext cx="54864" cy="1051560"/>
          </a:xfrm>
          <a:prstGeom prst="rect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383280" y="2240280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SpO₂ estimate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670048"/>
            <a:ext cx="198424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Ratio-of-ratios on rolling red/IR AC-DC with perfusion and contact checks.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705856" y="2011680"/>
            <a:ext cx="2395728" cy="1600200"/>
          </a:xfrm>
          <a:prstGeom prst="roundRect">
            <a:avLst>
              <a:gd name="adj" fmla="val 8000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5705856" y="2286000"/>
            <a:ext cx="54864" cy="1051560"/>
          </a:xfrm>
          <a:prstGeom prst="rect">
            <a:avLst/>
          </a:prstGeom>
          <a:solidFill>
            <a:srgbClr val="F4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961888" y="2240280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Fall detector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61888" y="2670048"/>
            <a:ext cx="198424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Impact &gt; 3 g, free-fall cue, orientation change and a 4 s immobility check → confidence score.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3794760"/>
            <a:ext cx="2395728" cy="1600200"/>
          </a:xfrm>
          <a:prstGeom prst="roundRect">
            <a:avLst>
              <a:gd name="adj" fmla="val 8000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ectangle 16"/>
          <p:cNvSpPr/>
          <p:nvPr/>
        </p:nvSpPr>
        <p:spPr>
          <a:xfrm>
            <a:off x="548640" y="4069080"/>
            <a:ext cx="54864" cy="1051560"/>
          </a:xfrm>
          <a:prstGeom prst="rect">
            <a:avLst/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04672" y="4023360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Motion analytics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4672" y="4453128"/>
            <a:ext cx="198424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Pedometer, cadence, variance and dominant tremor frequency from 50 Hz IMU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127248" y="3794760"/>
            <a:ext cx="2395728" cy="1600200"/>
          </a:xfrm>
          <a:prstGeom prst="roundRect">
            <a:avLst>
              <a:gd name="adj" fmla="val 8000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ectangle 20"/>
          <p:cNvSpPr/>
          <p:nvPr/>
        </p:nvSpPr>
        <p:spPr>
          <a:xfrm>
            <a:off x="3127248" y="4069080"/>
            <a:ext cx="54864" cy="1051560"/>
          </a:xfrm>
          <a:prstGeom prst="rect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3383280" y="4023360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Resilient link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4453128"/>
            <a:ext cx="198424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TLS MQTT, retained presence, offline outbox with 10-minute retry for emergencies.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705856" y="3794760"/>
            <a:ext cx="2395728" cy="1600200"/>
          </a:xfrm>
          <a:prstGeom prst="roundRect">
            <a:avLst>
              <a:gd name="adj" fmla="val 8000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Rectangle 24"/>
          <p:cNvSpPr/>
          <p:nvPr/>
        </p:nvSpPr>
        <p:spPr>
          <a:xfrm>
            <a:off x="5705856" y="4069080"/>
            <a:ext cx="54864" cy="1051560"/>
          </a:xfrm>
          <a:prstGeom prst="rect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5961888" y="4023360"/>
            <a:ext cx="1984248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Honest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961888" y="4453128"/>
            <a:ext cx="1984248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Validity flags for every vital; missing sensors are reported, never faked.</a:t>
            </a:r>
          </a:p>
        </p:txBody>
      </p:sp>
      <p:sp>
        <p:nvSpPr>
          <p:cNvPr id="28" name="Oval 27"/>
          <p:cNvSpPr/>
          <p:nvPr/>
        </p:nvSpPr>
        <p:spPr>
          <a:xfrm>
            <a:off x="8961119" y="1760220"/>
            <a:ext cx="2377440" cy="2377440"/>
          </a:xfrm>
          <a:prstGeom prst="ellipse">
            <a:avLst/>
          </a:prstGeom>
          <a:solidFill>
            <a:srgbClr val="22D3EE">
              <a:alpha val="3499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9365284" y="2164384"/>
            <a:ext cx="1569110" cy="1569110"/>
          </a:xfrm>
          <a:prstGeom prst="ellipse">
            <a:avLst/>
          </a:prstGeom>
          <a:solidFill>
            <a:srgbClr val="22D3EE">
              <a:alpha val="6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9674352" y="2473452"/>
            <a:ext cx="950976" cy="950976"/>
          </a:xfrm>
          <a:prstGeom prst="ellipse">
            <a:avLst/>
          </a:prstGeom>
          <a:solidFill>
            <a:srgbClr val="22D3EE">
              <a:alpha val="1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Rounded Rectangle 30"/>
          <p:cNvSpPr/>
          <p:nvPr/>
        </p:nvSpPr>
        <p:spPr>
          <a:xfrm>
            <a:off x="8641080" y="2011680"/>
            <a:ext cx="3017520" cy="1874519"/>
          </a:xfrm>
          <a:prstGeom prst="roundRect">
            <a:avLst>
              <a:gd name="adj" fmla="val 5853"/>
            </a:avLst>
          </a:prstGeom>
          <a:solidFill>
            <a:srgbClr val="05050F"/>
          </a:solidFill>
          <a:ln w="19050">
            <a:solidFill>
              <a:srgbClr val="26255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TextBox 31"/>
          <p:cNvSpPr txBox="1"/>
          <p:nvPr/>
        </p:nvSpPr>
        <p:spPr>
          <a:xfrm>
            <a:off x="8869680" y="2194560"/>
            <a:ext cx="2286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 i="0" spc="160">
                <a:solidFill>
                  <a:srgbClr val="F43F7A"/>
                </a:solidFill>
                <a:latin typeface="Calibri"/>
              </a:rPr>
              <a:t>FALL DETECTED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869680" y="246888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Calibri"/>
              </a:rPr>
              <a:t>Are you OK?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698480" y="2395728"/>
            <a:ext cx="7772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3000" b="1" i="0">
                <a:solidFill>
                  <a:srgbClr val="22D3EE"/>
                </a:solidFill>
                <a:latin typeface="Calibri"/>
              </a:rPr>
              <a:t>27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869680" y="3154680"/>
            <a:ext cx="2560320" cy="73152"/>
          </a:xfrm>
          <a:prstGeom prst="roundRect">
            <a:avLst>
              <a:gd name="adj" fmla="val 50000"/>
            </a:avLst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ounded Rectangle 35"/>
          <p:cNvSpPr/>
          <p:nvPr/>
        </p:nvSpPr>
        <p:spPr>
          <a:xfrm>
            <a:off x="8869680" y="3154680"/>
            <a:ext cx="2304288" cy="7315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869680" y="3337560"/>
            <a:ext cx="256032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0" i="0">
                <a:solidFill>
                  <a:srgbClr val="A9A9C7"/>
                </a:solidFill>
                <a:latin typeface="Calibri"/>
              </a:rPr>
              <a:t>press button = I'm OK   ·   no answer in 30 s → help is called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41080" y="4023360"/>
            <a:ext cx="301752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A9A9C7"/>
                </a:solidFill>
                <a:latin typeface="Calibri"/>
              </a:rPr>
              <a:t>On-device prompt (SSD1306 OLED)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641080" y="4526280"/>
            <a:ext cx="3017520" cy="1051560"/>
          </a:xfrm>
          <a:prstGeom prst="roundRect">
            <a:avLst>
              <a:gd name="adj" fmla="val 12173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869680" y="4617720"/>
            <a:ext cx="26517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FFFFFF"/>
                </a:solidFill>
                <a:latin typeface="Calibri"/>
              </a:rPr>
              <a:t>87 automated logic checks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869680" y="4983480"/>
            <a:ext cx="2651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00" b="0" i="0">
                <a:solidFill>
                  <a:srgbClr val="A9A9C7"/>
                </a:solidFill>
                <a:latin typeface="Calibri"/>
              </a:rPr>
              <a:t>HR ±0.1 bpm · exact RMSSD · fall vs. walking · step counts · JSON contract · prompt → ack / timeout → emergency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A9A9C7"/>
                </a:solidFill>
                <a:latin typeface="Calibri"/>
              </a:rPr>
              <a:t>FIRMWARE</a:t>
            </a:r>
            <a:r>
              <a:rPr sz="800" b="0" i="0" spc="140">
                <a:solidFill>
                  <a:srgbClr val="A9A9C7"/>
                </a:solidFill>
                <a:latin typeface="Calibri"/>
              </a:rPr>
              <a:t>   |   ESP32 EDGE INTELLIGENCE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alibri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7172F"/>
                </a:solidFill>
                <a:latin typeface="Calibri"/>
              </a:rPr>
              <a:t>The intelligence engine combines
anomalies, trends and context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2103120"/>
            <a:ext cx="6995160" cy="384048"/>
          </a:xfrm>
          <a:prstGeom prst="rect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58368" y="2103120"/>
            <a:ext cx="123444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CONDITION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075688" y="2103120"/>
            <a:ext cx="288036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SIGNAL PATTERN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38928" y="2103120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DETECTION APPROACH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487168"/>
            <a:ext cx="699516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8" name="Connector 7"/>
          <p:cNvCxnSpPr/>
          <p:nvPr/>
        </p:nvCxnSpPr>
        <p:spPr>
          <a:xfrm>
            <a:off x="548640" y="2916935"/>
            <a:ext cx="699516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658368" y="2487168"/>
            <a:ext cx="123444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6C3CE9"/>
                </a:solidFill>
                <a:latin typeface="Calibri"/>
              </a:rPr>
              <a:t>Stress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075688" y="2487168"/>
            <a:ext cx="288036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7172F"/>
                </a:solidFill>
                <a:latin typeface="Calibri"/>
              </a:rPr>
              <a:t>HRV ↓ · GSR ↑ · temperature 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38928" y="2487168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7172F"/>
                </a:solidFill>
                <a:latin typeface="Calibri"/>
              </a:rPr>
              <a:t>Combined anomaly score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2916935"/>
            <a:ext cx="6995160" cy="429768"/>
          </a:xfrm>
          <a:prstGeom prst="rect">
            <a:avLst/>
          </a:prstGeom>
          <a:solidFill>
            <a:srgbClr val="F5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3" name="Connector 12"/>
          <p:cNvCxnSpPr/>
          <p:nvPr/>
        </p:nvCxnSpPr>
        <p:spPr>
          <a:xfrm>
            <a:off x="548640" y="3346703"/>
            <a:ext cx="699516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58368" y="2916935"/>
            <a:ext cx="123444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6C3CE9"/>
                </a:solidFill>
                <a:latin typeface="Calibri"/>
              </a:rPr>
              <a:t>Panic attack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075688" y="2916935"/>
            <a:ext cx="288036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7172F"/>
                </a:solidFill>
                <a:latin typeface="Calibri"/>
              </a:rPr>
              <a:t>Heart-rate spike · GSR spike · no motion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916935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7172F"/>
                </a:solidFill>
                <a:latin typeface="Calibri"/>
              </a:rPr>
              <a:t>Sudden deviation + context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46703"/>
            <a:ext cx="699516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8" name="Connector 17"/>
          <p:cNvCxnSpPr/>
          <p:nvPr/>
        </p:nvCxnSpPr>
        <p:spPr>
          <a:xfrm>
            <a:off x="548640" y="3776471"/>
            <a:ext cx="699516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658368" y="3346703"/>
            <a:ext cx="123444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6C3CE9"/>
                </a:solidFill>
                <a:latin typeface="Calibri"/>
              </a:rPr>
              <a:t>Fever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075688" y="3346703"/>
            <a:ext cx="288036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7172F"/>
                </a:solidFill>
                <a:latin typeface="Calibri"/>
              </a:rPr>
              <a:t>Temperature rising over time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38928" y="3346703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7172F"/>
                </a:solidFill>
                <a:latin typeface="Calibri"/>
              </a:rPr>
              <a:t>Continuous trend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3776471"/>
            <a:ext cx="6995160" cy="429768"/>
          </a:xfrm>
          <a:prstGeom prst="rect">
            <a:avLst/>
          </a:prstGeom>
          <a:solidFill>
            <a:srgbClr val="F5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3" name="Connector 22"/>
          <p:cNvCxnSpPr/>
          <p:nvPr/>
        </p:nvCxnSpPr>
        <p:spPr>
          <a:xfrm>
            <a:off x="548640" y="4206239"/>
            <a:ext cx="699516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8368" y="3776471"/>
            <a:ext cx="123444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6C3CE9"/>
                </a:solidFill>
                <a:latin typeface="Calibri"/>
              </a:rPr>
              <a:t>Low oxygen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75688" y="3776471"/>
            <a:ext cx="288036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7172F"/>
                </a:solidFill>
                <a:latin typeface="Calibri"/>
              </a:rPr>
              <a:t>SpO₂ below threshold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138928" y="3776471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7172F"/>
                </a:solidFill>
                <a:latin typeface="Calibri"/>
              </a:rPr>
              <a:t>Threshold rule (fallback-safe)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48640" y="4206239"/>
            <a:ext cx="6995160" cy="42976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8" name="Connector 27"/>
          <p:cNvCxnSpPr/>
          <p:nvPr/>
        </p:nvCxnSpPr>
        <p:spPr>
          <a:xfrm>
            <a:off x="548640" y="4636007"/>
            <a:ext cx="699516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58368" y="4206239"/>
            <a:ext cx="123444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6C3CE9"/>
                </a:solidFill>
                <a:latin typeface="Calibri"/>
              </a:rPr>
              <a:t>Fatigue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075688" y="4206239"/>
            <a:ext cx="288036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7172F"/>
                </a:solidFill>
                <a:latin typeface="Calibri"/>
              </a:rPr>
              <a:t>Sustained low HRV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138928" y="4206239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7172F"/>
                </a:solidFill>
                <a:latin typeface="Calibri"/>
              </a:rPr>
              <a:t>Long-term trend analysis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48640" y="4636007"/>
            <a:ext cx="6995160" cy="429768"/>
          </a:xfrm>
          <a:prstGeom prst="rect">
            <a:avLst/>
          </a:prstGeom>
          <a:solidFill>
            <a:srgbClr val="F5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548640" y="5065775"/>
            <a:ext cx="699516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58368" y="4636007"/>
            <a:ext cx="123444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1" i="0">
                <a:solidFill>
                  <a:srgbClr val="6C3CE9"/>
                </a:solidFill>
                <a:latin typeface="Calibri"/>
              </a:rPr>
              <a:t>Fall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075688" y="4636007"/>
            <a:ext cx="288036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7172F"/>
                </a:solidFill>
                <a:latin typeface="Calibri"/>
              </a:rPr>
              <a:t>Impact + immobility (edge-verified)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38928" y="4636007"/>
            <a:ext cx="2331720" cy="4297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50" b="0" i="0">
                <a:solidFill>
                  <a:srgbClr val="17172F"/>
                </a:solidFill>
                <a:latin typeface="Calibri"/>
              </a:rPr>
              <a:t>IMU rule + LSTM motion anomaly</a:t>
            </a:r>
          </a:p>
        </p:txBody>
      </p:sp>
      <p:cxnSp>
        <p:nvCxnSpPr>
          <p:cNvPr id="37" name="Connector 36"/>
          <p:cNvCxnSpPr/>
          <p:nvPr/>
        </p:nvCxnSpPr>
        <p:spPr>
          <a:xfrm>
            <a:off x="548640" y="2487168"/>
            <a:ext cx="699516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>
            <a:off x="8001000" y="210312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60">
                <a:solidFill>
                  <a:srgbClr val="6C3CE9"/>
                </a:solidFill>
                <a:latin typeface="Calibri"/>
              </a:rPr>
              <a:t>MODEL STACK</a:t>
            </a:r>
          </a:p>
        </p:txBody>
      </p:sp>
      <p:sp>
        <p:nvSpPr>
          <p:cNvPr id="39" name="Oval 38"/>
          <p:cNvSpPr/>
          <p:nvPr/>
        </p:nvSpPr>
        <p:spPr>
          <a:xfrm>
            <a:off x="8019288" y="2532888"/>
            <a:ext cx="329184" cy="329184"/>
          </a:xfrm>
          <a:prstGeom prst="ellipse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0" name="TextBox 39"/>
          <p:cNvSpPr txBox="1"/>
          <p:nvPr/>
        </p:nvSpPr>
        <p:spPr>
          <a:xfrm>
            <a:off x="8019288" y="2532888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49640" y="2496312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7172F"/>
                </a:solidFill>
                <a:latin typeface="Calibri"/>
              </a:rPr>
              <a:t>Isolation Forest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49640" y="2788920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B5B7A"/>
                </a:solidFill>
                <a:latin typeface="Calibri"/>
              </a:rPr>
              <a:t>Point anomalies across 23 engineered features</a:t>
            </a:r>
          </a:p>
        </p:txBody>
      </p:sp>
      <p:sp>
        <p:nvSpPr>
          <p:cNvPr id="43" name="Oval 42"/>
          <p:cNvSpPr/>
          <p:nvPr/>
        </p:nvSpPr>
        <p:spPr>
          <a:xfrm>
            <a:off x="8019288" y="3429000"/>
            <a:ext cx="329184" cy="329184"/>
          </a:xfrm>
          <a:prstGeom prst="ellipse">
            <a:avLst/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8019288" y="3429000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49640" y="3392424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7172F"/>
                </a:solidFill>
                <a:latin typeface="Calibri"/>
              </a:rPr>
              <a:t>LSTM autoencoder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49640" y="3685032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B5B7A"/>
                </a:solidFill>
                <a:latin typeface="Calibri"/>
              </a:rPr>
              <a:t>Temporal anomalies over rolling windows (threshold 0.33 reconstruction error)</a:t>
            </a:r>
          </a:p>
        </p:txBody>
      </p:sp>
      <p:sp>
        <p:nvSpPr>
          <p:cNvPr id="47" name="Oval 46"/>
          <p:cNvSpPr/>
          <p:nvPr/>
        </p:nvSpPr>
        <p:spPr>
          <a:xfrm>
            <a:off x="8019288" y="4325112"/>
            <a:ext cx="329184" cy="329184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019288" y="4325112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1" i="0">
                <a:solidFill>
                  <a:srgbClr val="0F0E2A"/>
                </a:solidFill>
                <a:latin typeface="Calibri"/>
              </a:rPr>
              <a:t>3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49640" y="4288536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7172F"/>
                </a:solidFill>
                <a:latin typeface="Calibri"/>
              </a:rPr>
              <a:t>Rule-based classifier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49640" y="4581144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B5B7A"/>
                </a:solidFill>
                <a:latin typeface="Calibri"/>
              </a:rPr>
              <a:t>Explainable condition labels; safe fallback if a model is unavailable</a:t>
            </a:r>
          </a:p>
        </p:txBody>
      </p:sp>
      <p:sp>
        <p:nvSpPr>
          <p:cNvPr id="51" name="Oval 50"/>
          <p:cNvSpPr/>
          <p:nvPr/>
        </p:nvSpPr>
        <p:spPr>
          <a:xfrm>
            <a:off x="8019288" y="5221224"/>
            <a:ext cx="329184" cy="329184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2" name="TextBox 51"/>
          <p:cNvSpPr txBox="1"/>
          <p:nvPr/>
        </p:nvSpPr>
        <p:spPr>
          <a:xfrm>
            <a:off x="8019288" y="5221224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1" i="0">
                <a:solidFill>
                  <a:srgbClr val="0F0E2A"/>
                </a:solidFill>
                <a:latin typeface="Calibri"/>
              </a:rPr>
              <a:t>4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49640" y="5184648"/>
            <a:ext cx="32004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00" b="1" i="0">
                <a:solidFill>
                  <a:srgbClr val="17172F"/>
                </a:solidFill>
                <a:latin typeface="Calibri"/>
              </a:rPr>
              <a:t>LLM layer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8549640" y="5477255"/>
            <a:ext cx="320040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B5B7A"/>
                </a:solidFill>
                <a:latin typeface="Calibri"/>
              </a:rPr>
              <a:t>Plain-language explanation and personalised next steps (optional, non-blocking)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5532120"/>
            <a:ext cx="69494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5B5B7A"/>
                </a:solidFill>
                <a:latin typeface="Calibri"/>
              </a:rPr>
              <a:t>Trained on 1,875 labelled readings across five activity states (resting, sleeping, walking, exercising, running). Activity intensity, HR deviation, SpO₂ and fever risk scores are derived per reading.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5B5B7A"/>
                </a:solidFill>
                <a:latin typeface="Calibri"/>
              </a:rPr>
              <a:t>AI / ML</a:t>
            </a:r>
            <a:r>
              <a:rPr sz="800" b="0" i="0" spc="140">
                <a:solidFill>
                  <a:srgbClr val="5B5B7A"/>
                </a:solidFill>
                <a:latin typeface="Calibri"/>
              </a:rPr>
              <a:t>   |   ANOMALY DETECTION AND EXPLANATION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C3CE9"/>
                </a:solidFill>
                <a:latin typeface="Calibri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7172F"/>
                </a:solidFill>
                <a:latin typeface="Calibri"/>
              </a:rPr>
              <a:t>AI architecture — from sensor to alert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B5B7A"/>
                </a:solidFill>
                <a:latin typeface="Calibri"/>
              </a:rPr>
              <a:t>A target end-to-end path: wearable signals → context → detection → understandable action.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052560" y="1700784"/>
            <a:ext cx="2560320" cy="283464"/>
          </a:xfrm>
          <a:prstGeom prst="roundRect">
            <a:avLst>
              <a:gd name="adj" fmla="val 50000"/>
            </a:avLst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052560" y="1700784"/>
            <a:ext cx="2560320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40" b="1" i="0" spc="120">
                <a:solidFill>
                  <a:srgbClr val="FFFFFF"/>
                </a:solidFill>
                <a:latin typeface="Calibri"/>
              </a:rPr>
              <a:t>DESIGN PATH · VALIDATION IN PROGRESS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423160"/>
            <a:ext cx="1664208" cy="1965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66928" y="2423160"/>
            <a:ext cx="1664208" cy="91440"/>
          </a:xfrm>
          <a:prstGeom prst="roundRect">
            <a:avLst>
              <a:gd name="adj" fmla="val 50000"/>
            </a:avLst>
          </a:prstGeom>
          <a:solidFill>
            <a:srgbClr val="6A3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58368" y="2651760"/>
            <a:ext cx="310896" cy="310896"/>
          </a:xfrm>
          <a:prstGeom prst="ellipse">
            <a:avLst/>
          </a:prstGeom>
          <a:solidFill>
            <a:srgbClr val="6A3C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58368" y="26517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13232" y="3099815"/>
            <a:ext cx="138988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17172F"/>
                </a:solidFill>
                <a:latin typeface="Calibri"/>
              </a:rPr>
              <a:t>ESP32 band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13232" y="3593591"/>
            <a:ext cx="1389888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 i="0">
                <a:solidFill>
                  <a:srgbClr val="5B5B7A"/>
                </a:solidFill>
                <a:latin typeface="Calibri"/>
              </a:rPr>
              <a:t>5 vital-sign sensors
Motion + GPS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2272284" y="3255264"/>
            <a:ext cx="210312" cy="256032"/>
          </a:xfrm>
          <a:prstGeom prst="rightArrow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2523744" y="2423160"/>
            <a:ext cx="1664208" cy="1965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Rounded Rectangle 13"/>
          <p:cNvSpPr/>
          <p:nvPr/>
        </p:nvSpPr>
        <p:spPr>
          <a:xfrm>
            <a:off x="2523744" y="2423160"/>
            <a:ext cx="1664208" cy="91440"/>
          </a:xfrm>
          <a:prstGeom prst="roundRect">
            <a:avLst>
              <a:gd name="adj" fmla="val 50000"/>
            </a:avLst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Oval 14"/>
          <p:cNvSpPr/>
          <p:nvPr/>
        </p:nvSpPr>
        <p:spPr>
          <a:xfrm>
            <a:off x="2615184" y="2651760"/>
            <a:ext cx="310896" cy="310896"/>
          </a:xfrm>
          <a:prstGeom prst="ellipse">
            <a:avLst/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2615184" y="26517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70048" y="3099815"/>
            <a:ext cx="138988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17172F"/>
                </a:solidFill>
                <a:latin typeface="Calibri"/>
              </a:rPr>
              <a:t>Normalize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70048" y="3593591"/>
            <a:ext cx="1389888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 i="0">
                <a:solidFill>
                  <a:srgbClr val="5B5B7A"/>
                </a:solidFill>
                <a:latin typeface="Calibri"/>
              </a:rPr>
              <a:t>Check units
Build features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229100" y="3255264"/>
            <a:ext cx="210312" cy="256032"/>
          </a:xfrm>
          <a:prstGeom prst="rightArrow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4480560" y="2423160"/>
            <a:ext cx="1664208" cy="1965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4480560" y="2423160"/>
            <a:ext cx="1664208" cy="91440"/>
          </a:xfrm>
          <a:prstGeom prst="roundRect">
            <a:avLst>
              <a:gd name="adj" fmla="val 50000"/>
            </a:avLst>
          </a:prstGeom>
          <a:solidFill>
            <a:srgbClr val="167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572000" y="2651760"/>
            <a:ext cx="310896" cy="310896"/>
          </a:xfrm>
          <a:prstGeom prst="ellipse">
            <a:avLst/>
          </a:prstGeom>
          <a:solidFill>
            <a:srgbClr val="167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572000" y="26517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6864" y="3099815"/>
            <a:ext cx="138988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17172F"/>
                </a:solidFill>
                <a:latin typeface="Calibri"/>
              </a:rPr>
              <a:t>Activity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26864" y="3593591"/>
            <a:ext cx="1389888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 i="0">
                <a:solidFill>
                  <a:srgbClr val="5B5B7A"/>
                </a:solidFill>
                <a:latin typeface="Calibri"/>
              </a:rPr>
              <a:t>Random Forest
Context, not alert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6185916" y="3255264"/>
            <a:ext cx="210312" cy="256032"/>
          </a:xfrm>
          <a:prstGeom prst="rightArrow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437376" y="2423160"/>
            <a:ext cx="1664208" cy="1965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6437376" y="2423160"/>
            <a:ext cx="1664208" cy="91440"/>
          </a:xfrm>
          <a:prstGeom prst="roundRect">
            <a:avLst>
              <a:gd name="adj" fmla="val 50000"/>
            </a:avLst>
          </a:prstGeom>
          <a:solidFill>
            <a:srgbClr val="0E8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6528816" y="2651760"/>
            <a:ext cx="310896" cy="310896"/>
          </a:xfrm>
          <a:prstGeom prst="ellipse">
            <a:avLst/>
          </a:prstGeom>
          <a:solidFill>
            <a:srgbClr val="0E8F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6528816" y="26517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3099815"/>
            <a:ext cx="138988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17172F"/>
                </a:solidFill>
                <a:latin typeface="Calibri"/>
              </a:rPr>
              <a:t>Calibrate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3593591"/>
            <a:ext cx="1389888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 i="0">
                <a:solidFill>
                  <a:srgbClr val="5B5B7A"/>
                </a:solidFill>
                <a:latin typeface="Calibri"/>
              </a:rPr>
              <a:t>EWMA baseline
Crisis-gated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8142731" y="3255264"/>
            <a:ext cx="210312" cy="256032"/>
          </a:xfrm>
          <a:prstGeom prst="rightArrow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Rounded Rectangle 33"/>
          <p:cNvSpPr/>
          <p:nvPr/>
        </p:nvSpPr>
        <p:spPr>
          <a:xfrm>
            <a:off x="8394192" y="2423160"/>
            <a:ext cx="1664208" cy="1965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8394192" y="2423160"/>
            <a:ext cx="1664208" cy="91440"/>
          </a:xfrm>
          <a:prstGeom prst="roundRect">
            <a:avLst>
              <a:gd name="adj" fmla="val 5000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Oval 35"/>
          <p:cNvSpPr/>
          <p:nvPr/>
        </p:nvSpPr>
        <p:spPr>
          <a:xfrm>
            <a:off x="8485632" y="2651760"/>
            <a:ext cx="310896" cy="310896"/>
          </a:xfrm>
          <a:prstGeom prst="ellipse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8485632" y="26517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40496" y="3099815"/>
            <a:ext cx="138988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17172F"/>
                </a:solidFill>
                <a:latin typeface="Calibri"/>
              </a:rPr>
              <a:t>Detect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40496" y="3593591"/>
            <a:ext cx="1389888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 i="0">
                <a:solidFill>
                  <a:srgbClr val="5B5B7A"/>
                </a:solidFill>
                <a:latin typeface="Calibri"/>
              </a:rPr>
              <a:t>Clinical floors
Personal σ + ML</a:t>
            </a:r>
          </a:p>
        </p:txBody>
      </p:sp>
      <p:sp>
        <p:nvSpPr>
          <p:cNvPr id="40" name="Right Arrow 39"/>
          <p:cNvSpPr/>
          <p:nvPr/>
        </p:nvSpPr>
        <p:spPr>
          <a:xfrm>
            <a:off x="10099548" y="3255264"/>
            <a:ext cx="210312" cy="256032"/>
          </a:xfrm>
          <a:prstGeom prst="rightArrow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Rounded Rectangle 40"/>
          <p:cNvSpPr/>
          <p:nvPr/>
        </p:nvSpPr>
        <p:spPr>
          <a:xfrm>
            <a:off x="10351008" y="2423160"/>
            <a:ext cx="1664208" cy="196596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ounded Rectangle 41"/>
          <p:cNvSpPr/>
          <p:nvPr/>
        </p:nvSpPr>
        <p:spPr>
          <a:xfrm>
            <a:off x="10351008" y="2423160"/>
            <a:ext cx="1664208" cy="91440"/>
          </a:xfrm>
          <a:prstGeom prst="roundRect">
            <a:avLst>
              <a:gd name="adj" fmla="val 50000"/>
            </a:avLst>
          </a:prstGeom>
          <a:solidFill>
            <a:srgbClr val="D96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10442448" y="2651760"/>
            <a:ext cx="310896" cy="310896"/>
          </a:xfrm>
          <a:prstGeom prst="ellipse">
            <a:avLst/>
          </a:prstGeom>
          <a:solidFill>
            <a:srgbClr val="D96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10442448" y="2651760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497312" y="3099815"/>
            <a:ext cx="1389888" cy="4389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20" b="1" i="0">
                <a:solidFill>
                  <a:srgbClr val="17172F"/>
                </a:solidFill>
                <a:latin typeface="Calibri"/>
              </a:rPr>
              <a:t>Explain + deliver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497312" y="3593591"/>
            <a:ext cx="1389888" cy="6583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60" b="0" i="0">
                <a:solidFill>
                  <a:srgbClr val="5B5B7A"/>
                </a:solidFill>
                <a:latin typeface="Calibri"/>
              </a:rPr>
              <a:t>Plain-language alert
Live dashboard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566928" y="4736592"/>
            <a:ext cx="11082528" cy="859536"/>
          </a:xfrm>
          <a:prstGeom prst="roundRect">
            <a:avLst>
              <a:gd name="adj" fmla="val 14893"/>
            </a:avLst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8" name="TextBox 47"/>
          <p:cNvSpPr txBox="1"/>
          <p:nvPr/>
        </p:nvSpPr>
        <p:spPr>
          <a:xfrm>
            <a:off x="822960" y="4892040"/>
            <a:ext cx="20116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60">
                <a:solidFill>
                  <a:srgbClr val="22D3EE"/>
                </a:solidFill>
                <a:latin typeface="Calibri"/>
              </a:rPr>
              <a:t>DECISION PRINCIPLE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788920" y="4855464"/>
            <a:ext cx="8503920" cy="5029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A model may add context; it never replaces a wearer-first safety workflow.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94360" y="576072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0" i="1">
                <a:solidFill>
                  <a:srgbClr val="5B5B7A"/>
                </a:solidFill>
                <a:latin typeface="Calibri"/>
              </a:rPr>
              <a:t>Integration note: align device MQTT topic / cloud broker with the API subscription before live end-to-end demos.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5B5B7A"/>
                </a:solidFill>
                <a:latin typeface="Calibri"/>
              </a:rPr>
              <a:t>AI ARCHITECTURE</a:t>
            </a:r>
            <a:r>
              <a:rPr sz="800" b="0" i="0" spc="140">
                <a:solidFill>
                  <a:srgbClr val="5B5B7A"/>
                </a:solidFill>
                <a:latin typeface="Calibri"/>
              </a:rPr>
              <a:t>   |   SENSOR-TO-ALERT PATHWAY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C3CE9"/>
                </a:solidFill>
                <a:latin typeface="Calibri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32688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Two trained models, two different jobs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9A9C7"/>
                </a:solidFill>
                <a:latin typeface="Calibri"/>
              </a:rPr>
              <a:t>One recognizes movement context; the other looks for unusual multivariate readings.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1993392"/>
            <a:ext cx="5376672" cy="3429000"/>
          </a:xfrm>
          <a:prstGeom prst="roundRect">
            <a:avLst>
              <a:gd name="adj" fmla="val 4800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822960" y="22128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22128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60" b="1" i="0" spc="120">
                <a:solidFill>
                  <a:srgbClr val="0F0E2A"/>
                </a:solidFill>
                <a:latin typeface="Calibri"/>
              </a:rPr>
              <a:t>CONTEXT MODEL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70048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Random Forest Activity Classifier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319272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30" b="1" i="0" spc="160">
                <a:solidFill>
                  <a:srgbClr val="22D3EE"/>
                </a:solidFill>
                <a:latin typeface="Calibri"/>
              </a:rPr>
              <a:t>MOTION-ONLY INPUTS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60273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Accelerometer · gyroscope · step count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822960" y="4096512"/>
            <a:ext cx="484632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822960" y="4233672"/>
            <a:ext cx="4782312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Predicts sleeping, resting, walking, running or exercising. Its prediction is context—not an alert—and helps interpret what is normal for that activity.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6519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60">
                <a:solidFill>
                  <a:srgbClr val="22D3EE"/>
                </a:solidFill>
                <a:latin typeface="Calibri"/>
              </a:rP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10512" y="491947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Activity label → expected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45352" y="1993392"/>
            <a:ext cx="5376672" cy="3429000"/>
          </a:xfrm>
          <a:prstGeom prst="roundRect">
            <a:avLst>
              <a:gd name="adj" fmla="val 4800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501384" y="2212848"/>
            <a:ext cx="1554480" cy="256032"/>
          </a:xfrm>
          <a:prstGeom prst="roundRect">
            <a:avLst>
              <a:gd name="adj" fmla="val 50000"/>
            </a:avLst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501384" y="2212848"/>
            <a:ext cx="15544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60" b="1" i="0" spc="120">
                <a:solidFill>
                  <a:srgbClr val="FFFFFF"/>
                </a:solidFill>
                <a:latin typeface="Calibri"/>
              </a:rPr>
              <a:t>ANOMALY MODEL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01384" y="2670048"/>
            <a:ext cx="4800600" cy="502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libri"/>
              </a:rPr>
              <a:t>Isolation Forest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01384" y="3319272"/>
            <a:ext cx="438912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30" b="1" i="0" spc="160">
                <a:solidFill>
                  <a:srgbClr val="F59E0B"/>
                </a:solidFill>
                <a:latin typeface="Calibri"/>
              </a:rPr>
              <a:t>UNSUPERVISED · 23 FEATURES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01384" y="3602736"/>
            <a:ext cx="475488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FFFFFF"/>
                </a:solidFill>
                <a:latin typeface="Calibri"/>
              </a:rPr>
              <a:t>Vitals · motion · activity intensity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501384" y="4096512"/>
            <a:ext cx="484632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501384" y="4233672"/>
            <a:ext cx="4782312" cy="6675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Scores each live feature row for unusual combinations. A separate condition-mapping layer can translate a flagged anomaly into an explainable cause.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01384" y="4965192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60">
                <a:solidFill>
                  <a:srgbClr val="F59E0B"/>
                </a:solidFill>
                <a:latin typeface="Calibri"/>
              </a:rPr>
              <a:t>OUTPUT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4919472"/>
            <a:ext cx="3749039" cy="3474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 i="0">
                <a:solidFill>
                  <a:srgbClr val="FFFFFF"/>
                </a:solidFill>
                <a:latin typeface="Calibri"/>
              </a:rPr>
              <a:t>Anomaly label + score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650992"/>
            <a:ext cx="11055096" cy="502920"/>
          </a:xfrm>
          <a:prstGeom prst="roundRect">
            <a:avLst>
              <a:gd name="adj" fmla="val 21818"/>
            </a:avLst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795528" y="5687568"/>
            <a:ext cx="1060704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Both score a single live row without a rolling history; the LSTM autoencoder separately handles temporal windows.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A9A9C7"/>
                </a:solidFill>
                <a:latin typeface="Calibri"/>
              </a:rPr>
              <a:t>AI / ML</a:t>
            </a:r>
            <a:r>
              <a:rPr sz="800" b="0" i="0" spc="140">
                <a:solidFill>
                  <a:srgbClr val="A9A9C7"/>
                </a:solidFill>
                <a:latin typeface="Calibri"/>
              </a:rPr>
              <a:t>   |   MODEL ROLES AND INFERENCE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alibri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321040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7172F"/>
                </a:solidFill>
                <a:latin typeface="Calibri"/>
              </a:rPr>
              <a:t>Promising offline results —
with validation still ahead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55064"/>
            <a:ext cx="83210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B5B7A"/>
                </a:solidFill>
                <a:latin typeface="Calibri"/>
              </a:rPr>
              <a:t>Held-out evaluation: 375 readings from a 1,875-reading dataset.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66928" y="2057400"/>
            <a:ext cx="5074920" cy="3310128"/>
          </a:xfrm>
          <a:prstGeom prst="roundRect">
            <a:avLst>
              <a:gd name="adj" fmla="val 4972"/>
            </a:avLst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68680" y="2304288"/>
            <a:ext cx="41148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60">
                <a:solidFill>
                  <a:srgbClr val="22D3EE"/>
                </a:solidFill>
                <a:latin typeface="Calibri"/>
              </a:rPr>
              <a:t>ACTIVITY CLASSIFIER · HELD-OUT SET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2697480"/>
            <a:ext cx="2194560" cy="7498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900" b="1" i="0">
                <a:solidFill>
                  <a:srgbClr val="FFFFFF"/>
                </a:solidFill>
                <a:latin typeface="Calibri"/>
              </a:rPr>
              <a:t>94%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017520" y="2743200"/>
            <a:ext cx="2148840" cy="65836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A9A9C7"/>
                </a:solidFill>
                <a:latin typeface="Calibri"/>
              </a:rPr>
              <a:t>accuracy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68680" y="3584448"/>
            <a:ext cx="4480560" cy="0"/>
          </a:xfrm>
          <a:prstGeom prst="line">
            <a:avLst/>
          </a:prstGeom>
          <a:ln w="13970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68680" y="3803904"/>
            <a:ext cx="2194560" cy="7132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22D3EE"/>
                </a:solidFill>
                <a:latin typeface="Calibri"/>
              </a:rPr>
              <a:t>0.94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17520" y="3858768"/>
            <a:ext cx="2148840" cy="5943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A9A9C7"/>
                </a:solidFill>
                <a:latin typeface="Calibri"/>
              </a:rPr>
              <a:t>macro F1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4718304"/>
            <a:ext cx="44348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375 test readings · 5 activity classes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870448" y="2057400"/>
            <a:ext cx="5751576" cy="3310128"/>
          </a:xfrm>
          <a:prstGeom prst="roundRect">
            <a:avLst>
              <a:gd name="adj" fmla="val 4972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72200" y="2304288"/>
            <a:ext cx="475488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60">
                <a:solidFill>
                  <a:srgbClr val="6C3CE9"/>
                </a:solidFill>
                <a:latin typeface="Calibri"/>
              </a:rPr>
              <a:t>PER-CLASS F1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72200" y="2697480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1" i="0">
                <a:solidFill>
                  <a:srgbClr val="17172F"/>
                </a:solidFill>
                <a:latin typeface="Calibri"/>
              </a:rPr>
              <a:t>Sleeping + resting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732520" y="2779776"/>
            <a:ext cx="1691640" cy="146304"/>
          </a:xfrm>
          <a:prstGeom prst="roundRect">
            <a:avLst>
              <a:gd name="adj" fmla="val 50000"/>
            </a:avLst>
          </a:prstGeom>
          <a:solidFill>
            <a:srgbClr val="E6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Rounded Rectangle 15"/>
          <p:cNvSpPr/>
          <p:nvPr/>
        </p:nvSpPr>
        <p:spPr>
          <a:xfrm>
            <a:off x="8732520" y="2779776"/>
            <a:ext cx="1674723" cy="146304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10561320" y="2697480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Calibri"/>
              </a:rPr>
              <a:t>≈0.99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72200" y="3227832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1" i="0">
                <a:solidFill>
                  <a:srgbClr val="17172F"/>
                </a:solidFill>
                <a:latin typeface="Calibri"/>
              </a:rPr>
              <a:t>Walking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732520" y="3310128"/>
            <a:ext cx="1691640" cy="146304"/>
          </a:xfrm>
          <a:prstGeom prst="roundRect">
            <a:avLst>
              <a:gd name="adj" fmla="val 50000"/>
            </a:avLst>
          </a:prstGeom>
          <a:solidFill>
            <a:srgbClr val="E6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8732520" y="3310128"/>
            <a:ext cx="1640890" cy="14630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10561320" y="3227832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0.97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172200" y="3758184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1" i="0">
                <a:solidFill>
                  <a:srgbClr val="17172F"/>
                </a:solidFill>
                <a:latin typeface="Calibri"/>
              </a:rPr>
              <a:t>Running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732520" y="3840480"/>
            <a:ext cx="1691640" cy="146304"/>
          </a:xfrm>
          <a:prstGeom prst="roundRect">
            <a:avLst>
              <a:gd name="adj" fmla="val 50000"/>
            </a:avLst>
          </a:prstGeom>
          <a:solidFill>
            <a:srgbClr val="E6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Rounded Rectangle 23"/>
          <p:cNvSpPr/>
          <p:nvPr/>
        </p:nvSpPr>
        <p:spPr>
          <a:xfrm>
            <a:off x="8732520" y="3840480"/>
            <a:ext cx="1505559" cy="146304"/>
          </a:xfrm>
          <a:prstGeom prst="roundRect">
            <a:avLst>
              <a:gd name="adj" fmla="val 50000"/>
            </a:avLst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561320" y="3758184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3B5BFF"/>
                </a:solidFill>
                <a:latin typeface="Calibri"/>
              </a:rPr>
              <a:t>0.89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72200" y="4288536"/>
            <a:ext cx="256032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20" b="1" i="0">
                <a:solidFill>
                  <a:srgbClr val="17172F"/>
                </a:solidFill>
                <a:latin typeface="Calibri"/>
              </a:rPr>
              <a:t>Exercising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732520" y="4370832"/>
            <a:ext cx="1691640" cy="146304"/>
          </a:xfrm>
          <a:prstGeom prst="roundRect">
            <a:avLst>
              <a:gd name="adj" fmla="val 50000"/>
            </a:avLst>
          </a:prstGeom>
          <a:solidFill>
            <a:srgbClr val="E6E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8732520" y="4370832"/>
            <a:ext cx="1437894" cy="146304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10561320" y="4288536"/>
            <a:ext cx="731520" cy="34747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F5B301"/>
                </a:solidFill>
                <a:latin typeface="Calibri"/>
              </a:rPr>
              <a:t>0.85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566928" y="5513832"/>
            <a:ext cx="11055096" cy="621792"/>
          </a:xfrm>
          <a:prstGeom prst="roundRect">
            <a:avLst>
              <a:gd name="adj" fmla="val 17647"/>
            </a:avLst>
          </a:prstGeom>
          <a:solidFill>
            <a:srgbClr val="EEEF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04672" y="5577840"/>
            <a:ext cx="214884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 i="0">
                <a:solidFill>
                  <a:srgbClr val="6C3CE9"/>
                </a:solidFill>
                <a:latin typeface="Calibri"/>
              </a:rPr>
              <a:t>ISOLATION FOREST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2743200" y="557784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50" b="1" i="0">
                <a:solidFill>
                  <a:srgbClr val="17172F"/>
                </a:solidFill>
                <a:latin typeface="Calibri"/>
              </a:rPr>
              <a:t>37 / 375 flagged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99432" y="5577840"/>
            <a:ext cx="310896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80" b="0" i="0">
                <a:solidFill>
                  <a:srgbClr val="17172F"/>
                </a:solidFill>
                <a:latin typeface="Calibri"/>
              </a:rPr>
              <a:t>35 mapped · 18 low oxygen · 17 fever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882127" y="5577840"/>
            <a:ext cx="15544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80" b="1" i="0">
                <a:solidFill>
                  <a:srgbClr val="5B5B7A"/>
                </a:solidFill>
                <a:latin typeface="Calibri"/>
              </a:rPr>
              <a:t>2 unresolved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9646920" y="5660136"/>
            <a:ext cx="1600200" cy="256032"/>
          </a:xfrm>
          <a:prstGeom prst="roundRect">
            <a:avLst>
              <a:gd name="adj" fmla="val 5000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9646920" y="5660136"/>
            <a:ext cx="160020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30" b="1" i="0" spc="120">
                <a:solidFill>
                  <a:srgbClr val="FFFFFF"/>
                </a:solidFill>
                <a:latin typeface="Calibri"/>
              </a:rPr>
              <a:t>≈10% FLAGGED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94360" y="6190488"/>
            <a:ext cx="10881360" cy="1828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69" b="0" i="1">
                <a:solidFill>
                  <a:srgbClr val="5B5B7A"/>
                </a:solidFill>
                <a:latin typeface="Calibri"/>
              </a:rPr>
              <a:t>Offline dataset metrics only — not clinical validation or a claim of real-world sensitivity.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5B5B7A"/>
                </a:solidFill>
                <a:latin typeface="Calibri"/>
              </a:rPr>
              <a:t>AI / ML</a:t>
            </a:r>
            <a:r>
              <a:rPr sz="800" b="0" i="0" spc="140">
                <a:solidFill>
                  <a:srgbClr val="5B5B7A"/>
                </a:solidFill>
                <a:latin typeface="Calibri"/>
              </a:rPr>
              <a:t>   |   PRELIMINARY MODEL EVALUATION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C3CE9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50976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7172F"/>
                </a:solidFill>
                <a:latin typeface="Calibri"/>
              </a:rPr>
              <a:t>Equation library — documented, not learned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95097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B5B7A"/>
                </a:solidFill>
                <a:latin typeface="Calibri"/>
              </a:rPr>
              <a:t>Transparent score logic complements the trained models; it does not replace them.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326880" y="1700784"/>
            <a:ext cx="2240280" cy="283464"/>
          </a:xfrm>
          <a:prstGeom prst="roundRect">
            <a:avLst>
              <a:gd name="adj" fmla="val 50000"/>
            </a:avLst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326880" y="1700784"/>
            <a:ext cx="2240280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50" b="1" i="0" spc="120">
                <a:solidFill>
                  <a:srgbClr val="FFFFFF"/>
                </a:solidFill>
                <a:latin typeface="Calibri"/>
              </a:rPr>
              <a:t>RULES · PILOT VALIDATION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212848"/>
            <a:ext cx="3520440" cy="1536192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Rounded Rectangle 6"/>
          <p:cNvSpPr/>
          <p:nvPr/>
        </p:nvSpPr>
        <p:spPr>
          <a:xfrm>
            <a:off x="566928" y="2212848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786384" y="2450592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7172F"/>
                </a:solidFill>
                <a:latin typeface="Calibri"/>
              </a:rPr>
              <a:t>Stress index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86384" y="2816352"/>
            <a:ext cx="30632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20" b="1" i="0">
                <a:solidFill>
                  <a:srgbClr val="6C3CE9"/>
                </a:solidFill>
                <a:latin typeface="Calibri"/>
              </a:rPr>
              <a:t>GSR arousal  +  HRV drop  +  resting-HR rise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6384" y="327355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B5B7A"/>
                </a:solidFill>
                <a:latin typeface="Calibri"/>
              </a:rPr>
              <a:t>Combined signals; no single sensor decides alone.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34256" y="2212848"/>
            <a:ext cx="3520440" cy="1536192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ounded Rectangle 11"/>
          <p:cNvSpPr/>
          <p:nvPr/>
        </p:nvSpPr>
        <p:spPr>
          <a:xfrm>
            <a:off x="4334256" y="2212848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553712" y="2450592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7172F"/>
                </a:solidFill>
                <a:latin typeface="Calibri"/>
              </a:rPr>
              <a:t>Core temperature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53712" y="2816352"/>
            <a:ext cx="30632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20" b="1" i="0">
                <a:solidFill>
                  <a:srgbClr val="22D3EE"/>
                </a:solidFill>
                <a:latin typeface="Calibri"/>
              </a:rPr>
              <a:t>Tcore ≈ gain × Tskin + offset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53712" y="327355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B5B7A"/>
                </a:solidFill>
                <a:latin typeface="Calibri"/>
              </a:rPr>
              <a:t>Calibrated estimate from the skin-temperature reading.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101583" y="2212848"/>
            <a:ext cx="3520440" cy="1536192"/>
          </a:xfrm>
          <a:prstGeom prst="roundRect">
            <a:avLst>
              <a:gd name="adj" fmla="val 9523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Rounded Rectangle 16"/>
          <p:cNvSpPr/>
          <p:nvPr/>
        </p:nvSpPr>
        <p:spPr>
          <a:xfrm>
            <a:off x="8101583" y="2212848"/>
            <a:ext cx="3520440" cy="82296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321040" y="2450592"/>
            <a:ext cx="3063240" cy="3291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7172F"/>
                </a:solidFill>
                <a:latin typeface="Calibri"/>
              </a:rPr>
              <a:t>Fever score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21040" y="2816352"/>
            <a:ext cx="3063240" cy="42062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20" b="1" i="0">
                <a:solidFill>
                  <a:srgbClr val="F5B301"/>
                </a:solidFill>
                <a:latin typeface="Calibri"/>
              </a:rPr>
              <a:t>Tcore  +  rate of rise  +  HR–temperature coupling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21040" y="3273552"/>
            <a:ext cx="306324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B5B7A"/>
                </a:solidFill>
                <a:latin typeface="Calibri"/>
              </a:rPr>
              <a:t>Combines level, trend and physiological context.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572768" y="3977639"/>
            <a:ext cx="4251960" cy="1444752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1572768" y="3977639"/>
            <a:ext cx="4251960" cy="82296"/>
          </a:xfrm>
          <a:prstGeom prst="roundRect">
            <a:avLst>
              <a:gd name="adj" fmla="val 50000"/>
            </a:avLst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1792224" y="4206240"/>
            <a:ext cx="3794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7172F"/>
                </a:solidFill>
                <a:latin typeface="Calibri"/>
              </a:rPr>
              <a:t>Hypoxic burden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792224" y="4562856"/>
            <a:ext cx="379476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3B5BFF"/>
                </a:solidFill>
                <a:latin typeface="Calibri"/>
              </a:rPr>
              <a:t>Accumulated desaturation over time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792224" y="4992624"/>
            <a:ext cx="3794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B5B7A"/>
                </a:solidFill>
                <a:latin typeface="Calibri"/>
              </a:rPr>
              <a:t>Temporal accumulation filters single noisy dips.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382512" y="3977639"/>
            <a:ext cx="4251960" cy="1444752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Rounded Rectangle 26"/>
          <p:cNvSpPr/>
          <p:nvPr/>
        </p:nvSpPr>
        <p:spPr>
          <a:xfrm>
            <a:off x="6382512" y="3977639"/>
            <a:ext cx="4251960" cy="82296"/>
          </a:xfrm>
          <a:prstGeom prst="roundRect">
            <a:avLst>
              <a:gd name="adj" fmla="val 50000"/>
            </a:avLst>
          </a:prstGeom>
          <a:solidFill>
            <a:srgbClr val="F4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TextBox 27"/>
          <p:cNvSpPr txBox="1"/>
          <p:nvPr/>
        </p:nvSpPr>
        <p:spPr>
          <a:xfrm>
            <a:off x="6601968" y="4206240"/>
            <a:ext cx="3794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7172F"/>
                </a:solidFill>
                <a:latin typeface="Calibri"/>
              </a:rPr>
              <a:t>Fall signature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601968" y="4562856"/>
            <a:ext cx="3794760" cy="39319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100" b="1" i="0">
                <a:solidFill>
                  <a:srgbClr val="F43F7A"/>
                </a:solidFill>
                <a:latin typeface="Calibri"/>
              </a:rPr>
              <a:t>Free-fall → impact (≥2.8 g) → tumble (≥2.4 rad/s) → stillness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601968" y="4992624"/>
            <a:ext cx="379476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9" b="0" i="0">
                <a:solidFill>
                  <a:srgbClr val="5B5B7A"/>
                </a:solidFill>
                <a:latin typeface="Calibri"/>
              </a:rPr>
              <a:t>A sequence of motion cues, not an isolated acceleration peak.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94360" y="5779008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19" b="0" i="1">
                <a:solidFill>
                  <a:srgbClr val="5B5B7A"/>
                </a:solidFill>
                <a:latin typeface="Calibri"/>
              </a:rPr>
              <a:t>Deterministic by design · formula definitions and thresholds remain subject to bench and on-body validation.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5B5B7A"/>
                </a:solidFill>
                <a:latin typeface="Calibri"/>
              </a:rPr>
              <a:t>AI / ML</a:t>
            </a:r>
            <a:r>
              <a:rPr sz="800" b="0" i="0" spc="140">
                <a:solidFill>
                  <a:srgbClr val="5B5B7A"/>
                </a:solidFill>
                <a:latin typeface="Calibri"/>
              </a:rPr>
              <a:t>   |   TRANSPARENT HEALTH-SCORE LOGIC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C3CE9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412480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Personal calibration — learning
each wearer’s baseline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655064"/>
            <a:ext cx="84124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9A9C7"/>
                </a:solidFill>
                <a:latin typeface="Calibri"/>
              </a:rPr>
              <a:t>A rolling reference makes deviations personal without letting a crisis redefine normal.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281160" y="1700784"/>
            <a:ext cx="2057400" cy="283464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281160" y="1700784"/>
            <a:ext cx="2057400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50" b="1" i="0" spc="120">
                <a:solidFill>
                  <a:srgbClr val="0F0E2A"/>
                </a:solidFill>
                <a:latin typeface="Calibri"/>
              </a:rPr>
              <a:t>PILOT DESIGN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66928" y="2148840"/>
            <a:ext cx="4983480" cy="1188720"/>
          </a:xfrm>
          <a:prstGeom prst="roundRect">
            <a:avLst>
              <a:gd name="adj" fmla="val 12307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50392" y="2340864"/>
            <a:ext cx="210312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60">
                <a:solidFill>
                  <a:srgbClr val="22D3EE"/>
                </a:solidFill>
                <a:latin typeface="Calibri"/>
              </a:rPr>
              <a:t>EWMA UPDATE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" y="2633472"/>
            <a:ext cx="443484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Baselineₜ = α · readingₜ + (1 − α) · Baselineₜ₋₁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584448"/>
            <a:ext cx="48463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Each valid reading can refine these resting-state references: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" y="3995928"/>
            <a:ext cx="439483" cy="256032"/>
          </a:xfrm>
          <a:prstGeom prst="roundRect">
            <a:avLst>
              <a:gd name="adj" fmla="val 5000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21792" y="3995928"/>
            <a:ext cx="439483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HR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71003" y="3995928"/>
            <a:ext cx="522065" cy="256032"/>
          </a:xfrm>
          <a:prstGeom prst="roundRect">
            <a:avLst>
              <a:gd name="adj" fmla="val 50000"/>
            </a:avLst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1171003" y="3995928"/>
            <a:ext cx="52206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HRV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802796" y="3995928"/>
            <a:ext cx="522065" cy="256032"/>
          </a:xfrm>
          <a:prstGeom prst="roundRect">
            <a:avLst>
              <a:gd name="adj" fmla="val 50000"/>
            </a:avLst>
          </a:prstGeom>
          <a:solidFill>
            <a:srgbClr val="0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1802796" y="3995928"/>
            <a:ext cx="522065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GSR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2434590" y="3995928"/>
            <a:ext cx="1182719" cy="256032"/>
          </a:xfrm>
          <a:prstGeom prst="roundRect">
            <a:avLst>
              <a:gd name="adj" fmla="val 50000"/>
            </a:avLst>
          </a:prstGeom>
          <a:solidFill>
            <a:srgbClr val="D96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2434590" y="3995928"/>
            <a:ext cx="1182719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TEMPERATURE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727037" y="3995928"/>
            <a:ext cx="604647" cy="256032"/>
          </a:xfrm>
          <a:prstGeom prst="roundRect">
            <a:avLst>
              <a:gd name="adj" fmla="val 50000"/>
            </a:avLst>
          </a:prstGeom>
          <a:solidFill>
            <a:srgbClr val="167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727037" y="3995928"/>
            <a:ext cx="604647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SPO₂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89320" y="2157984"/>
            <a:ext cx="51206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60">
                <a:solidFill>
                  <a:srgbClr val="22D3EE"/>
                </a:solidFill>
                <a:latin typeface="Calibri"/>
              </a:rPr>
              <a:t>THREE SAFEGUARDS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989320" y="2523744"/>
            <a:ext cx="5632704" cy="713232"/>
          </a:xfrm>
          <a:prstGeom prst="roundRect">
            <a:avLst>
              <a:gd name="adj" fmla="val 15384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Rounded Rectangle 21"/>
          <p:cNvSpPr/>
          <p:nvPr/>
        </p:nvSpPr>
        <p:spPr>
          <a:xfrm>
            <a:off x="5989320" y="2523744"/>
            <a:ext cx="64008" cy="71323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236208" y="261518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22D3EE"/>
                </a:solidFill>
                <a:latin typeface="Calibri"/>
              </a:rPr>
              <a:t>Automatic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909560" y="2596896"/>
            <a:ext cx="3456432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A9A9C7"/>
                </a:solidFill>
                <a:latin typeface="Calibri"/>
              </a:rPr>
              <a:t>Recent valid readings carry more weight; one spike cannot reset the baseline.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89320" y="3346703"/>
            <a:ext cx="5632704" cy="713232"/>
          </a:xfrm>
          <a:prstGeom prst="roundRect">
            <a:avLst>
              <a:gd name="adj" fmla="val 15384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ounded Rectangle 25"/>
          <p:cNvSpPr/>
          <p:nvPr/>
        </p:nvSpPr>
        <p:spPr>
          <a:xfrm>
            <a:off x="5989320" y="3346703"/>
            <a:ext cx="64008" cy="713232"/>
          </a:xfrm>
          <a:prstGeom prst="roundRect">
            <a:avLst>
              <a:gd name="adj" fmla="val 50000"/>
            </a:avLst>
          </a:prstGeom>
          <a:solidFill>
            <a:srgbClr val="F4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236208" y="3438144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F43F7A"/>
                </a:solidFill>
                <a:latin typeface="Calibri"/>
              </a:rPr>
              <a:t>Crisis-gated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419856"/>
            <a:ext cx="3456432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A9A9C7"/>
                </a:solidFill>
                <a:latin typeface="Calibri"/>
              </a:rPr>
              <a:t>Exclude readings during an active alert so illness is not learned as normal.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989320" y="4169663"/>
            <a:ext cx="5632704" cy="713232"/>
          </a:xfrm>
          <a:prstGeom prst="roundRect">
            <a:avLst>
              <a:gd name="adj" fmla="val 15384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5989320" y="4169663"/>
            <a:ext cx="64008" cy="713232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6236208" y="4261103"/>
            <a:ext cx="16459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150" b="1" i="0">
                <a:solidFill>
                  <a:srgbClr val="34D399"/>
                </a:solidFill>
                <a:latin typeface="Calibri"/>
              </a:rPr>
              <a:t>Caregiver-anchored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909560" y="4242816"/>
            <a:ext cx="3456432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2000"/>
              </a:lnSpc>
              <a:spcAft>
                <a:spcPts val="0"/>
              </a:spcAft>
            </a:pPr>
            <a:r>
              <a:rPr sz="950" b="0" i="0">
                <a:solidFill>
                  <a:srgbClr val="A9A9C7"/>
                </a:solidFill>
                <a:latin typeface="Calibri"/>
              </a:rPr>
              <a:t>A reference-device measurement can correct a personal sensor offset.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21792" y="4919472"/>
            <a:ext cx="2011680" cy="29260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10">
                <a:solidFill>
                  <a:srgbClr val="A9A9C7"/>
                </a:solidFill>
                <a:latin typeface="Calibri"/>
              </a:rPr>
              <a:t>BASELINE CONFIDENCE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2423160" y="5020056"/>
            <a:ext cx="3657600" cy="109728"/>
          </a:xfrm>
          <a:prstGeom prst="roundRect">
            <a:avLst>
              <a:gd name="adj" fmla="val 50000"/>
            </a:avLst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Rounded Rectangle 34"/>
          <p:cNvSpPr/>
          <p:nvPr/>
        </p:nvSpPr>
        <p:spPr>
          <a:xfrm>
            <a:off x="2423160" y="5020056"/>
            <a:ext cx="2331720" cy="109728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TextBox 35"/>
          <p:cNvSpPr txBox="1"/>
          <p:nvPr/>
        </p:nvSpPr>
        <p:spPr>
          <a:xfrm>
            <a:off x="2423160" y="523036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A9A9C7"/>
                </a:solidFill>
                <a:latin typeface="Calibri"/>
              </a:rPr>
              <a:t>warming_up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709160" y="5230368"/>
            <a:ext cx="13716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900" b="1" i="0">
                <a:solidFill>
                  <a:srgbClr val="22D3EE"/>
                </a:solidFill>
                <a:latin typeface="Calibri"/>
              </a:rPr>
              <a:t>active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446520" y="4992624"/>
            <a:ext cx="5175504" cy="621792"/>
          </a:xfrm>
          <a:prstGeom prst="roundRect">
            <a:avLst>
              <a:gd name="adj" fmla="val 19117"/>
            </a:avLst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6693408" y="5010912"/>
            <a:ext cx="4681728" cy="54864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0" i="0">
                <a:solidFill>
                  <a:srgbClr val="FFFFFF"/>
                </a:solidFill>
                <a:latin typeface="Calibri"/>
              </a:rPr>
              <a:t>Status progresses with reliable wear time; clinical floors remain universal.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94360" y="5870448"/>
            <a:ext cx="109728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90" b="0" i="1">
                <a:solidFill>
                  <a:srgbClr val="A9A9C7"/>
                </a:solidFill>
                <a:latin typeface="Calibri"/>
              </a:rPr>
              <a:t>Calibration is a target feature; validate update rate, exclusions and caregiver corrections before pilot use.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A9A9C7"/>
                </a:solidFill>
                <a:latin typeface="Calibri"/>
              </a:rPr>
              <a:t>AI / ML</a:t>
            </a:r>
            <a:r>
              <a:rPr sz="800" b="0" i="0" spc="140">
                <a:solidFill>
                  <a:srgbClr val="A9A9C7"/>
                </a:solidFill>
                <a:latin typeface="Calibri"/>
              </a:rPr>
              <a:t>   |   PERSONALIZED REFERENCE SIGNALS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77824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7172F"/>
                </a:solidFill>
                <a:latin typeface="Calibri"/>
              </a:rPr>
              <a:t>Three independent detection tiers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877824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B5B7A"/>
                </a:solidFill>
                <a:latin typeface="Calibri"/>
              </a:rPr>
              <a:t>Activity informs context; any one safety path can raise an alert.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9144000" y="1700784"/>
            <a:ext cx="2331720" cy="283464"/>
          </a:xfrm>
          <a:prstGeom prst="roundRect">
            <a:avLst>
              <a:gd name="adj" fmla="val 50000"/>
            </a:avLst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9144000" y="1700784"/>
            <a:ext cx="2331720" cy="2834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50" b="1" i="0" spc="120">
                <a:solidFill>
                  <a:srgbClr val="FFFFFF"/>
                </a:solidFill>
                <a:latin typeface="Calibri"/>
              </a:rPr>
              <a:t>TARGET ALERT POLICY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15968" y="2029968"/>
            <a:ext cx="3566160" cy="658368"/>
          </a:xfrm>
          <a:prstGeom prst="roundRect">
            <a:avLst>
              <a:gd name="adj" fmla="val 19444"/>
            </a:avLst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4553712" y="2112264"/>
            <a:ext cx="150876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750" b="1" i="0" spc="160">
                <a:solidFill>
                  <a:srgbClr val="22D3EE"/>
                </a:solidFill>
                <a:latin typeface="Calibri"/>
              </a:rPr>
              <a:t>CONTEXT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23560" y="2084831"/>
            <a:ext cx="1965960" cy="43891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Activity classifier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359152" y="2953512"/>
            <a:ext cx="7479792" cy="0"/>
          </a:xfrm>
          <a:prstGeom prst="line">
            <a:avLst/>
          </a:prstGeom>
          <a:ln w="17780">
            <a:solidFill>
              <a:srgbClr val="A8A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99048" y="2688336"/>
            <a:ext cx="0" cy="265176"/>
          </a:xfrm>
          <a:prstGeom prst="line">
            <a:avLst/>
          </a:prstGeom>
          <a:ln w="17780">
            <a:solidFill>
              <a:srgbClr val="A8A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313432" y="2953512"/>
            <a:ext cx="0" cy="228600"/>
          </a:xfrm>
          <a:prstGeom prst="line">
            <a:avLst/>
          </a:prstGeom>
          <a:ln w="15875">
            <a:solidFill>
              <a:srgbClr val="A8A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566928" y="3182112"/>
            <a:ext cx="3493008" cy="1444752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566928" y="3182112"/>
            <a:ext cx="3493008" cy="82296"/>
          </a:xfrm>
          <a:prstGeom prst="roundRect">
            <a:avLst>
              <a:gd name="adj" fmla="val 50000"/>
            </a:avLst>
          </a:prstGeom>
          <a:solidFill>
            <a:srgbClr val="167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713232" y="3374136"/>
            <a:ext cx="329184" cy="329184"/>
          </a:xfrm>
          <a:prstGeom prst="ellipse">
            <a:avLst/>
          </a:prstGeom>
          <a:solidFill>
            <a:srgbClr val="1676B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13232" y="33741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" y="3364992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40" b="1" i="0">
                <a:solidFill>
                  <a:srgbClr val="17172F"/>
                </a:solidFill>
                <a:latin typeface="Calibri"/>
              </a:rPr>
              <a:t>Clinical floors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" y="3685032"/>
            <a:ext cx="269748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1676B8"/>
                </a:solidFill>
                <a:latin typeface="Calibri"/>
              </a:rPr>
              <a:t>Fixed medical limits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6384" y="4078224"/>
            <a:ext cx="305409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0" b="0" i="0">
                <a:solidFill>
                  <a:srgbClr val="5B5B7A"/>
                </a:solidFill>
                <a:latin typeface="Calibri"/>
              </a:rPr>
              <a:t>SpO₂ &lt;90% · core temp ≥37.8°C
Fall impact ≥2.8 g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6099048" y="2953512"/>
            <a:ext cx="0" cy="228600"/>
          </a:xfrm>
          <a:prstGeom prst="line">
            <a:avLst/>
          </a:prstGeom>
          <a:ln w="15875">
            <a:solidFill>
              <a:srgbClr val="A8A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352544" y="3182112"/>
            <a:ext cx="3493008" cy="1444752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Rounded Rectangle 20"/>
          <p:cNvSpPr/>
          <p:nvPr/>
        </p:nvSpPr>
        <p:spPr>
          <a:xfrm>
            <a:off x="4352544" y="3182112"/>
            <a:ext cx="3493008" cy="82296"/>
          </a:xfrm>
          <a:prstGeom prst="roundRect">
            <a:avLst>
              <a:gd name="adj" fmla="val 50000"/>
            </a:avLst>
          </a:prstGeom>
          <a:solidFill>
            <a:srgbClr val="0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Oval 21"/>
          <p:cNvSpPr/>
          <p:nvPr/>
        </p:nvSpPr>
        <p:spPr>
          <a:xfrm>
            <a:off x="4498848" y="3374136"/>
            <a:ext cx="329184" cy="329184"/>
          </a:xfrm>
          <a:prstGeom prst="ellipse">
            <a:avLst/>
          </a:prstGeom>
          <a:solidFill>
            <a:srgbClr val="0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4498848" y="33741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919472" y="3364992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40" b="1" i="0">
                <a:solidFill>
                  <a:srgbClr val="17172F"/>
                </a:solidFill>
                <a:latin typeface="Calibri"/>
              </a:rPr>
              <a:t>Personal σ-rules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19472" y="3685032"/>
            <a:ext cx="269748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0F9F6E"/>
                </a:solidFill>
                <a:latin typeface="Calibri"/>
              </a:rPr>
              <a:t>Per-activity baseline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4078224"/>
            <a:ext cx="305409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0" b="0" i="0">
                <a:solidFill>
                  <a:srgbClr val="5B5B7A"/>
                </a:solidFill>
                <a:latin typeface="Calibri"/>
              </a:rPr>
              <a:t>Deviation from the wearer’s
calibrated activity baseline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884664" y="2953512"/>
            <a:ext cx="0" cy="228600"/>
          </a:xfrm>
          <a:prstGeom prst="line">
            <a:avLst/>
          </a:prstGeom>
          <a:ln w="15875">
            <a:solidFill>
              <a:srgbClr val="A8A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8138160" y="3182112"/>
            <a:ext cx="3493008" cy="1444752"/>
          </a:xfrm>
          <a:prstGeom prst="roundRect">
            <a:avLst>
              <a:gd name="adj" fmla="val 10126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Rounded Rectangle 28"/>
          <p:cNvSpPr/>
          <p:nvPr/>
        </p:nvSpPr>
        <p:spPr>
          <a:xfrm>
            <a:off x="8138160" y="3182112"/>
            <a:ext cx="3493008" cy="82296"/>
          </a:xfrm>
          <a:prstGeom prst="roundRect">
            <a:avLst>
              <a:gd name="adj" fmla="val 50000"/>
            </a:avLst>
          </a:prstGeom>
          <a:solidFill>
            <a:srgbClr val="D96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8284464" y="3374136"/>
            <a:ext cx="329184" cy="329184"/>
          </a:xfrm>
          <a:prstGeom prst="ellipse">
            <a:avLst/>
          </a:prstGeom>
          <a:solidFill>
            <a:srgbClr val="D96D3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8284464" y="3374136"/>
            <a:ext cx="329184" cy="32918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705088" y="3364992"/>
            <a:ext cx="2697480" cy="31089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40" b="1" i="0">
                <a:solidFill>
                  <a:srgbClr val="17172F"/>
                </a:solidFill>
                <a:latin typeface="Calibri"/>
              </a:rPr>
              <a:t>Trained ML 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705088" y="3685032"/>
            <a:ext cx="2697480" cy="2468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19" b="1" i="0">
                <a:solidFill>
                  <a:srgbClr val="D96D36"/>
                </a:solidFill>
                <a:latin typeface="Calibri"/>
              </a:rPr>
              <a:t>Isolation Forest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57616" y="4078224"/>
            <a:ext cx="3054096" cy="4297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0000"/>
              </a:lnSpc>
              <a:spcAft>
                <a:spcPts val="0"/>
              </a:spcAft>
            </a:pPr>
            <a:r>
              <a:rPr sz="910" b="0" i="0">
                <a:solidFill>
                  <a:srgbClr val="5B5B7A"/>
                </a:solidFill>
                <a:latin typeface="Calibri"/>
              </a:rPr>
              <a:t>23-feature anomaly score
with activity as an input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2313432" y="4626864"/>
            <a:ext cx="0" cy="283463"/>
          </a:xfrm>
          <a:prstGeom prst="line">
            <a:avLst/>
          </a:prstGeom>
          <a:ln w="16510">
            <a:solidFill>
              <a:srgbClr val="A8A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6099048" y="4626864"/>
            <a:ext cx="0" cy="283463"/>
          </a:xfrm>
          <a:prstGeom prst="line">
            <a:avLst/>
          </a:prstGeom>
          <a:ln w="16510">
            <a:solidFill>
              <a:srgbClr val="A8A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>
            <a:off x="9884664" y="4626864"/>
            <a:ext cx="0" cy="283463"/>
          </a:xfrm>
          <a:prstGeom prst="line">
            <a:avLst/>
          </a:prstGeom>
          <a:ln w="16510">
            <a:solidFill>
              <a:srgbClr val="A8A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>
            <a:off x="2313432" y="4910328"/>
            <a:ext cx="7571231" cy="0"/>
          </a:xfrm>
          <a:prstGeom prst="line">
            <a:avLst/>
          </a:prstGeom>
          <a:ln w="16510">
            <a:solidFill>
              <a:srgbClr val="A8A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6099048" y="4910328"/>
            <a:ext cx="0" cy="146304"/>
          </a:xfrm>
          <a:prstGeom prst="line">
            <a:avLst/>
          </a:prstGeom>
          <a:ln w="16510">
            <a:solidFill>
              <a:srgbClr val="A8A8B5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Rounded Rectangle 39"/>
          <p:cNvSpPr/>
          <p:nvPr/>
        </p:nvSpPr>
        <p:spPr>
          <a:xfrm>
            <a:off x="4133087" y="5056632"/>
            <a:ext cx="3931920" cy="640080"/>
          </a:xfrm>
          <a:prstGeom prst="roundRect">
            <a:avLst>
              <a:gd name="adj" fmla="val 22857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4315968" y="5102352"/>
            <a:ext cx="3566160" cy="51206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FFFFFF"/>
                </a:solidFill>
                <a:latin typeface="Calibri"/>
              </a:rPr>
              <a:t>OR gate · any one tier fires → alert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870448"/>
            <a:ext cx="1097280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60" b="0" i="1">
                <a:solidFill>
                  <a:srgbClr val="5B5B7A"/>
                </a:solidFill>
                <a:latin typeface="Calibri"/>
              </a:rPr>
              <a:t>Safety principle: personal calibration cannot suppress a clinical floor. Target architecture · thresholds and independent paths require validation.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5B5B7A"/>
                </a:solidFill>
                <a:latin typeface="Calibri"/>
              </a:rPr>
              <a:t>AI SAFETY</a:t>
            </a:r>
            <a:r>
              <a:rPr sz="800" b="0" i="0" spc="140">
                <a:solidFill>
                  <a:srgbClr val="5B5B7A"/>
                </a:solidFill>
                <a:latin typeface="Calibri"/>
              </a:rPr>
              <a:t>   |   INDEPENDENT DETECTION PATHS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C3CE9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lder_home.jpg"/>
          <p:cNvPicPr>
            <a:picLocks noChangeAspect="1"/>
          </p:cNvPicPr>
          <p:nvPr/>
        </p:nvPicPr>
        <p:blipFill>
          <a:blip r:embed="rId2"/>
          <a:srcRect l="42889" r="16679"/>
          <a:stretch>
            <a:fillRect/>
          </a:stretch>
        </p:blipFill>
        <p:spPr>
          <a:xfrm>
            <a:off x="7223760" y="0"/>
            <a:ext cx="496793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7223760" y="0"/>
            <a:ext cx="2011680" cy="6858000"/>
          </a:xfrm>
          <a:prstGeom prst="rect">
            <a:avLst/>
          </a:prstGeom>
          <a:gradFill rotWithShape="1">
            <a:gsLst>
              <a:gs pos="0">
                <a:srgbClr val="0F0E2A"/>
              </a:gs>
              <a:gs pos="100000">
                <a:srgbClr val="0F0E2A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548640" y="502920"/>
            <a:ext cx="6400800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A fall triggers a verified
safety workflow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002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 i="0" spc="160">
                <a:solidFill>
                  <a:srgbClr val="22D3EE"/>
                </a:solidFill>
                <a:latin typeface="Calibri"/>
              </a:rPr>
              <a:t>DESIGNED EMERGENCY ESCALATION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77240" y="2286000"/>
            <a:ext cx="0" cy="3145536"/>
          </a:xfrm>
          <a:prstGeom prst="line">
            <a:avLst/>
          </a:prstGeom>
          <a:ln w="19050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585216" y="2093976"/>
            <a:ext cx="384048" cy="384048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85216" y="2093976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1" i="0">
                <a:solidFill>
                  <a:srgbClr val="0F0E2A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80160" y="2075688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Detect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468880" y="2103120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Impact above 3 g, a free-fall cue, or a dangerous vital pattern from the AI core</a:t>
            </a:r>
          </a:p>
        </p:txBody>
      </p:sp>
      <p:sp>
        <p:nvSpPr>
          <p:cNvPr id="11" name="Oval 10"/>
          <p:cNvSpPr/>
          <p:nvPr/>
        </p:nvSpPr>
        <p:spPr>
          <a:xfrm>
            <a:off x="585216" y="2880360"/>
            <a:ext cx="384048" cy="384048"/>
          </a:xfrm>
          <a:prstGeom prst="ellipse">
            <a:avLst/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85216" y="2880360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80160" y="2862072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468880" y="2889503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Post-impact immobility (4 s), orientation change, severity and GPS fix → confidence</a:t>
            </a:r>
          </a:p>
        </p:txBody>
      </p:sp>
      <p:sp>
        <p:nvSpPr>
          <p:cNvPr id="15" name="Oval 14"/>
          <p:cNvSpPr/>
          <p:nvPr/>
        </p:nvSpPr>
        <p:spPr>
          <a:xfrm>
            <a:off x="585216" y="3666744"/>
            <a:ext cx="384048" cy="384048"/>
          </a:xfrm>
          <a:prstGeom prst="ellipse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85216" y="36667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80160" y="3648456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68880" y="3675887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OLED asks "Are you OK?" — one button press ends it; caregivers see a pre-alert</a:t>
            </a:r>
          </a:p>
        </p:txBody>
      </p:sp>
      <p:sp>
        <p:nvSpPr>
          <p:cNvPr id="19" name="Oval 18"/>
          <p:cNvSpPr/>
          <p:nvPr/>
        </p:nvSpPr>
        <p:spPr>
          <a:xfrm>
            <a:off x="585216" y="4453128"/>
            <a:ext cx="384048" cy="384048"/>
          </a:xfrm>
          <a:prstGeom prst="ellipse">
            <a:avLst/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85216" y="4453128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1" i="0">
                <a:solidFill>
                  <a:srgbClr val="0F0E2A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80160" y="4434840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Escalate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468880" y="4462272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No answer within 30 s → emergency packet: event, vitals, timestamp, Google Maps link</a:t>
            </a:r>
          </a:p>
        </p:txBody>
      </p:sp>
      <p:sp>
        <p:nvSpPr>
          <p:cNvPr id="23" name="Oval 22"/>
          <p:cNvSpPr/>
          <p:nvPr/>
        </p:nvSpPr>
        <p:spPr>
          <a:xfrm>
            <a:off x="585216" y="5239512"/>
            <a:ext cx="384048" cy="384048"/>
          </a:xfrm>
          <a:prstGeom prst="ellipse">
            <a:avLst/>
          </a:prstGeom>
          <a:solidFill>
            <a:srgbClr val="F4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85216" y="5239512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000" b="1" i="0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80160" y="5221224"/>
            <a:ext cx="128016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Notify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468880" y="5248656"/>
            <a:ext cx="448056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Backend dispatches to saved contacts; band shows HELP REQUESTED until acknowledged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5989320"/>
            <a:ext cx="6400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1">
                <a:solidFill>
                  <a:srgbClr val="A9A9C7"/>
                </a:solidFill>
                <a:latin typeface="Calibri"/>
              </a:rPr>
              <a:t>Escalation thresholds, consent flows and failure handling are validated in the pilot before any public launch.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A9A9C7"/>
                </a:solidFill>
                <a:latin typeface="Calibri"/>
              </a:rPr>
              <a:t>SAFETY</a:t>
            </a:r>
            <a:r>
              <a:rPr sz="800" b="0" i="0" spc="140">
                <a:solidFill>
                  <a:srgbClr val="A9A9C7"/>
                </a:solidFill>
                <a:latin typeface="Calibri"/>
              </a:rPr>
              <a:t>   |   DESIGNED EMERGENCY ESCALATION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7315200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7172F"/>
                </a:solidFill>
                <a:latin typeface="Calibri"/>
              </a:rPr>
              <a:t>Live data becomes clear action
for families</a:t>
            </a:r>
          </a:p>
        </p:txBody>
      </p:sp>
      <p:pic>
        <p:nvPicPr>
          <p:cNvPr id="3" name="Picture 2" descr="caregiver_app.jpg"/>
          <p:cNvPicPr>
            <a:picLocks noChangeAspect="1"/>
          </p:cNvPicPr>
          <p:nvPr/>
        </p:nvPicPr>
        <p:blipFill>
          <a:blip r:embed="rId2"/>
          <a:srcRect l="11199" r="20798"/>
          <a:stretch>
            <a:fillRect/>
          </a:stretch>
        </p:blipFill>
        <p:spPr>
          <a:xfrm>
            <a:off x="548640" y="2011680"/>
            <a:ext cx="4846320" cy="3977639"/>
          </a:xfrm>
          <a:prstGeom prst="roundRect">
            <a:avLst>
              <a:gd name="adj" fmla="val 4597"/>
            </a:avLst>
          </a:prstGeom>
        </p:spPr>
      </p:pic>
      <p:sp>
        <p:nvSpPr>
          <p:cNvPr id="4" name="TextBox 3"/>
          <p:cNvSpPr txBox="1"/>
          <p:nvPr/>
        </p:nvSpPr>
        <p:spPr>
          <a:xfrm>
            <a:off x="5943600" y="201168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60">
                <a:solidFill>
                  <a:srgbClr val="6C3CE9"/>
                </a:solidFill>
                <a:latin typeface="Calibri"/>
              </a:rPr>
              <a:t>CAREGIVER APP &amp; DASHBOARD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943600" y="2496312"/>
            <a:ext cx="73152" cy="45720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6172200" y="242316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20">
                <a:solidFill>
                  <a:srgbClr val="17172F"/>
                </a:solidFill>
                <a:latin typeface="Calibri"/>
              </a:rPr>
              <a:t>LIVE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404872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7172F"/>
                </a:solidFill>
                <a:latin typeface="Calibri"/>
              </a:rPr>
              <a:t>Current vitals, activity state and band presence — green means all good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172200" y="3044952"/>
            <a:ext cx="539496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5943600" y="3227832"/>
            <a:ext cx="73152" cy="457200"/>
          </a:xfrm>
          <a:prstGeom prst="roundRect">
            <a:avLst>
              <a:gd name="adj" fmla="val 50000"/>
            </a:avLst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172200" y="315468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20">
                <a:solidFill>
                  <a:srgbClr val="3B5BFF"/>
                </a:solidFill>
                <a:latin typeface="Calibri"/>
              </a:rPr>
              <a:t>TRENDS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3136392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7172F"/>
                </a:solidFill>
                <a:latin typeface="Calibri"/>
              </a:rPr>
              <a:t>HRV, temperature and anomaly history to catch slow deterioration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172200" y="3776472"/>
            <a:ext cx="539496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5943600" y="3959352"/>
            <a:ext cx="73152" cy="457200"/>
          </a:xfrm>
          <a:prstGeom prst="roundRect">
            <a:avLst>
              <a:gd name="adj" fmla="val 5000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172200" y="388620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20">
                <a:solidFill>
                  <a:srgbClr val="6C3CE9"/>
                </a:solidFill>
                <a:latin typeface="Calibri"/>
              </a:rPr>
              <a:t>ADVICE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3867912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7172F"/>
                </a:solidFill>
                <a:latin typeface="Calibri"/>
              </a:rPr>
              <a:t>LLM-written explanations and personalised next steps for the wearer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172200" y="4507992"/>
            <a:ext cx="539496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5943600" y="4690872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5B30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172200" y="461772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20">
                <a:solidFill>
                  <a:srgbClr val="17172F"/>
                </a:solidFill>
                <a:latin typeface="Calibri"/>
              </a:rPr>
              <a:t>ALERTS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4599432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7172F"/>
                </a:solidFill>
                <a:latin typeface="Calibri"/>
              </a:rPr>
              <a:t>Stress, fever, low oxygen and fall notifications, graded by severity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172200" y="5239512"/>
            <a:ext cx="539496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5943600" y="5422392"/>
            <a:ext cx="73152" cy="457200"/>
          </a:xfrm>
          <a:prstGeom prst="roundRect">
            <a:avLst>
              <a:gd name="adj" fmla="val 50000"/>
            </a:avLst>
          </a:prstGeom>
          <a:solidFill>
            <a:srgbClr val="F43F7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172200" y="5349240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20">
                <a:solidFill>
                  <a:srgbClr val="F43F7A"/>
                </a:solidFill>
                <a:latin typeface="Calibri"/>
              </a:rPr>
              <a:t>SAFETY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0" y="5330952"/>
            <a:ext cx="42976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50" b="0" i="0">
                <a:solidFill>
                  <a:srgbClr val="17172F"/>
                </a:solidFill>
                <a:latin typeface="Calibri"/>
              </a:rPr>
              <a:t>Emergency contacts, GPS context and a full alert timeline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6172200" y="5971031"/>
            <a:ext cx="539496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5B5B7A"/>
                </a:solidFill>
                <a:latin typeface="Calibri"/>
              </a:rPr>
              <a:t>PRODUCT</a:t>
            </a:r>
            <a:r>
              <a:rPr sz="800" b="0" i="0" spc="140">
                <a:solidFill>
                  <a:srgbClr val="5B5B7A"/>
                </a:solidFill>
                <a:latin typeface="Calibri"/>
              </a:rPr>
              <a:t>   |   CAREGIVER APP AND DASHBOARD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C3CE9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32688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What is already built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9A9C7"/>
                </a:solidFill>
                <a:latin typeface="Calibri"/>
              </a:rPr>
              <a:t>Prototype stage — every layer of the stack exists end to end.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606040" cy="2148840"/>
          </a:xfrm>
          <a:prstGeom prst="roundRect">
            <a:avLst>
              <a:gd name="adj" fmla="val 6808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548640" y="2103120"/>
            <a:ext cx="2606040" cy="91440"/>
          </a:xfrm>
          <a:prstGeom prst="roundRect">
            <a:avLst>
              <a:gd name="adj" fmla="val 5000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59" y="237744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1,875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01752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 i="0" spc="160">
                <a:solidFill>
                  <a:srgbClr val="6C3CE9"/>
                </a:solidFill>
                <a:latin typeface="Calibri"/>
              </a:rPr>
              <a:t>LABELLED READINGS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3832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5 activity states · 14 raw signals · 21 engineered features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74136" y="2103120"/>
            <a:ext cx="2606040" cy="2148840"/>
          </a:xfrm>
          <a:prstGeom prst="roundRect">
            <a:avLst>
              <a:gd name="adj" fmla="val 6808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ounded Rectangle 9"/>
          <p:cNvSpPr/>
          <p:nvPr/>
        </p:nvSpPr>
        <p:spPr>
          <a:xfrm>
            <a:off x="3374136" y="2103120"/>
            <a:ext cx="2606040" cy="91440"/>
          </a:xfrm>
          <a:prstGeom prst="roundRect">
            <a:avLst>
              <a:gd name="adj" fmla="val 50000"/>
            </a:avLst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648456" y="237744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3 + 1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648456" y="301752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 i="0" spc="160">
                <a:solidFill>
                  <a:srgbClr val="3B5BFF"/>
                </a:solidFill>
                <a:latin typeface="Calibri"/>
              </a:rPr>
              <a:t>MODEL PIPELINE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33832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Isolation Forest · LSTM autoencoder · rule classifier · optional LLM advice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1" y="2103120"/>
            <a:ext cx="2606040" cy="2148840"/>
          </a:xfrm>
          <a:prstGeom prst="roundRect">
            <a:avLst>
              <a:gd name="adj" fmla="val 6808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ounded Rectangle 14"/>
          <p:cNvSpPr/>
          <p:nvPr/>
        </p:nvSpPr>
        <p:spPr>
          <a:xfrm>
            <a:off x="6199631" y="2103120"/>
            <a:ext cx="2606040" cy="91440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6473951" y="237744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v1.0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73951" y="301752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 i="0" spc="160">
                <a:solidFill>
                  <a:srgbClr val="22D3EE"/>
                </a:solidFill>
                <a:latin typeface="Calibri"/>
              </a:rPr>
              <a:t>ESP32 FIRMWARE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73951" y="33832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Full sensor stack, fall/SOS workflow, TLS MQTT — 87 automated checks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025128" y="2103120"/>
            <a:ext cx="2606040" cy="2148840"/>
          </a:xfrm>
          <a:prstGeom prst="roundRect">
            <a:avLst>
              <a:gd name="adj" fmla="val 6808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ounded Rectangle 19"/>
          <p:cNvSpPr/>
          <p:nvPr/>
        </p:nvSpPr>
        <p:spPr>
          <a:xfrm>
            <a:off x="9025128" y="2103120"/>
            <a:ext cx="2606040" cy="91440"/>
          </a:xfrm>
          <a:prstGeom prst="roundRect">
            <a:avLst>
              <a:gd name="adj" fmla="val 5000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9299448" y="2377440"/>
            <a:ext cx="214884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3400" b="1" i="0">
                <a:solidFill>
                  <a:srgbClr val="FFFFFF"/>
                </a:solidFill>
                <a:latin typeface="Calibri"/>
              </a:rPr>
              <a:t>Live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99448" y="301752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1" i="0" spc="160">
                <a:solidFill>
                  <a:srgbClr val="34D399"/>
                </a:solidFill>
                <a:latin typeface="Calibri"/>
              </a:rPr>
              <a:t>CLOUD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99448" y="3383280"/>
            <a:ext cx="210312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HiveMQ Cloud broker · FastAPI service · web dashboard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914400" y="5074920"/>
            <a:ext cx="10332720" cy="0"/>
          </a:xfrm>
          <a:prstGeom prst="line">
            <a:avLst/>
          </a:prstGeom>
          <a:ln w="25400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822960" y="4983480"/>
            <a:ext cx="182880" cy="182880"/>
          </a:xfrm>
          <a:prstGeom prst="ellipse">
            <a:avLst/>
          </a:prstGeom>
          <a:solidFill>
            <a:srgbClr val="A9A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31520" y="5349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A9A9C7"/>
                </a:solidFill>
                <a:latin typeface="Calibri"/>
              </a:rPr>
              <a:t>Concept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623559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9A9C7"/>
                </a:solidFill>
                <a:latin typeface="Calibri"/>
              </a:rPr>
              <a:t>system design, dataset, models</a:t>
            </a:r>
          </a:p>
        </p:txBody>
      </p:sp>
      <p:sp>
        <p:nvSpPr>
          <p:cNvPr id="28" name="Oval 27"/>
          <p:cNvSpPr/>
          <p:nvPr/>
        </p:nvSpPr>
        <p:spPr>
          <a:xfrm>
            <a:off x="4160520" y="4937759"/>
            <a:ext cx="274320" cy="27432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4023360" y="4800600"/>
            <a:ext cx="548640" cy="548640"/>
          </a:xfrm>
          <a:prstGeom prst="ellipse">
            <a:avLst/>
          </a:prstGeom>
          <a:noFill/>
          <a:ln w="15875">
            <a:solidFill>
              <a:srgbClr val="22D3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Rounded Rectangle 29"/>
          <p:cNvSpPr/>
          <p:nvPr/>
        </p:nvSpPr>
        <p:spPr>
          <a:xfrm>
            <a:off x="3886200" y="4297680"/>
            <a:ext cx="868680" cy="256032"/>
          </a:xfrm>
          <a:prstGeom prst="roundRect">
            <a:avLst>
              <a:gd name="adj" fmla="val 5000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886200" y="4297680"/>
            <a:ext cx="868680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750" b="1" i="0" spc="120">
                <a:solidFill>
                  <a:srgbClr val="0F0E2A"/>
                </a:solidFill>
                <a:latin typeface="Calibri"/>
              </a:rPr>
              <a:t>WE ARE HERE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114800" y="5349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Calibri"/>
              </a:rPr>
              <a:t>Prototype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114800" y="5623559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9A9C7"/>
                </a:solidFill>
                <a:latin typeface="Calibri"/>
              </a:rPr>
              <a:t>firmware + cloud + dashboard</a:t>
            </a:r>
          </a:p>
        </p:txBody>
      </p:sp>
      <p:sp>
        <p:nvSpPr>
          <p:cNvPr id="34" name="Oval 33"/>
          <p:cNvSpPr/>
          <p:nvPr/>
        </p:nvSpPr>
        <p:spPr>
          <a:xfrm>
            <a:off x="7589520" y="4983480"/>
            <a:ext cx="182880" cy="182880"/>
          </a:xfrm>
          <a:prstGeom prst="ellipse">
            <a:avLst/>
          </a:prstGeom>
          <a:solidFill>
            <a:srgbClr val="A9A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7498080" y="5349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A9A9C7"/>
                </a:solidFill>
                <a:latin typeface="Calibri"/>
              </a:rPr>
              <a:t>Pilot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0" y="5623559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9A9C7"/>
                </a:solidFill>
                <a:latin typeface="Calibri"/>
              </a:rPr>
              <a:t>30–50 households, 3 months</a:t>
            </a:r>
          </a:p>
        </p:txBody>
      </p:sp>
      <p:sp>
        <p:nvSpPr>
          <p:cNvPr id="37" name="Oval 36"/>
          <p:cNvSpPr/>
          <p:nvPr/>
        </p:nvSpPr>
        <p:spPr>
          <a:xfrm>
            <a:off x="10972800" y="4983480"/>
            <a:ext cx="182880" cy="182880"/>
          </a:xfrm>
          <a:prstGeom prst="ellipse">
            <a:avLst/>
          </a:prstGeom>
          <a:solidFill>
            <a:srgbClr val="A9A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TextBox 37"/>
          <p:cNvSpPr txBox="1"/>
          <p:nvPr/>
        </p:nvSpPr>
        <p:spPr>
          <a:xfrm>
            <a:off x="10881360" y="5349240"/>
            <a:ext cx="17373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200" b="1" i="0">
                <a:solidFill>
                  <a:srgbClr val="A9A9C7"/>
                </a:solidFill>
                <a:latin typeface="Calibri"/>
              </a:rPr>
              <a:t>Launch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0881360" y="5623559"/>
            <a:ext cx="173736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9A9C7"/>
                </a:solidFill>
                <a:latin typeface="Calibri"/>
              </a:rPr>
              <a:t>Egypt, then MENA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A9A9C7"/>
                </a:solidFill>
                <a:latin typeface="Calibri"/>
              </a:rPr>
              <a:t>TRACTION</a:t>
            </a:r>
            <a:r>
              <a:rPr sz="800" b="0" i="0" spc="140">
                <a:solidFill>
                  <a:srgbClr val="A9A9C7"/>
                </a:solidFill>
                <a:latin typeface="Calibri"/>
              </a:rPr>
              <a:t>   |   PROTOTYPE STATUS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686800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7172F"/>
                </a:solidFill>
                <a:latin typeface="Calibri"/>
              </a:rPr>
              <a:t>Start with independent aging in Egypt,
expand across MENA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103120"/>
            <a:ext cx="3520440" cy="283464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822959" y="2331720"/>
            <a:ext cx="1129284" cy="256032"/>
          </a:xfrm>
          <a:prstGeom prst="roundRect">
            <a:avLst>
              <a:gd name="adj" fmla="val 5000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22959" y="2331720"/>
            <a:ext cx="1129284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Calibri"/>
              </a:rPr>
              <a:t>FIRST WEDGE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59" y="27889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7172F"/>
                </a:solidFill>
                <a:latin typeface="Calibri"/>
              </a:rPr>
              <a:t>Independent aging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29184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Older adults living at home who benefit from fall detection and proactive monitoring.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822959" y="4251960"/>
            <a:ext cx="2971801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822959" y="4370832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C3CE9"/>
                </a:solidFill>
                <a:latin typeface="Calibri"/>
              </a:rPr>
              <a:t>9.3 M Egyptians aged 60+ (8.8%) — CAPMAS 2024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34255" y="2103120"/>
            <a:ext cx="3520440" cy="283464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Rounded Rectangle 10"/>
          <p:cNvSpPr/>
          <p:nvPr/>
        </p:nvSpPr>
        <p:spPr>
          <a:xfrm>
            <a:off x="4608575" y="2331720"/>
            <a:ext cx="973836" cy="256032"/>
          </a:xfrm>
          <a:prstGeom prst="roundRect">
            <a:avLst>
              <a:gd name="adj" fmla="val 50000"/>
            </a:avLst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608575" y="2331720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Calibri"/>
              </a:rPr>
              <a:t>THE BUYER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5" y="27889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7172F"/>
                </a:solidFill>
                <a:latin typeface="Calibri"/>
              </a:rPr>
              <a:t>Family &amp; caregivers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08575" y="329184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Adult children who want alerts, location context and peace of mind while at work.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4608575" y="4251960"/>
            <a:ext cx="297180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4608575" y="4370832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3B5BFF"/>
                </a:solidFill>
                <a:latin typeface="Calibri"/>
              </a:rPr>
              <a:t>Household decision-maker; subscription payer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19871" y="2103120"/>
            <a:ext cx="3520440" cy="283464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8394192" y="2331720"/>
            <a:ext cx="973836" cy="256032"/>
          </a:xfrm>
          <a:prstGeom prst="roundRect">
            <a:avLst>
              <a:gd name="adj" fmla="val 50000"/>
            </a:avLst>
          </a:prstGeom>
          <a:solidFill>
            <a:srgbClr val="0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394192" y="2331720"/>
            <a:ext cx="973836" cy="25603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00" b="1" i="0" spc="120">
                <a:solidFill>
                  <a:srgbClr val="FFFFFF"/>
                </a:solidFill>
                <a:latin typeface="Calibri"/>
              </a:rPr>
              <a:t>EXPANSION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94192" y="2788920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800" b="1" i="0">
                <a:solidFill>
                  <a:srgbClr val="17172F"/>
                </a:solidFill>
                <a:latin typeface="Calibri"/>
              </a:rPr>
              <a:t>Wellness &amp; stress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94192" y="3291840"/>
            <a:ext cx="29718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Professionals who want context on stress, sleep and recovery — not another raw score.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394192" y="4251960"/>
            <a:ext cx="297180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8394192" y="4370832"/>
            <a:ext cx="297180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0F9F6E"/>
                </a:solidFill>
                <a:latin typeface="Calibri"/>
              </a:rPr>
              <a:t>Same band, different app mode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48640" y="5257800"/>
            <a:ext cx="11094415" cy="868680"/>
          </a:xfrm>
          <a:prstGeom prst="roundRect">
            <a:avLst>
              <a:gd name="adj" fmla="val 14736"/>
            </a:avLst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68680" y="5349240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684 000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240280" y="534924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9A9C7"/>
                </a:solidFill>
                <a:latin typeface="Calibri"/>
              </a:rPr>
              <a:t>fatal falls per year worldwide (WHO)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526280" y="5349240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37.3 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897880" y="534924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9A9C7"/>
                </a:solidFill>
                <a:latin typeface="Calibri"/>
              </a:rPr>
              <a:t>falls a year need medical attention (WHO)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183879" y="5349240"/>
            <a:ext cx="137160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2200" b="1" i="0">
                <a:solidFill>
                  <a:srgbClr val="FFFFFF"/>
                </a:solidFill>
                <a:latin typeface="Calibri"/>
              </a:rPr>
              <a:t>80%+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55480" y="5349240"/>
            <a:ext cx="2103120" cy="685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950" b="0" i="0">
                <a:solidFill>
                  <a:srgbClr val="A9A9C7"/>
                </a:solidFill>
                <a:latin typeface="Calibri"/>
              </a:rPr>
              <a:t>of fall deaths are in low- and middle-income countries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5B5B7A"/>
                </a:solidFill>
                <a:latin typeface="Calibri"/>
              </a:rPr>
              <a:t>MARKET</a:t>
            </a:r>
            <a:r>
              <a:rPr sz="800" b="0" i="0" spc="140">
                <a:solidFill>
                  <a:srgbClr val="5B5B7A"/>
                </a:solidFill>
                <a:latin typeface="Calibri"/>
              </a:rPr>
              <a:t>   |   ENTRY WEDGE AND EXPANSION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C3CE9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32688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7172F"/>
                </a:solidFill>
                <a:latin typeface="Calibri"/>
              </a:rPr>
              <a:t>Commercial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B5B7A"/>
                </a:solidFill>
                <a:latin typeface="Calibri"/>
              </a:rPr>
              <a:t>Hypotheses for a prototype-stage company — pricing and unit economics are validated in the pilot.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05740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60">
                <a:solidFill>
                  <a:srgbClr val="6C3CE9"/>
                </a:solidFill>
                <a:latin typeface="Calibri"/>
              </a:rPr>
              <a:t>REVENUE STREAMS</a:t>
            </a:r>
          </a:p>
        </p:txBody>
      </p:sp>
      <p:sp>
        <p:nvSpPr>
          <p:cNvPr id="5" name="Oval 4"/>
          <p:cNvSpPr/>
          <p:nvPr/>
        </p:nvSpPr>
        <p:spPr>
          <a:xfrm>
            <a:off x="557784" y="2478024"/>
            <a:ext cx="384048" cy="384048"/>
          </a:xfrm>
          <a:prstGeom prst="ellipse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557784" y="247802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45059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7172F"/>
                </a:solidFill>
                <a:latin typeface="Calibri"/>
              </a:rPr>
              <a:t>Device sale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78892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B5B7A"/>
                </a:solidFill>
                <a:latin typeface="Calibri"/>
              </a:rPr>
              <a:t>One-time revenue from the band and charger; target hardware margin ≥ 35 % at volume.</a:t>
            </a:r>
          </a:p>
        </p:txBody>
      </p:sp>
      <p:sp>
        <p:nvSpPr>
          <p:cNvPr id="9" name="Oval 8"/>
          <p:cNvSpPr/>
          <p:nvPr/>
        </p:nvSpPr>
        <p:spPr>
          <a:xfrm>
            <a:off x="557784" y="3529584"/>
            <a:ext cx="384048" cy="384048"/>
          </a:xfrm>
          <a:prstGeom prst="ellipse">
            <a:avLst/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557784" y="352958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234440" y="350215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7172F"/>
                </a:solidFill>
                <a:latin typeface="Calibri"/>
              </a:rPr>
              <a:t>Family subscription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84048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B5B7A"/>
                </a:solidFill>
                <a:latin typeface="Calibri"/>
              </a:rPr>
              <a:t>Monthly access to AI insights, longer history, multi-caregiver alerts and emergency dispatch.</a:t>
            </a:r>
          </a:p>
        </p:txBody>
      </p:sp>
      <p:sp>
        <p:nvSpPr>
          <p:cNvPr id="13" name="Oval 12"/>
          <p:cNvSpPr/>
          <p:nvPr/>
        </p:nvSpPr>
        <p:spPr>
          <a:xfrm>
            <a:off x="557784" y="4581144"/>
            <a:ext cx="384048" cy="384048"/>
          </a:xfrm>
          <a:prstGeom prst="ellipse">
            <a:avLst/>
          </a:prstGeom>
          <a:solidFill>
            <a:srgbClr val="0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57784" y="4581144"/>
            <a:ext cx="384048" cy="38404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34440" y="455371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17172F"/>
                </a:solidFill>
                <a:latin typeface="Calibri"/>
              </a:rPr>
              <a:t>B2B / B2B2C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892040"/>
            <a:ext cx="475488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5B5B7A"/>
                </a:solidFill>
                <a:latin typeface="Calibri"/>
              </a:rPr>
              <a:t>Pilots with senior-care providers, insurers, employers and remote-care partners; per-seat pricing.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6492240" y="2103120"/>
            <a:ext cx="0" cy="3566159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6858000" y="2057400"/>
            <a:ext cx="45720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60">
                <a:solidFill>
                  <a:srgbClr val="6C3CE9"/>
                </a:solidFill>
                <a:latin typeface="Calibri"/>
              </a:rPr>
              <a:t>UNIT ECONOMICS — WORKING ASSUMPTIONS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858000" y="2468880"/>
            <a:ext cx="4754880" cy="365760"/>
          </a:xfrm>
          <a:prstGeom prst="rect">
            <a:avLst/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967728" y="2468880"/>
            <a:ext cx="11430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LINE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93607" y="2468880"/>
            <a:ext cx="123444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PROTOTYPE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2468880"/>
            <a:ext cx="1828800" cy="3657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20">
                <a:solidFill>
                  <a:srgbClr val="FFFFFF"/>
                </a:solidFill>
                <a:latin typeface="Calibri"/>
              </a:rPr>
              <a:t>VOLUME TARGET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858000" y="2834640"/>
            <a:ext cx="47548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4" name="Connector 23"/>
          <p:cNvCxnSpPr/>
          <p:nvPr/>
        </p:nvCxnSpPr>
        <p:spPr>
          <a:xfrm>
            <a:off x="6858000" y="3255264"/>
            <a:ext cx="475488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6967728" y="2834640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C3CE9"/>
                </a:solidFill>
                <a:latin typeface="Calibri"/>
              </a:rPr>
              <a:t>Bill of materials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93607" y="2834640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7172F"/>
                </a:solidFill>
                <a:latin typeface="Calibri"/>
              </a:rPr>
              <a:t>≈ US$ 45–60 (modules)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10928" y="2834640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7172F"/>
                </a:solidFill>
                <a:latin typeface="Calibri"/>
              </a:rPr>
              <a:t>&lt; US$ 30 (custom PCB, 5k units)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858000" y="3255264"/>
            <a:ext cx="4754880" cy="420624"/>
          </a:xfrm>
          <a:prstGeom prst="rect">
            <a:avLst/>
          </a:prstGeom>
          <a:solidFill>
            <a:srgbClr val="F5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9" name="Connector 28"/>
          <p:cNvCxnSpPr/>
          <p:nvPr/>
        </p:nvCxnSpPr>
        <p:spPr>
          <a:xfrm>
            <a:off x="6858000" y="3675888"/>
            <a:ext cx="475488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6967728" y="3255264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C3CE9"/>
                </a:solidFill>
                <a:latin typeface="Calibri"/>
              </a:rPr>
              <a:t>Device price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93607" y="3255264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7172F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10928" y="3255264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7172F"/>
                </a:solidFill>
                <a:latin typeface="Calibri"/>
              </a:rPr>
              <a:t>US$ 79–99 equivalent, local pricing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858000" y="3675888"/>
            <a:ext cx="4754880" cy="420624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4" name="Connector 33"/>
          <p:cNvCxnSpPr/>
          <p:nvPr/>
        </p:nvCxnSpPr>
        <p:spPr>
          <a:xfrm>
            <a:off x="6858000" y="4096512"/>
            <a:ext cx="475488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6967728" y="3675888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C3CE9"/>
                </a:solidFill>
                <a:latin typeface="Calibri"/>
              </a:rPr>
              <a:t>Subscription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93607" y="3675888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7172F"/>
                </a:solidFill>
                <a:latin typeface="Calibri"/>
              </a:rPr>
              <a:t>—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710928" y="3675888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7172F"/>
                </a:solidFill>
                <a:latin typeface="Calibri"/>
              </a:rPr>
              <a:t>US$ 3–6 / month per household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858000" y="4096512"/>
            <a:ext cx="4754880" cy="420624"/>
          </a:xfrm>
          <a:prstGeom prst="rect">
            <a:avLst/>
          </a:prstGeom>
          <a:solidFill>
            <a:srgbClr val="F5F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6858000" y="4517136"/>
            <a:ext cx="475488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967728" y="4096512"/>
            <a:ext cx="11430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1" i="0">
                <a:solidFill>
                  <a:srgbClr val="6C3CE9"/>
                </a:solidFill>
                <a:latin typeface="Calibri"/>
              </a:rPr>
              <a:t>Gross margin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293607" y="4096512"/>
            <a:ext cx="123444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7172F"/>
                </a:solidFill>
                <a:latin typeface="Calibri"/>
              </a:rPr>
              <a:t>n/a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10928" y="4096512"/>
            <a:ext cx="1828800" cy="420624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950" b="0" i="0">
                <a:solidFill>
                  <a:srgbClr val="17172F"/>
                </a:solidFill>
                <a:latin typeface="Calibri"/>
              </a:rPr>
              <a:t>≥ 60 % blended after year 1</a:t>
            </a:r>
          </a:p>
        </p:txBody>
      </p:sp>
      <p:cxnSp>
        <p:nvCxnSpPr>
          <p:cNvPr id="43" name="Connector 42"/>
          <p:cNvCxnSpPr/>
          <p:nvPr/>
        </p:nvCxnSpPr>
        <p:spPr>
          <a:xfrm>
            <a:off x="6858000" y="2834640"/>
            <a:ext cx="4754880" cy="0"/>
          </a:xfrm>
          <a:prstGeom prst="line">
            <a:avLst/>
          </a:prstGeom>
          <a:ln w="9525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6858000" y="4892040"/>
            <a:ext cx="4754880" cy="6400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950" b="0" i="1">
                <a:solidFill>
                  <a:srgbClr val="5B5B7A"/>
                </a:solidFill>
                <a:latin typeface="Calibri"/>
              </a:rPr>
              <a:t>Assumptions to validate: willingness to pay in EGP, churn after the first alert, and B2B2C reimbursement partners.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5B5B7A"/>
                </a:solidFill>
                <a:latin typeface="Calibri"/>
              </a:rPr>
              <a:t>BUSINESS</a:t>
            </a:r>
            <a:r>
              <a:rPr sz="800" b="0" i="0" spc="140">
                <a:solidFill>
                  <a:srgbClr val="5B5B7A"/>
                </a:solidFill>
                <a:latin typeface="Calibri"/>
              </a:rPr>
              <a:t>   |   COMMERCIAL MODEL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C3CE9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8229600" cy="11155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Positioned between fitness bands
and medical alert pendants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" y="2057400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ounded Rectangle 3"/>
          <p:cNvSpPr/>
          <p:nvPr/>
        </p:nvSpPr>
        <p:spPr>
          <a:xfrm>
            <a:off x="9829800" y="2057400"/>
            <a:ext cx="1783080" cy="3639311"/>
          </a:xfrm>
          <a:prstGeom prst="roundRect">
            <a:avLst>
              <a:gd name="adj" fmla="val 4102"/>
            </a:avLst>
          </a:prstGeom>
          <a:solidFill>
            <a:srgbClr val="6C3CE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85800" y="2057400"/>
            <a:ext cx="429768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10">
                <a:solidFill>
                  <a:srgbClr val="A9A9C7"/>
                </a:solidFill>
                <a:latin typeface="Calibri"/>
              </a:rPr>
              <a:t>CAPABILITY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166360" y="205740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 spc="110">
                <a:solidFill>
                  <a:srgbClr val="A9A9C7"/>
                </a:solidFill>
                <a:latin typeface="Calibri"/>
              </a:rPr>
              <a:t>FITNESS BANDS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766560" y="205740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 spc="110">
                <a:solidFill>
                  <a:srgbClr val="A9A9C7"/>
                </a:solidFill>
                <a:latin typeface="Calibri"/>
              </a:rPr>
              <a:t>PREMIUM SMARTWATCHES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66760" y="2057400"/>
            <a:ext cx="141732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 spc="110">
                <a:solidFill>
                  <a:srgbClr val="A9A9C7"/>
                </a:solidFill>
                <a:latin typeface="Calibri"/>
              </a:rPr>
              <a:t>MEDICAL ALERT PENDANTS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66960" y="2057400"/>
            <a:ext cx="1600200" cy="4572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850" b="1" i="0" spc="110">
                <a:solidFill>
                  <a:srgbClr val="22D3EE"/>
                </a:solidFill>
                <a:latin typeface="Calibri"/>
              </a:rPr>
              <a:t>NEUROLINK WEAR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51460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Continuous multi-signal vitals (HR, SpO₂, HRV, temp, GSR)</a:t>
            </a:r>
          </a:p>
        </p:txBody>
      </p:sp>
      <p:sp>
        <p:nvSpPr>
          <p:cNvPr id="11" name="Oval 10"/>
          <p:cNvSpPr/>
          <p:nvPr/>
        </p:nvSpPr>
        <p:spPr>
          <a:xfrm>
            <a:off x="5737860" y="2688336"/>
            <a:ext cx="182880" cy="182880"/>
          </a:xfrm>
          <a:prstGeom prst="ellipse">
            <a:avLst/>
          </a:prstGeom>
          <a:noFill/>
          <a:ln w="15875">
            <a:solidFill>
              <a:srgbClr val="A9A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7338060" y="2688336"/>
            <a:ext cx="182880" cy="182880"/>
          </a:xfrm>
          <a:prstGeom prst="ellipse">
            <a:avLst/>
          </a:prstGeom>
          <a:solidFill>
            <a:srgbClr val="A9A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ectangle 12"/>
          <p:cNvSpPr/>
          <p:nvPr/>
        </p:nvSpPr>
        <p:spPr>
          <a:xfrm>
            <a:off x="8956548" y="2766060"/>
            <a:ext cx="146304" cy="27432"/>
          </a:xfrm>
          <a:prstGeom prst="rect">
            <a:avLst/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10629900" y="2688336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15" name="Connector 14"/>
          <p:cNvCxnSpPr/>
          <p:nvPr/>
        </p:nvCxnSpPr>
        <p:spPr>
          <a:xfrm>
            <a:off x="548640" y="3044952"/>
            <a:ext cx="1106424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85800" y="3044952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Predictive anomaly detection (stress, fever, fatigue)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56148" y="3296412"/>
            <a:ext cx="146304" cy="27432"/>
          </a:xfrm>
          <a:prstGeom prst="rect">
            <a:avLst/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Oval 17"/>
          <p:cNvSpPr/>
          <p:nvPr/>
        </p:nvSpPr>
        <p:spPr>
          <a:xfrm>
            <a:off x="7338060" y="3218688"/>
            <a:ext cx="182880" cy="182880"/>
          </a:xfrm>
          <a:prstGeom prst="ellipse">
            <a:avLst/>
          </a:prstGeom>
          <a:noFill/>
          <a:ln w="15875">
            <a:solidFill>
              <a:srgbClr val="A9A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Rectangle 18"/>
          <p:cNvSpPr/>
          <p:nvPr/>
        </p:nvSpPr>
        <p:spPr>
          <a:xfrm>
            <a:off x="8956548" y="3296412"/>
            <a:ext cx="146304" cy="27432"/>
          </a:xfrm>
          <a:prstGeom prst="rect">
            <a:avLst/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Oval 19"/>
          <p:cNvSpPr/>
          <p:nvPr/>
        </p:nvSpPr>
        <p:spPr>
          <a:xfrm>
            <a:off x="10629900" y="3218688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1" name="Connector 20"/>
          <p:cNvCxnSpPr/>
          <p:nvPr/>
        </p:nvCxnSpPr>
        <p:spPr>
          <a:xfrm>
            <a:off x="548640" y="3575304"/>
            <a:ext cx="1106424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extBox 21"/>
          <p:cNvSpPr txBox="1"/>
          <p:nvPr/>
        </p:nvSpPr>
        <p:spPr>
          <a:xfrm>
            <a:off x="685800" y="3575304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On-device fall verification + wearer prompt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756148" y="3826764"/>
            <a:ext cx="146304" cy="27432"/>
          </a:xfrm>
          <a:prstGeom prst="rect">
            <a:avLst/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Oval 23"/>
          <p:cNvSpPr/>
          <p:nvPr/>
        </p:nvSpPr>
        <p:spPr>
          <a:xfrm>
            <a:off x="7338060" y="3749040"/>
            <a:ext cx="182880" cy="182880"/>
          </a:xfrm>
          <a:prstGeom prst="ellipse">
            <a:avLst/>
          </a:prstGeom>
          <a:solidFill>
            <a:srgbClr val="A9A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Oval 24"/>
          <p:cNvSpPr/>
          <p:nvPr/>
        </p:nvSpPr>
        <p:spPr>
          <a:xfrm>
            <a:off x="8938260" y="3749040"/>
            <a:ext cx="182880" cy="182880"/>
          </a:xfrm>
          <a:prstGeom prst="ellipse">
            <a:avLst/>
          </a:prstGeom>
          <a:noFill/>
          <a:ln w="15875">
            <a:solidFill>
              <a:srgbClr val="A9A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Oval 25"/>
          <p:cNvSpPr/>
          <p:nvPr/>
        </p:nvSpPr>
        <p:spPr>
          <a:xfrm>
            <a:off x="10629900" y="3749040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27" name="Connector 26"/>
          <p:cNvCxnSpPr/>
          <p:nvPr/>
        </p:nvCxnSpPr>
        <p:spPr>
          <a:xfrm>
            <a:off x="548640" y="4105656"/>
            <a:ext cx="1106424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685800" y="4105656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Caregiver escalation with vitals and GPS link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756148" y="4357116"/>
            <a:ext cx="146304" cy="27432"/>
          </a:xfrm>
          <a:prstGeom prst="rect">
            <a:avLst/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Oval 29"/>
          <p:cNvSpPr/>
          <p:nvPr/>
        </p:nvSpPr>
        <p:spPr>
          <a:xfrm>
            <a:off x="7338060" y="4279392"/>
            <a:ext cx="182880" cy="182880"/>
          </a:xfrm>
          <a:prstGeom prst="ellipse">
            <a:avLst/>
          </a:prstGeom>
          <a:noFill/>
          <a:ln w="15875">
            <a:solidFill>
              <a:srgbClr val="A9A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Oval 30"/>
          <p:cNvSpPr/>
          <p:nvPr/>
        </p:nvSpPr>
        <p:spPr>
          <a:xfrm>
            <a:off x="8938260" y="4279392"/>
            <a:ext cx="182880" cy="182880"/>
          </a:xfrm>
          <a:prstGeom prst="ellipse">
            <a:avLst/>
          </a:prstGeom>
          <a:solidFill>
            <a:srgbClr val="A9A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2" name="Oval 31"/>
          <p:cNvSpPr/>
          <p:nvPr/>
        </p:nvSpPr>
        <p:spPr>
          <a:xfrm>
            <a:off x="10629900" y="4279392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3" name="Connector 32"/>
          <p:cNvCxnSpPr/>
          <p:nvPr/>
        </p:nvCxnSpPr>
        <p:spPr>
          <a:xfrm>
            <a:off x="548640" y="4636008"/>
            <a:ext cx="1106424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685800" y="4636008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Explains the signal in plain language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756148" y="4887468"/>
            <a:ext cx="146304" cy="27432"/>
          </a:xfrm>
          <a:prstGeom prst="rect">
            <a:avLst/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6" name="Rectangle 35"/>
          <p:cNvSpPr/>
          <p:nvPr/>
        </p:nvSpPr>
        <p:spPr>
          <a:xfrm>
            <a:off x="7356348" y="4887468"/>
            <a:ext cx="146304" cy="27432"/>
          </a:xfrm>
          <a:prstGeom prst="rect">
            <a:avLst/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Rectangle 36"/>
          <p:cNvSpPr/>
          <p:nvPr/>
        </p:nvSpPr>
        <p:spPr>
          <a:xfrm>
            <a:off x="8956548" y="4887468"/>
            <a:ext cx="146304" cy="27432"/>
          </a:xfrm>
          <a:prstGeom prst="rect">
            <a:avLst/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Oval 37"/>
          <p:cNvSpPr/>
          <p:nvPr/>
        </p:nvSpPr>
        <p:spPr>
          <a:xfrm>
            <a:off x="10629900" y="4809744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39" name="Connector 38"/>
          <p:cNvCxnSpPr/>
          <p:nvPr/>
        </p:nvCxnSpPr>
        <p:spPr>
          <a:xfrm>
            <a:off x="548640" y="5166360"/>
            <a:ext cx="1106424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685800" y="5166360"/>
            <a:ext cx="4206240" cy="530352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1050" b="0" i="0">
                <a:solidFill>
                  <a:srgbClr val="FFFFFF"/>
                </a:solidFill>
                <a:latin typeface="Calibri"/>
              </a:rPr>
              <a:t>Affordable for LMIC families, no smartphone needed to wear</a:t>
            </a:r>
          </a:p>
        </p:txBody>
      </p:sp>
      <p:sp>
        <p:nvSpPr>
          <p:cNvPr id="41" name="Oval 40"/>
          <p:cNvSpPr/>
          <p:nvPr/>
        </p:nvSpPr>
        <p:spPr>
          <a:xfrm>
            <a:off x="5737860" y="5340096"/>
            <a:ext cx="182880" cy="182880"/>
          </a:xfrm>
          <a:prstGeom prst="ellipse">
            <a:avLst/>
          </a:prstGeom>
          <a:solidFill>
            <a:srgbClr val="A9A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2" name="Rectangle 41"/>
          <p:cNvSpPr/>
          <p:nvPr/>
        </p:nvSpPr>
        <p:spPr>
          <a:xfrm>
            <a:off x="7356348" y="5417820"/>
            <a:ext cx="146304" cy="27432"/>
          </a:xfrm>
          <a:prstGeom prst="rect">
            <a:avLst/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Oval 42"/>
          <p:cNvSpPr/>
          <p:nvPr/>
        </p:nvSpPr>
        <p:spPr>
          <a:xfrm>
            <a:off x="8938260" y="5340096"/>
            <a:ext cx="182880" cy="182880"/>
          </a:xfrm>
          <a:prstGeom prst="ellipse">
            <a:avLst/>
          </a:prstGeom>
          <a:noFill/>
          <a:ln w="15875">
            <a:solidFill>
              <a:srgbClr val="A9A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Oval 43"/>
          <p:cNvSpPr/>
          <p:nvPr/>
        </p:nvSpPr>
        <p:spPr>
          <a:xfrm>
            <a:off x="10629900" y="5340096"/>
            <a:ext cx="182880" cy="18288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cxnSp>
        <p:nvCxnSpPr>
          <p:cNvPr id="45" name="Connector 44"/>
          <p:cNvCxnSpPr/>
          <p:nvPr/>
        </p:nvCxnSpPr>
        <p:spPr>
          <a:xfrm>
            <a:off x="548640" y="5696712"/>
            <a:ext cx="11064240" cy="0"/>
          </a:xfrm>
          <a:prstGeom prst="line">
            <a:avLst/>
          </a:prstGeom>
          <a:ln w="9525">
            <a:solidFill>
              <a:srgbClr val="26255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Oval 45"/>
          <p:cNvSpPr/>
          <p:nvPr/>
        </p:nvSpPr>
        <p:spPr>
          <a:xfrm>
            <a:off x="566928" y="5897880"/>
            <a:ext cx="146304" cy="146304"/>
          </a:xfrm>
          <a:prstGeom prst="ellipse">
            <a:avLst/>
          </a:prstGeom>
          <a:solidFill>
            <a:srgbClr val="A9A9C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7240" y="586130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A9A9C7"/>
                </a:solidFill>
                <a:latin typeface="Calibri"/>
              </a:rPr>
              <a:t>Full</a:t>
            </a:r>
          </a:p>
        </p:txBody>
      </p:sp>
      <p:sp>
        <p:nvSpPr>
          <p:cNvPr id="48" name="Oval 47"/>
          <p:cNvSpPr/>
          <p:nvPr/>
        </p:nvSpPr>
        <p:spPr>
          <a:xfrm>
            <a:off x="1554480" y="5897880"/>
            <a:ext cx="146304" cy="146304"/>
          </a:xfrm>
          <a:prstGeom prst="ellipse">
            <a:avLst/>
          </a:prstGeom>
          <a:noFill/>
          <a:ln w="15875">
            <a:solidFill>
              <a:srgbClr val="A9A9C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1783080" y="586130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A9A9C7"/>
                </a:solidFill>
                <a:latin typeface="Calibri"/>
              </a:rPr>
              <a:t>Partial</a:t>
            </a:r>
          </a:p>
        </p:txBody>
      </p:sp>
      <p:sp>
        <p:nvSpPr>
          <p:cNvPr id="50" name="Rectangle 49"/>
          <p:cNvSpPr/>
          <p:nvPr/>
        </p:nvSpPr>
        <p:spPr>
          <a:xfrm>
            <a:off x="2697480" y="5957316"/>
            <a:ext cx="128016" cy="27432"/>
          </a:xfrm>
          <a:prstGeom prst="rect">
            <a:avLst/>
          </a:prstGeom>
          <a:solidFill>
            <a:srgbClr val="26255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2926080" y="5861304"/>
            <a:ext cx="109728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0" i="0">
                <a:solidFill>
                  <a:srgbClr val="A9A9C7"/>
                </a:solidFill>
                <a:latin typeface="Calibri"/>
              </a:rPr>
              <a:t>None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400800" y="5833872"/>
            <a:ext cx="521208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5000"/>
              </a:lnSpc>
              <a:spcAft>
                <a:spcPts val="0"/>
              </a:spcAft>
            </a:pPr>
            <a:r>
              <a:rPr sz="950" b="0" i="1">
                <a:solidFill>
                  <a:srgbClr val="A9A9C7"/>
                </a:solidFill>
                <a:latin typeface="Calibri"/>
              </a:rPr>
              <a:t>Premium watches do parts of this at 5–10× the price and assume a paired smartphone; pendants react but never predict.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A9A9C7"/>
                </a:solidFill>
                <a:latin typeface="Calibri"/>
              </a:rPr>
              <a:t>POSITIONING</a:t>
            </a:r>
            <a:r>
              <a:rPr sz="800" b="0" i="0" spc="140">
                <a:solidFill>
                  <a:srgbClr val="A9A9C7"/>
                </a:solidFill>
                <a:latin typeface="Calibri"/>
              </a:rPr>
              <a:t>   |   WHY WE WIN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5F5F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32688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17172F"/>
                </a:solidFill>
                <a:latin typeface="Calibri"/>
              </a:rPr>
              <a:t>Validation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5B5B7A"/>
                </a:solidFill>
                <a:latin typeface="Calibri"/>
              </a:rPr>
              <a:t>From a working prototype to a validated safety product in 18 months.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914400" y="2240280"/>
            <a:ext cx="10332720" cy="0"/>
          </a:xfrm>
          <a:prstGeom prst="line">
            <a:avLst/>
          </a:prstGeom>
          <a:ln w="25400">
            <a:solidFill>
              <a:srgbClr val="E6E6F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Oval 4"/>
          <p:cNvSpPr/>
          <p:nvPr/>
        </p:nvSpPr>
        <p:spPr>
          <a:xfrm>
            <a:off x="758952" y="2084832"/>
            <a:ext cx="310896" cy="310896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758952" y="20848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 i="0">
                <a:solidFill>
                  <a:srgbClr val="0F0E2A"/>
                </a:solidFill>
                <a:latin typeface="Calibri"/>
              </a:rPr>
              <a:t>01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651760"/>
            <a:ext cx="2606040" cy="301752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22959" y="2880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7172F"/>
                </a:solidFill>
                <a:latin typeface="Calibri"/>
              </a:rPr>
              <a:t>Bench &amp; on-body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324612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 i="0" spc="160">
                <a:solidFill>
                  <a:srgbClr val="0891B2"/>
                </a:solidFill>
                <a:latin typeface="Calibri"/>
              </a:rPr>
              <a:t>Q4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59" y="365760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–  Sensor accuracy vs. reference devices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–  Fall thresholds on 20+ scripted falls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–  Battery life, strap &amp; enclosure v1</a:t>
            </a:r>
          </a:p>
        </p:txBody>
      </p:sp>
      <p:sp>
        <p:nvSpPr>
          <p:cNvPr id="11" name="Oval 10"/>
          <p:cNvSpPr/>
          <p:nvPr/>
        </p:nvSpPr>
        <p:spPr>
          <a:xfrm>
            <a:off x="3584448" y="2084832"/>
            <a:ext cx="310896" cy="310896"/>
          </a:xfrm>
          <a:prstGeom prst="ellipse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584448" y="20848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74136" y="2651760"/>
            <a:ext cx="2606040" cy="301752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648456" y="2880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7172F"/>
                </a:solidFill>
                <a:latin typeface="Calibri"/>
              </a:rPr>
              <a:t>Controlled pilot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324612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 i="0" spc="160">
                <a:solidFill>
                  <a:srgbClr val="6C3CE9"/>
                </a:solidFill>
                <a:latin typeface="Calibri"/>
              </a:rPr>
              <a:t>H1 2027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48456" y="365760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–  30–50 households in Giza &amp; Cairo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–  Detection reliability, false-alarm rate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–  Caregiver app, willingness to pay</a:t>
            </a:r>
          </a:p>
        </p:txBody>
      </p:sp>
      <p:sp>
        <p:nvSpPr>
          <p:cNvPr id="17" name="Oval 16"/>
          <p:cNvSpPr/>
          <p:nvPr/>
        </p:nvSpPr>
        <p:spPr>
          <a:xfrm>
            <a:off x="6409944" y="2084832"/>
            <a:ext cx="310896" cy="310896"/>
          </a:xfrm>
          <a:prstGeom prst="ellipse">
            <a:avLst/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09944" y="20848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9631" y="2651760"/>
            <a:ext cx="2606040" cy="301752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473951" y="2880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7172F"/>
                </a:solidFill>
                <a:latin typeface="Calibri"/>
              </a:rPr>
              <a:t>Safety &amp; compliance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324612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 i="0" spc="160">
                <a:solidFill>
                  <a:srgbClr val="3B5BFF"/>
                </a:solidFill>
                <a:latin typeface="Calibri"/>
              </a:rPr>
              <a:t>H2 2027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73951" y="365760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–  Escalation SOPs, consent, privacy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–  Regulatory pathway assessment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–  Custom PCB, DFM, supplier quotes</a:t>
            </a:r>
          </a:p>
        </p:txBody>
      </p:sp>
      <p:sp>
        <p:nvSpPr>
          <p:cNvPr id="23" name="Oval 22"/>
          <p:cNvSpPr/>
          <p:nvPr/>
        </p:nvSpPr>
        <p:spPr>
          <a:xfrm>
            <a:off x="9235440" y="2084832"/>
            <a:ext cx="310896" cy="310896"/>
          </a:xfrm>
          <a:prstGeom prst="ellipse">
            <a:avLst/>
          </a:prstGeom>
          <a:solidFill>
            <a:srgbClr val="0F9F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35440" y="2084832"/>
            <a:ext cx="310896" cy="310896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9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25128" y="2651760"/>
            <a:ext cx="2606040" cy="3017520"/>
          </a:xfrm>
          <a:prstGeom prst="roundRect">
            <a:avLst>
              <a:gd name="adj" fmla="val 5614"/>
            </a:avLst>
          </a:prstGeom>
          <a:solidFill>
            <a:srgbClr val="FFFFFF"/>
          </a:solidFill>
          <a:ln w="9525">
            <a:solidFill>
              <a:srgbClr val="E6E6F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299448" y="2880360"/>
            <a:ext cx="214884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500" b="1" i="0">
                <a:solidFill>
                  <a:srgbClr val="17172F"/>
                </a:solidFill>
                <a:latin typeface="Calibri"/>
              </a:rPr>
              <a:t>Scale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3246120"/>
            <a:ext cx="214884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00" b="1" i="0" spc="160">
                <a:solidFill>
                  <a:srgbClr val="0F9F6E"/>
                </a:solidFill>
                <a:latin typeface="Calibri"/>
              </a:rPr>
              <a:t>2028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299448" y="3657600"/>
            <a:ext cx="21031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–  Egypt launch with care partners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–  B2B2C insurer / employer pilots</a:t>
            </a:r>
          </a:p>
          <a:p>
            <a:pPr algn="l">
              <a:lnSpc>
                <a:spcPct val="115000"/>
              </a:lnSpc>
              <a:spcAft>
                <a:spcPts val="600"/>
              </a:spcAft>
            </a:pPr>
            <a:r>
              <a:rPr sz="1100" b="0" i="0">
                <a:solidFill>
                  <a:srgbClr val="5B5B7A"/>
                </a:solidFill>
                <a:latin typeface="Calibri"/>
              </a:rPr>
              <a:t>–  GCC &amp; MENA expansion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1">
                <a:solidFill>
                  <a:srgbClr val="5B5B7A"/>
                </a:solidFill>
                <a:latin typeface="Calibri"/>
              </a:rPr>
              <a:t>Key risks we track: clinical validity of wrist PPG · false-alarm fatigue · battery life with GPS · data privacy and consent · hardware supply.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5B5B7A"/>
                </a:solidFill>
                <a:latin typeface="Calibri"/>
              </a:rPr>
              <a:t>ROADMAP</a:t>
            </a:r>
            <a:r>
              <a:rPr sz="800" b="0" i="0" spc="140">
                <a:solidFill>
                  <a:srgbClr val="5B5B7A"/>
                </a:solidFill>
                <a:latin typeface="Calibri"/>
              </a:rPr>
              <a:t>   |   VALIDATION PATH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6C3CE9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9326880" cy="60350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libri"/>
              </a:rPr>
              <a:t>Team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143000"/>
            <a:ext cx="93268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400" b="0" i="0">
                <a:solidFill>
                  <a:srgbClr val="A9A9C7"/>
                </a:solidFill>
                <a:latin typeface="Calibri"/>
              </a:rPr>
              <a:t>Builders across embedded systems, data science and care — with advisors we are actively recruiting.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2103120"/>
            <a:ext cx="2606040" cy="3200400"/>
          </a:xfrm>
          <a:prstGeom prst="roundRect">
            <a:avLst>
              <a:gd name="adj" fmla="val 5614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22960" y="2331720"/>
            <a:ext cx="822960" cy="822960"/>
          </a:xfrm>
          <a:prstGeom prst="ellipse">
            <a:avLst/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822960" y="2331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33832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[Founder name]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59" y="3730752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6C3CE9"/>
                </a:solidFill>
                <a:latin typeface="Calibri"/>
              </a:rPr>
              <a:t>CEO · Product &amp; embedded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59" y="429768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Firmware, sensor integration, system architecture.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374136" y="2103120"/>
            <a:ext cx="2606040" cy="3200400"/>
          </a:xfrm>
          <a:prstGeom prst="roundRect">
            <a:avLst>
              <a:gd name="adj" fmla="val 5614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3648455" y="2331720"/>
            <a:ext cx="822960" cy="822960"/>
          </a:xfrm>
          <a:prstGeom prst="ellipse">
            <a:avLst/>
          </a:prstGeom>
          <a:solidFill>
            <a:srgbClr val="3B5B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3648455" y="2331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Calibri"/>
              </a:rPr>
              <a:t>ML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48456" y="33832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[Co-founder name]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48456" y="3730752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3B5BFF"/>
                </a:solidFill>
                <a:latin typeface="Calibri"/>
              </a:rPr>
              <a:t>CTO · AI &amp; data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48456" y="429768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Anomaly models, pipeline, cloud services and dashboard.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99631" y="2103120"/>
            <a:ext cx="2606040" cy="3200400"/>
          </a:xfrm>
          <a:prstGeom prst="roundRect">
            <a:avLst>
              <a:gd name="adj" fmla="val 5614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6473951" y="2331720"/>
            <a:ext cx="822960" cy="822960"/>
          </a:xfrm>
          <a:prstGeom prst="ellipse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6473951" y="2331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0F0E2A"/>
                </a:solidFill>
                <a:latin typeface="Calibri"/>
              </a:rPr>
              <a:t>CA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73951" y="33832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[Clinical advisor]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1" y="3730752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22D3EE"/>
                </a:solidFill>
                <a:latin typeface="Calibri"/>
              </a:rPr>
              <a:t>Geriatrics / family medicine — recruiting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1" y="429768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Protocol design, clinical validity, pilot ethics.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25128" y="2103120"/>
            <a:ext cx="2606040" cy="3200400"/>
          </a:xfrm>
          <a:prstGeom prst="roundRect">
            <a:avLst>
              <a:gd name="adj" fmla="val 5614"/>
            </a:avLst>
          </a:prstGeom>
          <a:solidFill>
            <a:srgbClr val="1B1A3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9299448" y="2331720"/>
            <a:ext cx="822960" cy="822960"/>
          </a:xfrm>
          <a:prstGeom prst="ellipse">
            <a:avLst/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9299448" y="2331720"/>
            <a:ext cx="822960" cy="82296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ct val="108000"/>
              </a:lnSpc>
              <a:spcAft>
                <a:spcPts val="0"/>
              </a:spcAft>
            </a:pPr>
            <a:r>
              <a:rPr sz="1600" b="1" i="0">
                <a:solidFill>
                  <a:srgbClr val="0F0E2A"/>
                </a:solidFill>
                <a:latin typeface="Calibri"/>
              </a:rPr>
              <a:t>GP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299448" y="3383280"/>
            <a:ext cx="20574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400" b="1" i="0">
                <a:solidFill>
                  <a:srgbClr val="FFFFFF"/>
                </a:solidFill>
                <a:latin typeface="Calibri"/>
              </a:rPr>
              <a:t>[Growth lead]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99448" y="3730752"/>
            <a:ext cx="205740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000" b="1" i="0">
                <a:solidFill>
                  <a:srgbClr val="34D399"/>
                </a:solidFill>
                <a:latin typeface="Calibri"/>
              </a:rPr>
              <a:t>Partnerships &amp; go-to-market — recruiting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299448" y="4297680"/>
            <a:ext cx="2057400" cy="9144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00" b="0" i="0">
                <a:solidFill>
                  <a:srgbClr val="A9A9C7"/>
                </a:solidFill>
                <a:latin typeface="Calibri"/>
              </a:rPr>
              <a:t>Senior-care providers, insurers, distribution.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566928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950" b="0" i="1">
                <a:solidFill>
                  <a:srgbClr val="A9A9C7"/>
                </a:solidFill>
                <a:latin typeface="Calibri"/>
              </a:rPr>
              <a:t>Replace the bracketed placeholders with names, photos and one proof point each (previous product shipped, publication, clinical role).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A9A9C7"/>
                </a:solidFill>
                <a:latin typeface="Calibri"/>
              </a:rPr>
              <a:t>TEAM</a:t>
            </a:r>
            <a:r>
              <a:rPr sz="800" b="0" i="0" spc="140">
                <a:solidFill>
                  <a:srgbClr val="A9A9C7"/>
                </a:solidFill>
                <a:latin typeface="Calibri"/>
              </a:rPr>
              <a:t>   |   WHO IS BUILDING IT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E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o_band.jpg"/>
          <p:cNvPicPr>
            <a:picLocks noChangeAspect="1"/>
          </p:cNvPicPr>
          <p:nvPr/>
        </p:nvPicPr>
        <p:blipFill>
          <a:blip r:embed="rId2"/>
          <a:srcRect l="32431" r="17463"/>
          <a:stretch>
            <a:fillRect/>
          </a:stretch>
        </p:blipFill>
        <p:spPr>
          <a:xfrm>
            <a:off x="6035040" y="0"/>
            <a:ext cx="615665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035040" y="0"/>
            <a:ext cx="2743200" cy="6858000"/>
          </a:xfrm>
          <a:prstGeom prst="rect">
            <a:avLst/>
          </a:prstGeom>
          <a:gradFill rotWithShape="1">
            <a:gsLst>
              <a:gs pos="0">
                <a:srgbClr val="0F0E2A"/>
              </a:gs>
              <a:gs pos="100000">
                <a:srgbClr val="0F0E2A">
                  <a:alpha val="0"/>
                </a:srgbClr>
              </a:gs>
            </a:gsLst>
            <a:lin ang="0" scaled="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Rectangle 3"/>
          <p:cNvSpPr/>
          <p:nvPr/>
        </p:nvSpPr>
        <p:spPr>
          <a:xfrm>
            <a:off x="0" y="0"/>
            <a:ext cx="6044184" cy="6858000"/>
          </a:xfrm>
          <a:prstGeom prst="rect">
            <a:avLst/>
          </a:prstGeom>
          <a:solidFill>
            <a:srgbClr val="0F0E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-822959" y="5669280"/>
            <a:ext cx="2194560" cy="2194560"/>
          </a:xfrm>
          <a:prstGeom prst="ellipse">
            <a:avLst/>
          </a:prstGeom>
          <a:solidFill>
            <a:srgbClr val="6C3CE9">
              <a:alpha val="63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Oval 5"/>
          <p:cNvSpPr/>
          <p:nvPr/>
        </p:nvSpPr>
        <p:spPr>
          <a:xfrm>
            <a:off x="-449884" y="6042355"/>
            <a:ext cx="1448409" cy="1448409"/>
          </a:xfrm>
          <a:prstGeom prst="ellipse">
            <a:avLst/>
          </a:prstGeom>
          <a:solidFill>
            <a:srgbClr val="6C3CE9">
              <a:alpha val="108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-164592" y="6327648"/>
            <a:ext cx="877824" cy="877824"/>
          </a:xfrm>
          <a:prstGeom prst="ellipse">
            <a:avLst/>
          </a:prstGeom>
          <a:solidFill>
            <a:srgbClr val="6C3CE9">
              <a:alpha val="1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ectangle 7"/>
          <p:cNvSpPr/>
          <p:nvPr/>
        </p:nvSpPr>
        <p:spPr>
          <a:xfrm>
            <a:off x="548640" y="777240"/>
            <a:ext cx="502920" cy="64008"/>
          </a:xfrm>
          <a:prstGeom prst="rect">
            <a:avLst/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48640" y="1051560"/>
            <a:ext cx="5760720" cy="1371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5000"/>
              </a:lnSpc>
              <a:spcAft>
                <a:spcPts val="0"/>
              </a:spcAft>
            </a:pPr>
            <a:r>
              <a:rPr sz="2800" b="1" i="0">
                <a:solidFill>
                  <a:srgbClr val="FFFFFF"/>
                </a:solidFill>
                <a:latin typeface="Calibri"/>
              </a:rPr>
              <a:t>Help us close the gap between
a reading and a response.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606040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000" b="1" i="0" spc="160">
                <a:solidFill>
                  <a:srgbClr val="22D3EE"/>
                </a:solidFill>
                <a:latin typeface="Calibri"/>
              </a:rPr>
              <a:t>THE ASK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990088"/>
            <a:ext cx="73152" cy="457200"/>
          </a:xfrm>
          <a:prstGeom prst="roundRect">
            <a:avLst>
              <a:gd name="adj" fmla="val 5000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822959" y="292608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Pilot partners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22783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Senior-care providers, clinics and insurers in Egypt for a 30–50 household pilot.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3767328"/>
            <a:ext cx="73152" cy="457200"/>
          </a:xfrm>
          <a:prstGeom prst="roundRect">
            <a:avLst>
              <a:gd name="adj" fmla="val 5000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22959" y="3703320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Clinical validation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59" y="400507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A geriatrics advisor and access to reference devices for accuracy studies.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544568"/>
            <a:ext cx="73152" cy="457200"/>
          </a:xfrm>
          <a:prstGeom prst="roundRect">
            <a:avLst>
              <a:gd name="adj" fmla="val 5000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822959" y="4480559"/>
            <a:ext cx="5212080" cy="3200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1350" b="1" i="0">
                <a:solidFill>
                  <a:srgbClr val="FFFFFF"/>
                </a:solidFill>
                <a:latin typeface="Calibri"/>
              </a:rPr>
              <a:t>Pre-seed funding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59" y="4782312"/>
            <a:ext cx="5212080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050" b="0" i="0">
                <a:solidFill>
                  <a:srgbClr val="A9A9C7"/>
                </a:solidFill>
                <a:latin typeface="Calibri"/>
              </a:rPr>
              <a:t>[US$ ___ k] for 18 months — bench validation, pilot, custom PCB and the mobile 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30368"/>
            <a:ext cx="36576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1" i="0" spc="160">
                <a:solidFill>
                  <a:srgbClr val="A9A9C7"/>
                </a:solidFill>
                <a:latin typeface="Calibri"/>
              </a:rPr>
              <a:t>INDICATIVE USE OF FUNDS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504688"/>
            <a:ext cx="2121408" cy="146304"/>
          </a:xfrm>
          <a:prstGeom prst="roundRect">
            <a:avLst>
              <a:gd name="adj" fmla="val 31250"/>
            </a:avLst>
          </a:prstGeom>
          <a:solidFill>
            <a:srgbClr val="6C3CE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548640" y="5687568"/>
            <a:ext cx="21579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 i="0">
                <a:solidFill>
                  <a:srgbClr val="A9A9C7"/>
                </a:solidFill>
                <a:latin typeface="Calibri"/>
              </a:rPr>
              <a:t>40%  Hardware &amp; compliance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2706624" y="5504688"/>
            <a:ext cx="1851660" cy="146304"/>
          </a:xfrm>
          <a:prstGeom prst="roundRect">
            <a:avLst>
              <a:gd name="adj" fmla="val 31250"/>
            </a:avLst>
          </a:prstGeom>
          <a:solidFill>
            <a:srgbClr val="22D3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2706624" y="5687568"/>
            <a:ext cx="1888236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 i="0">
                <a:solidFill>
                  <a:srgbClr val="A9A9C7"/>
                </a:solidFill>
                <a:latin typeface="Calibri"/>
              </a:rPr>
              <a:t>35%  Pilot &amp; validation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94860" y="5504688"/>
            <a:ext cx="1312164" cy="146304"/>
          </a:xfrm>
          <a:prstGeom prst="roundRect">
            <a:avLst>
              <a:gd name="adj" fmla="val 31250"/>
            </a:avLst>
          </a:prstGeom>
          <a:solidFill>
            <a:srgbClr val="34D39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4594860" y="5687568"/>
            <a:ext cx="13487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 i="0">
                <a:solidFill>
                  <a:srgbClr val="A9A9C7"/>
                </a:solidFill>
                <a:latin typeface="Calibri"/>
              </a:rPr>
              <a:t>25%  Team &amp; app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6035040"/>
            <a:ext cx="566928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50" b="0" i="0">
                <a:solidFill>
                  <a:srgbClr val="A9A9C7"/>
                </a:solidFill>
                <a:latin typeface="Calibri"/>
              </a:rPr>
              <a:t>[founder@neurolinkwear.example]  ·  [+20 1xx xxx xxxx]  ·  github.com/DiaaSalah57/Neuro-Link-Wear_SmartBand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19088"/>
            <a:ext cx="7315200" cy="2286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>
              <a:lnSpc>
                <a:spcPct val="108000"/>
              </a:lnSpc>
              <a:spcAft>
                <a:spcPts val="0"/>
              </a:spcAft>
            </a:pPr>
            <a:r>
              <a:rPr sz="800" b="1" i="0" spc="140">
                <a:solidFill>
                  <a:srgbClr val="A9A9C7"/>
                </a:solidFill>
                <a:latin typeface="Calibri"/>
              </a:rPr>
              <a:t>NEXT STEP</a:t>
            </a:r>
            <a:r>
              <a:rPr sz="800" b="0" i="0" spc="140">
                <a:solidFill>
                  <a:srgbClr val="A9A9C7"/>
                </a:solidFill>
                <a:latin typeface="Calibri"/>
              </a:rPr>
              <a:t>   |   PILOT, VALIDATION, FUNDING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11535" y="457200"/>
            <a:ext cx="731520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r">
              <a:lnSpc>
                <a:spcPct val="108000"/>
              </a:lnSpc>
              <a:spcAft>
                <a:spcPts val="0"/>
              </a:spcAft>
            </a:pPr>
            <a:r>
              <a:rPr sz="1100" b="1" i="0">
                <a:solidFill>
                  <a:srgbClr val="22D3EE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