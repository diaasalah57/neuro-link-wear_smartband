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one-liner: NeuroLink Wear is a smart band that watches the vital signs of the people we love and turns them into timely, understandable action — on the wrist, in the cloud and on a caregiver's phone.</a:t>
            </a:r>
          </a:p>
          <a:p>
            <a:r>
              <a:t>Set expectations: this is a prototype-stage company; we will show what is built, what we have learned, and exactly what we need to reach a validated pilot.</a:t>
            </a:r>
          </a:p>
          <a:p>
            <a:r>
              <a:t>Timing: 30 seconds. Do not read the slide — let the product render do the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failure modes of today's care: no context (a single number tells you nothing), no early warning (deterioration is gradual), and no escalation (a fall at home is only discovered hours later).</a:t>
            </a:r>
          </a:p>
          <a:p>
            <a:r>
              <a:t>Anchor with the WHO numbers: an estimated 684 000 fatal falls a year, over 80% of them in low- and middle-income countries; 37.3 million falls a year need medical attention. Adults over 60 suffer the greatest number of fatal falls. (WHO fact sheet on falls, 2021.)</a:t>
            </a:r>
          </a:p>
          <a:p>
            <a:r>
              <a:t>Localise: Egypt's 60+ population reached 9.3 million in 2024 — 8.8% of Egyptians — according to CAPMAS. Most live at home with family who work during the day.</a:t>
            </a:r>
          </a:p>
          <a:p>
            <a:r>
              <a:t>Transition: "We built one system that senses, understands and responds."</a:t>
            </a:r>
          </a:p>
          <a:p>
            <a:r>
              <a:t>Source URLs for the appendix: who.int/news-room/fact-sheets/detail/falls; globalissues.org/news/2024/10/24/38051 (CAPMAS figures).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is a loop, not a gadget: sense → understand → respond.</a:t>
            </a:r>
          </a:p>
          <a:p>
            <a:r>
              <a:t>Sense: five sensors on one wrist give a richer picture than any single metric. Understand: light features are computed on the band itself; anomaly and time-series models run in the cloud. Respond: the band talks to the wearer first — a simple "Are you OK?" — and only then escalates to family with a location link.</a:t>
            </a:r>
          </a:p>
          <a:p>
            <a:r>
              <a:t>Emphasise dignity: the wearer stays in control; escalation happens only when they cannot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table top to bottom in one breath each: PPG for heart rate, oxygen and heart-rate variability; GSR for arousal; the IMU for steps, tremor and impacts; the IR thermometer for fever trends; GPS for location when it matters.</a:t>
            </a:r>
          </a:p>
          <a:p>
            <a:r>
              <a:t>Everything hangs off a dual-core ESP32 — one core samples sensors and drives the OLED and button, the other handles Wi-Fi, TLS and MQTT.</a:t>
            </a:r>
          </a:p>
          <a:p>
            <a:r>
              <a:t>Be candid: the prototype uses off-the-shelf modules; industrial design and a custom PCB are in the roadmap, and the band is positioned as a wellness/safety product, not a diagnostic device.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sensors sample at up to 100 Hz; the ESP32 reduces that to physiologically meaningful features and publishes a compact JSON packet every two seconds over TLS to a managed MQTT broker (HiveMQ Cloud).</a:t>
            </a:r>
          </a:p>
          <a:p>
            <a:r>
              <a:t>The AI core (FastAPI service) runs an Isolation Forest for point anomalies, an LSTM autoencoder for temporal anomalies, a rule-based condition classifier, and an optional LLM layer that writes the explanation and advice. Decisions flow back down the same broker to the band and the dashboard.</a:t>
            </a:r>
          </a:p>
          <a:p>
            <a:r>
              <a:t>Design principle: the time-critical decisions (fall verification, the "Are you OK?" prompt) never depend on the cloud; the cloud adds insight, not safety-critical latency.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technical moat at this stage: the band already produces the exact feature vector the models were trained on, and it verifies falls locally — impact, free-fall cue, orientation change and a four-second immobility check — before it ever prompts the wearer.</a:t>
            </a:r>
          </a:p>
          <a:p>
            <a:r>
              <a:t>Everything time-critical is on the wrist; the cloud can be slow or offline and the safety loop still completes (emergency packets are queued and retried for ten minutes).</a:t>
            </a:r>
          </a:p>
          <a:p>
            <a:r>
              <a:t>Validation so far is host-side: the firmware compiles against the real sensor and MQTT libraries and passes 87 automated behavioural checks on synthetic data. Bench and on-body validation is the next milestone — say so before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maps to a signal pattern and a detection approach — this is why five sensors matter: stress is HRV down plus GSR up plus temperature up, not any one of them.</a:t>
            </a:r>
          </a:p>
          <a:p>
            <a:r>
              <a:t>The stack is layered for robustness: Isolation Forest for point anomalies, an LSTM autoencoder for temporal drift, a rule-based classifier that always produces an explainable label, and an optional LLM that only writes the explanation — it never makes the safety decision.</a:t>
            </a:r>
          </a:p>
          <a:p>
            <a:r>
              <a:t>Data today: 1,875 labelled readings across five activity states, with derived features such as HR deviation from the expected value for the current activity. The pilot will replace synthetic/lab data with real-world wear data — that is the single most valuable asset we will build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band supplies sensor readings; the backend normalizes and derives features, predicts activity context, updates an intended personal baseline, evaluates the alert paths, and delivers an explanation to the dashboard.</a:t>
            </a:r>
          </a:p>
          <a:p>
            <a:r>
              <a:t>Status matters: the EWMA calibration and fully independent three-tier OR policy on the next slides are the target design and require integration/validation; do not describe them as shipped until wired and tested.</a:t>
            </a:r>
          </a:p>
          <a:p>
            <a:r>
              <a:t>The current repository also has an integration mismatch to resolve before a live demo: firmware publishes to a cloud topic while main.py subscribes to a local broker/topic. The WebSocket dashboard path exists, but the end-to-end broker contract needs alignment.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Random Forest receives seven motion inputs only: accelerometer axes, gyroscope axes and step count. It predicts one of five activity classes. That label informs context; it is not itself an alert.</a:t>
            </a:r>
          </a:p>
          <a:p>
            <a:r>
              <a:t>The Isolation Forest is unsupervised and consumes the 23-feature numeric row (vitals, motion, engineered signals and activity intensity). It returns an anomaly score for a single reading. The condition mapper adds a label after the anomaly decision.</a:t>
            </a:r>
          </a:p>
          <a:p>
            <a:r>
              <a:t>These two models do not need a rolling buffer for inference. Separately, the existing LSTM autoencoder uses a ten-reading window, so avoid claiming that every model is memoryless.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as preliminary offline results, not a clinical claim. The activity classifier was evaluated on 375 held-out readings: 94% accuracy and 0.94 macro F1. Sleeping and resting are approximately 0.99 F1, walking 0.97, running 0.89 and exercising 0.85.</a:t>
            </a:r>
          </a:p>
          <a:p>
            <a:r>
              <a:t>On the same-size held-out set, the Isolation Forest flagged 37 readings (about 9.9%). The condition mapping assigned 35 a cause: 18 low-oxygen and 17 fever; two remained unexplained.</a:t>
            </a:r>
          </a:p>
          <a:p>
            <a:r>
              <a:t>Before presenting externally, reproduce these metrics from the exact split, verify no leakage between train and test, and state that the dataset evaluation is not an on-body or clinical validation study.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interpretable score definitions, not learned weights: stress combines electrodermal arousal, HRV drop and resting-HR rise; core temperature estimates from skin temperature through a gain/offset calibration; fever combines level, rate of rise and HR-temperature coupling; hypoxic burden accumulates desaturation over time to ignore isolated noisy dips; fall logic requires a sequence of motion cues.</a:t>
            </a:r>
          </a:p>
          <a:p>
            <a:r>
              <a:t>The repository implements only part of this catalog today (for example, normalized stress, SpO2/fever risk features and local fall verification). Confirm each equation and threshold is wired, tested and clinically reviewed before describing the entire library as deployed.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EWMA intuitively: each new valid measurement nudges a personal reference, with recent readings weighted more heavily, rather than moving the baseline abruptly. Update HR, HRV, GSR, temperature and SpO2 references separately.</a:t>
            </a:r>
          </a:p>
          <a:p>
            <a:r>
              <a:t>The safeguards are important: active-alert readings are excluded; a caregiver can anchor calibration using a reference device; and a confidence state stays warming_up until enough reliable wear data exist. Fixed clinical floors are never calibrated away.</a:t>
            </a:r>
          </a:p>
          <a:p>
            <a:r>
              <a:t>Implementation status: this calibration policy is not yet wired into the current pipeline.py runtime. Present it as a pilot design/roadmap capability until the update loop, gating, persistence and tests are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intended policy as three independent paths. Tier 1 is a fixed clinical floor (examples supplied: SpO2 under 90%, estimated core temperature at or above 37.8°C, fall impact at or above 2.8 g); personalization cannot disable it. Tier 2 evaluates deviation from the wearer’s per-activity baseline. Tier 3 is the Isolation Forest as a third opinion with activity in its feature vector. Any one tier should be sufficient to alert; OR, never AND.</a:t>
            </a:r>
          </a:p>
          <a:p>
            <a:r>
              <a:t>Important implementation caveat: the current pipeline.py does not yet implement this exact independent OR policy. Today the IF anomaly gates the condition mapper, and IF/LSTM labels are combined into a confidence ensemble. Treat this slide as target architecture until the code is changed and threshold behavior is tested. Clinical limits and sensor-derived core temperature also require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it as a story: the wearer falls in the kitchen at 11 a.m. The band feels a 4 g impact followed by four seconds without movement while lying down. The screen lights up: "Are you OK?" — 30 seconds to press the button. She cannot. The band publishes an emergency packet with her vitals, the time and a maps link; the backend notifies her daughter; the band shows HELP REQUESTED until someone acknowledges.</a:t>
            </a:r>
          </a:p>
          <a:p>
            <a:r>
              <a:t>Two design choices matter to investors: the wearer is asked first (dignity and fewer false alarms), and the whole loop is deterministic and testable — no model in the critical path.</a:t>
            </a:r>
          </a:p>
          <a:p>
            <a:r>
              <a:t>Be transparent about what is not yet validated: thresholds, consent and failure handling will be tuned in the pilot.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buyer is usually the adult child; the wearer is the parent. The app is built for the buyer's anxiety: a green circle that says "all good" is the feature people pay for every month.</a:t>
            </a:r>
          </a:p>
          <a:p>
            <a:r>
              <a:t>Today: a live web dashboard already consumes the pipeline output; the mobile app is the next build item. Show the dashboard live if the demo network allows it.</a:t>
            </a:r>
          </a:p>
          <a:p>
            <a:r>
              <a:t>Alert grading (low / medium / high / critical) maps directly to what the band shows on the wrist, so family and wearer always see the same truth.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revenue yet — say it plainly — but the whole stack exists: data and trained models, an inference service, a live dashboard, a cloud broker, and firmware for the complete sensor stack including the safety workflow.</a:t>
            </a:r>
          </a:p>
          <a:p>
            <a:r>
              <a:t>That de-risks the next step: the pilot is an integration and validation exercise, not an invention exercise.</a:t>
            </a:r>
          </a:p>
          <a:p>
            <a:r>
              <a:t>Firmware verification is host-side so far (compiles against the real libraries; 87 behavioural checks). On-body validation and battery-life measurements come from the bench phase starting now.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wins: the first commercial wedge is independent aging in Egypt — 9.3 million people over 60 (8.8 % of the population, CAPMAS 2024), most living at home, with adult children who work.</a:t>
            </a:r>
          </a:p>
          <a:p>
            <a:r>
              <a:t>The buyer and the wearer are different people; pricing, onboarding and the app are designed for the buyer, the band for the wearer.</a:t>
            </a:r>
          </a:p>
          <a:p>
            <a:r>
              <a:t>Global context: WHO estimates 684 000 fatal falls a year and 37.3 million falls needing medical attention; over 80 % of fall deaths happen in low- and middle-income countries — exactly the markets premium smartwatches under-serve.</a:t>
            </a:r>
          </a:p>
          <a:p>
            <a:r>
              <a:t>TAM/SAM/SOM in currency terms is deliberately left for the appendix until pilot data supports a defensible price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streams, in order of maturity: a device sale to get the band on the wrist, a family subscription that carries the recurring value (insight, history, escalation), and B2B2C channels where an insurer or care provider pays per seat.</a:t>
            </a:r>
          </a:p>
          <a:p>
            <a:r>
              <a:t>Unit economics are hypotheses: the prototype BOM with off-the-shelf modules is roughly 45–60 dollars; a custom PCB at a few thousand units should bring it under 30. Price points are stated in dollar equivalents but will be set in EGP after the pilot's willingness-to-pay interviews.</a:t>
            </a:r>
          </a:p>
          <a:p>
            <a:r>
              <a:t>Do not defend the numbers — defend the method: the pilot is designed to replace every assumption on this slide with measured data.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Fitness bands are cheap but blind to safety; premium smartwatches have fall detection but cost several hundred dollars, assume a paired smartphone on the wearer, and are not designed around a caregiver; medical alert pendants react to a button press but never predict anything.</a:t>
            </a:r>
          </a:p>
          <a:p>
            <a:r>
              <a:t>We sit in the gap: continuous multi-signal vitals, prediction, on-device fall verification and caregiver escalation — at a price a family in Cairo can pay, and without the wearer needing a smartphone.</a:t>
            </a:r>
          </a:p>
          <a:p>
            <a:r>
              <a:t>Keep competitor claims general and fair; if asked about a specific brand, compare on price, caregiver features and phone dependence.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phases, each with a measurable exit: bench accuracy against reference devices; a 30–50 household pilot measuring detection reliability, false-alarm rate and willingness to pay; a safety and compliance phase that turns the workflow into SOPs and assesses the regulatory pathway; then scale with care partners in Egypt and B2B2C pilots.</a:t>
            </a:r>
          </a:p>
          <a:p>
            <a:r>
              <a:t>Name the risks before investors do: wrist PPG accuracy, alarm fatigue, battery life with GPS, privacy and consent, supply chain. Each has an owner and a test in the plan.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layout now accommodates five people. Replace card 3’s placeholder with the additional teammate’s name, role, photo and one shipped proof point. Keep the clinical advisor and growth lead clearly marked as recruiting until those seats are filled.</a:t>
            </a:r>
          </a:p>
          <a:p>
            <a:r>
              <a:t>One proof point per person — what each has shipped or published — beats a list of titles. Highlight the complementary split: embedded/product, AI/data, and the fifth teammate’s actual specialty.</a:t>
            </a:r>
          </a:p>
          <a:p>
            <a:r>
              <a:t>State the open advisor/partnership seats honestly and explain how the pilot plan will fill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mission line, then be concrete: three asks — pilot partners, clinical validation support, and a pre-seed round sized for 18 months (fill in the amount before presenting).</a:t>
            </a:r>
          </a:p>
          <a:p>
            <a:r>
              <a:t>Use of funds is indicative: roughly 40 % hardware and compliance, 35 % pilot and validation, 25 % team and app.</a:t>
            </a:r>
          </a:p>
          <a:p>
            <a:r>
              <a:t>End with the next step you want from this room: an introduction to a care provider, a pilot site, or a follow-up meeting on the round.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E2A"/>
        </a:solidFill>
        <a:effectLst/>
      </p:bgPr>
    </p:bg>
    <p:spTree>
      <p:nvGrpSpPr>
        <p:cNvPr id="1" name=""/>
        <p:cNvGrpSpPr/>
        <p:nvPr/>
      </p:nvGrpSpPr>
      <p:grpSpPr/>
      <p:pic>
        <p:nvPicPr>
          <p:cNvPr id="2" name="Picture 1" descr="hero_band.jpg"/>
          <p:cNvPicPr>
            <a:picLocks noChangeAspect="1"/>
          </p:cNvPicPr>
          <p:nvPr/>
        </p:nvPicPr>
        <p:blipFill>
          <a:blip r:embed="rId2"/>
          <a:srcRect l="24475" r="15001"/>
          <a:stretch>
            <a:fillRect/>
          </a:stretch>
        </p:blipFill>
        <p:spPr>
          <a:xfrm>
            <a:off x="4754880" y="0"/>
            <a:ext cx="7436815" cy="6858000"/>
          </a:xfrm>
          <a:prstGeom prst="rect">
            <a:avLst/>
          </a:prstGeom>
        </p:spPr>
      </p:pic>
      <p:sp>
        <p:nvSpPr>
          <p:cNvPr id="3" name="Rectangle 2"/>
          <p:cNvSpPr/>
          <p:nvPr/>
        </p:nvSpPr>
        <p:spPr>
          <a:xfrm>
            <a:off x="4754880" y="0"/>
            <a:ext cx="3291840" cy="6858000"/>
          </a:xfrm>
          <a:prstGeom prst="rect">
            <a:avLst/>
          </a:prstGeom>
          <a:gradFill rotWithShape="1">
            <a:gsLst>
              <a:gs pos="0">
                <a:srgbClr val="0F0E2A"/>
              </a:gs>
              <a:gs pos="55000">
                <a:srgbClr val="0F0E2A">
                  <a:alpha val="55000"/>
                </a:srgbClr>
              </a:gs>
              <a:gs pos="100000">
                <a:srgbClr val="0F0E2A">
                  <a:alpha val="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4764024" cy="6858000"/>
          </a:xfrm>
          <a:prstGeom prst="rect">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365760" y="4572000"/>
            <a:ext cx="2926080" cy="2926080"/>
          </a:xfrm>
          <a:prstGeom prst="ellipse">
            <a:avLst/>
          </a:prstGeom>
          <a:solidFill>
            <a:srgbClr val="6C3CE9">
              <a:alpha val="77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31673" y="5069433"/>
            <a:ext cx="1931212" cy="1931212"/>
          </a:xfrm>
          <a:prstGeom prst="ellipse">
            <a:avLst/>
          </a:prstGeom>
          <a:solidFill>
            <a:srgbClr val="6C3CE9">
              <a:alpha val="13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512063" y="5449823"/>
            <a:ext cx="1170432" cy="1170432"/>
          </a:xfrm>
          <a:prstGeom prst="ellipse">
            <a:avLst/>
          </a:prstGeom>
          <a:solidFill>
            <a:srgbClr val="6C3CE9">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051560"/>
            <a:ext cx="502920" cy="640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1417320"/>
            <a:ext cx="4572000" cy="1828800"/>
          </a:xfrm>
          <a:prstGeom prst="rect">
            <a:avLst/>
          </a:prstGeom>
          <a:noFill/>
        </p:spPr>
        <p:txBody>
          <a:bodyPr wrap="square" lIns="0" rIns="0" tIns="0" bIns="0" anchor="t">
            <a:noAutofit/>
          </a:bodyPr>
          <a:lstStyle/>
          <a:p>
            <a:pPr algn="l">
              <a:lnSpc>
                <a:spcPct val="95000"/>
              </a:lnSpc>
              <a:spcAft>
                <a:spcPts val="0"/>
              </a:spcAft>
            </a:pPr>
            <a:r>
              <a:rPr sz="5000" b="1" i="0" spc="200">
                <a:solidFill>
                  <a:srgbClr val="FFFFFF"/>
                </a:solidFill>
                <a:latin typeface="Calibri"/>
              </a:rPr>
              <a:t>NEUROLINK</a:t>
            </a:r>
          </a:p>
          <a:p>
            <a:pPr algn="l">
              <a:lnSpc>
                <a:spcPct val="95000"/>
              </a:lnSpc>
              <a:spcAft>
                <a:spcPts val="0"/>
              </a:spcAft>
            </a:pPr>
            <a:r>
              <a:rPr sz="5000" b="1" i="0" spc="200">
                <a:solidFill>
                  <a:srgbClr val="FFFFFF"/>
                </a:solidFill>
                <a:latin typeface="Calibri"/>
              </a:rPr>
              <a:t>WEAR</a:t>
            </a:r>
          </a:p>
        </p:txBody>
      </p:sp>
      <p:sp>
        <p:nvSpPr>
          <p:cNvPr id="10" name="TextBox 9"/>
          <p:cNvSpPr txBox="1"/>
          <p:nvPr/>
        </p:nvSpPr>
        <p:spPr>
          <a:xfrm>
            <a:off x="548640" y="3429000"/>
            <a:ext cx="4206240" cy="914400"/>
          </a:xfrm>
          <a:prstGeom prst="rect">
            <a:avLst/>
          </a:prstGeom>
          <a:noFill/>
        </p:spPr>
        <p:txBody>
          <a:bodyPr wrap="square" lIns="0" rIns="0" tIns="0" bIns="0" anchor="t">
            <a:noAutofit/>
          </a:bodyPr>
          <a:lstStyle/>
          <a:p>
            <a:pPr algn="l">
              <a:lnSpc>
                <a:spcPct val="115000"/>
              </a:lnSpc>
              <a:spcAft>
                <a:spcPts val="0"/>
              </a:spcAft>
            </a:pPr>
            <a:r>
              <a:rPr sz="2000" b="0" i="0">
                <a:solidFill>
                  <a:srgbClr val="E4E4F4"/>
                </a:solidFill>
                <a:latin typeface="Calibri"/>
              </a:rPr>
              <a:t>Predictive health intelligence,
worn every day.</a:t>
            </a:r>
          </a:p>
        </p:txBody>
      </p:sp>
      <p:sp>
        <p:nvSpPr>
          <p:cNvPr id="11" name="TextBox 10"/>
          <p:cNvSpPr txBox="1"/>
          <p:nvPr/>
        </p:nvSpPr>
        <p:spPr>
          <a:xfrm>
            <a:off x="548640" y="4754880"/>
            <a:ext cx="4206240" cy="457200"/>
          </a:xfrm>
          <a:prstGeom prst="rect">
            <a:avLst/>
          </a:prstGeom>
          <a:noFill/>
        </p:spPr>
        <p:txBody>
          <a:bodyPr wrap="square" lIns="0" rIns="0" tIns="0" bIns="0" anchor="t">
            <a:noAutofit/>
          </a:bodyPr>
          <a:lstStyle/>
          <a:p>
            <a:pPr algn="l">
              <a:lnSpc>
                <a:spcPct val="130000"/>
              </a:lnSpc>
              <a:spcAft>
                <a:spcPts val="0"/>
              </a:spcAft>
            </a:pPr>
            <a:r>
              <a:rPr sz="900" b="1" i="0" spc="80">
                <a:solidFill>
                  <a:srgbClr val="22D3EE"/>
                </a:solidFill>
                <a:latin typeface="Calibri"/>
              </a:rPr>
              <a:t>SMART WEARABLE</a:t>
            </a:r>
            <a:r>
              <a:rPr sz="900" b="1" i="0" spc="80">
                <a:solidFill>
                  <a:srgbClr val="A9A9C7"/>
                </a:solidFill>
                <a:latin typeface="Calibri"/>
              </a:rPr>
              <a:t>  +  </a:t>
            </a:r>
            <a:r>
              <a:rPr sz="900" b="1" i="0" spc="80">
                <a:solidFill>
                  <a:srgbClr val="22D3EE"/>
                </a:solidFill>
                <a:latin typeface="Calibri"/>
              </a:rPr>
              <a:t>EDGE &amp; CLOUD AI</a:t>
            </a:r>
            <a:r>
              <a:rPr sz="900" b="1" i="0" spc="80">
                <a:solidFill>
                  <a:srgbClr val="A9A9C7"/>
                </a:solidFill>
                <a:latin typeface="Calibri"/>
              </a:rPr>
              <a:t>  +  </a:t>
            </a:r>
            <a:r>
              <a:rPr sz="900" b="1" i="0" spc="80">
                <a:solidFill>
                  <a:srgbClr val="22D3EE"/>
                </a:solidFill>
                <a:latin typeface="Calibri"/>
              </a:rPr>
              <a:t>CAREGIVER SAFETY</a:t>
            </a:r>
          </a:p>
        </p:txBody>
      </p:sp>
      <p:sp>
        <p:nvSpPr>
          <p:cNvPr id="12" name="TextBox 11"/>
          <p:cNvSpPr txBox="1"/>
          <p:nvPr/>
        </p:nvSpPr>
        <p:spPr>
          <a:xfrm>
            <a:off x="548640" y="6172200"/>
            <a:ext cx="5486400" cy="274320"/>
          </a:xfrm>
          <a:prstGeom prst="rect">
            <a:avLst/>
          </a:prstGeom>
          <a:noFill/>
        </p:spPr>
        <p:txBody>
          <a:bodyPr wrap="square" lIns="0" rIns="0" tIns="0" bIns="0" anchor="t">
            <a:noAutofit/>
          </a:bodyPr>
          <a:lstStyle/>
          <a:p>
            <a:pPr algn="l">
              <a:lnSpc>
                <a:spcPct val="108000"/>
              </a:lnSpc>
              <a:spcAft>
                <a:spcPts val="0"/>
              </a:spcAft>
            </a:pPr>
            <a:r>
              <a:rPr sz="950" b="0" i="0">
                <a:solidFill>
                  <a:srgbClr val="A9A9C7"/>
                </a:solidFill>
                <a:latin typeface="Calibri"/>
              </a:rPr>
              <a:t>Investor pitch  ·  Prototype stage  ·  Giza, Egypt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TextBox 1"/>
          <p:cNvSpPr txBox="1"/>
          <p:nvPr/>
        </p:nvSpPr>
        <p:spPr>
          <a:xfrm>
            <a:off x="548640" y="502920"/>
            <a:ext cx="6949440" cy="1115568"/>
          </a:xfrm>
          <a:prstGeom prst="rect">
            <a:avLst/>
          </a:prstGeom>
          <a:noFill/>
        </p:spPr>
        <p:txBody>
          <a:bodyPr wrap="square" lIns="0" rIns="0" tIns="0" bIns="0" anchor="t">
            <a:noAutofit/>
          </a:bodyPr>
          <a:lstStyle/>
          <a:p>
            <a:pPr algn="l">
              <a:lnSpc>
                <a:spcPct val="100000"/>
              </a:lnSpc>
              <a:spcAft>
                <a:spcPts val="0"/>
              </a:spcAft>
            </a:pPr>
            <a:r>
              <a:rPr sz="3200" b="1" i="0">
                <a:solidFill>
                  <a:srgbClr val="17172F"/>
                </a:solidFill>
                <a:latin typeface="Calibri"/>
              </a:rPr>
              <a:t>Critical health changes happen
between check-ins</a:t>
            </a:r>
          </a:p>
        </p:txBody>
      </p:sp>
      <p:sp>
        <p:nvSpPr>
          <p:cNvPr id="3" name="TextBox 2"/>
          <p:cNvSpPr txBox="1"/>
          <p:nvPr/>
        </p:nvSpPr>
        <p:spPr>
          <a:xfrm>
            <a:off x="548640" y="1655064"/>
            <a:ext cx="6949440" cy="548640"/>
          </a:xfrm>
          <a:prstGeom prst="rect">
            <a:avLst/>
          </a:prstGeom>
          <a:noFill/>
        </p:spPr>
        <p:txBody>
          <a:bodyPr wrap="square" lIns="0" rIns="0" tIns="0" bIns="0" anchor="t">
            <a:noAutofit/>
          </a:bodyPr>
          <a:lstStyle/>
          <a:p>
            <a:pPr algn="l">
              <a:lnSpc>
                <a:spcPct val="115000"/>
              </a:lnSpc>
              <a:spcAft>
                <a:spcPts val="0"/>
              </a:spcAft>
            </a:pPr>
            <a:r>
              <a:rPr sz="1400" b="0" i="0">
                <a:solidFill>
                  <a:srgbClr val="5B5B7A"/>
                </a:solidFill>
                <a:latin typeface="Calibri"/>
              </a:rPr>
              <a:t>A wearable can close the gap between an isolated reading and a timely response.</a:t>
            </a:r>
          </a:p>
        </p:txBody>
      </p:sp>
      <p:sp>
        <p:nvSpPr>
          <p:cNvPr id="4" name="Oval 3"/>
          <p:cNvSpPr/>
          <p:nvPr/>
        </p:nvSpPr>
        <p:spPr>
          <a:xfrm>
            <a:off x="576072" y="2331720"/>
            <a:ext cx="402336" cy="402336"/>
          </a:xfrm>
          <a:prstGeom prst="ellipse">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76072" y="2331720"/>
            <a:ext cx="402336" cy="402336"/>
          </a:xfrm>
          <a:prstGeom prst="rect">
            <a:avLst/>
          </a:prstGeom>
          <a:noFill/>
        </p:spPr>
        <p:txBody>
          <a:bodyPr wrap="square" lIns="0" rIns="0" tIns="0" bIns="0" anchor="ctr">
            <a:noAutofit/>
          </a:bodyPr>
          <a:lstStyle/>
          <a:p>
            <a:pPr algn="ctr">
              <a:lnSpc>
                <a:spcPct val="108000"/>
              </a:lnSpc>
              <a:spcAft>
                <a:spcPts val="0"/>
              </a:spcAft>
            </a:pPr>
            <a:r>
              <a:rPr sz="1100" b="1" i="0">
                <a:solidFill>
                  <a:srgbClr val="FFFFFF"/>
                </a:solidFill>
                <a:latin typeface="Calibri"/>
              </a:rPr>
              <a:t>1</a:t>
            </a:r>
          </a:p>
        </p:txBody>
      </p:sp>
      <p:sp>
        <p:nvSpPr>
          <p:cNvPr id="6" name="TextBox 5"/>
          <p:cNvSpPr txBox="1"/>
          <p:nvPr/>
        </p:nvSpPr>
        <p:spPr>
          <a:xfrm>
            <a:off x="1234440" y="2313432"/>
            <a:ext cx="2514600" cy="640080"/>
          </a:xfrm>
          <a:prstGeom prst="rect">
            <a:avLst/>
          </a:prstGeom>
          <a:noFill/>
        </p:spPr>
        <p:txBody>
          <a:bodyPr wrap="square" lIns="0" rIns="0" tIns="0" bIns="0" anchor="t">
            <a:noAutofit/>
          </a:bodyPr>
          <a:lstStyle/>
          <a:p>
            <a:pPr algn="l">
              <a:lnSpc>
                <a:spcPct val="105000"/>
              </a:lnSpc>
              <a:spcAft>
                <a:spcPts val="0"/>
              </a:spcAft>
            </a:pPr>
            <a:r>
              <a:rPr sz="1500" b="1" i="0">
                <a:solidFill>
                  <a:srgbClr val="17172F"/>
                </a:solidFill>
                <a:latin typeface="Calibri"/>
              </a:rPr>
              <a:t>Signals lack context</a:t>
            </a:r>
          </a:p>
        </p:txBody>
      </p:sp>
      <p:sp>
        <p:nvSpPr>
          <p:cNvPr id="7" name="TextBox 6"/>
          <p:cNvSpPr txBox="1"/>
          <p:nvPr/>
        </p:nvSpPr>
        <p:spPr>
          <a:xfrm>
            <a:off x="3840480" y="2313432"/>
            <a:ext cx="3429000" cy="822960"/>
          </a:xfrm>
          <a:prstGeom prst="rect">
            <a:avLst/>
          </a:prstGeom>
          <a:noFill/>
        </p:spPr>
        <p:txBody>
          <a:bodyPr wrap="square" lIns="0" rIns="0" tIns="0" bIns="0" anchor="t">
            <a:noAutofit/>
          </a:bodyPr>
          <a:lstStyle/>
          <a:p>
            <a:pPr algn="l">
              <a:lnSpc>
                <a:spcPct val="120000"/>
              </a:lnSpc>
              <a:spcAft>
                <a:spcPts val="0"/>
              </a:spcAft>
            </a:pPr>
            <a:r>
              <a:rPr sz="1100" b="0" i="0">
                <a:solidFill>
                  <a:srgbClr val="5B5B7A"/>
                </a:solidFill>
                <a:latin typeface="Calibri"/>
              </a:rPr>
              <a:t>Heart rate, oxygen, temperature and stress indicators only become meaningful when patterns are tracked together over time.</a:t>
            </a:r>
          </a:p>
        </p:txBody>
      </p:sp>
      <p:cxnSp>
        <p:nvCxnSpPr>
          <p:cNvPr id="8" name="Connector 7"/>
          <p:cNvCxnSpPr/>
          <p:nvPr/>
        </p:nvCxnSpPr>
        <p:spPr>
          <a:xfrm>
            <a:off x="1234440" y="3291839"/>
            <a:ext cx="6035039"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576072" y="3520439"/>
            <a:ext cx="402336" cy="402336"/>
          </a:xfrm>
          <a:prstGeom prst="ellipse">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76072" y="3520439"/>
            <a:ext cx="402336" cy="402336"/>
          </a:xfrm>
          <a:prstGeom prst="rect">
            <a:avLst/>
          </a:prstGeom>
          <a:noFill/>
        </p:spPr>
        <p:txBody>
          <a:bodyPr wrap="square" lIns="0" rIns="0" tIns="0" bIns="0" anchor="ctr">
            <a:noAutofit/>
          </a:bodyPr>
          <a:lstStyle/>
          <a:p>
            <a:pPr algn="ctr">
              <a:lnSpc>
                <a:spcPct val="108000"/>
              </a:lnSpc>
              <a:spcAft>
                <a:spcPts val="0"/>
              </a:spcAft>
            </a:pPr>
            <a:r>
              <a:rPr sz="1100" b="1" i="0">
                <a:solidFill>
                  <a:srgbClr val="FFFFFF"/>
                </a:solidFill>
                <a:latin typeface="Calibri"/>
              </a:rPr>
              <a:t>2</a:t>
            </a:r>
          </a:p>
        </p:txBody>
      </p:sp>
      <p:sp>
        <p:nvSpPr>
          <p:cNvPr id="11" name="TextBox 10"/>
          <p:cNvSpPr txBox="1"/>
          <p:nvPr/>
        </p:nvSpPr>
        <p:spPr>
          <a:xfrm>
            <a:off x="1234440" y="3502151"/>
            <a:ext cx="2514600" cy="640080"/>
          </a:xfrm>
          <a:prstGeom prst="rect">
            <a:avLst/>
          </a:prstGeom>
          <a:noFill/>
        </p:spPr>
        <p:txBody>
          <a:bodyPr wrap="square" lIns="0" rIns="0" tIns="0" bIns="0" anchor="t">
            <a:noAutofit/>
          </a:bodyPr>
          <a:lstStyle/>
          <a:p>
            <a:pPr algn="l">
              <a:lnSpc>
                <a:spcPct val="105000"/>
              </a:lnSpc>
              <a:spcAft>
                <a:spcPts val="0"/>
              </a:spcAft>
            </a:pPr>
            <a:r>
              <a:rPr sz="1500" b="1" i="0">
                <a:solidFill>
                  <a:srgbClr val="17172F"/>
                </a:solidFill>
                <a:latin typeface="Calibri"/>
              </a:rPr>
              <a:t>Early warning is difficult</a:t>
            </a:r>
          </a:p>
        </p:txBody>
      </p:sp>
      <p:sp>
        <p:nvSpPr>
          <p:cNvPr id="12" name="TextBox 11"/>
          <p:cNvSpPr txBox="1"/>
          <p:nvPr/>
        </p:nvSpPr>
        <p:spPr>
          <a:xfrm>
            <a:off x="3840480" y="3502151"/>
            <a:ext cx="3429000" cy="822960"/>
          </a:xfrm>
          <a:prstGeom prst="rect">
            <a:avLst/>
          </a:prstGeom>
          <a:noFill/>
        </p:spPr>
        <p:txBody>
          <a:bodyPr wrap="square" lIns="0" rIns="0" tIns="0" bIns="0" anchor="t">
            <a:noAutofit/>
          </a:bodyPr>
          <a:lstStyle/>
          <a:p>
            <a:pPr algn="l">
              <a:lnSpc>
                <a:spcPct val="120000"/>
              </a:lnSpc>
              <a:spcAft>
                <a:spcPts val="0"/>
              </a:spcAft>
            </a:pPr>
            <a:r>
              <a:rPr sz="1100" b="0" i="0">
                <a:solidFill>
                  <a:srgbClr val="5B5B7A"/>
                </a:solidFill>
                <a:latin typeface="Calibri"/>
              </a:rPr>
              <a:t>Fatigue, fever, panic and low oxygen begin as subtle deviations — rarely as one obvious event.</a:t>
            </a:r>
          </a:p>
        </p:txBody>
      </p:sp>
      <p:cxnSp>
        <p:nvCxnSpPr>
          <p:cNvPr id="13" name="Connector 12"/>
          <p:cNvCxnSpPr/>
          <p:nvPr/>
        </p:nvCxnSpPr>
        <p:spPr>
          <a:xfrm>
            <a:off x="1234440" y="4480559"/>
            <a:ext cx="6035039"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576072" y="4709159"/>
            <a:ext cx="402336" cy="402336"/>
          </a:xfrm>
          <a:prstGeom prst="ellipse">
            <a:avLst/>
          </a:prstGeom>
          <a:solidFill>
            <a:srgbClr val="F43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76072" y="4709159"/>
            <a:ext cx="402336" cy="402336"/>
          </a:xfrm>
          <a:prstGeom prst="rect">
            <a:avLst/>
          </a:prstGeom>
          <a:noFill/>
        </p:spPr>
        <p:txBody>
          <a:bodyPr wrap="square" lIns="0" rIns="0" tIns="0" bIns="0" anchor="ctr">
            <a:noAutofit/>
          </a:bodyPr>
          <a:lstStyle/>
          <a:p>
            <a:pPr algn="ctr">
              <a:lnSpc>
                <a:spcPct val="108000"/>
              </a:lnSpc>
              <a:spcAft>
                <a:spcPts val="0"/>
              </a:spcAft>
            </a:pPr>
            <a:r>
              <a:rPr sz="1100" b="1" i="0">
                <a:solidFill>
                  <a:srgbClr val="FFFFFF"/>
                </a:solidFill>
                <a:latin typeface="Calibri"/>
              </a:rPr>
              <a:t>3</a:t>
            </a:r>
          </a:p>
        </p:txBody>
      </p:sp>
      <p:sp>
        <p:nvSpPr>
          <p:cNvPr id="16" name="TextBox 15"/>
          <p:cNvSpPr txBox="1"/>
          <p:nvPr/>
        </p:nvSpPr>
        <p:spPr>
          <a:xfrm>
            <a:off x="1234440" y="4690872"/>
            <a:ext cx="2514600" cy="640080"/>
          </a:xfrm>
          <a:prstGeom prst="rect">
            <a:avLst/>
          </a:prstGeom>
          <a:noFill/>
        </p:spPr>
        <p:txBody>
          <a:bodyPr wrap="square" lIns="0" rIns="0" tIns="0" bIns="0" anchor="t">
            <a:noAutofit/>
          </a:bodyPr>
          <a:lstStyle/>
          <a:p>
            <a:pPr algn="l">
              <a:lnSpc>
                <a:spcPct val="105000"/>
              </a:lnSpc>
              <a:spcAft>
                <a:spcPts val="0"/>
              </a:spcAft>
            </a:pPr>
            <a:r>
              <a:rPr sz="1500" b="1" i="0">
                <a:solidFill>
                  <a:srgbClr val="17172F"/>
                </a:solidFill>
                <a:latin typeface="Calibri"/>
              </a:rPr>
              <a:t>Emergencies need escalation</a:t>
            </a:r>
          </a:p>
        </p:txBody>
      </p:sp>
      <p:sp>
        <p:nvSpPr>
          <p:cNvPr id="17" name="TextBox 16"/>
          <p:cNvSpPr txBox="1"/>
          <p:nvPr/>
        </p:nvSpPr>
        <p:spPr>
          <a:xfrm>
            <a:off x="3840480" y="4690872"/>
            <a:ext cx="3429000" cy="822960"/>
          </a:xfrm>
          <a:prstGeom prst="rect">
            <a:avLst/>
          </a:prstGeom>
          <a:noFill/>
        </p:spPr>
        <p:txBody>
          <a:bodyPr wrap="square" lIns="0" rIns="0" tIns="0" bIns="0" anchor="t">
            <a:noAutofit/>
          </a:bodyPr>
          <a:lstStyle/>
          <a:p>
            <a:pPr algn="l">
              <a:lnSpc>
                <a:spcPct val="120000"/>
              </a:lnSpc>
              <a:spcAft>
                <a:spcPts val="0"/>
              </a:spcAft>
            </a:pPr>
            <a:r>
              <a:rPr sz="1100" b="0" i="0">
                <a:solidFill>
                  <a:srgbClr val="5B5B7A"/>
                </a:solidFill>
                <a:latin typeface="Calibri"/>
              </a:rPr>
              <a:t>A fall or a dangerous reading needs a prompt to the wearer and, if there is no answer, an automatic call for help.</a:t>
            </a:r>
          </a:p>
        </p:txBody>
      </p:sp>
      <p:sp>
        <p:nvSpPr>
          <p:cNvPr id="18" name="Rounded Rectangle 17"/>
          <p:cNvSpPr/>
          <p:nvPr/>
        </p:nvSpPr>
        <p:spPr>
          <a:xfrm>
            <a:off x="7818120" y="914400"/>
            <a:ext cx="3824935" cy="5212080"/>
          </a:xfrm>
          <a:prstGeom prst="roundRect">
            <a:avLst>
              <a:gd name="adj" fmla="val 4303"/>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9859975" y="4343400"/>
            <a:ext cx="1645920" cy="1645920"/>
          </a:xfrm>
          <a:prstGeom prst="ellipse">
            <a:avLst/>
          </a:prstGeom>
          <a:solidFill>
            <a:srgbClr val="6C3CE9">
              <a:alpha val="9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0139781" y="4623206"/>
            <a:ext cx="1086307" cy="1086307"/>
          </a:xfrm>
          <a:prstGeom prst="ellipse">
            <a:avLst/>
          </a:prstGeom>
          <a:solidFill>
            <a:srgbClr val="6C3CE9">
              <a:alpha val="1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0353751" y="4837176"/>
            <a:ext cx="658368" cy="658368"/>
          </a:xfrm>
          <a:prstGeom prst="ellipse">
            <a:avLst/>
          </a:prstGeom>
          <a:solidFill>
            <a:srgbClr val="6C3CE9">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183880" y="1234440"/>
            <a:ext cx="3200400" cy="228600"/>
          </a:xfrm>
          <a:prstGeom prst="rect">
            <a:avLst/>
          </a:prstGeom>
          <a:noFill/>
        </p:spPr>
        <p:txBody>
          <a:bodyPr wrap="square" lIns="0" rIns="0" tIns="0" bIns="0" anchor="ctr">
            <a:noAutofit/>
          </a:bodyPr>
          <a:lstStyle/>
          <a:p>
            <a:pPr algn="l">
              <a:lnSpc>
                <a:spcPct val="108000"/>
              </a:lnSpc>
              <a:spcAft>
                <a:spcPts val="0"/>
              </a:spcAft>
            </a:pPr>
            <a:r>
              <a:rPr sz="900" b="1" i="0" spc="160">
                <a:solidFill>
                  <a:srgbClr val="22D3EE"/>
                </a:solidFill>
                <a:latin typeface="Calibri"/>
              </a:rPr>
              <a:t>WHY IT MATTERS</a:t>
            </a:r>
          </a:p>
        </p:txBody>
      </p:sp>
      <p:sp>
        <p:nvSpPr>
          <p:cNvPr id="23" name="TextBox 22"/>
          <p:cNvSpPr txBox="1"/>
          <p:nvPr/>
        </p:nvSpPr>
        <p:spPr>
          <a:xfrm>
            <a:off x="8183880" y="1645920"/>
            <a:ext cx="3291840" cy="640080"/>
          </a:xfrm>
          <a:prstGeom prst="rect">
            <a:avLst/>
          </a:prstGeom>
          <a:noFill/>
        </p:spPr>
        <p:txBody>
          <a:bodyPr wrap="square" lIns="0" rIns="0" tIns="0" bIns="0" anchor="t">
            <a:noAutofit/>
          </a:bodyPr>
          <a:lstStyle/>
          <a:p>
            <a:pPr algn="l">
              <a:lnSpc>
                <a:spcPct val="108000"/>
              </a:lnSpc>
              <a:spcAft>
                <a:spcPts val="0"/>
              </a:spcAft>
            </a:pPr>
            <a:r>
              <a:rPr sz="3400" b="1" i="0">
                <a:solidFill>
                  <a:srgbClr val="FFFFFF"/>
                </a:solidFill>
                <a:latin typeface="Calibri"/>
              </a:rPr>
              <a:t>684 000</a:t>
            </a:r>
          </a:p>
        </p:txBody>
      </p:sp>
      <p:sp>
        <p:nvSpPr>
          <p:cNvPr id="24" name="TextBox 23"/>
          <p:cNvSpPr txBox="1"/>
          <p:nvPr/>
        </p:nvSpPr>
        <p:spPr>
          <a:xfrm>
            <a:off x="8183880" y="2304288"/>
            <a:ext cx="3246120" cy="777240"/>
          </a:xfrm>
          <a:prstGeom prst="rect">
            <a:avLst/>
          </a:prstGeom>
          <a:noFill/>
        </p:spPr>
        <p:txBody>
          <a:bodyPr wrap="square" lIns="0" rIns="0" tIns="0" bIns="0" anchor="t">
            <a:noAutofit/>
          </a:bodyPr>
          <a:lstStyle/>
          <a:p>
            <a:pPr algn="l">
              <a:lnSpc>
                <a:spcPct val="120000"/>
              </a:lnSpc>
              <a:spcAft>
                <a:spcPts val="0"/>
              </a:spcAft>
            </a:pPr>
            <a:r>
              <a:rPr sz="1050" b="0" i="0">
                <a:solidFill>
                  <a:srgbClr val="A9A9C7"/>
                </a:solidFill>
                <a:latin typeface="Calibri"/>
              </a:rPr>
              <a:t>people die from falls every year worldwide — the second leading cause of unintentional injury death (WHO).</a:t>
            </a:r>
          </a:p>
        </p:txBody>
      </p:sp>
      <p:sp>
        <p:nvSpPr>
          <p:cNvPr id="25" name="TextBox 24"/>
          <p:cNvSpPr txBox="1"/>
          <p:nvPr/>
        </p:nvSpPr>
        <p:spPr>
          <a:xfrm>
            <a:off x="8183880" y="3108960"/>
            <a:ext cx="3291840" cy="640080"/>
          </a:xfrm>
          <a:prstGeom prst="rect">
            <a:avLst/>
          </a:prstGeom>
          <a:noFill/>
        </p:spPr>
        <p:txBody>
          <a:bodyPr wrap="square" lIns="0" rIns="0" tIns="0" bIns="0" anchor="t">
            <a:noAutofit/>
          </a:bodyPr>
          <a:lstStyle/>
          <a:p>
            <a:pPr algn="l">
              <a:lnSpc>
                <a:spcPct val="108000"/>
              </a:lnSpc>
              <a:spcAft>
                <a:spcPts val="0"/>
              </a:spcAft>
            </a:pPr>
            <a:r>
              <a:rPr sz="3400" b="1" i="0">
                <a:solidFill>
                  <a:srgbClr val="FFFFFF"/>
                </a:solidFill>
                <a:latin typeface="Calibri"/>
              </a:rPr>
              <a:t>80%+</a:t>
            </a:r>
          </a:p>
        </p:txBody>
      </p:sp>
      <p:sp>
        <p:nvSpPr>
          <p:cNvPr id="26" name="TextBox 25"/>
          <p:cNvSpPr txBox="1"/>
          <p:nvPr/>
        </p:nvSpPr>
        <p:spPr>
          <a:xfrm>
            <a:off x="8183880" y="3767328"/>
            <a:ext cx="3246120" cy="777240"/>
          </a:xfrm>
          <a:prstGeom prst="rect">
            <a:avLst/>
          </a:prstGeom>
          <a:noFill/>
        </p:spPr>
        <p:txBody>
          <a:bodyPr wrap="square" lIns="0" rIns="0" tIns="0" bIns="0" anchor="t">
            <a:noAutofit/>
          </a:bodyPr>
          <a:lstStyle/>
          <a:p>
            <a:pPr algn="l">
              <a:lnSpc>
                <a:spcPct val="120000"/>
              </a:lnSpc>
              <a:spcAft>
                <a:spcPts val="0"/>
              </a:spcAft>
            </a:pPr>
            <a:r>
              <a:rPr sz="1050" b="0" i="0">
                <a:solidFill>
                  <a:srgbClr val="A9A9C7"/>
                </a:solidFill>
                <a:latin typeface="Calibri"/>
              </a:rPr>
              <a:t>of fall deaths occur in low- and middle-income countries such as Egypt (WHO).</a:t>
            </a:r>
          </a:p>
        </p:txBody>
      </p:sp>
      <p:sp>
        <p:nvSpPr>
          <p:cNvPr id="27" name="TextBox 26"/>
          <p:cNvSpPr txBox="1"/>
          <p:nvPr/>
        </p:nvSpPr>
        <p:spPr>
          <a:xfrm>
            <a:off x="8183880" y="4572000"/>
            <a:ext cx="3291840" cy="640080"/>
          </a:xfrm>
          <a:prstGeom prst="rect">
            <a:avLst/>
          </a:prstGeom>
          <a:noFill/>
        </p:spPr>
        <p:txBody>
          <a:bodyPr wrap="square" lIns="0" rIns="0" tIns="0" bIns="0" anchor="t">
            <a:noAutofit/>
          </a:bodyPr>
          <a:lstStyle/>
          <a:p>
            <a:pPr algn="l">
              <a:lnSpc>
                <a:spcPct val="108000"/>
              </a:lnSpc>
              <a:spcAft>
                <a:spcPts val="0"/>
              </a:spcAft>
            </a:pPr>
            <a:r>
              <a:rPr sz="3400" b="1" i="0">
                <a:solidFill>
                  <a:srgbClr val="FFFFFF"/>
                </a:solidFill>
                <a:latin typeface="Calibri"/>
              </a:rPr>
              <a:t>9.3 M</a:t>
            </a:r>
          </a:p>
        </p:txBody>
      </p:sp>
      <p:sp>
        <p:nvSpPr>
          <p:cNvPr id="28" name="TextBox 27"/>
          <p:cNvSpPr txBox="1"/>
          <p:nvPr/>
        </p:nvSpPr>
        <p:spPr>
          <a:xfrm>
            <a:off x="8183880" y="5230368"/>
            <a:ext cx="3246120" cy="777240"/>
          </a:xfrm>
          <a:prstGeom prst="rect">
            <a:avLst/>
          </a:prstGeom>
          <a:noFill/>
        </p:spPr>
        <p:txBody>
          <a:bodyPr wrap="square" lIns="0" rIns="0" tIns="0" bIns="0" anchor="t">
            <a:noAutofit/>
          </a:bodyPr>
          <a:lstStyle/>
          <a:p>
            <a:pPr algn="l">
              <a:lnSpc>
                <a:spcPct val="120000"/>
              </a:lnSpc>
              <a:spcAft>
                <a:spcPts val="0"/>
              </a:spcAft>
            </a:pPr>
            <a:r>
              <a:rPr sz="1050" b="0" i="0">
                <a:solidFill>
                  <a:srgbClr val="A9A9C7"/>
                </a:solidFill>
                <a:latin typeface="Calibri"/>
              </a:rPr>
              <a:t>Egyptians are aged 60+ (8.8% of the population) and the share keeps rising (CAPMAS 2024).</a:t>
            </a:r>
          </a:p>
        </p:txBody>
      </p:sp>
      <p:sp>
        <p:nvSpPr>
          <p:cNvPr id="29" name="TextBox 28"/>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5B5B7A"/>
                </a:solidFill>
                <a:latin typeface="Calibri"/>
              </a:rPr>
              <a:t>PROBLEM</a:t>
            </a:r>
            <a:r>
              <a:rPr sz="800" b="0" i="0" spc="140">
                <a:solidFill>
                  <a:srgbClr val="5B5B7A"/>
                </a:solidFill>
                <a:latin typeface="Calibri"/>
              </a:rPr>
              <a:t>   |   CONTINUOUS CONTEXT AND RESPONSE</a:t>
            </a:r>
          </a:p>
        </p:txBody>
      </p:sp>
      <p:sp>
        <p:nvSpPr>
          <p:cNvPr id="30" name="TextBox 29"/>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6C3CE9"/>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E2A"/>
        </a:solidFill>
        <a:effectLst/>
      </p:bgPr>
    </p:bg>
    <p:spTree>
      <p:nvGrpSpPr>
        <p:cNvPr id="1" name=""/>
        <p:cNvGrpSpPr/>
        <p:nvPr/>
      </p:nvGrpSpPr>
      <p:grpSpPr/>
      <p:sp>
        <p:nvSpPr>
          <p:cNvPr id="2" name="TextBox 1"/>
          <p:cNvSpPr txBox="1"/>
          <p:nvPr/>
        </p:nvSpPr>
        <p:spPr>
          <a:xfrm>
            <a:off x="548640" y="502920"/>
            <a:ext cx="7315200" cy="1115568"/>
          </a:xfrm>
          <a:prstGeom prst="rect">
            <a:avLst/>
          </a:prstGeom>
          <a:noFill/>
        </p:spPr>
        <p:txBody>
          <a:bodyPr wrap="square" lIns="0" rIns="0" tIns="0" bIns="0" anchor="t">
            <a:noAutofit/>
          </a:bodyPr>
          <a:lstStyle/>
          <a:p>
            <a:pPr algn="l">
              <a:lnSpc>
                <a:spcPct val="100000"/>
              </a:lnSpc>
              <a:spcAft>
                <a:spcPts val="0"/>
              </a:spcAft>
            </a:pPr>
            <a:r>
              <a:rPr sz="3200" b="1" i="0">
                <a:solidFill>
                  <a:srgbClr val="FFFFFF"/>
                </a:solidFill>
                <a:latin typeface="Calibri"/>
              </a:rPr>
              <a:t>One system senses, explains
and responds</a:t>
            </a:r>
          </a:p>
        </p:txBody>
      </p:sp>
      <p:pic>
        <p:nvPicPr>
          <p:cNvPr id="3" name="Picture 2" descr="elder_home.jpg"/>
          <p:cNvPicPr>
            <a:picLocks noChangeAspect="1"/>
          </p:cNvPicPr>
          <p:nvPr/>
        </p:nvPicPr>
        <p:blipFill>
          <a:blip r:embed="rId2"/>
          <a:srcRect l="27457" r="11767"/>
          <a:stretch>
            <a:fillRect/>
          </a:stretch>
        </p:blipFill>
        <p:spPr>
          <a:xfrm>
            <a:off x="548640" y="1828800"/>
            <a:ext cx="4480560" cy="4114800"/>
          </a:xfrm>
          <a:prstGeom prst="roundRect">
            <a:avLst>
              <a:gd name="adj" fmla="val 4444"/>
            </a:avLst>
          </a:prstGeom>
        </p:spPr>
      </p:pic>
      <p:sp>
        <p:nvSpPr>
          <p:cNvPr id="4" name="TextBox 3"/>
          <p:cNvSpPr txBox="1"/>
          <p:nvPr/>
        </p:nvSpPr>
        <p:spPr>
          <a:xfrm>
            <a:off x="5577840" y="1920240"/>
            <a:ext cx="457200" cy="457200"/>
          </a:xfrm>
          <a:prstGeom prst="rect">
            <a:avLst/>
          </a:prstGeom>
          <a:noFill/>
        </p:spPr>
        <p:txBody>
          <a:bodyPr wrap="square" lIns="0" rIns="0" tIns="0" bIns="0" anchor="t">
            <a:noAutofit/>
          </a:bodyPr>
          <a:lstStyle/>
          <a:p>
            <a:pPr algn="l">
              <a:lnSpc>
                <a:spcPct val="108000"/>
              </a:lnSpc>
              <a:spcAft>
                <a:spcPts val="0"/>
              </a:spcAft>
            </a:pPr>
            <a:r>
              <a:rPr sz="2200" b="1" i="0">
                <a:solidFill>
                  <a:srgbClr val="22D3EE"/>
                </a:solidFill>
                <a:latin typeface="Calibri"/>
              </a:rPr>
              <a:t>1</a:t>
            </a:r>
          </a:p>
        </p:txBody>
      </p:sp>
      <p:sp>
        <p:nvSpPr>
          <p:cNvPr id="5" name="TextBox 4"/>
          <p:cNvSpPr txBox="1"/>
          <p:nvPr/>
        </p:nvSpPr>
        <p:spPr>
          <a:xfrm>
            <a:off x="6126479" y="1965960"/>
            <a:ext cx="3657600" cy="228600"/>
          </a:xfrm>
          <a:prstGeom prst="rect">
            <a:avLst/>
          </a:prstGeom>
          <a:noFill/>
        </p:spPr>
        <p:txBody>
          <a:bodyPr wrap="square" lIns="0" rIns="0" tIns="0" bIns="0" anchor="ctr">
            <a:noAutofit/>
          </a:bodyPr>
          <a:lstStyle/>
          <a:p>
            <a:pPr algn="l">
              <a:lnSpc>
                <a:spcPct val="108000"/>
              </a:lnSpc>
              <a:spcAft>
                <a:spcPts val="0"/>
              </a:spcAft>
            </a:pPr>
            <a:r>
              <a:rPr sz="1000" b="1" i="0" spc="160">
                <a:solidFill>
                  <a:srgbClr val="22D3EE"/>
                </a:solidFill>
                <a:latin typeface="Calibri"/>
              </a:rPr>
              <a:t>SENSE</a:t>
            </a:r>
          </a:p>
        </p:txBody>
      </p:sp>
      <p:sp>
        <p:nvSpPr>
          <p:cNvPr id="6" name="TextBox 5"/>
          <p:cNvSpPr txBox="1"/>
          <p:nvPr/>
        </p:nvSpPr>
        <p:spPr>
          <a:xfrm>
            <a:off x="6126479" y="2258568"/>
            <a:ext cx="5486400" cy="914400"/>
          </a:xfrm>
          <a:prstGeom prst="rect">
            <a:avLst/>
          </a:prstGeom>
          <a:noFill/>
        </p:spPr>
        <p:txBody>
          <a:bodyPr wrap="square" lIns="0" rIns="0" tIns="0" bIns="0" anchor="t">
            <a:noAutofit/>
          </a:bodyPr>
          <a:lstStyle/>
          <a:p>
            <a:pPr algn="l">
              <a:lnSpc>
                <a:spcPct val="120000"/>
              </a:lnSpc>
              <a:spcAft>
                <a:spcPts val="0"/>
              </a:spcAft>
            </a:pPr>
            <a:r>
              <a:rPr sz="1250" b="0" i="0">
                <a:solidFill>
                  <a:srgbClr val="E4E4F4"/>
                </a:solidFill>
                <a:latin typeface="Calibri"/>
              </a:rPr>
              <a:t>PPG, GSR, motion, skin temperature and GPS create a continuous, multi-signal view of the wearer.</a:t>
            </a:r>
          </a:p>
        </p:txBody>
      </p:sp>
      <p:cxnSp>
        <p:nvCxnSpPr>
          <p:cNvPr id="7" name="Connector 6"/>
          <p:cNvCxnSpPr/>
          <p:nvPr/>
        </p:nvCxnSpPr>
        <p:spPr>
          <a:xfrm>
            <a:off x="6126479" y="3108960"/>
            <a:ext cx="5486401"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577840" y="3291840"/>
            <a:ext cx="457200" cy="457200"/>
          </a:xfrm>
          <a:prstGeom prst="rect">
            <a:avLst/>
          </a:prstGeom>
          <a:noFill/>
        </p:spPr>
        <p:txBody>
          <a:bodyPr wrap="square" lIns="0" rIns="0" tIns="0" bIns="0" anchor="t">
            <a:noAutofit/>
          </a:bodyPr>
          <a:lstStyle/>
          <a:p>
            <a:pPr algn="l">
              <a:lnSpc>
                <a:spcPct val="108000"/>
              </a:lnSpc>
              <a:spcAft>
                <a:spcPts val="0"/>
              </a:spcAft>
            </a:pPr>
            <a:r>
              <a:rPr sz="2200" b="1" i="0">
                <a:solidFill>
                  <a:srgbClr val="6C3CE9"/>
                </a:solidFill>
                <a:latin typeface="Calibri"/>
              </a:rPr>
              <a:t>2</a:t>
            </a:r>
          </a:p>
        </p:txBody>
      </p:sp>
      <p:sp>
        <p:nvSpPr>
          <p:cNvPr id="9" name="TextBox 8"/>
          <p:cNvSpPr txBox="1"/>
          <p:nvPr/>
        </p:nvSpPr>
        <p:spPr>
          <a:xfrm>
            <a:off x="6126479" y="3337560"/>
            <a:ext cx="3657600" cy="228600"/>
          </a:xfrm>
          <a:prstGeom prst="rect">
            <a:avLst/>
          </a:prstGeom>
          <a:noFill/>
        </p:spPr>
        <p:txBody>
          <a:bodyPr wrap="square" lIns="0" rIns="0" tIns="0" bIns="0" anchor="ctr">
            <a:noAutofit/>
          </a:bodyPr>
          <a:lstStyle/>
          <a:p>
            <a:pPr algn="l">
              <a:lnSpc>
                <a:spcPct val="108000"/>
              </a:lnSpc>
              <a:spcAft>
                <a:spcPts val="0"/>
              </a:spcAft>
            </a:pPr>
            <a:r>
              <a:rPr sz="1000" b="1" i="0" spc="160">
                <a:solidFill>
                  <a:srgbClr val="6C3CE9"/>
                </a:solidFill>
                <a:latin typeface="Calibri"/>
              </a:rPr>
              <a:t>UNDERSTAND</a:t>
            </a:r>
          </a:p>
        </p:txBody>
      </p:sp>
      <p:sp>
        <p:nvSpPr>
          <p:cNvPr id="10" name="TextBox 9"/>
          <p:cNvSpPr txBox="1"/>
          <p:nvPr/>
        </p:nvSpPr>
        <p:spPr>
          <a:xfrm>
            <a:off x="6126479" y="3630168"/>
            <a:ext cx="5486400" cy="914400"/>
          </a:xfrm>
          <a:prstGeom prst="rect">
            <a:avLst/>
          </a:prstGeom>
          <a:noFill/>
        </p:spPr>
        <p:txBody>
          <a:bodyPr wrap="square" lIns="0" rIns="0" tIns="0" bIns="0" anchor="t">
            <a:noAutofit/>
          </a:bodyPr>
          <a:lstStyle/>
          <a:p>
            <a:pPr algn="l">
              <a:lnSpc>
                <a:spcPct val="120000"/>
              </a:lnSpc>
              <a:spcAft>
                <a:spcPts val="0"/>
              </a:spcAft>
            </a:pPr>
            <a:r>
              <a:rPr sz="1250" b="0" i="0">
                <a:solidFill>
                  <a:srgbClr val="E4E4F4"/>
                </a:solidFill>
                <a:latin typeface="Calibri"/>
              </a:rPr>
              <a:t>Edge features and anomaly models separate a normal day from stress, fever, low oxygen, fatigue — or a fall.</a:t>
            </a:r>
          </a:p>
        </p:txBody>
      </p:sp>
      <p:cxnSp>
        <p:nvCxnSpPr>
          <p:cNvPr id="11" name="Connector 10"/>
          <p:cNvCxnSpPr/>
          <p:nvPr/>
        </p:nvCxnSpPr>
        <p:spPr>
          <a:xfrm>
            <a:off x="6126479" y="4480560"/>
            <a:ext cx="5486401"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577840" y="4663440"/>
            <a:ext cx="457200" cy="457200"/>
          </a:xfrm>
          <a:prstGeom prst="rect">
            <a:avLst/>
          </a:prstGeom>
          <a:noFill/>
        </p:spPr>
        <p:txBody>
          <a:bodyPr wrap="square" lIns="0" rIns="0" tIns="0" bIns="0" anchor="t">
            <a:noAutofit/>
          </a:bodyPr>
          <a:lstStyle/>
          <a:p>
            <a:pPr algn="l">
              <a:lnSpc>
                <a:spcPct val="108000"/>
              </a:lnSpc>
              <a:spcAft>
                <a:spcPts val="0"/>
              </a:spcAft>
            </a:pPr>
            <a:r>
              <a:rPr sz="2200" b="1" i="0">
                <a:solidFill>
                  <a:srgbClr val="34D399"/>
                </a:solidFill>
                <a:latin typeface="Calibri"/>
              </a:rPr>
              <a:t>3</a:t>
            </a:r>
          </a:p>
        </p:txBody>
      </p:sp>
      <p:sp>
        <p:nvSpPr>
          <p:cNvPr id="13" name="TextBox 12"/>
          <p:cNvSpPr txBox="1"/>
          <p:nvPr/>
        </p:nvSpPr>
        <p:spPr>
          <a:xfrm>
            <a:off x="6126479" y="4709160"/>
            <a:ext cx="3657600" cy="228600"/>
          </a:xfrm>
          <a:prstGeom prst="rect">
            <a:avLst/>
          </a:prstGeom>
          <a:noFill/>
        </p:spPr>
        <p:txBody>
          <a:bodyPr wrap="square" lIns="0" rIns="0" tIns="0" bIns="0" anchor="ctr">
            <a:noAutofit/>
          </a:bodyPr>
          <a:lstStyle/>
          <a:p>
            <a:pPr algn="l">
              <a:lnSpc>
                <a:spcPct val="108000"/>
              </a:lnSpc>
              <a:spcAft>
                <a:spcPts val="0"/>
              </a:spcAft>
            </a:pPr>
            <a:r>
              <a:rPr sz="1000" b="1" i="0" spc="160">
                <a:solidFill>
                  <a:srgbClr val="34D399"/>
                </a:solidFill>
                <a:latin typeface="Calibri"/>
              </a:rPr>
              <a:t>RESPOND</a:t>
            </a:r>
          </a:p>
        </p:txBody>
      </p:sp>
      <p:sp>
        <p:nvSpPr>
          <p:cNvPr id="14" name="TextBox 13"/>
          <p:cNvSpPr txBox="1"/>
          <p:nvPr/>
        </p:nvSpPr>
        <p:spPr>
          <a:xfrm>
            <a:off x="6126479" y="5001768"/>
            <a:ext cx="5486400" cy="914400"/>
          </a:xfrm>
          <a:prstGeom prst="rect">
            <a:avLst/>
          </a:prstGeom>
          <a:noFill/>
        </p:spPr>
        <p:txBody>
          <a:bodyPr wrap="square" lIns="0" rIns="0" tIns="0" bIns="0" anchor="t">
            <a:noAutofit/>
          </a:bodyPr>
          <a:lstStyle/>
          <a:p>
            <a:pPr algn="l">
              <a:lnSpc>
                <a:spcPct val="120000"/>
              </a:lnSpc>
              <a:spcAft>
                <a:spcPts val="0"/>
              </a:spcAft>
            </a:pPr>
            <a:r>
              <a:rPr sz="1250" b="0" i="0">
                <a:solidFill>
                  <a:srgbClr val="E4E4F4"/>
                </a:solidFill>
                <a:latin typeface="Calibri"/>
              </a:rPr>
              <a:t>The band asks "Are you OK?"; the app explains the signal, advises the next step and escalates danger to caregivers with location.</a:t>
            </a:r>
          </a:p>
        </p:txBody>
      </p:sp>
      <p:sp>
        <p:nvSpPr>
          <p:cNvPr id="15" name="TextBox 14"/>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A9A9C7"/>
                </a:solidFill>
                <a:latin typeface="Calibri"/>
              </a:rPr>
              <a:t>SOLUTION</a:t>
            </a:r>
            <a:r>
              <a:rPr sz="800" b="0" i="0" spc="140">
                <a:solidFill>
                  <a:srgbClr val="A9A9C7"/>
                </a:solidFill>
                <a:latin typeface="Calibri"/>
              </a:rPr>
              <a:t>   |   DEVICE, INTELLIGENCE AND ACTION</a:t>
            </a:r>
          </a:p>
        </p:txBody>
      </p:sp>
      <p:sp>
        <p:nvSpPr>
          <p:cNvPr id="16" name="TextBox 15"/>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22D3EE"/>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E2A"/>
        </a:solidFill>
        <a:effectLst/>
      </p:bgPr>
    </p:bg>
    <p:spTree>
      <p:nvGrpSpPr>
        <p:cNvPr id="1" name=""/>
        <p:cNvGrpSpPr/>
        <p:nvPr/>
      </p:nvGrpSpPr>
      <p:grpSpPr/>
      <p:sp>
        <p:nvSpPr>
          <p:cNvPr id="2" name="TextBox 1"/>
          <p:cNvSpPr txBox="1"/>
          <p:nvPr/>
        </p:nvSpPr>
        <p:spPr>
          <a:xfrm>
            <a:off x="548640" y="502920"/>
            <a:ext cx="7772400" cy="603504"/>
          </a:xfrm>
          <a:prstGeom prst="rect">
            <a:avLst/>
          </a:prstGeom>
          <a:noFill/>
        </p:spPr>
        <p:txBody>
          <a:bodyPr wrap="square" lIns="0" rIns="0" tIns="0" bIns="0" anchor="t">
            <a:noAutofit/>
          </a:bodyPr>
          <a:lstStyle/>
          <a:p>
            <a:pPr algn="l">
              <a:lnSpc>
                <a:spcPct val="100000"/>
              </a:lnSpc>
              <a:spcAft>
                <a:spcPts val="0"/>
              </a:spcAft>
            </a:pPr>
            <a:r>
              <a:rPr sz="3200" b="1" i="0">
                <a:solidFill>
                  <a:srgbClr val="FFFFFF"/>
                </a:solidFill>
                <a:latin typeface="Calibri"/>
              </a:rPr>
              <a:t>Five sensors, one wrist</a:t>
            </a:r>
          </a:p>
        </p:txBody>
      </p:sp>
      <p:sp>
        <p:nvSpPr>
          <p:cNvPr id="3" name="TextBox 2"/>
          <p:cNvSpPr txBox="1"/>
          <p:nvPr/>
        </p:nvSpPr>
        <p:spPr>
          <a:xfrm>
            <a:off x="548640" y="1143000"/>
            <a:ext cx="10515600" cy="548640"/>
          </a:xfrm>
          <a:prstGeom prst="rect">
            <a:avLst/>
          </a:prstGeom>
          <a:noFill/>
        </p:spPr>
        <p:txBody>
          <a:bodyPr wrap="square" lIns="0" rIns="0" tIns="0" bIns="0" anchor="t">
            <a:noAutofit/>
          </a:bodyPr>
          <a:lstStyle/>
          <a:p>
            <a:pPr algn="l">
              <a:lnSpc>
                <a:spcPct val="115000"/>
              </a:lnSpc>
              <a:spcAft>
                <a:spcPts val="0"/>
              </a:spcAft>
            </a:pPr>
            <a:r>
              <a:rPr sz="1400" b="0" i="0">
                <a:solidFill>
                  <a:srgbClr val="A9A9C7"/>
                </a:solidFill>
                <a:latin typeface="Calibri"/>
              </a:rPr>
              <a:t>Each signal answers a different question; the AI layer combines them when one metric is not enough.</a:t>
            </a:r>
          </a:p>
        </p:txBody>
      </p:sp>
      <p:pic>
        <p:nvPicPr>
          <p:cNvPr id="4" name="Picture 3" descr="exploded_band.jpg"/>
          <p:cNvPicPr>
            <a:picLocks noChangeAspect="1"/>
          </p:cNvPicPr>
          <p:nvPr/>
        </p:nvPicPr>
        <p:blipFill>
          <a:blip r:embed="rId2"/>
          <a:srcRect l="21786" r="21786"/>
          <a:stretch>
            <a:fillRect/>
          </a:stretch>
        </p:blipFill>
        <p:spPr>
          <a:xfrm>
            <a:off x="548640" y="1874519"/>
            <a:ext cx="4206240" cy="4160520"/>
          </a:xfrm>
          <a:prstGeom prst="roundRect">
            <a:avLst>
              <a:gd name="adj" fmla="val 4395"/>
            </a:avLst>
          </a:prstGeom>
        </p:spPr>
      </p:pic>
      <p:sp>
        <p:nvSpPr>
          <p:cNvPr id="5" name="Rectangle 4"/>
          <p:cNvSpPr/>
          <p:nvPr/>
        </p:nvSpPr>
        <p:spPr>
          <a:xfrm>
            <a:off x="5120640" y="1874519"/>
            <a:ext cx="6537959" cy="365760"/>
          </a:xfrm>
          <a:prstGeom prst="rect">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230368" y="1874519"/>
            <a:ext cx="1280160" cy="365760"/>
          </a:xfrm>
          <a:prstGeom prst="rect">
            <a:avLst/>
          </a:prstGeom>
          <a:noFill/>
        </p:spPr>
        <p:txBody>
          <a:bodyPr wrap="square" lIns="0" rIns="0" tIns="0" bIns="0" anchor="ctr">
            <a:noAutofit/>
          </a:bodyPr>
          <a:lstStyle/>
          <a:p>
            <a:pPr algn="l">
              <a:lnSpc>
                <a:spcPct val="108000"/>
              </a:lnSpc>
              <a:spcAft>
                <a:spcPts val="0"/>
              </a:spcAft>
            </a:pPr>
            <a:r>
              <a:rPr sz="850" b="1" i="0" spc="120">
                <a:solidFill>
                  <a:srgbClr val="FFFFFF"/>
                </a:solidFill>
                <a:latin typeface="Calibri"/>
              </a:rPr>
              <a:t>SENSOR</a:t>
            </a:r>
          </a:p>
        </p:txBody>
      </p:sp>
      <p:sp>
        <p:nvSpPr>
          <p:cNvPr id="7" name="TextBox 6"/>
          <p:cNvSpPr txBox="1"/>
          <p:nvPr/>
        </p:nvSpPr>
        <p:spPr>
          <a:xfrm>
            <a:off x="6693407" y="1874519"/>
            <a:ext cx="2103120" cy="365760"/>
          </a:xfrm>
          <a:prstGeom prst="rect">
            <a:avLst/>
          </a:prstGeom>
          <a:noFill/>
        </p:spPr>
        <p:txBody>
          <a:bodyPr wrap="square" lIns="0" rIns="0" tIns="0" bIns="0" anchor="ctr">
            <a:noAutofit/>
          </a:bodyPr>
          <a:lstStyle/>
          <a:p>
            <a:pPr algn="l">
              <a:lnSpc>
                <a:spcPct val="108000"/>
              </a:lnSpc>
              <a:spcAft>
                <a:spcPts val="0"/>
              </a:spcAft>
            </a:pPr>
            <a:r>
              <a:rPr sz="850" b="1" i="0" spc="120">
                <a:solidFill>
                  <a:srgbClr val="FFFFFF"/>
                </a:solidFill>
                <a:latin typeface="Calibri"/>
              </a:rPr>
              <a:t>MEASURES</a:t>
            </a:r>
          </a:p>
        </p:txBody>
      </p:sp>
      <p:sp>
        <p:nvSpPr>
          <p:cNvPr id="8" name="TextBox 7"/>
          <p:cNvSpPr txBox="1"/>
          <p:nvPr/>
        </p:nvSpPr>
        <p:spPr>
          <a:xfrm>
            <a:off x="8979407" y="1874519"/>
            <a:ext cx="2606039" cy="365760"/>
          </a:xfrm>
          <a:prstGeom prst="rect">
            <a:avLst/>
          </a:prstGeom>
          <a:noFill/>
        </p:spPr>
        <p:txBody>
          <a:bodyPr wrap="square" lIns="0" rIns="0" tIns="0" bIns="0" anchor="ctr">
            <a:noAutofit/>
          </a:bodyPr>
          <a:lstStyle/>
          <a:p>
            <a:pPr algn="l">
              <a:lnSpc>
                <a:spcPct val="108000"/>
              </a:lnSpc>
              <a:spcAft>
                <a:spcPts val="0"/>
              </a:spcAft>
            </a:pPr>
            <a:r>
              <a:rPr sz="850" b="1" i="0" spc="120">
                <a:solidFill>
                  <a:srgbClr val="FFFFFF"/>
                </a:solidFill>
                <a:latin typeface="Calibri"/>
              </a:rPr>
              <a:t>ROLE IN THE SYSTEM</a:t>
            </a:r>
          </a:p>
        </p:txBody>
      </p:sp>
      <p:sp>
        <p:nvSpPr>
          <p:cNvPr id="9" name="Rectangle 8"/>
          <p:cNvSpPr/>
          <p:nvPr/>
        </p:nvSpPr>
        <p:spPr>
          <a:xfrm>
            <a:off x="5120640" y="2240279"/>
            <a:ext cx="6537959" cy="420624"/>
          </a:xfrm>
          <a:prstGeom prst="rect">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0" name="Connector 9"/>
          <p:cNvCxnSpPr/>
          <p:nvPr/>
        </p:nvCxnSpPr>
        <p:spPr>
          <a:xfrm>
            <a:off x="5120640" y="2660903"/>
            <a:ext cx="6537960"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230368" y="2240279"/>
            <a:ext cx="1280160" cy="420624"/>
          </a:xfrm>
          <a:prstGeom prst="rect">
            <a:avLst/>
          </a:prstGeom>
          <a:noFill/>
        </p:spPr>
        <p:txBody>
          <a:bodyPr wrap="square" lIns="0" rIns="0" tIns="0" bIns="0" anchor="ctr">
            <a:noAutofit/>
          </a:bodyPr>
          <a:lstStyle/>
          <a:p>
            <a:pPr algn="l">
              <a:lnSpc>
                <a:spcPct val="100000"/>
              </a:lnSpc>
              <a:spcAft>
                <a:spcPts val="0"/>
              </a:spcAft>
            </a:pPr>
            <a:r>
              <a:rPr sz="1050" b="1" i="0">
                <a:solidFill>
                  <a:srgbClr val="22D3EE"/>
                </a:solidFill>
                <a:latin typeface="Calibri"/>
              </a:rPr>
              <a:t>MAX30102 PPG</a:t>
            </a:r>
          </a:p>
        </p:txBody>
      </p:sp>
      <p:sp>
        <p:nvSpPr>
          <p:cNvPr id="12" name="TextBox 11"/>
          <p:cNvSpPr txBox="1"/>
          <p:nvPr/>
        </p:nvSpPr>
        <p:spPr>
          <a:xfrm>
            <a:off x="6693407" y="2240279"/>
            <a:ext cx="2103120" cy="420624"/>
          </a:xfrm>
          <a:prstGeom prst="rect">
            <a:avLst/>
          </a:prstGeom>
          <a:noFill/>
        </p:spPr>
        <p:txBody>
          <a:bodyPr wrap="square" lIns="0" rIns="0" tIns="0" bIns="0" anchor="ctr">
            <a:noAutofit/>
          </a:bodyPr>
          <a:lstStyle/>
          <a:p>
            <a:pPr algn="l">
              <a:lnSpc>
                <a:spcPct val="100000"/>
              </a:lnSpc>
              <a:spcAft>
                <a:spcPts val="0"/>
              </a:spcAft>
            </a:pPr>
            <a:r>
              <a:rPr sz="1050" b="0" i="0">
                <a:solidFill>
                  <a:srgbClr val="FFFFFF"/>
                </a:solidFill>
                <a:latin typeface="Calibri"/>
              </a:rPr>
              <a:t>Heart rate · SpO₂ · HRV (RMSSD)</a:t>
            </a:r>
          </a:p>
        </p:txBody>
      </p:sp>
      <p:sp>
        <p:nvSpPr>
          <p:cNvPr id="13" name="TextBox 12"/>
          <p:cNvSpPr txBox="1"/>
          <p:nvPr/>
        </p:nvSpPr>
        <p:spPr>
          <a:xfrm>
            <a:off x="8979407" y="2240279"/>
            <a:ext cx="2606039" cy="420624"/>
          </a:xfrm>
          <a:prstGeom prst="rect">
            <a:avLst/>
          </a:prstGeom>
          <a:noFill/>
        </p:spPr>
        <p:txBody>
          <a:bodyPr wrap="square" lIns="0" rIns="0" tIns="0" bIns="0" anchor="ctr">
            <a:noAutofit/>
          </a:bodyPr>
          <a:lstStyle/>
          <a:p>
            <a:pPr algn="l">
              <a:lnSpc>
                <a:spcPct val="100000"/>
              </a:lnSpc>
              <a:spcAft>
                <a:spcPts val="0"/>
              </a:spcAft>
            </a:pPr>
            <a:r>
              <a:rPr sz="1050" b="0" i="0">
                <a:solidFill>
                  <a:srgbClr val="FFFFFF"/>
                </a:solidFill>
                <a:latin typeface="Calibri"/>
              </a:rPr>
              <a:t>Cardiovascular context, oxygen, recovery</a:t>
            </a:r>
          </a:p>
        </p:txBody>
      </p:sp>
      <p:sp>
        <p:nvSpPr>
          <p:cNvPr id="14" name="Rectangle 13"/>
          <p:cNvSpPr/>
          <p:nvPr/>
        </p:nvSpPr>
        <p:spPr>
          <a:xfrm>
            <a:off x="5120640" y="2660903"/>
            <a:ext cx="6537959" cy="420624"/>
          </a:xfrm>
          <a:prstGeom prst="rect">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5" name="Connector 14"/>
          <p:cNvCxnSpPr/>
          <p:nvPr/>
        </p:nvCxnSpPr>
        <p:spPr>
          <a:xfrm>
            <a:off x="5120640" y="3081527"/>
            <a:ext cx="6537960"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0368" y="2660903"/>
            <a:ext cx="1280160" cy="420624"/>
          </a:xfrm>
          <a:prstGeom prst="rect">
            <a:avLst/>
          </a:prstGeom>
          <a:noFill/>
        </p:spPr>
        <p:txBody>
          <a:bodyPr wrap="square" lIns="0" rIns="0" tIns="0" bIns="0" anchor="ctr">
            <a:noAutofit/>
          </a:bodyPr>
          <a:lstStyle/>
          <a:p>
            <a:pPr algn="l">
              <a:lnSpc>
                <a:spcPct val="100000"/>
              </a:lnSpc>
              <a:spcAft>
                <a:spcPts val="0"/>
              </a:spcAft>
            </a:pPr>
            <a:r>
              <a:rPr sz="1050" b="1" i="0">
                <a:solidFill>
                  <a:srgbClr val="22D3EE"/>
                </a:solidFill>
                <a:latin typeface="Calibri"/>
              </a:rPr>
              <a:t>GSR electrodes</a:t>
            </a:r>
          </a:p>
        </p:txBody>
      </p:sp>
      <p:sp>
        <p:nvSpPr>
          <p:cNvPr id="17" name="TextBox 16"/>
          <p:cNvSpPr txBox="1"/>
          <p:nvPr/>
        </p:nvSpPr>
        <p:spPr>
          <a:xfrm>
            <a:off x="6693407" y="2660903"/>
            <a:ext cx="2103120" cy="420624"/>
          </a:xfrm>
          <a:prstGeom prst="rect">
            <a:avLst/>
          </a:prstGeom>
          <a:noFill/>
        </p:spPr>
        <p:txBody>
          <a:bodyPr wrap="square" lIns="0" rIns="0" tIns="0" bIns="0" anchor="ctr">
            <a:noAutofit/>
          </a:bodyPr>
          <a:lstStyle/>
          <a:p>
            <a:pPr algn="l">
              <a:lnSpc>
                <a:spcPct val="100000"/>
              </a:lnSpc>
              <a:spcAft>
                <a:spcPts val="0"/>
              </a:spcAft>
            </a:pPr>
            <a:r>
              <a:rPr sz="1050" b="0" i="0">
                <a:solidFill>
                  <a:srgbClr val="FFFFFF"/>
                </a:solidFill>
                <a:latin typeface="Calibri"/>
              </a:rPr>
              <a:t>Skin conductance (µS)</a:t>
            </a:r>
          </a:p>
        </p:txBody>
      </p:sp>
      <p:sp>
        <p:nvSpPr>
          <p:cNvPr id="18" name="TextBox 17"/>
          <p:cNvSpPr txBox="1"/>
          <p:nvPr/>
        </p:nvSpPr>
        <p:spPr>
          <a:xfrm>
            <a:off x="8979407" y="2660903"/>
            <a:ext cx="2606039" cy="420624"/>
          </a:xfrm>
          <a:prstGeom prst="rect">
            <a:avLst/>
          </a:prstGeom>
          <a:noFill/>
        </p:spPr>
        <p:txBody>
          <a:bodyPr wrap="square" lIns="0" rIns="0" tIns="0" bIns="0" anchor="ctr">
            <a:noAutofit/>
          </a:bodyPr>
          <a:lstStyle/>
          <a:p>
            <a:pPr algn="l">
              <a:lnSpc>
                <a:spcPct val="100000"/>
              </a:lnSpc>
              <a:spcAft>
                <a:spcPts val="0"/>
              </a:spcAft>
            </a:pPr>
            <a:r>
              <a:rPr sz="1050" b="0" i="0">
                <a:solidFill>
                  <a:srgbClr val="FFFFFF"/>
                </a:solidFill>
                <a:latin typeface="Calibri"/>
              </a:rPr>
              <a:t>Stress &amp; sympathetic arousal</a:t>
            </a:r>
          </a:p>
        </p:txBody>
      </p:sp>
      <p:sp>
        <p:nvSpPr>
          <p:cNvPr id="19" name="Rectangle 18"/>
          <p:cNvSpPr/>
          <p:nvPr/>
        </p:nvSpPr>
        <p:spPr>
          <a:xfrm>
            <a:off x="5120640" y="3081527"/>
            <a:ext cx="6537959" cy="420624"/>
          </a:xfrm>
          <a:prstGeom prst="rect">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0" name="Connector 19"/>
          <p:cNvCxnSpPr/>
          <p:nvPr/>
        </p:nvCxnSpPr>
        <p:spPr>
          <a:xfrm>
            <a:off x="5120640" y="3502151"/>
            <a:ext cx="6537960"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230368" y="3081527"/>
            <a:ext cx="1280160" cy="420624"/>
          </a:xfrm>
          <a:prstGeom prst="rect">
            <a:avLst/>
          </a:prstGeom>
          <a:noFill/>
        </p:spPr>
        <p:txBody>
          <a:bodyPr wrap="square" lIns="0" rIns="0" tIns="0" bIns="0" anchor="ctr">
            <a:noAutofit/>
          </a:bodyPr>
          <a:lstStyle/>
          <a:p>
            <a:pPr algn="l">
              <a:lnSpc>
                <a:spcPct val="100000"/>
              </a:lnSpc>
              <a:spcAft>
                <a:spcPts val="0"/>
              </a:spcAft>
            </a:pPr>
            <a:r>
              <a:rPr sz="1050" b="1" i="0">
                <a:solidFill>
                  <a:srgbClr val="22D3EE"/>
                </a:solidFill>
                <a:latin typeface="Calibri"/>
              </a:rPr>
              <a:t>MPU6050 IMU</a:t>
            </a:r>
          </a:p>
        </p:txBody>
      </p:sp>
      <p:sp>
        <p:nvSpPr>
          <p:cNvPr id="22" name="TextBox 21"/>
          <p:cNvSpPr txBox="1"/>
          <p:nvPr/>
        </p:nvSpPr>
        <p:spPr>
          <a:xfrm>
            <a:off x="6693407" y="3081527"/>
            <a:ext cx="2103120" cy="420624"/>
          </a:xfrm>
          <a:prstGeom prst="rect">
            <a:avLst/>
          </a:prstGeom>
          <a:noFill/>
        </p:spPr>
        <p:txBody>
          <a:bodyPr wrap="square" lIns="0" rIns="0" tIns="0" bIns="0" anchor="ctr">
            <a:noAutofit/>
          </a:bodyPr>
          <a:lstStyle/>
          <a:p>
            <a:pPr algn="l">
              <a:lnSpc>
                <a:spcPct val="100000"/>
              </a:lnSpc>
              <a:spcAft>
                <a:spcPts val="0"/>
              </a:spcAft>
            </a:pPr>
            <a:r>
              <a:rPr sz="1050" b="0" i="0">
                <a:solidFill>
                  <a:srgbClr val="FFFFFF"/>
                </a:solidFill>
                <a:latin typeface="Calibri"/>
              </a:rPr>
              <a:t>Acceleration · rotation</a:t>
            </a:r>
          </a:p>
        </p:txBody>
      </p:sp>
      <p:sp>
        <p:nvSpPr>
          <p:cNvPr id="23" name="TextBox 22"/>
          <p:cNvSpPr txBox="1"/>
          <p:nvPr/>
        </p:nvSpPr>
        <p:spPr>
          <a:xfrm>
            <a:off x="8979407" y="3081527"/>
            <a:ext cx="2606039" cy="420624"/>
          </a:xfrm>
          <a:prstGeom prst="rect">
            <a:avLst/>
          </a:prstGeom>
          <a:noFill/>
        </p:spPr>
        <p:txBody>
          <a:bodyPr wrap="square" lIns="0" rIns="0" tIns="0" bIns="0" anchor="ctr">
            <a:noAutofit/>
          </a:bodyPr>
          <a:lstStyle/>
          <a:p>
            <a:pPr algn="l">
              <a:lnSpc>
                <a:spcPct val="100000"/>
              </a:lnSpc>
              <a:spcAft>
                <a:spcPts val="0"/>
              </a:spcAft>
            </a:pPr>
            <a:r>
              <a:rPr sz="1050" b="0" i="0">
                <a:solidFill>
                  <a:srgbClr val="FFFFFF"/>
                </a:solidFill>
                <a:latin typeface="Calibri"/>
              </a:rPr>
              <a:t>Steps, tremor, impact &amp; fall detection</a:t>
            </a:r>
          </a:p>
        </p:txBody>
      </p:sp>
      <p:sp>
        <p:nvSpPr>
          <p:cNvPr id="24" name="Rectangle 23"/>
          <p:cNvSpPr/>
          <p:nvPr/>
        </p:nvSpPr>
        <p:spPr>
          <a:xfrm>
            <a:off x="5120640" y="3502151"/>
            <a:ext cx="6537959" cy="420624"/>
          </a:xfrm>
          <a:prstGeom prst="rect">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5" name="Connector 24"/>
          <p:cNvCxnSpPr/>
          <p:nvPr/>
        </p:nvCxnSpPr>
        <p:spPr>
          <a:xfrm>
            <a:off x="5120640" y="3922776"/>
            <a:ext cx="6537960"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230368" y="3502151"/>
            <a:ext cx="1280160" cy="420624"/>
          </a:xfrm>
          <a:prstGeom prst="rect">
            <a:avLst/>
          </a:prstGeom>
          <a:noFill/>
        </p:spPr>
        <p:txBody>
          <a:bodyPr wrap="square" lIns="0" rIns="0" tIns="0" bIns="0" anchor="ctr">
            <a:noAutofit/>
          </a:bodyPr>
          <a:lstStyle/>
          <a:p>
            <a:pPr algn="l">
              <a:lnSpc>
                <a:spcPct val="100000"/>
              </a:lnSpc>
              <a:spcAft>
                <a:spcPts val="0"/>
              </a:spcAft>
            </a:pPr>
            <a:r>
              <a:rPr sz="1050" b="1" i="0">
                <a:solidFill>
                  <a:srgbClr val="22D3EE"/>
                </a:solidFill>
                <a:latin typeface="Calibri"/>
              </a:rPr>
              <a:t>MLX90614 IR</a:t>
            </a:r>
          </a:p>
        </p:txBody>
      </p:sp>
      <p:sp>
        <p:nvSpPr>
          <p:cNvPr id="27" name="TextBox 26"/>
          <p:cNvSpPr txBox="1"/>
          <p:nvPr/>
        </p:nvSpPr>
        <p:spPr>
          <a:xfrm>
            <a:off x="6693407" y="3502151"/>
            <a:ext cx="2103120" cy="420624"/>
          </a:xfrm>
          <a:prstGeom prst="rect">
            <a:avLst/>
          </a:prstGeom>
          <a:noFill/>
        </p:spPr>
        <p:txBody>
          <a:bodyPr wrap="square" lIns="0" rIns="0" tIns="0" bIns="0" anchor="ctr">
            <a:noAutofit/>
          </a:bodyPr>
          <a:lstStyle/>
          <a:p>
            <a:pPr algn="l">
              <a:lnSpc>
                <a:spcPct val="100000"/>
              </a:lnSpc>
              <a:spcAft>
                <a:spcPts val="0"/>
              </a:spcAft>
            </a:pPr>
            <a:r>
              <a:rPr sz="1050" b="0" i="0">
                <a:solidFill>
                  <a:srgbClr val="FFFFFF"/>
                </a:solidFill>
                <a:latin typeface="Calibri"/>
              </a:rPr>
              <a:t>Skin &amp; ambient temperature</a:t>
            </a:r>
          </a:p>
        </p:txBody>
      </p:sp>
      <p:sp>
        <p:nvSpPr>
          <p:cNvPr id="28" name="TextBox 27"/>
          <p:cNvSpPr txBox="1"/>
          <p:nvPr/>
        </p:nvSpPr>
        <p:spPr>
          <a:xfrm>
            <a:off x="8979407" y="3502151"/>
            <a:ext cx="2606039" cy="420624"/>
          </a:xfrm>
          <a:prstGeom prst="rect">
            <a:avLst/>
          </a:prstGeom>
          <a:noFill/>
        </p:spPr>
        <p:txBody>
          <a:bodyPr wrap="square" lIns="0" rIns="0" tIns="0" bIns="0" anchor="ctr">
            <a:noAutofit/>
          </a:bodyPr>
          <a:lstStyle/>
          <a:p>
            <a:pPr algn="l">
              <a:lnSpc>
                <a:spcPct val="100000"/>
              </a:lnSpc>
              <a:spcAft>
                <a:spcPts val="0"/>
              </a:spcAft>
            </a:pPr>
            <a:r>
              <a:rPr sz="1050" b="0" i="0">
                <a:solidFill>
                  <a:srgbClr val="FFFFFF"/>
                </a:solidFill>
                <a:latin typeface="Calibri"/>
              </a:rPr>
              <a:t>Fever trend, thermal change</a:t>
            </a:r>
          </a:p>
        </p:txBody>
      </p:sp>
      <p:sp>
        <p:nvSpPr>
          <p:cNvPr id="29" name="Rectangle 28"/>
          <p:cNvSpPr/>
          <p:nvPr/>
        </p:nvSpPr>
        <p:spPr>
          <a:xfrm>
            <a:off x="5120640" y="3922776"/>
            <a:ext cx="6537959" cy="420624"/>
          </a:xfrm>
          <a:prstGeom prst="rect">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0" name="Connector 29"/>
          <p:cNvCxnSpPr/>
          <p:nvPr/>
        </p:nvCxnSpPr>
        <p:spPr>
          <a:xfrm>
            <a:off x="5120640" y="4343400"/>
            <a:ext cx="6537960"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30368" y="3922776"/>
            <a:ext cx="1280160" cy="420624"/>
          </a:xfrm>
          <a:prstGeom prst="rect">
            <a:avLst/>
          </a:prstGeom>
          <a:noFill/>
        </p:spPr>
        <p:txBody>
          <a:bodyPr wrap="square" lIns="0" rIns="0" tIns="0" bIns="0" anchor="ctr">
            <a:noAutofit/>
          </a:bodyPr>
          <a:lstStyle/>
          <a:p>
            <a:pPr algn="l">
              <a:lnSpc>
                <a:spcPct val="100000"/>
              </a:lnSpc>
              <a:spcAft>
                <a:spcPts val="0"/>
              </a:spcAft>
            </a:pPr>
            <a:r>
              <a:rPr sz="1050" b="1" i="0">
                <a:solidFill>
                  <a:srgbClr val="22D3EE"/>
                </a:solidFill>
                <a:latin typeface="Calibri"/>
              </a:rPr>
              <a:t>NEO-6M GPS</a:t>
            </a:r>
          </a:p>
        </p:txBody>
      </p:sp>
      <p:sp>
        <p:nvSpPr>
          <p:cNvPr id="32" name="TextBox 31"/>
          <p:cNvSpPr txBox="1"/>
          <p:nvPr/>
        </p:nvSpPr>
        <p:spPr>
          <a:xfrm>
            <a:off x="6693407" y="3922776"/>
            <a:ext cx="2103120" cy="420624"/>
          </a:xfrm>
          <a:prstGeom prst="rect">
            <a:avLst/>
          </a:prstGeom>
          <a:noFill/>
        </p:spPr>
        <p:txBody>
          <a:bodyPr wrap="square" lIns="0" rIns="0" tIns="0" bIns="0" anchor="ctr">
            <a:noAutofit/>
          </a:bodyPr>
          <a:lstStyle/>
          <a:p>
            <a:pPr algn="l">
              <a:lnSpc>
                <a:spcPct val="100000"/>
              </a:lnSpc>
              <a:spcAft>
                <a:spcPts val="0"/>
              </a:spcAft>
            </a:pPr>
            <a:r>
              <a:rPr sz="1050" b="0" i="0">
                <a:solidFill>
                  <a:srgbClr val="FFFFFF"/>
                </a:solidFill>
                <a:latin typeface="Calibri"/>
              </a:rPr>
              <a:t>Position · UTC time</a:t>
            </a:r>
          </a:p>
        </p:txBody>
      </p:sp>
      <p:sp>
        <p:nvSpPr>
          <p:cNvPr id="33" name="TextBox 32"/>
          <p:cNvSpPr txBox="1"/>
          <p:nvPr/>
        </p:nvSpPr>
        <p:spPr>
          <a:xfrm>
            <a:off x="8979407" y="3922776"/>
            <a:ext cx="2606039" cy="420624"/>
          </a:xfrm>
          <a:prstGeom prst="rect">
            <a:avLst/>
          </a:prstGeom>
          <a:noFill/>
        </p:spPr>
        <p:txBody>
          <a:bodyPr wrap="square" lIns="0" rIns="0" tIns="0" bIns="0" anchor="ctr">
            <a:noAutofit/>
          </a:bodyPr>
          <a:lstStyle/>
          <a:p>
            <a:pPr algn="l">
              <a:lnSpc>
                <a:spcPct val="100000"/>
              </a:lnSpc>
              <a:spcAft>
                <a:spcPts val="0"/>
              </a:spcAft>
            </a:pPr>
            <a:r>
              <a:rPr sz="1050" b="0" i="0">
                <a:solidFill>
                  <a:srgbClr val="FFFFFF"/>
                </a:solidFill>
                <a:latin typeface="Calibri"/>
              </a:rPr>
              <a:t>Location for safety escalation</a:t>
            </a:r>
          </a:p>
        </p:txBody>
      </p:sp>
      <p:cxnSp>
        <p:nvCxnSpPr>
          <p:cNvPr id="34" name="Connector 33"/>
          <p:cNvCxnSpPr/>
          <p:nvPr/>
        </p:nvCxnSpPr>
        <p:spPr>
          <a:xfrm>
            <a:off x="5120640" y="2240279"/>
            <a:ext cx="6537960"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120640" y="4663440"/>
            <a:ext cx="1440180" cy="256032"/>
          </a:xfrm>
          <a:prstGeom prst="roundRect">
            <a:avLst>
              <a:gd name="adj" fmla="val 50000"/>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120640" y="4663440"/>
            <a:ext cx="1440180" cy="256032"/>
          </a:xfrm>
          <a:prstGeom prst="rect">
            <a:avLst/>
          </a:prstGeom>
          <a:noFill/>
        </p:spPr>
        <p:txBody>
          <a:bodyPr wrap="square" lIns="0" rIns="0" tIns="0" bIns="0" anchor="ctr">
            <a:noAutofit/>
          </a:bodyPr>
          <a:lstStyle/>
          <a:p>
            <a:pPr algn="ctr">
              <a:lnSpc>
                <a:spcPct val="108000"/>
              </a:lnSpc>
              <a:spcAft>
                <a:spcPts val="0"/>
              </a:spcAft>
            </a:pPr>
            <a:r>
              <a:rPr sz="800" b="1" i="0" spc="120">
                <a:solidFill>
                  <a:srgbClr val="FFFFFF"/>
                </a:solidFill>
                <a:latin typeface="Calibri"/>
              </a:rPr>
              <a:t>ESP32 DUAL-CORE</a:t>
            </a:r>
          </a:p>
        </p:txBody>
      </p:sp>
      <p:sp>
        <p:nvSpPr>
          <p:cNvPr id="37" name="Rounded Rectangle 36"/>
          <p:cNvSpPr/>
          <p:nvPr/>
        </p:nvSpPr>
        <p:spPr>
          <a:xfrm>
            <a:off x="6670548" y="4663440"/>
            <a:ext cx="1129284" cy="256032"/>
          </a:xfrm>
          <a:prstGeom prst="roundRect">
            <a:avLst>
              <a:gd name="adj" fmla="val 50000"/>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670548" y="4663440"/>
            <a:ext cx="1129284" cy="256032"/>
          </a:xfrm>
          <a:prstGeom prst="rect">
            <a:avLst/>
          </a:prstGeom>
          <a:noFill/>
        </p:spPr>
        <p:txBody>
          <a:bodyPr wrap="square" lIns="0" rIns="0" tIns="0" bIns="0" anchor="ctr">
            <a:noAutofit/>
          </a:bodyPr>
          <a:lstStyle/>
          <a:p>
            <a:pPr algn="ctr">
              <a:lnSpc>
                <a:spcPct val="108000"/>
              </a:lnSpc>
              <a:spcAft>
                <a:spcPts val="0"/>
              </a:spcAft>
            </a:pPr>
            <a:r>
              <a:rPr sz="800" b="1" i="0" spc="120">
                <a:solidFill>
                  <a:srgbClr val="FFFFFF"/>
                </a:solidFill>
                <a:latin typeface="Calibri"/>
              </a:rPr>
              <a:t>OLED PROMPT</a:t>
            </a:r>
          </a:p>
        </p:txBody>
      </p:sp>
      <p:sp>
        <p:nvSpPr>
          <p:cNvPr id="39" name="Rounded Rectangle 38"/>
          <p:cNvSpPr/>
          <p:nvPr/>
        </p:nvSpPr>
        <p:spPr>
          <a:xfrm>
            <a:off x="7909560" y="4663440"/>
            <a:ext cx="2139696" cy="256032"/>
          </a:xfrm>
          <a:prstGeom prst="roundRect">
            <a:avLst>
              <a:gd name="adj" fmla="val 50000"/>
            </a:avLst>
          </a:prstGeom>
          <a:solidFill>
            <a:srgbClr val="F43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909560" y="4663440"/>
            <a:ext cx="2139696" cy="256032"/>
          </a:xfrm>
          <a:prstGeom prst="rect">
            <a:avLst/>
          </a:prstGeom>
          <a:noFill/>
        </p:spPr>
        <p:txBody>
          <a:bodyPr wrap="square" lIns="0" rIns="0" tIns="0" bIns="0" anchor="ctr">
            <a:noAutofit/>
          </a:bodyPr>
          <a:lstStyle/>
          <a:p>
            <a:pPr algn="ctr">
              <a:lnSpc>
                <a:spcPct val="108000"/>
              </a:lnSpc>
              <a:spcAft>
                <a:spcPts val="0"/>
              </a:spcAft>
            </a:pPr>
            <a:r>
              <a:rPr sz="800" b="1" i="0" spc="120">
                <a:solidFill>
                  <a:srgbClr val="FFFFFF"/>
                </a:solidFill>
                <a:latin typeface="Calibri"/>
              </a:rPr>
              <a:t>ONE BUTTON: I'M OK / SOS</a:t>
            </a:r>
          </a:p>
        </p:txBody>
      </p:sp>
      <p:sp>
        <p:nvSpPr>
          <p:cNvPr id="41" name="Rounded Rectangle 40"/>
          <p:cNvSpPr/>
          <p:nvPr/>
        </p:nvSpPr>
        <p:spPr>
          <a:xfrm>
            <a:off x="5120640" y="5029200"/>
            <a:ext cx="1517904"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120640" y="5029200"/>
            <a:ext cx="1517904" cy="256032"/>
          </a:xfrm>
          <a:prstGeom prst="rect">
            <a:avLst/>
          </a:prstGeom>
          <a:noFill/>
        </p:spPr>
        <p:txBody>
          <a:bodyPr wrap="square" lIns="0" rIns="0" tIns="0" bIns="0" anchor="ctr">
            <a:noAutofit/>
          </a:bodyPr>
          <a:lstStyle/>
          <a:p>
            <a:pPr algn="ctr">
              <a:lnSpc>
                <a:spcPct val="108000"/>
              </a:lnSpc>
              <a:spcAft>
                <a:spcPts val="0"/>
              </a:spcAft>
            </a:pPr>
            <a:r>
              <a:rPr sz="800" b="1" i="0" spc="120">
                <a:solidFill>
                  <a:srgbClr val="0F0E2A"/>
                </a:solidFill>
                <a:latin typeface="Calibri"/>
              </a:rPr>
              <a:t>WI-FI · TLS MQTT</a:t>
            </a:r>
          </a:p>
        </p:txBody>
      </p:sp>
      <p:sp>
        <p:nvSpPr>
          <p:cNvPr id="43" name="Rounded Rectangle 42"/>
          <p:cNvSpPr/>
          <p:nvPr/>
        </p:nvSpPr>
        <p:spPr>
          <a:xfrm>
            <a:off x="6748272" y="5029200"/>
            <a:ext cx="1284732" cy="256032"/>
          </a:xfrm>
          <a:prstGeom prst="roundRect">
            <a:avLst>
              <a:gd name="adj" fmla="val 500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748272" y="5029200"/>
            <a:ext cx="1284732" cy="256032"/>
          </a:xfrm>
          <a:prstGeom prst="rect">
            <a:avLst/>
          </a:prstGeom>
          <a:noFill/>
        </p:spPr>
        <p:txBody>
          <a:bodyPr wrap="square" lIns="0" rIns="0" tIns="0" bIns="0" anchor="ctr">
            <a:noAutofit/>
          </a:bodyPr>
          <a:lstStyle/>
          <a:p>
            <a:pPr algn="ctr">
              <a:lnSpc>
                <a:spcPct val="108000"/>
              </a:lnSpc>
              <a:spcAft>
                <a:spcPts val="0"/>
              </a:spcAft>
            </a:pPr>
            <a:r>
              <a:rPr sz="800" b="1" i="0" spc="120">
                <a:solidFill>
                  <a:srgbClr val="0F0E2A"/>
                </a:solidFill>
                <a:latin typeface="Calibri"/>
              </a:rPr>
              <a:t>LI-PO · USB-C</a:t>
            </a:r>
          </a:p>
        </p:txBody>
      </p:sp>
      <p:sp>
        <p:nvSpPr>
          <p:cNvPr id="45" name="TextBox 44"/>
          <p:cNvSpPr txBox="1"/>
          <p:nvPr/>
        </p:nvSpPr>
        <p:spPr>
          <a:xfrm>
            <a:off x="5120640" y="5468112"/>
            <a:ext cx="6492240" cy="457200"/>
          </a:xfrm>
          <a:prstGeom prst="rect">
            <a:avLst/>
          </a:prstGeom>
          <a:noFill/>
        </p:spPr>
        <p:txBody>
          <a:bodyPr wrap="square" lIns="0" rIns="0" tIns="0" bIns="0" anchor="t">
            <a:noAutofit/>
          </a:bodyPr>
          <a:lstStyle/>
          <a:p>
            <a:pPr algn="l">
              <a:lnSpc>
                <a:spcPct val="120000"/>
              </a:lnSpc>
              <a:spcAft>
                <a:spcPts val="0"/>
              </a:spcAft>
            </a:pPr>
            <a:r>
              <a:rPr sz="950" b="0" i="1">
                <a:solidFill>
                  <a:srgbClr val="A9A9C7"/>
                </a:solidFill>
                <a:latin typeface="Calibri"/>
              </a:rPr>
              <a:t>Wellness and safety insights — not a diagnostic medical device. Off-the-shelf modules today; a custom PCB is part of the roadmap.</a:t>
            </a:r>
          </a:p>
        </p:txBody>
      </p:sp>
      <p:sp>
        <p:nvSpPr>
          <p:cNvPr id="46" name="TextBox 45"/>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A9A9C7"/>
                </a:solidFill>
                <a:latin typeface="Calibri"/>
              </a:rPr>
              <a:t>HARDWARE</a:t>
            </a:r>
            <a:r>
              <a:rPr sz="800" b="0" i="0" spc="140">
                <a:solidFill>
                  <a:srgbClr val="A9A9C7"/>
                </a:solidFill>
                <a:latin typeface="Calibri"/>
              </a:rPr>
              <a:t>   |   CORE SENSOR STACK</a:t>
            </a:r>
          </a:p>
        </p:txBody>
      </p:sp>
      <p:sp>
        <p:nvSpPr>
          <p:cNvPr id="47" name="TextBox 46"/>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22D3EE"/>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TextBox 1"/>
          <p:cNvSpPr txBox="1"/>
          <p:nvPr/>
        </p:nvSpPr>
        <p:spPr>
          <a:xfrm>
            <a:off x="548640" y="502920"/>
            <a:ext cx="9326880" cy="603504"/>
          </a:xfrm>
          <a:prstGeom prst="rect">
            <a:avLst/>
          </a:prstGeom>
          <a:noFill/>
        </p:spPr>
        <p:txBody>
          <a:bodyPr wrap="square" lIns="0" rIns="0" tIns="0" bIns="0" anchor="t">
            <a:noAutofit/>
          </a:bodyPr>
          <a:lstStyle/>
          <a:p>
            <a:pPr algn="l">
              <a:lnSpc>
                <a:spcPct val="100000"/>
              </a:lnSpc>
              <a:spcAft>
                <a:spcPts val="0"/>
              </a:spcAft>
            </a:pPr>
            <a:r>
              <a:rPr sz="3200" b="1" i="0">
                <a:solidFill>
                  <a:srgbClr val="17172F"/>
                </a:solidFill>
                <a:latin typeface="Calibri"/>
              </a:rPr>
              <a:t>System architecture</a:t>
            </a:r>
          </a:p>
        </p:txBody>
      </p:sp>
      <p:sp>
        <p:nvSpPr>
          <p:cNvPr id="3" name="TextBox 2"/>
          <p:cNvSpPr txBox="1"/>
          <p:nvPr/>
        </p:nvSpPr>
        <p:spPr>
          <a:xfrm>
            <a:off x="548640" y="1143000"/>
            <a:ext cx="9326880" cy="548640"/>
          </a:xfrm>
          <a:prstGeom prst="rect">
            <a:avLst/>
          </a:prstGeom>
          <a:noFill/>
        </p:spPr>
        <p:txBody>
          <a:bodyPr wrap="square" lIns="0" rIns="0" tIns="0" bIns="0" anchor="t">
            <a:noAutofit/>
          </a:bodyPr>
          <a:lstStyle/>
          <a:p>
            <a:pPr algn="l">
              <a:lnSpc>
                <a:spcPct val="115000"/>
              </a:lnSpc>
              <a:spcAft>
                <a:spcPts val="0"/>
              </a:spcAft>
            </a:pPr>
            <a:r>
              <a:rPr sz="1400" b="0" i="0">
                <a:solidFill>
                  <a:srgbClr val="5B5B7A"/>
                </a:solidFill>
                <a:latin typeface="Calibri"/>
              </a:rPr>
              <a:t>A continuous pipeline turns raw sensor data into understandable guidance and safety actions.</a:t>
            </a:r>
          </a:p>
        </p:txBody>
      </p:sp>
      <p:sp>
        <p:nvSpPr>
          <p:cNvPr id="4" name="Rounded Rectangle 3"/>
          <p:cNvSpPr/>
          <p:nvPr/>
        </p:nvSpPr>
        <p:spPr>
          <a:xfrm>
            <a:off x="640080" y="2103120"/>
            <a:ext cx="2331720" cy="2286000"/>
          </a:xfrm>
          <a:prstGeom prst="roundRect">
            <a:avLst>
              <a:gd name="adj" fmla="val 6400"/>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40080" y="2103120"/>
            <a:ext cx="2331720" cy="109728"/>
          </a:xfrm>
          <a:prstGeom prst="roundRect">
            <a:avLst>
              <a:gd name="adj" fmla="val 50000"/>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2423160"/>
            <a:ext cx="1965960" cy="228600"/>
          </a:xfrm>
          <a:prstGeom prst="rect">
            <a:avLst/>
          </a:prstGeom>
          <a:noFill/>
        </p:spPr>
        <p:txBody>
          <a:bodyPr wrap="square" lIns="0" rIns="0" tIns="0" bIns="0" anchor="ctr">
            <a:noAutofit/>
          </a:bodyPr>
          <a:lstStyle/>
          <a:p>
            <a:pPr algn="l">
              <a:lnSpc>
                <a:spcPct val="108000"/>
              </a:lnSpc>
              <a:spcAft>
                <a:spcPts val="0"/>
              </a:spcAft>
            </a:pPr>
            <a:r>
              <a:rPr sz="1000" b="1" i="0" spc="160">
                <a:solidFill>
                  <a:srgbClr val="3B5BFF"/>
                </a:solidFill>
                <a:latin typeface="Calibri"/>
              </a:rPr>
              <a:t>SENSORS</a:t>
            </a:r>
          </a:p>
        </p:txBody>
      </p:sp>
      <p:sp>
        <p:nvSpPr>
          <p:cNvPr id="7" name="TextBox 6"/>
          <p:cNvSpPr txBox="1"/>
          <p:nvPr/>
        </p:nvSpPr>
        <p:spPr>
          <a:xfrm>
            <a:off x="868680" y="2834639"/>
            <a:ext cx="1920239" cy="1371600"/>
          </a:xfrm>
          <a:prstGeom prst="rect">
            <a:avLst/>
          </a:prstGeom>
          <a:noFill/>
        </p:spPr>
        <p:txBody>
          <a:bodyPr wrap="square" lIns="0" rIns="0" tIns="0" bIns="0" anchor="t">
            <a:noAutofit/>
          </a:bodyPr>
          <a:lstStyle/>
          <a:p>
            <a:pPr algn="l">
              <a:lnSpc>
                <a:spcPct val="115000"/>
              </a:lnSpc>
              <a:spcAft>
                <a:spcPts val="500"/>
              </a:spcAft>
            </a:pPr>
            <a:r>
              <a:rPr sz="1100" b="0" i="0">
                <a:solidFill>
                  <a:srgbClr val="5B5B7A"/>
                </a:solidFill>
                <a:latin typeface="Calibri"/>
              </a:rPr>
              <a:t>PPG · GSR · IMU</a:t>
            </a:r>
          </a:p>
          <a:p>
            <a:pPr algn="l">
              <a:lnSpc>
                <a:spcPct val="115000"/>
              </a:lnSpc>
              <a:spcAft>
                <a:spcPts val="500"/>
              </a:spcAft>
            </a:pPr>
            <a:r>
              <a:rPr sz="1100" b="0" i="0">
                <a:solidFill>
                  <a:srgbClr val="5B5B7A"/>
                </a:solidFill>
                <a:latin typeface="Calibri"/>
              </a:rPr>
              <a:t>Temperature · GPS</a:t>
            </a:r>
          </a:p>
          <a:p>
            <a:pPr algn="l">
              <a:lnSpc>
                <a:spcPct val="115000"/>
              </a:lnSpc>
              <a:spcAft>
                <a:spcPts val="500"/>
              </a:spcAft>
            </a:pPr>
            <a:r>
              <a:rPr sz="1100" b="0" i="0">
                <a:solidFill>
                  <a:srgbClr val="5B5B7A"/>
                </a:solidFill>
                <a:latin typeface="Calibri"/>
              </a:rPr>
              <a:t>up to 100 samples / s</a:t>
            </a:r>
          </a:p>
        </p:txBody>
      </p:sp>
      <p:sp>
        <p:nvSpPr>
          <p:cNvPr id="8" name="Right Arrow 7"/>
          <p:cNvSpPr/>
          <p:nvPr/>
        </p:nvSpPr>
        <p:spPr>
          <a:xfrm>
            <a:off x="3081528" y="3099815"/>
            <a:ext cx="292608" cy="292608"/>
          </a:xfrm>
          <a:prstGeom prst="rightArrow">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474720" y="2103120"/>
            <a:ext cx="2331720" cy="2286000"/>
          </a:xfrm>
          <a:prstGeom prst="roundRect">
            <a:avLst>
              <a:gd name="adj" fmla="val 6400"/>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474720" y="2103120"/>
            <a:ext cx="2331720" cy="109728"/>
          </a:xfrm>
          <a:prstGeom prst="roundRect">
            <a:avLst>
              <a:gd name="adj" fmla="val 50000"/>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03320" y="2423160"/>
            <a:ext cx="1965960" cy="228600"/>
          </a:xfrm>
          <a:prstGeom prst="rect">
            <a:avLst/>
          </a:prstGeom>
          <a:noFill/>
        </p:spPr>
        <p:txBody>
          <a:bodyPr wrap="square" lIns="0" rIns="0" tIns="0" bIns="0" anchor="ctr">
            <a:noAutofit/>
          </a:bodyPr>
          <a:lstStyle/>
          <a:p>
            <a:pPr algn="l">
              <a:lnSpc>
                <a:spcPct val="108000"/>
              </a:lnSpc>
              <a:spcAft>
                <a:spcPts val="0"/>
              </a:spcAft>
            </a:pPr>
            <a:r>
              <a:rPr sz="1000" b="1" i="0" spc="160">
                <a:solidFill>
                  <a:srgbClr val="6C3CE9"/>
                </a:solidFill>
                <a:latin typeface="Calibri"/>
              </a:rPr>
              <a:t>ESP32 EDGE</a:t>
            </a:r>
          </a:p>
        </p:txBody>
      </p:sp>
      <p:sp>
        <p:nvSpPr>
          <p:cNvPr id="12" name="TextBox 11"/>
          <p:cNvSpPr txBox="1"/>
          <p:nvPr/>
        </p:nvSpPr>
        <p:spPr>
          <a:xfrm>
            <a:off x="3703320" y="2834639"/>
            <a:ext cx="1920239" cy="1371600"/>
          </a:xfrm>
          <a:prstGeom prst="rect">
            <a:avLst/>
          </a:prstGeom>
          <a:noFill/>
        </p:spPr>
        <p:txBody>
          <a:bodyPr wrap="square" lIns="0" rIns="0" tIns="0" bIns="0" anchor="t">
            <a:noAutofit/>
          </a:bodyPr>
          <a:lstStyle/>
          <a:p>
            <a:pPr algn="l">
              <a:lnSpc>
                <a:spcPct val="115000"/>
              </a:lnSpc>
              <a:spcAft>
                <a:spcPts val="500"/>
              </a:spcAft>
            </a:pPr>
            <a:r>
              <a:rPr sz="1100" b="0" i="0">
                <a:solidFill>
                  <a:srgbClr val="5B5B7A"/>
                </a:solidFill>
                <a:latin typeface="Calibri"/>
              </a:rPr>
              <a:t>HR · HRV · SpO₂ · steps</a:t>
            </a:r>
          </a:p>
          <a:p>
            <a:pPr algn="l">
              <a:lnSpc>
                <a:spcPct val="115000"/>
              </a:lnSpc>
              <a:spcAft>
                <a:spcPts val="500"/>
              </a:spcAft>
            </a:pPr>
            <a:r>
              <a:rPr sz="1100" b="0" i="0">
                <a:solidFill>
                  <a:srgbClr val="5B5B7A"/>
                </a:solidFill>
                <a:latin typeface="Calibri"/>
              </a:rPr>
              <a:t>Fall verification + prompt</a:t>
            </a:r>
          </a:p>
          <a:p>
            <a:pPr algn="l">
              <a:lnSpc>
                <a:spcPct val="115000"/>
              </a:lnSpc>
              <a:spcAft>
                <a:spcPts val="500"/>
              </a:spcAft>
            </a:pPr>
            <a:r>
              <a:rPr sz="1100" b="0" i="0">
                <a:solidFill>
                  <a:srgbClr val="5B5B7A"/>
                </a:solidFill>
                <a:latin typeface="Calibri"/>
              </a:rPr>
              <a:t>Telemetry every 2 s</a:t>
            </a:r>
          </a:p>
        </p:txBody>
      </p:sp>
      <p:sp>
        <p:nvSpPr>
          <p:cNvPr id="13" name="Right Arrow 12"/>
          <p:cNvSpPr/>
          <p:nvPr/>
        </p:nvSpPr>
        <p:spPr>
          <a:xfrm>
            <a:off x="5916168" y="3099815"/>
            <a:ext cx="292608" cy="292608"/>
          </a:xfrm>
          <a:prstGeom prst="rightArrow">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09359" y="2103120"/>
            <a:ext cx="2331720" cy="2286000"/>
          </a:xfrm>
          <a:prstGeom prst="roundRect">
            <a:avLst>
              <a:gd name="adj" fmla="val 6400"/>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309359" y="2103120"/>
            <a:ext cx="2331720" cy="109728"/>
          </a:xfrm>
          <a:prstGeom prst="roundRect">
            <a:avLst>
              <a:gd name="adj" fmla="val 50000"/>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37959" y="2423160"/>
            <a:ext cx="1965960" cy="228600"/>
          </a:xfrm>
          <a:prstGeom prst="rect">
            <a:avLst/>
          </a:prstGeom>
          <a:noFill/>
        </p:spPr>
        <p:txBody>
          <a:bodyPr wrap="square" lIns="0" rIns="0" tIns="0" bIns="0" anchor="ctr">
            <a:noAutofit/>
          </a:bodyPr>
          <a:lstStyle/>
          <a:p>
            <a:pPr algn="l">
              <a:lnSpc>
                <a:spcPct val="108000"/>
              </a:lnSpc>
              <a:spcAft>
                <a:spcPts val="0"/>
              </a:spcAft>
            </a:pPr>
            <a:r>
              <a:rPr sz="1000" b="1" i="0" spc="160">
                <a:solidFill>
                  <a:srgbClr val="8B5CF6"/>
                </a:solidFill>
                <a:latin typeface="Calibri"/>
              </a:rPr>
              <a:t>AI CORE</a:t>
            </a:r>
          </a:p>
        </p:txBody>
      </p:sp>
      <p:sp>
        <p:nvSpPr>
          <p:cNvPr id="17" name="TextBox 16"/>
          <p:cNvSpPr txBox="1"/>
          <p:nvPr/>
        </p:nvSpPr>
        <p:spPr>
          <a:xfrm>
            <a:off x="6537959" y="2834639"/>
            <a:ext cx="1920239" cy="1371600"/>
          </a:xfrm>
          <a:prstGeom prst="rect">
            <a:avLst/>
          </a:prstGeom>
          <a:noFill/>
        </p:spPr>
        <p:txBody>
          <a:bodyPr wrap="square" lIns="0" rIns="0" tIns="0" bIns="0" anchor="t">
            <a:noAutofit/>
          </a:bodyPr>
          <a:lstStyle/>
          <a:p>
            <a:pPr algn="l">
              <a:lnSpc>
                <a:spcPct val="115000"/>
              </a:lnSpc>
              <a:spcAft>
                <a:spcPts val="500"/>
              </a:spcAft>
            </a:pPr>
            <a:r>
              <a:rPr sz="1100" b="0" i="0">
                <a:solidFill>
                  <a:srgbClr val="5B5B7A"/>
                </a:solidFill>
                <a:latin typeface="Calibri"/>
              </a:rPr>
              <a:t>Isolation Forest + LSTM AE</a:t>
            </a:r>
          </a:p>
          <a:p>
            <a:pPr algn="l">
              <a:lnSpc>
                <a:spcPct val="115000"/>
              </a:lnSpc>
              <a:spcAft>
                <a:spcPts val="500"/>
              </a:spcAft>
            </a:pPr>
            <a:r>
              <a:rPr sz="1100" b="0" i="0">
                <a:solidFill>
                  <a:srgbClr val="5B5B7A"/>
                </a:solidFill>
                <a:latin typeface="Calibri"/>
              </a:rPr>
              <a:t>Rule-based conditions</a:t>
            </a:r>
          </a:p>
          <a:p>
            <a:pPr algn="l">
              <a:lnSpc>
                <a:spcPct val="115000"/>
              </a:lnSpc>
              <a:spcAft>
                <a:spcPts val="500"/>
              </a:spcAft>
            </a:pPr>
            <a:r>
              <a:rPr sz="1100" b="0" i="0">
                <a:solidFill>
                  <a:srgbClr val="5B5B7A"/>
                </a:solidFill>
                <a:latin typeface="Calibri"/>
              </a:rPr>
              <a:t>LLM explanation</a:t>
            </a:r>
          </a:p>
        </p:txBody>
      </p:sp>
      <p:sp>
        <p:nvSpPr>
          <p:cNvPr id="18" name="Right Arrow 17"/>
          <p:cNvSpPr/>
          <p:nvPr/>
        </p:nvSpPr>
        <p:spPr>
          <a:xfrm>
            <a:off x="8750807" y="3099815"/>
            <a:ext cx="292608" cy="292608"/>
          </a:xfrm>
          <a:prstGeom prst="rightArrow">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9144000" y="2103120"/>
            <a:ext cx="2331720" cy="2286000"/>
          </a:xfrm>
          <a:prstGeom prst="roundRect">
            <a:avLst>
              <a:gd name="adj" fmla="val 6400"/>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9144000" y="2103120"/>
            <a:ext cx="2331720" cy="109728"/>
          </a:xfrm>
          <a:prstGeom prst="roundRect">
            <a:avLst>
              <a:gd name="adj" fmla="val 500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72600" y="2423160"/>
            <a:ext cx="1965960" cy="228600"/>
          </a:xfrm>
          <a:prstGeom prst="rect">
            <a:avLst/>
          </a:prstGeom>
          <a:noFill/>
        </p:spPr>
        <p:txBody>
          <a:bodyPr wrap="square" lIns="0" rIns="0" tIns="0" bIns="0" anchor="ctr">
            <a:noAutofit/>
          </a:bodyPr>
          <a:lstStyle/>
          <a:p>
            <a:pPr algn="l">
              <a:lnSpc>
                <a:spcPct val="108000"/>
              </a:lnSpc>
              <a:spcAft>
                <a:spcPts val="0"/>
              </a:spcAft>
            </a:pPr>
            <a:r>
              <a:rPr sz="1000" b="1" i="0" spc="160">
                <a:solidFill>
                  <a:srgbClr val="0F9F6E"/>
                </a:solidFill>
                <a:latin typeface="Calibri"/>
              </a:rPr>
              <a:t>APP + CAREGIVERS</a:t>
            </a:r>
          </a:p>
        </p:txBody>
      </p:sp>
      <p:sp>
        <p:nvSpPr>
          <p:cNvPr id="22" name="TextBox 21"/>
          <p:cNvSpPr txBox="1"/>
          <p:nvPr/>
        </p:nvSpPr>
        <p:spPr>
          <a:xfrm>
            <a:off x="9372600" y="2834639"/>
            <a:ext cx="1920239" cy="1371600"/>
          </a:xfrm>
          <a:prstGeom prst="rect">
            <a:avLst/>
          </a:prstGeom>
          <a:noFill/>
        </p:spPr>
        <p:txBody>
          <a:bodyPr wrap="square" lIns="0" rIns="0" tIns="0" bIns="0" anchor="t">
            <a:noAutofit/>
          </a:bodyPr>
          <a:lstStyle/>
          <a:p>
            <a:pPr algn="l">
              <a:lnSpc>
                <a:spcPct val="115000"/>
              </a:lnSpc>
              <a:spcAft>
                <a:spcPts val="500"/>
              </a:spcAft>
            </a:pPr>
            <a:r>
              <a:rPr sz="1100" b="0" i="0">
                <a:solidFill>
                  <a:srgbClr val="5B5B7A"/>
                </a:solidFill>
                <a:latin typeface="Calibri"/>
              </a:rPr>
              <a:t>Live vitals · trends · advice</a:t>
            </a:r>
          </a:p>
          <a:p>
            <a:pPr algn="l">
              <a:lnSpc>
                <a:spcPct val="115000"/>
              </a:lnSpc>
              <a:spcAft>
                <a:spcPts val="500"/>
              </a:spcAft>
            </a:pPr>
            <a:r>
              <a:rPr sz="1100" b="0" i="0">
                <a:solidFill>
                  <a:srgbClr val="5B5B7A"/>
                </a:solidFill>
                <a:latin typeface="Calibri"/>
              </a:rPr>
              <a:t>Alerts · emergency contacts</a:t>
            </a:r>
          </a:p>
          <a:p>
            <a:pPr algn="l">
              <a:lnSpc>
                <a:spcPct val="115000"/>
              </a:lnSpc>
              <a:spcAft>
                <a:spcPts val="500"/>
              </a:spcAft>
            </a:pPr>
            <a:r>
              <a:rPr sz="1100" b="0" i="0">
                <a:solidFill>
                  <a:srgbClr val="5B5B7A"/>
                </a:solidFill>
                <a:latin typeface="Calibri"/>
              </a:rPr>
              <a:t>GPS link on escalation</a:t>
            </a:r>
          </a:p>
        </p:txBody>
      </p:sp>
      <p:sp>
        <p:nvSpPr>
          <p:cNvPr id="23" name="Rounded Rectangle 22"/>
          <p:cNvSpPr/>
          <p:nvPr/>
        </p:nvSpPr>
        <p:spPr>
          <a:xfrm>
            <a:off x="2255367" y="4663440"/>
            <a:ext cx="7680960" cy="292608"/>
          </a:xfrm>
          <a:prstGeom prst="roundRect">
            <a:avLst>
              <a:gd name="adj" fmla="val 50000"/>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255367" y="4663440"/>
            <a:ext cx="7680960" cy="292608"/>
          </a:xfrm>
          <a:prstGeom prst="rect">
            <a:avLst/>
          </a:prstGeom>
          <a:noFill/>
        </p:spPr>
        <p:txBody>
          <a:bodyPr wrap="square" lIns="0" rIns="0" tIns="0" bIns="0" anchor="ctr">
            <a:noAutofit/>
          </a:bodyPr>
          <a:lstStyle/>
          <a:p>
            <a:pPr algn="ctr">
              <a:lnSpc>
                <a:spcPct val="108000"/>
              </a:lnSpc>
              <a:spcAft>
                <a:spcPts val="0"/>
              </a:spcAft>
            </a:pPr>
            <a:r>
              <a:rPr sz="850" b="1" i="0" spc="120">
                <a:solidFill>
                  <a:srgbClr val="FFFFFF"/>
                </a:solidFill>
                <a:latin typeface="Calibri"/>
              </a:rPr>
              <a:t>MQTT OVER TLS 1.2  ·  HIVEMQ CLOUD  ·  JSON ≤ 1 KB  ·  EVERY 2 S  ·  ALERTS BACK TO THE BAND</a:t>
            </a:r>
          </a:p>
        </p:txBody>
      </p:sp>
      <p:sp>
        <p:nvSpPr>
          <p:cNvPr id="25" name="Rounded Rectangle 24"/>
          <p:cNvSpPr/>
          <p:nvPr/>
        </p:nvSpPr>
        <p:spPr>
          <a:xfrm>
            <a:off x="640080" y="5303520"/>
            <a:ext cx="960120" cy="256032"/>
          </a:xfrm>
          <a:prstGeom prst="roundRect">
            <a:avLst>
              <a:gd name="adj" fmla="val 50000"/>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0080" y="5303520"/>
            <a:ext cx="960120" cy="256032"/>
          </a:xfrm>
          <a:prstGeom prst="rect">
            <a:avLst/>
          </a:prstGeom>
          <a:noFill/>
        </p:spPr>
        <p:txBody>
          <a:bodyPr wrap="square" lIns="0" rIns="0" tIns="0" bIns="0" anchor="ctr">
            <a:noAutofit/>
          </a:bodyPr>
          <a:lstStyle/>
          <a:p>
            <a:pPr algn="ctr">
              <a:lnSpc>
                <a:spcPct val="108000"/>
              </a:lnSpc>
              <a:spcAft>
                <a:spcPts val="0"/>
              </a:spcAft>
            </a:pPr>
            <a:r>
              <a:rPr sz="800" b="1" i="0" spc="120">
                <a:solidFill>
                  <a:srgbClr val="FFFFFF"/>
                </a:solidFill>
                <a:latin typeface="Calibri"/>
              </a:rPr>
              <a:t>EDGE</a:t>
            </a:r>
          </a:p>
        </p:txBody>
      </p:sp>
      <p:sp>
        <p:nvSpPr>
          <p:cNvPr id="27" name="TextBox 26"/>
          <p:cNvSpPr txBox="1"/>
          <p:nvPr/>
        </p:nvSpPr>
        <p:spPr>
          <a:xfrm>
            <a:off x="640080" y="5623560"/>
            <a:ext cx="3520440" cy="640080"/>
          </a:xfrm>
          <a:prstGeom prst="rect">
            <a:avLst/>
          </a:prstGeom>
          <a:noFill/>
        </p:spPr>
        <p:txBody>
          <a:bodyPr wrap="square" lIns="0" rIns="0" tIns="0" bIns="0" anchor="t">
            <a:noAutofit/>
          </a:bodyPr>
          <a:lstStyle/>
          <a:p>
            <a:pPr algn="l">
              <a:lnSpc>
                <a:spcPct val="120000"/>
              </a:lnSpc>
              <a:spcAft>
                <a:spcPts val="0"/>
              </a:spcAft>
            </a:pPr>
            <a:r>
              <a:rPr sz="1000" b="0" i="0">
                <a:solidFill>
                  <a:srgbClr val="5B5B7A"/>
                </a:solidFill>
                <a:latin typeface="Calibri"/>
              </a:rPr>
              <a:t>RMSSD, motion variance, tremor frequency and impact peaks computed on the wrist</a:t>
            </a:r>
          </a:p>
        </p:txBody>
      </p:sp>
      <p:sp>
        <p:nvSpPr>
          <p:cNvPr id="28" name="Rounded Rectangle 27"/>
          <p:cNvSpPr/>
          <p:nvPr/>
        </p:nvSpPr>
        <p:spPr>
          <a:xfrm>
            <a:off x="4343400" y="5303520"/>
            <a:ext cx="960120" cy="256032"/>
          </a:xfrm>
          <a:prstGeom prst="roundRect">
            <a:avLst>
              <a:gd name="adj" fmla="val 50000"/>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343400" y="5303520"/>
            <a:ext cx="960120" cy="256032"/>
          </a:xfrm>
          <a:prstGeom prst="rect">
            <a:avLst/>
          </a:prstGeom>
          <a:noFill/>
        </p:spPr>
        <p:txBody>
          <a:bodyPr wrap="square" lIns="0" rIns="0" tIns="0" bIns="0" anchor="ctr">
            <a:noAutofit/>
          </a:bodyPr>
          <a:lstStyle/>
          <a:p>
            <a:pPr algn="ctr">
              <a:lnSpc>
                <a:spcPct val="108000"/>
              </a:lnSpc>
              <a:spcAft>
                <a:spcPts val="0"/>
              </a:spcAft>
            </a:pPr>
            <a:r>
              <a:rPr sz="800" b="1" i="0" spc="120">
                <a:solidFill>
                  <a:srgbClr val="FFFFFF"/>
                </a:solidFill>
                <a:latin typeface="Calibri"/>
              </a:rPr>
              <a:t>FALLBACK</a:t>
            </a:r>
          </a:p>
        </p:txBody>
      </p:sp>
      <p:sp>
        <p:nvSpPr>
          <p:cNvPr id="30" name="TextBox 29"/>
          <p:cNvSpPr txBox="1"/>
          <p:nvPr/>
        </p:nvSpPr>
        <p:spPr>
          <a:xfrm>
            <a:off x="4343400" y="5623560"/>
            <a:ext cx="3520440" cy="640080"/>
          </a:xfrm>
          <a:prstGeom prst="rect">
            <a:avLst/>
          </a:prstGeom>
          <a:noFill/>
        </p:spPr>
        <p:txBody>
          <a:bodyPr wrap="square" lIns="0" rIns="0" tIns="0" bIns="0" anchor="t">
            <a:noAutofit/>
          </a:bodyPr>
          <a:lstStyle/>
          <a:p>
            <a:pPr algn="l">
              <a:lnSpc>
                <a:spcPct val="120000"/>
              </a:lnSpc>
              <a:spcAft>
                <a:spcPts val="0"/>
              </a:spcAft>
            </a:pPr>
            <a:r>
              <a:rPr sz="1000" b="0" i="0">
                <a:solidFill>
                  <a:srgbClr val="5B5B7A"/>
                </a:solidFill>
                <a:latin typeface="Calibri"/>
              </a:rPr>
              <a:t>Statistical threshold rules keep working if the cloud or a model is unavailable</a:t>
            </a:r>
          </a:p>
        </p:txBody>
      </p:sp>
      <p:sp>
        <p:nvSpPr>
          <p:cNvPr id="31" name="Rounded Rectangle 30"/>
          <p:cNvSpPr/>
          <p:nvPr/>
        </p:nvSpPr>
        <p:spPr>
          <a:xfrm>
            <a:off x="8046720" y="5303520"/>
            <a:ext cx="960120" cy="256032"/>
          </a:xfrm>
          <a:prstGeom prst="roundRect">
            <a:avLst>
              <a:gd name="adj" fmla="val 50000"/>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046720" y="5303520"/>
            <a:ext cx="960120" cy="256032"/>
          </a:xfrm>
          <a:prstGeom prst="rect">
            <a:avLst/>
          </a:prstGeom>
          <a:noFill/>
        </p:spPr>
        <p:txBody>
          <a:bodyPr wrap="square" lIns="0" rIns="0" tIns="0" bIns="0" anchor="ctr">
            <a:noAutofit/>
          </a:bodyPr>
          <a:lstStyle/>
          <a:p>
            <a:pPr algn="ctr">
              <a:lnSpc>
                <a:spcPct val="108000"/>
              </a:lnSpc>
              <a:spcAft>
                <a:spcPts val="0"/>
              </a:spcAft>
            </a:pPr>
            <a:r>
              <a:rPr sz="800" b="1" i="0" spc="120">
                <a:solidFill>
                  <a:srgbClr val="FFFFFF"/>
                </a:solidFill>
                <a:latin typeface="Calibri"/>
              </a:rPr>
              <a:t>RESILIENCE</a:t>
            </a:r>
          </a:p>
        </p:txBody>
      </p:sp>
      <p:sp>
        <p:nvSpPr>
          <p:cNvPr id="33" name="TextBox 32"/>
          <p:cNvSpPr txBox="1"/>
          <p:nvPr/>
        </p:nvSpPr>
        <p:spPr>
          <a:xfrm>
            <a:off x="8046720" y="5623560"/>
            <a:ext cx="3520440" cy="640080"/>
          </a:xfrm>
          <a:prstGeom prst="rect">
            <a:avLst/>
          </a:prstGeom>
          <a:noFill/>
        </p:spPr>
        <p:txBody>
          <a:bodyPr wrap="square" lIns="0" rIns="0" tIns="0" bIns="0" anchor="t">
            <a:noAutofit/>
          </a:bodyPr>
          <a:lstStyle/>
          <a:p>
            <a:pPr algn="l">
              <a:lnSpc>
                <a:spcPct val="120000"/>
              </a:lnSpc>
              <a:spcAft>
                <a:spcPts val="0"/>
              </a:spcAft>
            </a:pPr>
            <a:r>
              <a:rPr sz="1000" b="0" i="0">
                <a:solidFill>
                  <a:srgbClr val="5B5B7A"/>
                </a:solidFill>
                <a:latin typeface="Calibri"/>
              </a:rPr>
              <a:t>Offline outbox: emergency packets are retried for 10 minutes; last-will status for presence</a:t>
            </a:r>
          </a:p>
        </p:txBody>
      </p:sp>
      <p:sp>
        <p:nvSpPr>
          <p:cNvPr id="34" name="TextBox 33"/>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5B5B7A"/>
                </a:solidFill>
                <a:latin typeface="Calibri"/>
              </a:rPr>
              <a:t>TECHNOLOGY</a:t>
            </a:r>
            <a:r>
              <a:rPr sz="800" b="0" i="0" spc="140">
                <a:solidFill>
                  <a:srgbClr val="5B5B7A"/>
                </a:solidFill>
                <a:latin typeface="Calibri"/>
              </a:rPr>
              <a:t>   |   EDGE-TO-CLOUD DATA PIPELINE</a:t>
            </a:r>
          </a:p>
        </p:txBody>
      </p:sp>
      <p:sp>
        <p:nvSpPr>
          <p:cNvPr id="35" name="TextBox 34"/>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6C3CE9"/>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E2A"/>
        </a:solidFill>
        <a:effectLst/>
      </p:bgPr>
    </p:bg>
    <p:spTree>
      <p:nvGrpSpPr>
        <p:cNvPr id="1" name=""/>
        <p:cNvGrpSpPr/>
        <p:nvPr/>
      </p:nvGrpSpPr>
      <p:grpSpPr/>
      <p:sp>
        <p:nvSpPr>
          <p:cNvPr id="2" name="TextBox 1"/>
          <p:cNvSpPr txBox="1"/>
          <p:nvPr/>
        </p:nvSpPr>
        <p:spPr>
          <a:xfrm>
            <a:off x="548640" y="502920"/>
            <a:ext cx="8229600" cy="603504"/>
          </a:xfrm>
          <a:prstGeom prst="rect">
            <a:avLst/>
          </a:prstGeom>
          <a:noFill/>
        </p:spPr>
        <p:txBody>
          <a:bodyPr wrap="square" lIns="0" rIns="0" tIns="0" bIns="0" anchor="t">
            <a:noAutofit/>
          </a:bodyPr>
          <a:lstStyle/>
          <a:p>
            <a:pPr algn="l">
              <a:lnSpc>
                <a:spcPct val="100000"/>
              </a:lnSpc>
              <a:spcAft>
                <a:spcPts val="0"/>
              </a:spcAft>
            </a:pPr>
            <a:r>
              <a:rPr sz="3200" b="1" i="0">
                <a:solidFill>
                  <a:srgbClr val="FFFFFF"/>
                </a:solidFill>
                <a:latin typeface="Calibri"/>
              </a:rPr>
              <a:t>The wrist does the time-critical work</a:t>
            </a:r>
          </a:p>
        </p:txBody>
      </p:sp>
      <p:sp>
        <p:nvSpPr>
          <p:cNvPr id="3" name="TextBox 2"/>
          <p:cNvSpPr txBox="1"/>
          <p:nvPr/>
        </p:nvSpPr>
        <p:spPr>
          <a:xfrm>
            <a:off x="548640" y="1143000"/>
            <a:ext cx="8229600" cy="548640"/>
          </a:xfrm>
          <a:prstGeom prst="rect">
            <a:avLst/>
          </a:prstGeom>
          <a:noFill/>
        </p:spPr>
        <p:txBody>
          <a:bodyPr wrap="square" lIns="0" rIns="0" tIns="0" bIns="0" anchor="t">
            <a:noAutofit/>
          </a:bodyPr>
          <a:lstStyle/>
          <a:p>
            <a:pPr algn="l">
              <a:lnSpc>
                <a:spcPct val="115000"/>
              </a:lnSpc>
              <a:spcAft>
                <a:spcPts val="0"/>
              </a:spcAft>
            </a:pPr>
            <a:r>
              <a:rPr sz="1400" b="0" i="0">
                <a:solidFill>
                  <a:srgbClr val="A9A9C7"/>
                </a:solidFill>
                <a:latin typeface="Calibri"/>
              </a:rPr>
              <a:t>Firmware v1.0 turns raw samples into clinical-style features and a verified safety prompt — with or without the cloud.</a:t>
            </a:r>
          </a:p>
        </p:txBody>
      </p:sp>
      <p:sp>
        <p:nvSpPr>
          <p:cNvPr id="4" name="Rounded Rectangle 3"/>
          <p:cNvSpPr/>
          <p:nvPr/>
        </p:nvSpPr>
        <p:spPr>
          <a:xfrm>
            <a:off x="548640" y="2011680"/>
            <a:ext cx="2395728" cy="1600200"/>
          </a:xfrm>
          <a:prstGeom prst="roundRect">
            <a:avLst>
              <a:gd name="adj" fmla="val 8000"/>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48640" y="2286000"/>
            <a:ext cx="54864" cy="10515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4672" y="2240280"/>
            <a:ext cx="1984248" cy="457200"/>
          </a:xfrm>
          <a:prstGeom prst="rect">
            <a:avLst/>
          </a:prstGeom>
          <a:noFill/>
        </p:spPr>
        <p:txBody>
          <a:bodyPr wrap="square" lIns="0" rIns="0" tIns="0" bIns="0" anchor="t">
            <a:noAutofit/>
          </a:bodyPr>
          <a:lstStyle/>
          <a:p>
            <a:pPr algn="l">
              <a:lnSpc>
                <a:spcPct val="108000"/>
              </a:lnSpc>
              <a:spcAft>
                <a:spcPts val="0"/>
              </a:spcAft>
            </a:pPr>
            <a:r>
              <a:rPr sz="1300" b="1" i="0">
                <a:solidFill>
                  <a:srgbClr val="FFFFFF"/>
                </a:solidFill>
                <a:latin typeface="Calibri"/>
              </a:rPr>
              <a:t>Heart rate &amp; HRV</a:t>
            </a:r>
          </a:p>
        </p:txBody>
      </p:sp>
      <p:sp>
        <p:nvSpPr>
          <p:cNvPr id="7" name="TextBox 6"/>
          <p:cNvSpPr txBox="1"/>
          <p:nvPr/>
        </p:nvSpPr>
        <p:spPr>
          <a:xfrm>
            <a:off x="804672" y="2670048"/>
            <a:ext cx="1984248" cy="914400"/>
          </a:xfrm>
          <a:prstGeom prst="rect">
            <a:avLst/>
          </a:prstGeom>
          <a:noFill/>
        </p:spPr>
        <p:txBody>
          <a:bodyPr wrap="square" lIns="0" rIns="0" tIns="0" bIns="0" anchor="t">
            <a:noAutofit/>
          </a:bodyPr>
          <a:lstStyle/>
          <a:p>
            <a:pPr algn="l">
              <a:lnSpc>
                <a:spcPct val="120000"/>
              </a:lnSpc>
              <a:spcAft>
                <a:spcPts val="0"/>
              </a:spcAft>
            </a:pPr>
            <a:r>
              <a:rPr sz="1000" b="0" i="0">
                <a:solidFill>
                  <a:srgbClr val="A9A9C7"/>
                </a:solidFill>
                <a:latin typeface="Calibri"/>
              </a:rPr>
              <a:t>Beat-to-beat intervals with artifact rejection; RMSSD over the last 20 beats.</a:t>
            </a:r>
          </a:p>
        </p:txBody>
      </p:sp>
      <p:sp>
        <p:nvSpPr>
          <p:cNvPr id="8" name="Rounded Rectangle 7"/>
          <p:cNvSpPr/>
          <p:nvPr/>
        </p:nvSpPr>
        <p:spPr>
          <a:xfrm>
            <a:off x="3127248" y="2011680"/>
            <a:ext cx="2395728" cy="1600200"/>
          </a:xfrm>
          <a:prstGeom prst="roundRect">
            <a:avLst>
              <a:gd name="adj" fmla="val 8000"/>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127248" y="2286000"/>
            <a:ext cx="54864" cy="1051560"/>
          </a:xfrm>
          <a:prstGeom prst="rect">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83280" y="2240280"/>
            <a:ext cx="1984248" cy="457200"/>
          </a:xfrm>
          <a:prstGeom prst="rect">
            <a:avLst/>
          </a:prstGeom>
          <a:noFill/>
        </p:spPr>
        <p:txBody>
          <a:bodyPr wrap="square" lIns="0" rIns="0" tIns="0" bIns="0" anchor="t">
            <a:noAutofit/>
          </a:bodyPr>
          <a:lstStyle/>
          <a:p>
            <a:pPr algn="l">
              <a:lnSpc>
                <a:spcPct val="108000"/>
              </a:lnSpc>
              <a:spcAft>
                <a:spcPts val="0"/>
              </a:spcAft>
            </a:pPr>
            <a:r>
              <a:rPr sz="1300" b="1" i="0">
                <a:solidFill>
                  <a:srgbClr val="FFFFFF"/>
                </a:solidFill>
                <a:latin typeface="Calibri"/>
              </a:rPr>
              <a:t>SpO₂ estimate</a:t>
            </a:r>
          </a:p>
        </p:txBody>
      </p:sp>
      <p:sp>
        <p:nvSpPr>
          <p:cNvPr id="11" name="TextBox 10"/>
          <p:cNvSpPr txBox="1"/>
          <p:nvPr/>
        </p:nvSpPr>
        <p:spPr>
          <a:xfrm>
            <a:off x="3383280" y="2670048"/>
            <a:ext cx="1984248" cy="914400"/>
          </a:xfrm>
          <a:prstGeom prst="rect">
            <a:avLst/>
          </a:prstGeom>
          <a:noFill/>
        </p:spPr>
        <p:txBody>
          <a:bodyPr wrap="square" lIns="0" rIns="0" tIns="0" bIns="0" anchor="t">
            <a:noAutofit/>
          </a:bodyPr>
          <a:lstStyle/>
          <a:p>
            <a:pPr algn="l">
              <a:lnSpc>
                <a:spcPct val="120000"/>
              </a:lnSpc>
              <a:spcAft>
                <a:spcPts val="0"/>
              </a:spcAft>
            </a:pPr>
            <a:r>
              <a:rPr sz="1000" b="0" i="0">
                <a:solidFill>
                  <a:srgbClr val="A9A9C7"/>
                </a:solidFill>
                <a:latin typeface="Calibri"/>
              </a:rPr>
              <a:t>Ratio-of-ratios on rolling red/IR AC-DC with perfusion and contact checks.</a:t>
            </a:r>
          </a:p>
        </p:txBody>
      </p:sp>
      <p:sp>
        <p:nvSpPr>
          <p:cNvPr id="12" name="Rounded Rectangle 11"/>
          <p:cNvSpPr/>
          <p:nvPr/>
        </p:nvSpPr>
        <p:spPr>
          <a:xfrm>
            <a:off x="5705856" y="2011680"/>
            <a:ext cx="2395728" cy="1600200"/>
          </a:xfrm>
          <a:prstGeom prst="roundRect">
            <a:avLst>
              <a:gd name="adj" fmla="val 8000"/>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705856" y="2286000"/>
            <a:ext cx="54864" cy="1051560"/>
          </a:xfrm>
          <a:prstGeom prst="rect">
            <a:avLst/>
          </a:prstGeom>
          <a:solidFill>
            <a:srgbClr val="F43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961888" y="2240280"/>
            <a:ext cx="1984248" cy="457200"/>
          </a:xfrm>
          <a:prstGeom prst="rect">
            <a:avLst/>
          </a:prstGeom>
          <a:noFill/>
        </p:spPr>
        <p:txBody>
          <a:bodyPr wrap="square" lIns="0" rIns="0" tIns="0" bIns="0" anchor="t">
            <a:noAutofit/>
          </a:bodyPr>
          <a:lstStyle/>
          <a:p>
            <a:pPr algn="l">
              <a:lnSpc>
                <a:spcPct val="108000"/>
              </a:lnSpc>
              <a:spcAft>
                <a:spcPts val="0"/>
              </a:spcAft>
            </a:pPr>
            <a:r>
              <a:rPr sz="1300" b="1" i="0">
                <a:solidFill>
                  <a:srgbClr val="FFFFFF"/>
                </a:solidFill>
                <a:latin typeface="Calibri"/>
              </a:rPr>
              <a:t>Fall detector</a:t>
            </a:r>
          </a:p>
        </p:txBody>
      </p:sp>
      <p:sp>
        <p:nvSpPr>
          <p:cNvPr id="15" name="TextBox 14"/>
          <p:cNvSpPr txBox="1"/>
          <p:nvPr/>
        </p:nvSpPr>
        <p:spPr>
          <a:xfrm>
            <a:off x="5961888" y="2670048"/>
            <a:ext cx="1984248" cy="914400"/>
          </a:xfrm>
          <a:prstGeom prst="rect">
            <a:avLst/>
          </a:prstGeom>
          <a:noFill/>
        </p:spPr>
        <p:txBody>
          <a:bodyPr wrap="square" lIns="0" rIns="0" tIns="0" bIns="0" anchor="t">
            <a:noAutofit/>
          </a:bodyPr>
          <a:lstStyle/>
          <a:p>
            <a:pPr algn="l">
              <a:lnSpc>
                <a:spcPct val="120000"/>
              </a:lnSpc>
              <a:spcAft>
                <a:spcPts val="0"/>
              </a:spcAft>
            </a:pPr>
            <a:r>
              <a:rPr sz="1000" b="0" i="0">
                <a:solidFill>
                  <a:srgbClr val="A9A9C7"/>
                </a:solidFill>
                <a:latin typeface="Calibri"/>
              </a:rPr>
              <a:t>Impact &gt; 3 g, free-fall cue, orientation change and a 4 s immobility check → confidence score.</a:t>
            </a:r>
          </a:p>
        </p:txBody>
      </p:sp>
      <p:sp>
        <p:nvSpPr>
          <p:cNvPr id="16" name="Rounded Rectangle 15"/>
          <p:cNvSpPr/>
          <p:nvPr/>
        </p:nvSpPr>
        <p:spPr>
          <a:xfrm>
            <a:off x="548640" y="3794760"/>
            <a:ext cx="2395728" cy="1600200"/>
          </a:xfrm>
          <a:prstGeom prst="roundRect">
            <a:avLst>
              <a:gd name="adj" fmla="val 8000"/>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48640" y="4069080"/>
            <a:ext cx="54864" cy="1051560"/>
          </a:xfrm>
          <a:prstGeom prst="rect">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 y="4023360"/>
            <a:ext cx="1984248" cy="457200"/>
          </a:xfrm>
          <a:prstGeom prst="rect">
            <a:avLst/>
          </a:prstGeom>
          <a:noFill/>
        </p:spPr>
        <p:txBody>
          <a:bodyPr wrap="square" lIns="0" rIns="0" tIns="0" bIns="0" anchor="t">
            <a:noAutofit/>
          </a:bodyPr>
          <a:lstStyle/>
          <a:p>
            <a:pPr algn="l">
              <a:lnSpc>
                <a:spcPct val="108000"/>
              </a:lnSpc>
              <a:spcAft>
                <a:spcPts val="0"/>
              </a:spcAft>
            </a:pPr>
            <a:r>
              <a:rPr sz="1300" b="1" i="0">
                <a:solidFill>
                  <a:srgbClr val="FFFFFF"/>
                </a:solidFill>
                <a:latin typeface="Calibri"/>
              </a:rPr>
              <a:t>Motion analytics</a:t>
            </a:r>
          </a:p>
        </p:txBody>
      </p:sp>
      <p:sp>
        <p:nvSpPr>
          <p:cNvPr id="19" name="TextBox 18"/>
          <p:cNvSpPr txBox="1"/>
          <p:nvPr/>
        </p:nvSpPr>
        <p:spPr>
          <a:xfrm>
            <a:off x="804672" y="4453128"/>
            <a:ext cx="1984248" cy="914400"/>
          </a:xfrm>
          <a:prstGeom prst="rect">
            <a:avLst/>
          </a:prstGeom>
          <a:noFill/>
        </p:spPr>
        <p:txBody>
          <a:bodyPr wrap="square" lIns="0" rIns="0" tIns="0" bIns="0" anchor="t">
            <a:noAutofit/>
          </a:bodyPr>
          <a:lstStyle/>
          <a:p>
            <a:pPr algn="l">
              <a:lnSpc>
                <a:spcPct val="120000"/>
              </a:lnSpc>
              <a:spcAft>
                <a:spcPts val="0"/>
              </a:spcAft>
            </a:pPr>
            <a:r>
              <a:rPr sz="1000" b="0" i="0">
                <a:solidFill>
                  <a:srgbClr val="A9A9C7"/>
                </a:solidFill>
                <a:latin typeface="Calibri"/>
              </a:rPr>
              <a:t>Pedometer, cadence, variance and dominant tremor frequency from 50 Hz IMU data.</a:t>
            </a:r>
          </a:p>
        </p:txBody>
      </p:sp>
      <p:sp>
        <p:nvSpPr>
          <p:cNvPr id="20" name="Rounded Rectangle 19"/>
          <p:cNvSpPr/>
          <p:nvPr/>
        </p:nvSpPr>
        <p:spPr>
          <a:xfrm>
            <a:off x="3127248" y="3794760"/>
            <a:ext cx="2395728" cy="1600200"/>
          </a:xfrm>
          <a:prstGeom prst="roundRect">
            <a:avLst>
              <a:gd name="adj" fmla="val 8000"/>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127248" y="4069080"/>
            <a:ext cx="54864"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383280" y="4023360"/>
            <a:ext cx="1984248" cy="457200"/>
          </a:xfrm>
          <a:prstGeom prst="rect">
            <a:avLst/>
          </a:prstGeom>
          <a:noFill/>
        </p:spPr>
        <p:txBody>
          <a:bodyPr wrap="square" lIns="0" rIns="0" tIns="0" bIns="0" anchor="t">
            <a:noAutofit/>
          </a:bodyPr>
          <a:lstStyle/>
          <a:p>
            <a:pPr algn="l">
              <a:lnSpc>
                <a:spcPct val="108000"/>
              </a:lnSpc>
              <a:spcAft>
                <a:spcPts val="0"/>
              </a:spcAft>
            </a:pPr>
            <a:r>
              <a:rPr sz="1300" b="1" i="0">
                <a:solidFill>
                  <a:srgbClr val="FFFFFF"/>
                </a:solidFill>
                <a:latin typeface="Calibri"/>
              </a:rPr>
              <a:t>Resilient link</a:t>
            </a:r>
          </a:p>
        </p:txBody>
      </p:sp>
      <p:sp>
        <p:nvSpPr>
          <p:cNvPr id="23" name="TextBox 22"/>
          <p:cNvSpPr txBox="1"/>
          <p:nvPr/>
        </p:nvSpPr>
        <p:spPr>
          <a:xfrm>
            <a:off x="3383280" y="4453128"/>
            <a:ext cx="1984248" cy="914400"/>
          </a:xfrm>
          <a:prstGeom prst="rect">
            <a:avLst/>
          </a:prstGeom>
          <a:noFill/>
        </p:spPr>
        <p:txBody>
          <a:bodyPr wrap="square" lIns="0" rIns="0" tIns="0" bIns="0" anchor="t">
            <a:noAutofit/>
          </a:bodyPr>
          <a:lstStyle/>
          <a:p>
            <a:pPr algn="l">
              <a:lnSpc>
                <a:spcPct val="120000"/>
              </a:lnSpc>
              <a:spcAft>
                <a:spcPts val="0"/>
              </a:spcAft>
            </a:pPr>
            <a:r>
              <a:rPr sz="1000" b="0" i="0">
                <a:solidFill>
                  <a:srgbClr val="A9A9C7"/>
                </a:solidFill>
                <a:latin typeface="Calibri"/>
              </a:rPr>
              <a:t>TLS MQTT, retained presence, offline outbox with 10-minute retry for emergencies.</a:t>
            </a:r>
          </a:p>
        </p:txBody>
      </p:sp>
      <p:sp>
        <p:nvSpPr>
          <p:cNvPr id="24" name="Rounded Rectangle 23"/>
          <p:cNvSpPr/>
          <p:nvPr/>
        </p:nvSpPr>
        <p:spPr>
          <a:xfrm>
            <a:off x="5705856" y="3794760"/>
            <a:ext cx="2395728" cy="1600200"/>
          </a:xfrm>
          <a:prstGeom prst="roundRect">
            <a:avLst>
              <a:gd name="adj" fmla="val 8000"/>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705856" y="4069080"/>
            <a:ext cx="54864" cy="1051560"/>
          </a:xfrm>
          <a:prstGeom prst="rect">
            <a:avLst/>
          </a:prstGeom>
          <a:solidFill>
            <a:srgbClr val="F5B3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961888" y="4023360"/>
            <a:ext cx="1984248" cy="457200"/>
          </a:xfrm>
          <a:prstGeom prst="rect">
            <a:avLst/>
          </a:prstGeom>
          <a:noFill/>
        </p:spPr>
        <p:txBody>
          <a:bodyPr wrap="square" lIns="0" rIns="0" tIns="0" bIns="0" anchor="t">
            <a:noAutofit/>
          </a:bodyPr>
          <a:lstStyle/>
          <a:p>
            <a:pPr algn="l">
              <a:lnSpc>
                <a:spcPct val="108000"/>
              </a:lnSpc>
              <a:spcAft>
                <a:spcPts val="0"/>
              </a:spcAft>
            </a:pPr>
            <a:r>
              <a:rPr sz="1300" b="1" i="0">
                <a:solidFill>
                  <a:srgbClr val="FFFFFF"/>
                </a:solidFill>
                <a:latin typeface="Calibri"/>
              </a:rPr>
              <a:t>Honest data</a:t>
            </a:r>
          </a:p>
        </p:txBody>
      </p:sp>
      <p:sp>
        <p:nvSpPr>
          <p:cNvPr id="27" name="TextBox 26"/>
          <p:cNvSpPr txBox="1"/>
          <p:nvPr/>
        </p:nvSpPr>
        <p:spPr>
          <a:xfrm>
            <a:off x="5961888" y="4453128"/>
            <a:ext cx="1984248" cy="914400"/>
          </a:xfrm>
          <a:prstGeom prst="rect">
            <a:avLst/>
          </a:prstGeom>
          <a:noFill/>
        </p:spPr>
        <p:txBody>
          <a:bodyPr wrap="square" lIns="0" rIns="0" tIns="0" bIns="0" anchor="t">
            <a:noAutofit/>
          </a:bodyPr>
          <a:lstStyle/>
          <a:p>
            <a:pPr algn="l">
              <a:lnSpc>
                <a:spcPct val="120000"/>
              </a:lnSpc>
              <a:spcAft>
                <a:spcPts val="0"/>
              </a:spcAft>
            </a:pPr>
            <a:r>
              <a:rPr sz="1000" b="0" i="0">
                <a:solidFill>
                  <a:srgbClr val="A9A9C7"/>
                </a:solidFill>
                <a:latin typeface="Calibri"/>
              </a:rPr>
              <a:t>Validity flags for every vital; missing sensors are reported, never faked.</a:t>
            </a:r>
          </a:p>
        </p:txBody>
      </p:sp>
      <p:sp>
        <p:nvSpPr>
          <p:cNvPr id="28" name="Oval 27"/>
          <p:cNvSpPr/>
          <p:nvPr/>
        </p:nvSpPr>
        <p:spPr>
          <a:xfrm>
            <a:off x="8961119" y="1760220"/>
            <a:ext cx="2377440" cy="2377440"/>
          </a:xfrm>
          <a:prstGeom prst="ellipse">
            <a:avLst/>
          </a:prstGeom>
          <a:solidFill>
            <a:srgbClr val="22D3EE">
              <a:alpha val="34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9365284" y="2164384"/>
            <a:ext cx="1569110" cy="1569110"/>
          </a:xfrm>
          <a:prstGeom prst="ellipse">
            <a:avLst/>
          </a:prstGeom>
          <a:solidFill>
            <a:srgbClr val="22D3EE">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9674352" y="2473452"/>
            <a:ext cx="950976" cy="950976"/>
          </a:xfrm>
          <a:prstGeom prst="ellipse">
            <a:avLst/>
          </a:prstGeom>
          <a:solidFill>
            <a:srgbClr val="22D3EE">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8641080" y="2011680"/>
            <a:ext cx="3017520" cy="1874519"/>
          </a:xfrm>
          <a:prstGeom prst="roundRect">
            <a:avLst>
              <a:gd name="adj" fmla="val 5853"/>
            </a:avLst>
          </a:prstGeom>
          <a:solidFill>
            <a:srgbClr val="05050F"/>
          </a:solidFill>
          <a:ln w="19050">
            <a:solidFill>
              <a:srgbClr val="2625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869680" y="2194560"/>
            <a:ext cx="2286000" cy="228600"/>
          </a:xfrm>
          <a:prstGeom prst="rect">
            <a:avLst/>
          </a:prstGeom>
          <a:noFill/>
        </p:spPr>
        <p:txBody>
          <a:bodyPr wrap="square" lIns="0" rIns="0" tIns="0" bIns="0" anchor="ctr">
            <a:noAutofit/>
          </a:bodyPr>
          <a:lstStyle/>
          <a:p>
            <a:pPr algn="l">
              <a:lnSpc>
                <a:spcPct val="108000"/>
              </a:lnSpc>
              <a:spcAft>
                <a:spcPts val="0"/>
              </a:spcAft>
            </a:pPr>
            <a:r>
              <a:rPr sz="900" b="1" i="0" spc="160">
                <a:solidFill>
                  <a:srgbClr val="F43F7A"/>
                </a:solidFill>
                <a:latin typeface="Calibri"/>
              </a:rPr>
              <a:t>FALL DETECTED</a:t>
            </a:r>
          </a:p>
        </p:txBody>
      </p:sp>
      <p:sp>
        <p:nvSpPr>
          <p:cNvPr id="33" name="TextBox 32"/>
          <p:cNvSpPr txBox="1"/>
          <p:nvPr/>
        </p:nvSpPr>
        <p:spPr>
          <a:xfrm>
            <a:off x="8869680" y="2468880"/>
            <a:ext cx="1828800" cy="457200"/>
          </a:xfrm>
          <a:prstGeom prst="rect">
            <a:avLst/>
          </a:prstGeom>
          <a:noFill/>
        </p:spPr>
        <p:txBody>
          <a:bodyPr wrap="square" lIns="0" rIns="0" tIns="0" bIns="0" anchor="t">
            <a:noAutofit/>
          </a:bodyPr>
          <a:lstStyle/>
          <a:p>
            <a:pPr algn="l">
              <a:lnSpc>
                <a:spcPct val="108000"/>
              </a:lnSpc>
              <a:spcAft>
                <a:spcPts val="0"/>
              </a:spcAft>
            </a:pPr>
            <a:r>
              <a:rPr sz="2000" b="1" i="0">
                <a:solidFill>
                  <a:srgbClr val="FFFFFF"/>
                </a:solidFill>
                <a:latin typeface="Calibri"/>
              </a:rPr>
              <a:t>Are you OK?</a:t>
            </a:r>
          </a:p>
        </p:txBody>
      </p:sp>
      <p:sp>
        <p:nvSpPr>
          <p:cNvPr id="34" name="TextBox 33"/>
          <p:cNvSpPr txBox="1"/>
          <p:nvPr/>
        </p:nvSpPr>
        <p:spPr>
          <a:xfrm>
            <a:off x="10698480" y="2395728"/>
            <a:ext cx="777240" cy="640080"/>
          </a:xfrm>
          <a:prstGeom prst="rect">
            <a:avLst/>
          </a:prstGeom>
          <a:noFill/>
        </p:spPr>
        <p:txBody>
          <a:bodyPr wrap="square" lIns="0" rIns="0" tIns="0" bIns="0" anchor="t">
            <a:noAutofit/>
          </a:bodyPr>
          <a:lstStyle/>
          <a:p>
            <a:pPr algn="r">
              <a:lnSpc>
                <a:spcPct val="108000"/>
              </a:lnSpc>
              <a:spcAft>
                <a:spcPts val="0"/>
              </a:spcAft>
            </a:pPr>
            <a:r>
              <a:rPr sz="3000" b="1" i="0">
                <a:solidFill>
                  <a:srgbClr val="22D3EE"/>
                </a:solidFill>
                <a:latin typeface="Calibri"/>
              </a:rPr>
              <a:t>27</a:t>
            </a:r>
          </a:p>
        </p:txBody>
      </p:sp>
      <p:sp>
        <p:nvSpPr>
          <p:cNvPr id="35" name="Rounded Rectangle 34"/>
          <p:cNvSpPr/>
          <p:nvPr/>
        </p:nvSpPr>
        <p:spPr>
          <a:xfrm>
            <a:off x="8869680" y="3154680"/>
            <a:ext cx="2560320" cy="73152"/>
          </a:xfrm>
          <a:prstGeom prst="roundRect">
            <a:avLst>
              <a:gd name="adj" fmla="val 50000"/>
            </a:avLst>
          </a:prstGeom>
          <a:solidFill>
            <a:srgbClr val="262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8869680" y="3154680"/>
            <a:ext cx="2304288" cy="7315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869680" y="3337560"/>
            <a:ext cx="2560320" cy="365760"/>
          </a:xfrm>
          <a:prstGeom prst="rect">
            <a:avLst/>
          </a:prstGeom>
          <a:noFill/>
        </p:spPr>
        <p:txBody>
          <a:bodyPr wrap="square" lIns="0" rIns="0" tIns="0" bIns="0" anchor="t">
            <a:noAutofit/>
          </a:bodyPr>
          <a:lstStyle/>
          <a:p>
            <a:pPr algn="l">
              <a:lnSpc>
                <a:spcPct val="108000"/>
              </a:lnSpc>
              <a:spcAft>
                <a:spcPts val="0"/>
              </a:spcAft>
            </a:pPr>
            <a:r>
              <a:rPr sz="800" b="0" i="0">
                <a:solidFill>
                  <a:srgbClr val="A9A9C7"/>
                </a:solidFill>
                <a:latin typeface="Calibri"/>
              </a:rPr>
              <a:t>press button = I'm OK   ·   no answer in 30 s → help is called</a:t>
            </a:r>
          </a:p>
        </p:txBody>
      </p:sp>
      <p:sp>
        <p:nvSpPr>
          <p:cNvPr id="38" name="TextBox 37"/>
          <p:cNvSpPr txBox="1"/>
          <p:nvPr/>
        </p:nvSpPr>
        <p:spPr>
          <a:xfrm>
            <a:off x="8641080" y="4023360"/>
            <a:ext cx="3017520" cy="274320"/>
          </a:xfrm>
          <a:prstGeom prst="rect">
            <a:avLst/>
          </a:prstGeom>
          <a:noFill/>
        </p:spPr>
        <p:txBody>
          <a:bodyPr wrap="square" lIns="0" rIns="0" tIns="0" bIns="0" anchor="t">
            <a:noAutofit/>
          </a:bodyPr>
          <a:lstStyle/>
          <a:p>
            <a:pPr algn="ctr">
              <a:lnSpc>
                <a:spcPct val="108000"/>
              </a:lnSpc>
              <a:spcAft>
                <a:spcPts val="0"/>
              </a:spcAft>
            </a:pPr>
            <a:r>
              <a:rPr sz="900" b="0" i="0">
                <a:solidFill>
                  <a:srgbClr val="A9A9C7"/>
                </a:solidFill>
                <a:latin typeface="Calibri"/>
              </a:rPr>
              <a:t>On-device prompt (SSD1306 OLED)</a:t>
            </a:r>
          </a:p>
        </p:txBody>
      </p:sp>
      <p:sp>
        <p:nvSpPr>
          <p:cNvPr id="39" name="Rounded Rectangle 38"/>
          <p:cNvSpPr/>
          <p:nvPr/>
        </p:nvSpPr>
        <p:spPr>
          <a:xfrm>
            <a:off x="8641080" y="4526280"/>
            <a:ext cx="3017520" cy="1051560"/>
          </a:xfrm>
          <a:prstGeom prst="roundRect">
            <a:avLst>
              <a:gd name="adj" fmla="val 12173"/>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869680" y="4617720"/>
            <a:ext cx="2651760" cy="365760"/>
          </a:xfrm>
          <a:prstGeom prst="rect">
            <a:avLst/>
          </a:prstGeom>
          <a:noFill/>
        </p:spPr>
        <p:txBody>
          <a:bodyPr wrap="square" lIns="0" rIns="0" tIns="0" bIns="0" anchor="t">
            <a:noAutofit/>
          </a:bodyPr>
          <a:lstStyle/>
          <a:p>
            <a:pPr algn="l">
              <a:lnSpc>
                <a:spcPct val="108000"/>
              </a:lnSpc>
              <a:spcAft>
                <a:spcPts val="0"/>
              </a:spcAft>
            </a:pPr>
            <a:r>
              <a:rPr sz="1300" b="1" i="0">
                <a:solidFill>
                  <a:srgbClr val="FFFFFF"/>
                </a:solidFill>
                <a:latin typeface="Calibri"/>
              </a:rPr>
              <a:t>87 automated logic checks</a:t>
            </a:r>
          </a:p>
        </p:txBody>
      </p:sp>
      <p:sp>
        <p:nvSpPr>
          <p:cNvPr id="41" name="TextBox 40"/>
          <p:cNvSpPr txBox="1"/>
          <p:nvPr/>
        </p:nvSpPr>
        <p:spPr>
          <a:xfrm>
            <a:off x="8869680" y="4983480"/>
            <a:ext cx="2651760" cy="548640"/>
          </a:xfrm>
          <a:prstGeom prst="rect">
            <a:avLst/>
          </a:prstGeom>
          <a:noFill/>
        </p:spPr>
        <p:txBody>
          <a:bodyPr wrap="square" lIns="0" rIns="0" tIns="0" bIns="0" anchor="t">
            <a:noAutofit/>
          </a:bodyPr>
          <a:lstStyle/>
          <a:p>
            <a:pPr algn="l">
              <a:lnSpc>
                <a:spcPct val="120000"/>
              </a:lnSpc>
              <a:spcAft>
                <a:spcPts val="0"/>
              </a:spcAft>
            </a:pPr>
            <a:r>
              <a:rPr sz="900" b="0" i="0">
                <a:solidFill>
                  <a:srgbClr val="A9A9C7"/>
                </a:solidFill>
                <a:latin typeface="Calibri"/>
              </a:rPr>
              <a:t>HR ±0.1 bpm · exact RMSSD · fall vs. walking · step counts · JSON contract · prompt → ack / timeout → emergency</a:t>
            </a:r>
          </a:p>
        </p:txBody>
      </p:sp>
      <p:sp>
        <p:nvSpPr>
          <p:cNvPr id="42" name="TextBox 41"/>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A9A9C7"/>
                </a:solidFill>
                <a:latin typeface="Calibri"/>
              </a:rPr>
              <a:t>FIRMWARE</a:t>
            </a:r>
            <a:r>
              <a:rPr sz="800" b="0" i="0" spc="140">
                <a:solidFill>
                  <a:srgbClr val="A9A9C7"/>
                </a:solidFill>
                <a:latin typeface="Calibri"/>
              </a:rPr>
              <a:t>   |   ESP32 EDGE INTELLIGENCE</a:t>
            </a:r>
          </a:p>
        </p:txBody>
      </p:sp>
      <p:sp>
        <p:nvSpPr>
          <p:cNvPr id="43" name="TextBox 42"/>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22D3EE"/>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TextBox 1"/>
          <p:cNvSpPr txBox="1"/>
          <p:nvPr/>
        </p:nvSpPr>
        <p:spPr>
          <a:xfrm>
            <a:off x="548640" y="502920"/>
            <a:ext cx="8229600" cy="1115568"/>
          </a:xfrm>
          <a:prstGeom prst="rect">
            <a:avLst/>
          </a:prstGeom>
          <a:noFill/>
        </p:spPr>
        <p:txBody>
          <a:bodyPr wrap="square" lIns="0" rIns="0" tIns="0" bIns="0" anchor="t">
            <a:noAutofit/>
          </a:bodyPr>
          <a:lstStyle/>
          <a:p>
            <a:pPr algn="l">
              <a:lnSpc>
                <a:spcPct val="100000"/>
              </a:lnSpc>
              <a:spcAft>
                <a:spcPts val="0"/>
              </a:spcAft>
            </a:pPr>
            <a:r>
              <a:rPr sz="3200" b="1" i="0">
                <a:solidFill>
                  <a:srgbClr val="17172F"/>
                </a:solidFill>
                <a:latin typeface="Calibri"/>
              </a:rPr>
              <a:t>The intelligence engine combines
anomalies, trends and context</a:t>
            </a:r>
          </a:p>
        </p:txBody>
      </p:sp>
      <p:sp>
        <p:nvSpPr>
          <p:cNvPr id="3" name="Rectangle 2"/>
          <p:cNvSpPr/>
          <p:nvPr/>
        </p:nvSpPr>
        <p:spPr>
          <a:xfrm>
            <a:off x="548640" y="2103120"/>
            <a:ext cx="6995160" cy="384048"/>
          </a:xfrm>
          <a:prstGeom prst="rect">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58368" y="2103120"/>
            <a:ext cx="1234440" cy="384048"/>
          </a:xfrm>
          <a:prstGeom prst="rect">
            <a:avLst/>
          </a:prstGeom>
          <a:noFill/>
        </p:spPr>
        <p:txBody>
          <a:bodyPr wrap="square" lIns="0" rIns="0" tIns="0" bIns="0" anchor="ctr">
            <a:noAutofit/>
          </a:bodyPr>
          <a:lstStyle/>
          <a:p>
            <a:pPr algn="l">
              <a:lnSpc>
                <a:spcPct val="108000"/>
              </a:lnSpc>
              <a:spcAft>
                <a:spcPts val="0"/>
              </a:spcAft>
            </a:pPr>
            <a:r>
              <a:rPr sz="850" b="1" i="0" spc="120">
                <a:solidFill>
                  <a:srgbClr val="FFFFFF"/>
                </a:solidFill>
                <a:latin typeface="Calibri"/>
              </a:rPr>
              <a:t>CONDITION</a:t>
            </a:r>
          </a:p>
        </p:txBody>
      </p:sp>
      <p:sp>
        <p:nvSpPr>
          <p:cNvPr id="5" name="TextBox 4"/>
          <p:cNvSpPr txBox="1"/>
          <p:nvPr/>
        </p:nvSpPr>
        <p:spPr>
          <a:xfrm>
            <a:off x="2075688" y="2103120"/>
            <a:ext cx="2880360" cy="384048"/>
          </a:xfrm>
          <a:prstGeom prst="rect">
            <a:avLst/>
          </a:prstGeom>
          <a:noFill/>
        </p:spPr>
        <p:txBody>
          <a:bodyPr wrap="square" lIns="0" rIns="0" tIns="0" bIns="0" anchor="ctr">
            <a:noAutofit/>
          </a:bodyPr>
          <a:lstStyle/>
          <a:p>
            <a:pPr algn="l">
              <a:lnSpc>
                <a:spcPct val="108000"/>
              </a:lnSpc>
              <a:spcAft>
                <a:spcPts val="0"/>
              </a:spcAft>
            </a:pPr>
            <a:r>
              <a:rPr sz="850" b="1" i="0" spc="120">
                <a:solidFill>
                  <a:srgbClr val="FFFFFF"/>
                </a:solidFill>
                <a:latin typeface="Calibri"/>
              </a:rPr>
              <a:t>SIGNAL PATTERN</a:t>
            </a:r>
          </a:p>
        </p:txBody>
      </p:sp>
      <p:sp>
        <p:nvSpPr>
          <p:cNvPr id="6" name="TextBox 5"/>
          <p:cNvSpPr txBox="1"/>
          <p:nvPr/>
        </p:nvSpPr>
        <p:spPr>
          <a:xfrm>
            <a:off x="5138928" y="2103120"/>
            <a:ext cx="2331720" cy="384048"/>
          </a:xfrm>
          <a:prstGeom prst="rect">
            <a:avLst/>
          </a:prstGeom>
          <a:noFill/>
        </p:spPr>
        <p:txBody>
          <a:bodyPr wrap="square" lIns="0" rIns="0" tIns="0" bIns="0" anchor="ctr">
            <a:noAutofit/>
          </a:bodyPr>
          <a:lstStyle/>
          <a:p>
            <a:pPr algn="l">
              <a:lnSpc>
                <a:spcPct val="108000"/>
              </a:lnSpc>
              <a:spcAft>
                <a:spcPts val="0"/>
              </a:spcAft>
            </a:pPr>
            <a:r>
              <a:rPr sz="850" b="1" i="0" spc="120">
                <a:solidFill>
                  <a:srgbClr val="FFFFFF"/>
                </a:solidFill>
                <a:latin typeface="Calibri"/>
              </a:rPr>
              <a:t>DETECTION APPROACH</a:t>
            </a:r>
          </a:p>
        </p:txBody>
      </p:sp>
      <p:sp>
        <p:nvSpPr>
          <p:cNvPr id="7" name="Rectangle 6"/>
          <p:cNvSpPr/>
          <p:nvPr/>
        </p:nvSpPr>
        <p:spPr>
          <a:xfrm>
            <a:off x="548640" y="2487168"/>
            <a:ext cx="699516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 name="Connector 7"/>
          <p:cNvCxnSpPr/>
          <p:nvPr/>
        </p:nvCxnSpPr>
        <p:spPr>
          <a:xfrm>
            <a:off x="548640" y="2916935"/>
            <a:ext cx="699516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2487168"/>
            <a:ext cx="1234440" cy="429768"/>
          </a:xfrm>
          <a:prstGeom prst="rect">
            <a:avLst/>
          </a:prstGeom>
          <a:noFill/>
        </p:spPr>
        <p:txBody>
          <a:bodyPr wrap="square" lIns="0" rIns="0" tIns="0" bIns="0" anchor="ctr">
            <a:noAutofit/>
          </a:bodyPr>
          <a:lstStyle/>
          <a:p>
            <a:pPr algn="l">
              <a:lnSpc>
                <a:spcPct val="100000"/>
              </a:lnSpc>
              <a:spcAft>
                <a:spcPts val="0"/>
              </a:spcAft>
            </a:pPr>
            <a:r>
              <a:rPr sz="1050" b="1" i="0">
                <a:solidFill>
                  <a:srgbClr val="6C3CE9"/>
                </a:solidFill>
                <a:latin typeface="Calibri"/>
              </a:rPr>
              <a:t>Stress</a:t>
            </a:r>
          </a:p>
        </p:txBody>
      </p:sp>
      <p:sp>
        <p:nvSpPr>
          <p:cNvPr id="10" name="TextBox 9"/>
          <p:cNvSpPr txBox="1"/>
          <p:nvPr/>
        </p:nvSpPr>
        <p:spPr>
          <a:xfrm>
            <a:off x="2075688" y="2487168"/>
            <a:ext cx="2880360" cy="429768"/>
          </a:xfrm>
          <a:prstGeom prst="rect">
            <a:avLst/>
          </a:prstGeom>
          <a:noFill/>
        </p:spPr>
        <p:txBody>
          <a:bodyPr wrap="square" lIns="0" rIns="0" tIns="0" bIns="0" anchor="ctr">
            <a:noAutofit/>
          </a:bodyPr>
          <a:lstStyle/>
          <a:p>
            <a:pPr algn="l">
              <a:lnSpc>
                <a:spcPct val="100000"/>
              </a:lnSpc>
              <a:spcAft>
                <a:spcPts val="0"/>
              </a:spcAft>
            </a:pPr>
            <a:r>
              <a:rPr sz="1050" b="0" i="0">
                <a:solidFill>
                  <a:srgbClr val="17172F"/>
                </a:solidFill>
                <a:latin typeface="Calibri"/>
              </a:rPr>
              <a:t>HRV ↓ · GSR ↑ · temperature ↑</a:t>
            </a:r>
          </a:p>
        </p:txBody>
      </p:sp>
      <p:sp>
        <p:nvSpPr>
          <p:cNvPr id="11" name="TextBox 10"/>
          <p:cNvSpPr txBox="1"/>
          <p:nvPr/>
        </p:nvSpPr>
        <p:spPr>
          <a:xfrm>
            <a:off x="5138928" y="2487168"/>
            <a:ext cx="2331720" cy="429768"/>
          </a:xfrm>
          <a:prstGeom prst="rect">
            <a:avLst/>
          </a:prstGeom>
          <a:noFill/>
        </p:spPr>
        <p:txBody>
          <a:bodyPr wrap="square" lIns="0" rIns="0" tIns="0" bIns="0" anchor="ctr">
            <a:noAutofit/>
          </a:bodyPr>
          <a:lstStyle/>
          <a:p>
            <a:pPr algn="l">
              <a:lnSpc>
                <a:spcPct val="100000"/>
              </a:lnSpc>
              <a:spcAft>
                <a:spcPts val="0"/>
              </a:spcAft>
            </a:pPr>
            <a:r>
              <a:rPr sz="1050" b="0" i="0">
                <a:solidFill>
                  <a:srgbClr val="17172F"/>
                </a:solidFill>
                <a:latin typeface="Calibri"/>
              </a:rPr>
              <a:t>Combined anomaly score</a:t>
            </a:r>
          </a:p>
        </p:txBody>
      </p:sp>
      <p:sp>
        <p:nvSpPr>
          <p:cNvPr id="12" name="Rectangle 11"/>
          <p:cNvSpPr/>
          <p:nvPr/>
        </p:nvSpPr>
        <p:spPr>
          <a:xfrm>
            <a:off x="548640" y="2916935"/>
            <a:ext cx="6995160" cy="429768"/>
          </a:xfrm>
          <a:prstGeom prst="rect">
            <a:avLst/>
          </a:prstGeom>
          <a:solidFill>
            <a:srgbClr val="F5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3" name="Connector 12"/>
          <p:cNvCxnSpPr/>
          <p:nvPr/>
        </p:nvCxnSpPr>
        <p:spPr>
          <a:xfrm>
            <a:off x="548640" y="3346703"/>
            <a:ext cx="699516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2916935"/>
            <a:ext cx="1234440" cy="429768"/>
          </a:xfrm>
          <a:prstGeom prst="rect">
            <a:avLst/>
          </a:prstGeom>
          <a:noFill/>
        </p:spPr>
        <p:txBody>
          <a:bodyPr wrap="square" lIns="0" rIns="0" tIns="0" bIns="0" anchor="ctr">
            <a:noAutofit/>
          </a:bodyPr>
          <a:lstStyle/>
          <a:p>
            <a:pPr algn="l">
              <a:lnSpc>
                <a:spcPct val="100000"/>
              </a:lnSpc>
              <a:spcAft>
                <a:spcPts val="0"/>
              </a:spcAft>
            </a:pPr>
            <a:r>
              <a:rPr sz="1050" b="1" i="0">
                <a:solidFill>
                  <a:srgbClr val="6C3CE9"/>
                </a:solidFill>
                <a:latin typeface="Calibri"/>
              </a:rPr>
              <a:t>Panic attack</a:t>
            </a:r>
          </a:p>
        </p:txBody>
      </p:sp>
      <p:sp>
        <p:nvSpPr>
          <p:cNvPr id="15" name="TextBox 14"/>
          <p:cNvSpPr txBox="1"/>
          <p:nvPr/>
        </p:nvSpPr>
        <p:spPr>
          <a:xfrm>
            <a:off x="2075688" y="2916935"/>
            <a:ext cx="2880360" cy="429768"/>
          </a:xfrm>
          <a:prstGeom prst="rect">
            <a:avLst/>
          </a:prstGeom>
          <a:noFill/>
        </p:spPr>
        <p:txBody>
          <a:bodyPr wrap="square" lIns="0" rIns="0" tIns="0" bIns="0" anchor="ctr">
            <a:noAutofit/>
          </a:bodyPr>
          <a:lstStyle/>
          <a:p>
            <a:pPr algn="l">
              <a:lnSpc>
                <a:spcPct val="100000"/>
              </a:lnSpc>
              <a:spcAft>
                <a:spcPts val="0"/>
              </a:spcAft>
            </a:pPr>
            <a:r>
              <a:rPr sz="1050" b="0" i="0">
                <a:solidFill>
                  <a:srgbClr val="17172F"/>
                </a:solidFill>
                <a:latin typeface="Calibri"/>
              </a:rPr>
              <a:t>Heart-rate spike · GSR spike · no motion</a:t>
            </a:r>
          </a:p>
        </p:txBody>
      </p:sp>
      <p:sp>
        <p:nvSpPr>
          <p:cNvPr id="16" name="TextBox 15"/>
          <p:cNvSpPr txBox="1"/>
          <p:nvPr/>
        </p:nvSpPr>
        <p:spPr>
          <a:xfrm>
            <a:off x="5138928" y="2916935"/>
            <a:ext cx="2331720" cy="429768"/>
          </a:xfrm>
          <a:prstGeom prst="rect">
            <a:avLst/>
          </a:prstGeom>
          <a:noFill/>
        </p:spPr>
        <p:txBody>
          <a:bodyPr wrap="square" lIns="0" rIns="0" tIns="0" bIns="0" anchor="ctr">
            <a:noAutofit/>
          </a:bodyPr>
          <a:lstStyle/>
          <a:p>
            <a:pPr algn="l">
              <a:lnSpc>
                <a:spcPct val="100000"/>
              </a:lnSpc>
              <a:spcAft>
                <a:spcPts val="0"/>
              </a:spcAft>
            </a:pPr>
            <a:r>
              <a:rPr sz="1050" b="0" i="0">
                <a:solidFill>
                  <a:srgbClr val="17172F"/>
                </a:solidFill>
                <a:latin typeface="Calibri"/>
              </a:rPr>
              <a:t>Sudden deviation + context</a:t>
            </a:r>
          </a:p>
        </p:txBody>
      </p:sp>
      <p:sp>
        <p:nvSpPr>
          <p:cNvPr id="17" name="Rectangle 16"/>
          <p:cNvSpPr/>
          <p:nvPr/>
        </p:nvSpPr>
        <p:spPr>
          <a:xfrm>
            <a:off x="548640" y="3346703"/>
            <a:ext cx="699516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548640" y="3776471"/>
            <a:ext cx="699516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3346703"/>
            <a:ext cx="1234440" cy="429768"/>
          </a:xfrm>
          <a:prstGeom prst="rect">
            <a:avLst/>
          </a:prstGeom>
          <a:noFill/>
        </p:spPr>
        <p:txBody>
          <a:bodyPr wrap="square" lIns="0" rIns="0" tIns="0" bIns="0" anchor="ctr">
            <a:noAutofit/>
          </a:bodyPr>
          <a:lstStyle/>
          <a:p>
            <a:pPr algn="l">
              <a:lnSpc>
                <a:spcPct val="100000"/>
              </a:lnSpc>
              <a:spcAft>
                <a:spcPts val="0"/>
              </a:spcAft>
            </a:pPr>
            <a:r>
              <a:rPr sz="1050" b="1" i="0">
                <a:solidFill>
                  <a:srgbClr val="6C3CE9"/>
                </a:solidFill>
                <a:latin typeface="Calibri"/>
              </a:rPr>
              <a:t>Fever</a:t>
            </a:r>
          </a:p>
        </p:txBody>
      </p:sp>
      <p:sp>
        <p:nvSpPr>
          <p:cNvPr id="20" name="TextBox 19"/>
          <p:cNvSpPr txBox="1"/>
          <p:nvPr/>
        </p:nvSpPr>
        <p:spPr>
          <a:xfrm>
            <a:off x="2075688" y="3346703"/>
            <a:ext cx="2880360" cy="429768"/>
          </a:xfrm>
          <a:prstGeom prst="rect">
            <a:avLst/>
          </a:prstGeom>
          <a:noFill/>
        </p:spPr>
        <p:txBody>
          <a:bodyPr wrap="square" lIns="0" rIns="0" tIns="0" bIns="0" anchor="ctr">
            <a:noAutofit/>
          </a:bodyPr>
          <a:lstStyle/>
          <a:p>
            <a:pPr algn="l">
              <a:lnSpc>
                <a:spcPct val="100000"/>
              </a:lnSpc>
              <a:spcAft>
                <a:spcPts val="0"/>
              </a:spcAft>
            </a:pPr>
            <a:r>
              <a:rPr sz="1050" b="0" i="0">
                <a:solidFill>
                  <a:srgbClr val="17172F"/>
                </a:solidFill>
                <a:latin typeface="Calibri"/>
              </a:rPr>
              <a:t>Temperature rising over time</a:t>
            </a:r>
          </a:p>
        </p:txBody>
      </p:sp>
      <p:sp>
        <p:nvSpPr>
          <p:cNvPr id="21" name="TextBox 20"/>
          <p:cNvSpPr txBox="1"/>
          <p:nvPr/>
        </p:nvSpPr>
        <p:spPr>
          <a:xfrm>
            <a:off x="5138928" y="3346703"/>
            <a:ext cx="2331720" cy="429768"/>
          </a:xfrm>
          <a:prstGeom prst="rect">
            <a:avLst/>
          </a:prstGeom>
          <a:noFill/>
        </p:spPr>
        <p:txBody>
          <a:bodyPr wrap="square" lIns="0" rIns="0" tIns="0" bIns="0" anchor="ctr">
            <a:noAutofit/>
          </a:bodyPr>
          <a:lstStyle/>
          <a:p>
            <a:pPr algn="l">
              <a:lnSpc>
                <a:spcPct val="100000"/>
              </a:lnSpc>
              <a:spcAft>
                <a:spcPts val="0"/>
              </a:spcAft>
            </a:pPr>
            <a:r>
              <a:rPr sz="1050" b="0" i="0">
                <a:solidFill>
                  <a:srgbClr val="17172F"/>
                </a:solidFill>
                <a:latin typeface="Calibri"/>
              </a:rPr>
              <a:t>Continuous trend</a:t>
            </a:r>
          </a:p>
        </p:txBody>
      </p:sp>
      <p:sp>
        <p:nvSpPr>
          <p:cNvPr id="22" name="Rectangle 21"/>
          <p:cNvSpPr/>
          <p:nvPr/>
        </p:nvSpPr>
        <p:spPr>
          <a:xfrm>
            <a:off x="548640" y="3776471"/>
            <a:ext cx="6995160" cy="429768"/>
          </a:xfrm>
          <a:prstGeom prst="rect">
            <a:avLst/>
          </a:prstGeom>
          <a:solidFill>
            <a:srgbClr val="F5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3" name="Connector 22"/>
          <p:cNvCxnSpPr/>
          <p:nvPr/>
        </p:nvCxnSpPr>
        <p:spPr>
          <a:xfrm>
            <a:off x="548640" y="4206239"/>
            <a:ext cx="699516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3776471"/>
            <a:ext cx="1234440" cy="429768"/>
          </a:xfrm>
          <a:prstGeom prst="rect">
            <a:avLst/>
          </a:prstGeom>
          <a:noFill/>
        </p:spPr>
        <p:txBody>
          <a:bodyPr wrap="square" lIns="0" rIns="0" tIns="0" bIns="0" anchor="ctr">
            <a:noAutofit/>
          </a:bodyPr>
          <a:lstStyle/>
          <a:p>
            <a:pPr algn="l">
              <a:lnSpc>
                <a:spcPct val="100000"/>
              </a:lnSpc>
              <a:spcAft>
                <a:spcPts val="0"/>
              </a:spcAft>
            </a:pPr>
            <a:r>
              <a:rPr sz="1050" b="1" i="0">
                <a:solidFill>
                  <a:srgbClr val="6C3CE9"/>
                </a:solidFill>
                <a:latin typeface="Calibri"/>
              </a:rPr>
              <a:t>Low oxygen</a:t>
            </a:r>
          </a:p>
        </p:txBody>
      </p:sp>
      <p:sp>
        <p:nvSpPr>
          <p:cNvPr id="25" name="TextBox 24"/>
          <p:cNvSpPr txBox="1"/>
          <p:nvPr/>
        </p:nvSpPr>
        <p:spPr>
          <a:xfrm>
            <a:off x="2075688" y="3776471"/>
            <a:ext cx="2880360" cy="429768"/>
          </a:xfrm>
          <a:prstGeom prst="rect">
            <a:avLst/>
          </a:prstGeom>
          <a:noFill/>
        </p:spPr>
        <p:txBody>
          <a:bodyPr wrap="square" lIns="0" rIns="0" tIns="0" bIns="0" anchor="ctr">
            <a:noAutofit/>
          </a:bodyPr>
          <a:lstStyle/>
          <a:p>
            <a:pPr algn="l">
              <a:lnSpc>
                <a:spcPct val="100000"/>
              </a:lnSpc>
              <a:spcAft>
                <a:spcPts val="0"/>
              </a:spcAft>
            </a:pPr>
            <a:r>
              <a:rPr sz="1050" b="0" i="0">
                <a:solidFill>
                  <a:srgbClr val="17172F"/>
                </a:solidFill>
                <a:latin typeface="Calibri"/>
              </a:rPr>
              <a:t>SpO₂ below threshold</a:t>
            </a:r>
          </a:p>
        </p:txBody>
      </p:sp>
      <p:sp>
        <p:nvSpPr>
          <p:cNvPr id="26" name="TextBox 25"/>
          <p:cNvSpPr txBox="1"/>
          <p:nvPr/>
        </p:nvSpPr>
        <p:spPr>
          <a:xfrm>
            <a:off x="5138928" y="3776471"/>
            <a:ext cx="2331720" cy="429768"/>
          </a:xfrm>
          <a:prstGeom prst="rect">
            <a:avLst/>
          </a:prstGeom>
          <a:noFill/>
        </p:spPr>
        <p:txBody>
          <a:bodyPr wrap="square" lIns="0" rIns="0" tIns="0" bIns="0" anchor="ctr">
            <a:noAutofit/>
          </a:bodyPr>
          <a:lstStyle/>
          <a:p>
            <a:pPr algn="l">
              <a:lnSpc>
                <a:spcPct val="100000"/>
              </a:lnSpc>
              <a:spcAft>
                <a:spcPts val="0"/>
              </a:spcAft>
            </a:pPr>
            <a:r>
              <a:rPr sz="1050" b="0" i="0">
                <a:solidFill>
                  <a:srgbClr val="17172F"/>
                </a:solidFill>
                <a:latin typeface="Calibri"/>
              </a:rPr>
              <a:t>Threshold rule (fallback-safe)</a:t>
            </a:r>
          </a:p>
        </p:txBody>
      </p:sp>
      <p:sp>
        <p:nvSpPr>
          <p:cNvPr id="27" name="Rectangle 26"/>
          <p:cNvSpPr/>
          <p:nvPr/>
        </p:nvSpPr>
        <p:spPr>
          <a:xfrm>
            <a:off x="548640" y="4206239"/>
            <a:ext cx="6995160" cy="4297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8" name="Connector 27"/>
          <p:cNvCxnSpPr/>
          <p:nvPr/>
        </p:nvCxnSpPr>
        <p:spPr>
          <a:xfrm>
            <a:off x="548640" y="4636007"/>
            <a:ext cx="699516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58368" y="4206239"/>
            <a:ext cx="1234440" cy="429768"/>
          </a:xfrm>
          <a:prstGeom prst="rect">
            <a:avLst/>
          </a:prstGeom>
          <a:noFill/>
        </p:spPr>
        <p:txBody>
          <a:bodyPr wrap="square" lIns="0" rIns="0" tIns="0" bIns="0" anchor="ctr">
            <a:noAutofit/>
          </a:bodyPr>
          <a:lstStyle/>
          <a:p>
            <a:pPr algn="l">
              <a:lnSpc>
                <a:spcPct val="100000"/>
              </a:lnSpc>
              <a:spcAft>
                <a:spcPts val="0"/>
              </a:spcAft>
            </a:pPr>
            <a:r>
              <a:rPr sz="1050" b="1" i="0">
                <a:solidFill>
                  <a:srgbClr val="6C3CE9"/>
                </a:solidFill>
                <a:latin typeface="Calibri"/>
              </a:rPr>
              <a:t>Fatigue</a:t>
            </a:r>
          </a:p>
        </p:txBody>
      </p:sp>
      <p:sp>
        <p:nvSpPr>
          <p:cNvPr id="30" name="TextBox 29"/>
          <p:cNvSpPr txBox="1"/>
          <p:nvPr/>
        </p:nvSpPr>
        <p:spPr>
          <a:xfrm>
            <a:off x="2075688" y="4206239"/>
            <a:ext cx="2880360" cy="429768"/>
          </a:xfrm>
          <a:prstGeom prst="rect">
            <a:avLst/>
          </a:prstGeom>
          <a:noFill/>
        </p:spPr>
        <p:txBody>
          <a:bodyPr wrap="square" lIns="0" rIns="0" tIns="0" bIns="0" anchor="ctr">
            <a:noAutofit/>
          </a:bodyPr>
          <a:lstStyle/>
          <a:p>
            <a:pPr algn="l">
              <a:lnSpc>
                <a:spcPct val="100000"/>
              </a:lnSpc>
              <a:spcAft>
                <a:spcPts val="0"/>
              </a:spcAft>
            </a:pPr>
            <a:r>
              <a:rPr sz="1050" b="0" i="0">
                <a:solidFill>
                  <a:srgbClr val="17172F"/>
                </a:solidFill>
                <a:latin typeface="Calibri"/>
              </a:rPr>
              <a:t>Sustained low HRV</a:t>
            </a:r>
          </a:p>
        </p:txBody>
      </p:sp>
      <p:sp>
        <p:nvSpPr>
          <p:cNvPr id="31" name="TextBox 30"/>
          <p:cNvSpPr txBox="1"/>
          <p:nvPr/>
        </p:nvSpPr>
        <p:spPr>
          <a:xfrm>
            <a:off x="5138928" y="4206239"/>
            <a:ext cx="2331720" cy="429768"/>
          </a:xfrm>
          <a:prstGeom prst="rect">
            <a:avLst/>
          </a:prstGeom>
          <a:noFill/>
        </p:spPr>
        <p:txBody>
          <a:bodyPr wrap="square" lIns="0" rIns="0" tIns="0" bIns="0" anchor="ctr">
            <a:noAutofit/>
          </a:bodyPr>
          <a:lstStyle/>
          <a:p>
            <a:pPr algn="l">
              <a:lnSpc>
                <a:spcPct val="100000"/>
              </a:lnSpc>
              <a:spcAft>
                <a:spcPts val="0"/>
              </a:spcAft>
            </a:pPr>
            <a:r>
              <a:rPr sz="1050" b="0" i="0">
                <a:solidFill>
                  <a:srgbClr val="17172F"/>
                </a:solidFill>
                <a:latin typeface="Calibri"/>
              </a:rPr>
              <a:t>Long-term trend analysis</a:t>
            </a:r>
          </a:p>
        </p:txBody>
      </p:sp>
      <p:sp>
        <p:nvSpPr>
          <p:cNvPr id="32" name="Rectangle 31"/>
          <p:cNvSpPr/>
          <p:nvPr/>
        </p:nvSpPr>
        <p:spPr>
          <a:xfrm>
            <a:off x="548640" y="4636007"/>
            <a:ext cx="6995160" cy="429768"/>
          </a:xfrm>
          <a:prstGeom prst="rect">
            <a:avLst/>
          </a:prstGeom>
          <a:solidFill>
            <a:srgbClr val="F5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3" name="Connector 32"/>
          <p:cNvCxnSpPr/>
          <p:nvPr/>
        </p:nvCxnSpPr>
        <p:spPr>
          <a:xfrm>
            <a:off x="548640" y="5065775"/>
            <a:ext cx="699516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58368" y="4636007"/>
            <a:ext cx="1234440" cy="429768"/>
          </a:xfrm>
          <a:prstGeom prst="rect">
            <a:avLst/>
          </a:prstGeom>
          <a:noFill/>
        </p:spPr>
        <p:txBody>
          <a:bodyPr wrap="square" lIns="0" rIns="0" tIns="0" bIns="0" anchor="ctr">
            <a:noAutofit/>
          </a:bodyPr>
          <a:lstStyle/>
          <a:p>
            <a:pPr algn="l">
              <a:lnSpc>
                <a:spcPct val="100000"/>
              </a:lnSpc>
              <a:spcAft>
                <a:spcPts val="0"/>
              </a:spcAft>
            </a:pPr>
            <a:r>
              <a:rPr sz="1050" b="1" i="0">
                <a:solidFill>
                  <a:srgbClr val="6C3CE9"/>
                </a:solidFill>
                <a:latin typeface="Calibri"/>
              </a:rPr>
              <a:t>Fall</a:t>
            </a:r>
          </a:p>
        </p:txBody>
      </p:sp>
      <p:sp>
        <p:nvSpPr>
          <p:cNvPr id="35" name="TextBox 34"/>
          <p:cNvSpPr txBox="1"/>
          <p:nvPr/>
        </p:nvSpPr>
        <p:spPr>
          <a:xfrm>
            <a:off x="2075688" y="4636007"/>
            <a:ext cx="2880360" cy="429768"/>
          </a:xfrm>
          <a:prstGeom prst="rect">
            <a:avLst/>
          </a:prstGeom>
          <a:noFill/>
        </p:spPr>
        <p:txBody>
          <a:bodyPr wrap="square" lIns="0" rIns="0" tIns="0" bIns="0" anchor="ctr">
            <a:noAutofit/>
          </a:bodyPr>
          <a:lstStyle/>
          <a:p>
            <a:pPr algn="l">
              <a:lnSpc>
                <a:spcPct val="100000"/>
              </a:lnSpc>
              <a:spcAft>
                <a:spcPts val="0"/>
              </a:spcAft>
            </a:pPr>
            <a:r>
              <a:rPr sz="1050" b="0" i="0">
                <a:solidFill>
                  <a:srgbClr val="17172F"/>
                </a:solidFill>
                <a:latin typeface="Calibri"/>
              </a:rPr>
              <a:t>Impact + immobility (edge-verified)</a:t>
            </a:r>
          </a:p>
        </p:txBody>
      </p:sp>
      <p:sp>
        <p:nvSpPr>
          <p:cNvPr id="36" name="TextBox 35"/>
          <p:cNvSpPr txBox="1"/>
          <p:nvPr/>
        </p:nvSpPr>
        <p:spPr>
          <a:xfrm>
            <a:off x="5138928" y="4636007"/>
            <a:ext cx="2331720" cy="429768"/>
          </a:xfrm>
          <a:prstGeom prst="rect">
            <a:avLst/>
          </a:prstGeom>
          <a:noFill/>
        </p:spPr>
        <p:txBody>
          <a:bodyPr wrap="square" lIns="0" rIns="0" tIns="0" bIns="0" anchor="ctr">
            <a:noAutofit/>
          </a:bodyPr>
          <a:lstStyle/>
          <a:p>
            <a:pPr algn="l">
              <a:lnSpc>
                <a:spcPct val="100000"/>
              </a:lnSpc>
              <a:spcAft>
                <a:spcPts val="0"/>
              </a:spcAft>
            </a:pPr>
            <a:r>
              <a:rPr sz="1050" b="0" i="0">
                <a:solidFill>
                  <a:srgbClr val="17172F"/>
                </a:solidFill>
                <a:latin typeface="Calibri"/>
              </a:rPr>
              <a:t>IMU rule + LSTM motion anomaly</a:t>
            </a:r>
          </a:p>
        </p:txBody>
      </p:sp>
      <p:cxnSp>
        <p:nvCxnSpPr>
          <p:cNvPr id="37" name="Connector 36"/>
          <p:cNvCxnSpPr/>
          <p:nvPr/>
        </p:nvCxnSpPr>
        <p:spPr>
          <a:xfrm>
            <a:off x="548640" y="2487168"/>
            <a:ext cx="699516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001000" y="2103120"/>
            <a:ext cx="3657600" cy="228600"/>
          </a:xfrm>
          <a:prstGeom prst="rect">
            <a:avLst/>
          </a:prstGeom>
          <a:noFill/>
        </p:spPr>
        <p:txBody>
          <a:bodyPr wrap="square" lIns="0" rIns="0" tIns="0" bIns="0" anchor="ctr">
            <a:noAutofit/>
          </a:bodyPr>
          <a:lstStyle/>
          <a:p>
            <a:pPr algn="l">
              <a:lnSpc>
                <a:spcPct val="108000"/>
              </a:lnSpc>
              <a:spcAft>
                <a:spcPts val="0"/>
              </a:spcAft>
            </a:pPr>
            <a:r>
              <a:rPr sz="1000" b="1" i="0" spc="160">
                <a:solidFill>
                  <a:srgbClr val="6C3CE9"/>
                </a:solidFill>
                <a:latin typeface="Calibri"/>
              </a:rPr>
              <a:t>MODEL STACK</a:t>
            </a:r>
          </a:p>
        </p:txBody>
      </p:sp>
      <p:sp>
        <p:nvSpPr>
          <p:cNvPr id="39" name="Oval 38"/>
          <p:cNvSpPr/>
          <p:nvPr/>
        </p:nvSpPr>
        <p:spPr>
          <a:xfrm>
            <a:off x="8019288" y="2532888"/>
            <a:ext cx="329184" cy="329184"/>
          </a:xfrm>
          <a:prstGeom prst="ellipse">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019288" y="2532888"/>
            <a:ext cx="329184" cy="329184"/>
          </a:xfrm>
          <a:prstGeom prst="rect">
            <a:avLst/>
          </a:prstGeom>
          <a:noFill/>
        </p:spPr>
        <p:txBody>
          <a:bodyPr wrap="square" lIns="0" rIns="0" tIns="0" bIns="0" anchor="ctr">
            <a:noAutofit/>
          </a:bodyPr>
          <a:lstStyle/>
          <a:p>
            <a:pPr algn="ctr">
              <a:lnSpc>
                <a:spcPct val="108000"/>
              </a:lnSpc>
              <a:spcAft>
                <a:spcPts val="0"/>
              </a:spcAft>
            </a:pPr>
            <a:r>
              <a:rPr sz="1000" b="1" i="0">
                <a:solidFill>
                  <a:srgbClr val="FFFFFF"/>
                </a:solidFill>
                <a:latin typeface="Calibri"/>
              </a:rPr>
              <a:t>1</a:t>
            </a:r>
          </a:p>
        </p:txBody>
      </p:sp>
      <p:sp>
        <p:nvSpPr>
          <p:cNvPr id="41" name="TextBox 40"/>
          <p:cNvSpPr txBox="1"/>
          <p:nvPr/>
        </p:nvSpPr>
        <p:spPr>
          <a:xfrm>
            <a:off x="8549640" y="2496312"/>
            <a:ext cx="3200400" cy="320040"/>
          </a:xfrm>
          <a:prstGeom prst="rect">
            <a:avLst/>
          </a:prstGeom>
          <a:noFill/>
        </p:spPr>
        <p:txBody>
          <a:bodyPr wrap="square" lIns="0" rIns="0" tIns="0" bIns="0" anchor="t">
            <a:noAutofit/>
          </a:bodyPr>
          <a:lstStyle/>
          <a:p>
            <a:pPr algn="l">
              <a:lnSpc>
                <a:spcPct val="108000"/>
              </a:lnSpc>
              <a:spcAft>
                <a:spcPts val="0"/>
              </a:spcAft>
            </a:pPr>
            <a:r>
              <a:rPr sz="1300" b="1" i="0">
                <a:solidFill>
                  <a:srgbClr val="17172F"/>
                </a:solidFill>
                <a:latin typeface="Calibri"/>
              </a:rPr>
              <a:t>Isolation Forest</a:t>
            </a:r>
          </a:p>
        </p:txBody>
      </p:sp>
      <p:sp>
        <p:nvSpPr>
          <p:cNvPr id="42" name="TextBox 41"/>
          <p:cNvSpPr txBox="1"/>
          <p:nvPr/>
        </p:nvSpPr>
        <p:spPr>
          <a:xfrm>
            <a:off x="8549640" y="2788920"/>
            <a:ext cx="3200400" cy="640080"/>
          </a:xfrm>
          <a:prstGeom prst="rect">
            <a:avLst/>
          </a:prstGeom>
          <a:noFill/>
        </p:spPr>
        <p:txBody>
          <a:bodyPr wrap="square" lIns="0" rIns="0" tIns="0" bIns="0" anchor="t">
            <a:noAutofit/>
          </a:bodyPr>
          <a:lstStyle/>
          <a:p>
            <a:pPr algn="l">
              <a:lnSpc>
                <a:spcPct val="120000"/>
              </a:lnSpc>
              <a:spcAft>
                <a:spcPts val="0"/>
              </a:spcAft>
            </a:pPr>
            <a:r>
              <a:rPr sz="1000" b="0" i="0">
                <a:solidFill>
                  <a:srgbClr val="5B5B7A"/>
                </a:solidFill>
                <a:latin typeface="Calibri"/>
              </a:rPr>
              <a:t>Point anomalies across 23 engineered features</a:t>
            </a:r>
          </a:p>
        </p:txBody>
      </p:sp>
      <p:sp>
        <p:nvSpPr>
          <p:cNvPr id="43" name="Oval 42"/>
          <p:cNvSpPr/>
          <p:nvPr/>
        </p:nvSpPr>
        <p:spPr>
          <a:xfrm>
            <a:off x="8019288" y="3429000"/>
            <a:ext cx="329184" cy="329184"/>
          </a:xfrm>
          <a:prstGeom prst="ellipse">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019288" y="3429000"/>
            <a:ext cx="329184" cy="329184"/>
          </a:xfrm>
          <a:prstGeom prst="rect">
            <a:avLst/>
          </a:prstGeom>
          <a:noFill/>
        </p:spPr>
        <p:txBody>
          <a:bodyPr wrap="square" lIns="0" rIns="0" tIns="0" bIns="0" anchor="ctr">
            <a:noAutofit/>
          </a:bodyPr>
          <a:lstStyle/>
          <a:p>
            <a:pPr algn="ctr">
              <a:lnSpc>
                <a:spcPct val="108000"/>
              </a:lnSpc>
              <a:spcAft>
                <a:spcPts val="0"/>
              </a:spcAft>
            </a:pPr>
            <a:r>
              <a:rPr sz="1000" b="1" i="0">
                <a:solidFill>
                  <a:srgbClr val="FFFFFF"/>
                </a:solidFill>
                <a:latin typeface="Calibri"/>
              </a:rPr>
              <a:t>2</a:t>
            </a:r>
          </a:p>
        </p:txBody>
      </p:sp>
      <p:sp>
        <p:nvSpPr>
          <p:cNvPr id="45" name="TextBox 44"/>
          <p:cNvSpPr txBox="1"/>
          <p:nvPr/>
        </p:nvSpPr>
        <p:spPr>
          <a:xfrm>
            <a:off x="8549640" y="3392424"/>
            <a:ext cx="3200400" cy="320040"/>
          </a:xfrm>
          <a:prstGeom prst="rect">
            <a:avLst/>
          </a:prstGeom>
          <a:noFill/>
        </p:spPr>
        <p:txBody>
          <a:bodyPr wrap="square" lIns="0" rIns="0" tIns="0" bIns="0" anchor="t">
            <a:noAutofit/>
          </a:bodyPr>
          <a:lstStyle/>
          <a:p>
            <a:pPr algn="l">
              <a:lnSpc>
                <a:spcPct val="108000"/>
              </a:lnSpc>
              <a:spcAft>
                <a:spcPts val="0"/>
              </a:spcAft>
            </a:pPr>
            <a:r>
              <a:rPr sz="1300" b="1" i="0">
                <a:solidFill>
                  <a:srgbClr val="17172F"/>
                </a:solidFill>
                <a:latin typeface="Calibri"/>
              </a:rPr>
              <a:t>LSTM autoencoder</a:t>
            </a:r>
          </a:p>
        </p:txBody>
      </p:sp>
      <p:sp>
        <p:nvSpPr>
          <p:cNvPr id="46" name="TextBox 45"/>
          <p:cNvSpPr txBox="1"/>
          <p:nvPr/>
        </p:nvSpPr>
        <p:spPr>
          <a:xfrm>
            <a:off x="8549640" y="3685032"/>
            <a:ext cx="3200400" cy="640080"/>
          </a:xfrm>
          <a:prstGeom prst="rect">
            <a:avLst/>
          </a:prstGeom>
          <a:noFill/>
        </p:spPr>
        <p:txBody>
          <a:bodyPr wrap="square" lIns="0" rIns="0" tIns="0" bIns="0" anchor="t">
            <a:noAutofit/>
          </a:bodyPr>
          <a:lstStyle/>
          <a:p>
            <a:pPr algn="l">
              <a:lnSpc>
                <a:spcPct val="120000"/>
              </a:lnSpc>
              <a:spcAft>
                <a:spcPts val="0"/>
              </a:spcAft>
            </a:pPr>
            <a:r>
              <a:rPr sz="1000" b="0" i="0">
                <a:solidFill>
                  <a:srgbClr val="5B5B7A"/>
                </a:solidFill>
                <a:latin typeface="Calibri"/>
              </a:rPr>
              <a:t>Temporal anomalies over rolling windows (threshold 0.33 reconstruction error)</a:t>
            </a:r>
          </a:p>
        </p:txBody>
      </p:sp>
      <p:sp>
        <p:nvSpPr>
          <p:cNvPr id="47" name="Oval 46"/>
          <p:cNvSpPr/>
          <p:nvPr/>
        </p:nvSpPr>
        <p:spPr>
          <a:xfrm>
            <a:off x="8019288" y="4325112"/>
            <a:ext cx="329184" cy="329184"/>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8019288" y="4325112"/>
            <a:ext cx="329184" cy="329184"/>
          </a:xfrm>
          <a:prstGeom prst="rect">
            <a:avLst/>
          </a:prstGeom>
          <a:noFill/>
        </p:spPr>
        <p:txBody>
          <a:bodyPr wrap="square" lIns="0" rIns="0" tIns="0" bIns="0" anchor="ctr">
            <a:noAutofit/>
          </a:bodyPr>
          <a:lstStyle/>
          <a:p>
            <a:pPr algn="ctr">
              <a:lnSpc>
                <a:spcPct val="108000"/>
              </a:lnSpc>
              <a:spcAft>
                <a:spcPts val="0"/>
              </a:spcAft>
            </a:pPr>
            <a:r>
              <a:rPr sz="1000" b="1" i="0">
                <a:solidFill>
                  <a:srgbClr val="0F0E2A"/>
                </a:solidFill>
                <a:latin typeface="Calibri"/>
              </a:rPr>
              <a:t>3</a:t>
            </a:r>
          </a:p>
        </p:txBody>
      </p:sp>
      <p:sp>
        <p:nvSpPr>
          <p:cNvPr id="49" name="TextBox 48"/>
          <p:cNvSpPr txBox="1"/>
          <p:nvPr/>
        </p:nvSpPr>
        <p:spPr>
          <a:xfrm>
            <a:off x="8549640" y="4288536"/>
            <a:ext cx="3200400" cy="320040"/>
          </a:xfrm>
          <a:prstGeom prst="rect">
            <a:avLst/>
          </a:prstGeom>
          <a:noFill/>
        </p:spPr>
        <p:txBody>
          <a:bodyPr wrap="square" lIns="0" rIns="0" tIns="0" bIns="0" anchor="t">
            <a:noAutofit/>
          </a:bodyPr>
          <a:lstStyle/>
          <a:p>
            <a:pPr algn="l">
              <a:lnSpc>
                <a:spcPct val="108000"/>
              </a:lnSpc>
              <a:spcAft>
                <a:spcPts val="0"/>
              </a:spcAft>
            </a:pPr>
            <a:r>
              <a:rPr sz="1300" b="1" i="0">
                <a:solidFill>
                  <a:srgbClr val="17172F"/>
                </a:solidFill>
                <a:latin typeface="Calibri"/>
              </a:rPr>
              <a:t>Rule-based classifier</a:t>
            </a:r>
          </a:p>
        </p:txBody>
      </p:sp>
      <p:sp>
        <p:nvSpPr>
          <p:cNvPr id="50" name="TextBox 49"/>
          <p:cNvSpPr txBox="1"/>
          <p:nvPr/>
        </p:nvSpPr>
        <p:spPr>
          <a:xfrm>
            <a:off x="8549640" y="4581144"/>
            <a:ext cx="3200400" cy="640080"/>
          </a:xfrm>
          <a:prstGeom prst="rect">
            <a:avLst/>
          </a:prstGeom>
          <a:noFill/>
        </p:spPr>
        <p:txBody>
          <a:bodyPr wrap="square" lIns="0" rIns="0" tIns="0" bIns="0" anchor="t">
            <a:noAutofit/>
          </a:bodyPr>
          <a:lstStyle/>
          <a:p>
            <a:pPr algn="l">
              <a:lnSpc>
                <a:spcPct val="120000"/>
              </a:lnSpc>
              <a:spcAft>
                <a:spcPts val="0"/>
              </a:spcAft>
            </a:pPr>
            <a:r>
              <a:rPr sz="1000" b="0" i="0">
                <a:solidFill>
                  <a:srgbClr val="5B5B7A"/>
                </a:solidFill>
                <a:latin typeface="Calibri"/>
              </a:rPr>
              <a:t>Explainable condition labels; safe fallback if a model is unavailable</a:t>
            </a:r>
          </a:p>
        </p:txBody>
      </p:sp>
      <p:sp>
        <p:nvSpPr>
          <p:cNvPr id="51" name="Oval 50"/>
          <p:cNvSpPr/>
          <p:nvPr/>
        </p:nvSpPr>
        <p:spPr>
          <a:xfrm>
            <a:off x="8019288" y="5221224"/>
            <a:ext cx="329184" cy="32918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019288" y="5221224"/>
            <a:ext cx="329184" cy="329184"/>
          </a:xfrm>
          <a:prstGeom prst="rect">
            <a:avLst/>
          </a:prstGeom>
          <a:noFill/>
        </p:spPr>
        <p:txBody>
          <a:bodyPr wrap="square" lIns="0" rIns="0" tIns="0" bIns="0" anchor="ctr">
            <a:noAutofit/>
          </a:bodyPr>
          <a:lstStyle/>
          <a:p>
            <a:pPr algn="ctr">
              <a:lnSpc>
                <a:spcPct val="108000"/>
              </a:lnSpc>
              <a:spcAft>
                <a:spcPts val="0"/>
              </a:spcAft>
            </a:pPr>
            <a:r>
              <a:rPr sz="1000" b="1" i="0">
                <a:solidFill>
                  <a:srgbClr val="0F0E2A"/>
                </a:solidFill>
                <a:latin typeface="Calibri"/>
              </a:rPr>
              <a:t>4</a:t>
            </a:r>
          </a:p>
        </p:txBody>
      </p:sp>
      <p:sp>
        <p:nvSpPr>
          <p:cNvPr id="53" name="TextBox 52"/>
          <p:cNvSpPr txBox="1"/>
          <p:nvPr/>
        </p:nvSpPr>
        <p:spPr>
          <a:xfrm>
            <a:off x="8549640" y="5184648"/>
            <a:ext cx="3200400" cy="320040"/>
          </a:xfrm>
          <a:prstGeom prst="rect">
            <a:avLst/>
          </a:prstGeom>
          <a:noFill/>
        </p:spPr>
        <p:txBody>
          <a:bodyPr wrap="square" lIns="0" rIns="0" tIns="0" bIns="0" anchor="t">
            <a:noAutofit/>
          </a:bodyPr>
          <a:lstStyle/>
          <a:p>
            <a:pPr algn="l">
              <a:lnSpc>
                <a:spcPct val="108000"/>
              </a:lnSpc>
              <a:spcAft>
                <a:spcPts val="0"/>
              </a:spcAft>
            </a:pPr>
            <a:r>
              <a:rPr sz="1300" b="1" i="0">
                <a:solidFill>
                  <a:srgbClr val="17172F"/>
                </a:solidFill>
                <a:latin typeface="Calibri"/>
              </a:rPr>
              <a:t>LLM layer</a:t>
            </a:r>
          </a:p>
        </p:txBody>
      </p:sp>
      <p:sp>
        <p:nvSpPr>
          <p:cNvPr id="54" name="TextBox 53"/>
          <p:cNvSpPr txBox="1"/>
          <p:nvPr/>
        </p:nvSpPr>
        <p:spPr>
          <a:xfrm>
            <a:off x="8549640" y="5477255"/>
            <a:ext cx="3200400" cy="640080"/>
          </a:xfrm>
          <a:prstGeom prst="rect">
            <a:avLst/>
          </a:prstGeom>
          <a:noFill/>
        </p:spPr>
        <p:txBody>
          <a:bodyPr wrap="square" lIns="0" rIns="0" tIns="0" bIns="0" anchor="t">
            <a:noAutofit/>
          </a:bodyPr>
          <a:lstStyle/>
          <a:p>
            <a:pPr algn="l">
              <a:lnSpc>
                <a:spcPct val="120000"/>
              </a:lnSpc>
              <a:spcAft>
                <a:spcPts val="0"/>
              </a:spcAft>
            </a:pPr>
            <a:r>
              <a:rPr sz="1000" b="0" i="0">
                <a:solidFill>
                  <a:srgbClr val="5B5B7A"/>
                </a:solidFill>
                <a:latin typeface="Calibri"/>
              </a:rPr>
              <a:t>Plain-language explanation and personalised next steps (optional, non-blocking)</a:t>
            </a:r>
          </a:p>
        </p:txBody>
      </p:sp>
      <p:sp>
        <p:nvSpPr>
          <p:cNvPr id="55" name="TextBox 54"/>
          <p:cNvSpPr txBox="1"/>
          <p:nvPr/>
        </p:nvSpPr>
        <p:spPr>
          <a:xfrm>
            <a:off x="548640" y="5532120"/>
            <a:ext cx="6949440" cy="457200"/>
          </a:xfrm>
          <a:prstGeom prst="rect">
            <a:avLst/>
          </a:prstGeom>
          <a:noFill/>
        </p:spPr>
        <p:txBody>
          <a:bodyPr wrap="square" lIns="0" rIns="0" tIns="0" bIns="0" anchor="t">
            <a:noAutofit/>
          </a:bodyPr>
          <a:lstStyle/>
          <a:p>
            <a:pPr algn="l">
              <a:lnSpc>
                <a:spcPct val="120000"/>
              </a:lnSpc>
              <a:spcAft>
                <a:spcPts val="0"/>
              </a:spcAft>
            </a:pPr>
            <a:r>
              <a:rPr sz="1000" b="0" i="0">
                <a:solidFill>
                  <a:srgbClr val="5B5B7A"/>
                </a:solidFill>
                <a:latin typeface="Calibri"/>
              </a:rPr>
              <a:t>Trained on 1,875 labelled readings across five activity states (resting, sleeping, walking, exercising, running). Activity intensity, HR deviation, SpO₂ and fever risk scores are derived per reading.</a:t>
            </a:r>
          </a:p>
        </p:txBody>
      </p:sp>
      <p:sp>
        <p:nvSpPr>
          <p:cNvPr id="56" name="TextBox 55"/>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5B5B7A"/>
                </a:solidFill>
                <a:latin typeface="Calibri"/>
              </a:rPr>
              <a:t>AI / ML</a:t>
            </a:r>
            <a:r>
              <a:rPr sz="800" b="0" i="0" spc="140">
                <a:solidFill>
                  <a:srgbClr val="5B5B7A"/>
                </a:solidFill>
                <a:latin typeface="Calibri"/>
              </a:rPr>
              <a:t>   |   ANOMALY DETECTION AND EXPLANATION</a:t>
            </a:r>
          </a:p>
        </p:txBody>
      </p:sp>
      <p:sp>
        <p:nvSpPr>
          <p:cNvPr id="57" name="TextBox 56"/>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6C3CE9"/>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TextBox 1"/>
          <p:cNvSpPr txBox="1"/>
          <p:nvPr/>
        </p:nvSpPr>
        <p:spPr>
          <a:xfrm>
            <a:off x="548640" y="502920"/>
            <a:ext cx="9509760" cy="603504"/>
          </a:xfrm>
          <a:prstGeom prst="rect">
            <a:avLst/>
          </a:prstGeom>
          <a:noFill/>
        </p:spPr>
        <p:txBody>
          <a:bodyPr wrap="square" lIns="0" rIns="0" tIns="0" bIns="0" anchor="t">
            <a:noAutofit/>
          </a:bodyPr>
          <a:lstStyle/>
          <a:p>
            <a:pPr algn="l">
              <a:lnSpc>
                <a:spcPct val="100000"/>
              </a:lnSpc>
              <a:spcAft>
                <a:spcPts val="0"/>
              </a:spcAft>
            </a:pPr>
            <a:r>
              <a:rPr sz="3200" b="1" i="0">
                <a:solidFill>
                  <a:srgbClr val="17172F"/>
                </a:solidFill>
                <a:latin typeface="Calibri"/>
              </a:rPr>
              <a:t>AI architecture — from sensor to alert</a:t>
            </a:r>
          </a:p>
        </p:txBody>
      </p:sp>
      <p:sp>
        <p:nvSpPr>
          <p:cNvPr id="3" name="TextBox 2"/>
          <p:cNvSpPr txBox="1"/>
          <p:nvPr/>
        </p:nvSpPr>
        <p:spPr>
          <a:xfrm>
            <a:off x="548640" y="1143000"/>
            <a:ext cx="9509760" cy="548640"/>
          </a:xfrm>
          <a:prstGeom prst="rect">
            <a:avLst/>
          </a:prstGeom>
          <a:noFill/>
        </p:spPr>
        <p:txBody>
          <a:bodyPr wrap="square" lIns="0" rIns="0" tIns="0" bIns="0" anchor="t">
            <a:noAutofit/>
          </a:bodyPr>
          <a:lstStyle/>
          <a:p>
            <a:pPr algn="l">
              <a:lnSpc>
                <a:spcPct val="115000"/>
              </a:lnSpc>
              <a:spcAft>
                <a:spcPts val="0"/>
              </a:spcAft>
            </a:pPr>
            <a:r>
              <a:rPr sz="1400" b="0" i="0">
                <a:solidFill>
                  <a:srgbClr val="5B5B7A"/>
                </a:solidFill>
                <a:latin typeface="Calibri"/>
              </a:rPr>
              <a:t>A target end-to-end path: wearable signals → context → detection → understandable action.</a:t>
            </a:r>
          </a:p>
        </p:txBody>
      </p:sp>
      <p:sp>
        <p:nvSpPr>
          <p:cNvPr id="4" name="Rounded Rectangle 3"/>
          <p:cNvSpPr/>
          <p:nvPr/>
        </p:nvSpPr>
        <p:spPr>
          <a:xfrm>
            <a:off x="9052560" y="1700784"/>
            <a:ext cx="2560320" cy="283464"/>
          </a:xfrm>
          <a:prstGeom prst="roundRect">
            <a:avLst>
              <a:gd name="adj" fmla="val 50000"/>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052560" y="1700784"/>
            <a:ext cx="2560320" cy="283464"/>
          </a:xfrm>
          <a:prstGeom prst="rect">
            <a:avLst/>
          </a:prstGeom>
          <a:noFill/>
        </p:spPr>
        <p:txBody>
          <a:bodyPr wrap="square" lIns="0" rIns="0" tIns="0" bIns="0" anchor="ctr">
            <a:noAutofit/>
          </a:bodyPr>
          <a:lstStyle/>
          <a:p>
            <a:pPr algn="ctr">
              <a:lnSpc>
                <a:spcPct val="108000"/>
              </a:lnSpc>
              <a:spcAft>
                <a:spcPts val="0"/>
              </a:spcAft>
            </a:pPr>
            <a:r>
              <a:rPr sz="740" b="1" i="0" spc="120">
                <a:solidFill>
                  <a:srgbClr val="FFFFFF"/>
                </a:solidFill>
                <a:latin typeface="Calibri"/>
              </a:rPr>
              <a:t>DESIGN PATH · VALIDATION IN PROGRESS</a:t>
            </a:r>
          </a:p>
        </p:txBody>
      </p:sp>
      <p:sp>
        <p:nvSpPr>
          <p:cNvPr id="6" name="Rounded Rectangle 5"/>
          <p:cNvSpPr/>
          <p:nvPr/>
        </p:nvSpPr>
        <p:spPr>
          <a:xfrm>
            <a:off x="566928" y="2423160"/>
            <a:ext cx="1664208" cy="1965960"/>
          </a:xfrm>
          <a:prstGeom prst="roundRect">
            <a:avLst>
              <a:gd name="adj" fmla="val 7692"/>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2423160"/>
            <a:ext cx="1664208" cy="91440"/>
          </a:xfrm>
          <a:prstGeom prst="roundRect">
            <a:avLst>
              <a:gd name="adj" fmla="val 50000"/>
            </a:avLst>
          </a:prstGeom>
          <a:solidFill>
            <a:srgbClr val="6A3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658368" y="2651760"/>
            <a:ext cx="310896" cy="310896"/>
          </a:xfrm>
          <a:prstGeom prst="ellipse">
            <a:avLst/>
          </a:prstGeom>
          <a:solidFill>
            <a:srgbClr val="6A3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8368" y="2651760"/>
            <a:ext cx="310896" cy="310896"/>
          </a:xfrm>
          <a:prstGeom prst="rect">
            <a:avLst/>
          </a:prstGeom>
          <a:noFill/>
        </p:spPr>
        <p:txBody>
          <a:bodyPr wrap="square" lIns="0" rIns="0" tIns="0" bIns="0" anchor="ctr">
            <a:noAutofit/>
          </a:bodyPr>
          <a:lstStyle/>
          <a:p>
            <a:pPr algn="ctr">
              <a:lnSpc>
                <a:spcPct val="108000"/>
              </a:lnSpc>
              <a:spcAft>
                <a:spcPts val="0"/>
              </a:spcAft>
            </a:pPr>
            <a:r>
              <a:rPr sz="900" b="1" i="0">
                <a:solidFill>
                  <a:srgbClr val="FFFFFF"/>
                </a:solidFill>
                <a:latin typeface="Calibri"/>
              </a:rPr>
              <a:t>1</a:t>
            </a:r>
          </a:p>
        </p:txBody>
      </p:sp>
      <p:sp>
        <p:nvSpPr>
          <p:cNvPr id="10" name="TextBox 9"/>
          <p:cNvSpPr txBox="1"/>
          <p:nvPr/>
        </p:nvSpPr>
        <p:spPr>
          <a:xfrm>
            <a:off x="713232" y="3099815"/>
            <a:ext cx="1389888" cy="438912"/>
          </a:xfrm>
          <a:prstGeom prst="rect">
            <a:avLst/>
          </a:prstGeom>
          <a:noFill/>
        </p:spPr>
        <p:txBody>
          <a:bodyPr wrap="square" lIns="0" rIns="0" tIns="0" bIns="0" anchor="t">
            <a:noAutofit/>
          </a:bodyPr>
          <a:lstStyle/>
          <a:p>
            <a:pPr algn="l">
              <a:lnSpc>
                <a:spcPct val="100000"/>
              </a:lnSpc>
              <a:spcAft>
                <a:spcPts val="0"/>
              </a:spcAft>
            </a:pPr>
            <a:r>
              <a:rPr sz="1220" b="1" i="0">
                <a:solidFill>
                  <a:srgbClr val="17172F"/>
                </a:solidFill>
                <a:latin typeface="Calibri"/>
              </a:rPr>
              <a:t>ESP32 band</a:t>
            </a:r>
          </a:p>
        </p:txBody>
      </p:sp>
      <p:sp>
        <p:nvSpPr>
          <p:cNvPr id="11" name="TextBox 10"/>
          <p:cNvSpPr txBox="1"/>
          <p:nvPr/>
        </p:nvSpPr>
        <p:spPr>
          <a:xfrm>
            <a:off x="713232" y="3593591"/>
            <a:ext cx="1389888" cy="658368"/>
          </a:xfrm>
          <a:prstGeom prst="rect">
            <a:avLst/>
          </a:prstGeom>
          <a:noFill/>
        </p:spPr>
        <p:txBody>
          <a:bodyPr wrap="square" lIns="0" rIns="0" tIns="0" bIns="0" anchor="t">
            <a:noAutofit/>
          </a:bodyPr>
          <a:lstStyle/>
          <a:p>
            <a:pPr algn="l">
              <a:lnSpc>
                <a:spcPct val="115000"/>
              </a:lnSpc>
              <a:spcAft>
                <a:spcPts val="0"/>
              </a:spcAft>
            </a:pPr>
            <a:r>
              <a:rPr sz="960" b="0" i="0">
                <a:solidFill>
                  <a:srgbClr val="5B5B7A"/>
                </a:solidFill>
                <a:latin typeface="Calibri"/>
              </a:rPr>
              <a:t>5 vital-sign sensors
Motion + GPS</a:t>
            </a:r>
          </a:p>
        </p:txBody>
      </p:sp>
      <p:sp>
        <p:nvSpPr>
          <p:cNvPr id="12" name="Right Arrow 11"/>
          <p:cNvSpPr/>
          <p:nvPr/>
        </p:nvSpPr>
        <p:spPr>
          <a:xfrm>
            <a:off x="2272284" y="3255264"/>
            <a:ext cx="210312" cy="256032"/>
          </a:xfrm>
          <a:prstGeom prst="rightArrow">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2523744" y="2423160"/>
            <a:ext cx="1664208" cy="1965960"/>
          </a:xfrm>
          <a:prstGeom prst="roundRect">
            <a:avLst>
              <a:gd name="adj" fmla="val 7692"/>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2523744" y="2423160"/>
            <a:ext cx="1664208" cy="91440"/>
          </a:xfrm>
          <a:prstGeom prst="roundRect">
            <a:avLst>
              <a:gd name="adj" fmla="val 50000"/>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615184" y="2651760"/>
            <a:ext cx="310896" cy="310896"/>
          </a:xfrm>
          <a:prstGeom prst="ellipse">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15184" y="2651760"/>
            <a:ext cx="310896" cy="310896"/>
          </a:xfrm>
          <a:prstGeom prst="rect">
            <a:avLst/>
          </a:prstGeom>
          <a:noFill/>
        </p:spPr>
        <p:txBody>
          <a:bodyPr wrap="square" lIns="0" rIns="0" tIns="0" bIns="0" anchor="ctr">
            <a:noAutofit/>
          </a:bodyPr>
          <a:lstStyle/>
          <a:p>
            <a:pPr algn="ctr">
              <a:lnSpc>
                <a:spcPct val="108000"/>
              </a:lnSpc>
              <a:spcAft>
                <a:spcPts val="0"/>
              </a:spcAft>
            </a:pPr>
            <a:r>
              <a:rPr sz="900" b="1" i="0">
                <a:solidFill>
                  <a:srgbClr val="FFFFFF"/>
                </a:solidFill>
                <a:latin typeface="Calibri"/>
              </a:rPr>
              <a:t>2</a:t>
            </a:r>
          </a:p>
        </p:txBody>
      </p:sp>
      <p:sp>
        <p:nvSpPr>
          <p:cNvPr id="17" name="TextBox 16"/>
          <p:cNvSpPr txBox="1"/>
          <p:nvPr/>
        </p:nvSpPr>
        <p:spPr>
          <a:xfrm>
            <a:off x="2670048" y="3099815"/>
            <a:ext cx="1389888" cy="438912"/>
          </a:xfrm>
          <a:prstGeom prst="rect">
            <a:avLst/>
          </a:prstGeom>
          <a:noFill/>
        </p:spPr>
        <p:txBody>
          <a:bodyPr wrap="square" lIns="0" rIns="0" tIns="0" bIns="0" anchor="t">
            <a:noAutofit/>
          </a:bodyPr>
          <a:lstStyle/>
          <a:p>
            <a:pPr algn="l">
              <a:lnSpc>
                <a:spcPct val="100000"/>
              </a:lnSpc>
              <a:spcAft>
                <a:spcPts val="0"/>
              </a:spcAft>
            </a:pPr>
            <a:r>
              <a:rPr sz="1220" b="1" i="0">
                <a:solidFill>
                  <a:srgbClr val="17172F"/>
                </a:solidFill>
                <a:latin typeface="Calibri"/>
              </a:rPr>
              <a:t>Normalize</a:t>
            </a:r>
          </a:p>
        </p:txBody>
      </p:sp>
      <p:sp>
        <p:nvSpPr>
          <p:cNvPr id="18" name="TextBox 17"/>
          <p:cNvSpPr txBox="1"/>
          <p:nvPr/>
        </p:nvSpPr>
        <p:spPr>
          <a:xfrm>
            <a:off x="2670048" y="3593591"/>
            <a:ext cx="1389888" cy="658368"/>
          </a:xfrm>
          <a:prstGeom prst="rect">
            <a:avLst/>
          </a:prstGeom>
          <a:noFill/>
        </p:spPr>
        <p:txBody>
          <a:bodyPr wrap="square" lIns="0" rIns="0" tIns="0" bIns="0" anchor="t">
            <a:noAutofit/>
          </a:bodyPr>
          <a:lstStyle/>
          <a:p>
            <a:pPr algn="l">
              <a:lnSpc>
                <a:spcPct val="115000"/>
              </a:lnSpc>
              <a:spcAft>
                <a:spcPts val="0"/>
              </a:spcAft>
            </a:pPr>
            <a:r>
              <a:rPr sz="960" b="0" i="0">
                <a:solidFill>
                  <a:srgbClr val="5B5B7A"/>
                </a:solidFill>
                <a:latin typeface="Calibri"/>
              </a:rPr>
              <a:t>Check units
Build features</a:t>
            </a:r>
          </a:p>
        </p:txBody>
      </p:sp>
      <p:sp>
        <p:nvSpPr>
          <p:cNvPr id="19" name="Right Arrow 18"/>
          <p:cNvSpPr/>
          <p:nvPr/>
        </p:nvSpPr>
        <p:spPr>
          <a:xfrm>
            <a:off x="4229100" y="3255264"/>
            <a:ext cx="210312" cy="256032"/>
          </a:xfrm>
          <a:prstGeom prst="rightArrow">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480560" y="2423160"/>
            <a:ext cx="1664208" cy="1965960"/>
          </a:xfrm>
          <a:prstGeom prst="roundRect">
            <a:avLst>
              <a:gd name="adj" fmla="val 7692"/>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80560" y="2423160"/>
            <a:ext cx="1664208" cy="91440"/>
          </a:xfrm>
          <a:prstGeom prst="roundRect">
            <a:avLst>
              <a:gd name="adj" fmla="val 50000"/>
            </a:avLst>
          </a:prstGeom>
          <a:solidFill>
            <a:srgbClr val="16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572000" y="2651760"/>
            <a:ext cx="310896" cy="310896"/>
          </a:xfrm>
          <a:prstGeom prst="ellipse">
            <a:avLst/>
          </a:prstGeom>
          <a:solidFill>
            <a:srgbClr val="16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72000" y="2651760"/>
            <a:ext cx="310896" cy="310896"/>
          </a:xfrm>
          <a:prstGeom prst="rect">
            <a:avLst/>
          </a:prstGeom>
          <a:noFill/>
        </p:spPr>
        <p:txBody>
          <a:bodyPr wrap="square" lIns="0" rIns="0" tIns="0" bIns="0" anchor="ctr">
            <a:noAutofit/>
          </a:bodyPr>
          <a:lstStyle/>
          <a:p>
            <a:pPr algn="ctr">
              <a:lnSpc>
                <a:spcPct val="108000"/>
              </a:lnSpc>
              <a:spcAft>
                <a:spcPts val="0"/>
              </a:spcAft>
            </a:pPr>
            <a:r>
              <a:rPr sz="900" b="1" i="0">
                <a:solidFill>
                  <a:srgbClr val="FFFFFF"/>
                </a:solidFill>
                <a:latin typeface="Calibri"/>
              </a:rPr>
              <a:t>3</a:t>
            </a:r>
          </a:p>
        </p:txBody>
      </p:sp>
      <p:sp>
        <p:nvSpPr>
          <p:cNvPr id="24" name="TextBox 23"/>
          <p:cNvSpPr txBox="1"/>
          <p:nvPr/>
        </p:nvSpPr>
        <p:spPr>
          <a:xfrm>
            <a:off x="4626864" y="3099815"/>
            <a:ext cx="1389888" cy="438912"/>
          </a:xfrm>
          <a:prstGeom prst="rect">
            <a:avLst/>
          </a:prstGeom>
          <a:noFill/>
        </p:spPr>
        <p:txBody>
          <a:bodyPr wrap="square" lIns="0" rIns="0" tIns="0" bIns="0" anchor="t">
            <a:noAutofit/>
          </a:bodyPr>
          <a:lstStyle/>
          <a:p>
            <a:pPr algn="l">
              <a:lnSpc>
                <a:spcPct val="100000"/>
              </a:lnSpc>
              <a:spcAft>
                <a:spcPts val="0"/>
              </a:spcAft>
            </a:pPr>
            <a:r>
              <a:rPr sz="1220" b="1" i="0">
                <a:solidFill>
                  <a:srgbClr val="17172F"/>
                </a:solidFill>
                <a:latin typeface="Calibri"/>
              </a:rPr>
              <a:t>Activity</a:t>
            </a:r>
          </a:p>
        </p:txBody>
      </p:sp>
      <p:sp>
        <p:nvSpPr>
          <p:cNvPr id="25" name="TextBox 24"/>
          <p:cNvSpPr txBox="1"/>
          <p:nvPr/>
        </p:nvSpPr>
        <p:spPr>
          <a:xfrm>
            <a:off x="4626864" y="3593591"/>
            <a:ext cx="1389888" cy="658368"/>
          </a:xfrm>
          <a:prstGeom prst="rect">
            <a:avLst/>
          </a:prstGeom>
          <a:noFill/>
        </p:spPr>
        <p:txBody>
          <a:bodyPr wrap="square" lIns="0" rIns="0" tIns="0" bIns="0" anchor="t">
            <a:noAutofit/>
          </a:bodyPr>
          <a:lstStyle/>
          <a:p>
            <a:pPr algn="l">
              <a:lnSpc>
                <a:spcPct val="115000"/>
              </a:lnSpc>
              <a:spcAft>
                <a:spcPts val="0"/>
              </a:spcAft>
            </a:pPr>
            <a:r>
              <a:rPr sz="960" b="0" i="0">
                <a:solidFill>
                  <a:srgbClr val="5B5B7A"/>
                </a:solidFill>
                <a:latin typeface="Calibri"/>
              </a:rPr>
              <a:t>Random Forest
Context, not alert</a:t>
            </a:r>
          </a:p>
        </p:txBody>
      </p:sp>
      <p:sp>
        <p:nvSpPr>
          <p:cNvPr id="26" name="Right Arrow 25"/>
          <p:cNvSpPr/>
          <p:nvPr/>
        </p:nvSpPr>
        <p:spPr>
          <a:xfrm>
            <a:off x="6185916" y="3255264"/>
            <a:ext cx="210312" cy="256032"/>
          </a:xfrm>
          <a:prstGeom prst="rightArrow">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437376" y="2423160"/>
            <a:ext cx="1664208" cy="1965960"/>
          </a:xfrm>
          <a:prstGeom prst="roundRect">
            <a:avLst>
              <a:gd name="adj" fmla="val 7692"/>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437376" y="2423160"/>
            <a:ext cx="1664208" cy="91440"/>
          </a:xfrm>
          <a:prstGeom prst="roundRect">
            <a:avLst>
              <a:gd name="adj" fmla="val 50000"/>
            </a:avLst>
          </a:prstGeom>
          <a:solidFill>
            <a:srgbClr val="0E8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528816" y="2651760"/>
            <a:ext cx="310896" cy="310896"/>
          </a:xfrm>
          <a:prstGeom prst="ellipse">
            <a:avLst/>
          </a:prstGeom>
          <a:solidFill>
            <a:srgbClr val="0E8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528816" y="2651760"/>
            <a:ext cx="310896" cy="310896"/>
          </a:xfrm>
          <a:prstGeom prst="rect">
            <a:avLst/>
          </a:prstGeom>
          <a:noFill/>
        </p:spPr>
        <p:txBody>
          <a:bodyPr wrap="square" lIns="0" rIns="0" tIns="0" bIns="0" anchor="ctr">
            <a:noAutofit/>
          </a:bodyPr>
          <a:lstStyle/>
          <a:p>
            <a:pPr algn="ctr">
              <a:lnSpc>
                <a:spcPct val="108000"/>
              </a:lnSpc>
              <a:spcAft>
                <a:spcPts val="0"/>
              </a:spcAft>
            </a:pPr>
            <a:r>
              <a:rPr sz="900" b="1" i="0">
                <a:solidFill>
                  <a:srgbClr val="FFFFFF"/>
                </a:solidFill>
                <a:latin typeface="Calibri"/>
              </a:rPr>
              <a:t>4</a:t>
            </a:r>
          </a:p>
        </p:txBody>
      </p:sp>
      <p:sp>
        <p:nvSpPr>
          <p:cNvPr id="31" name="TextBox 30"/>
          <p:cNvSpPr txBox="1"/>
          <p:nvPr/>
        </p:nvSpPr>
        <p:spPr>
          <a:xfrm>
            <a:off x="6583680" y="3099815"/>
            <a:ext cx="1389888" cy="438912"/>
          </a:xfrm>
          <a:prstGeom prst="rect">
            <a:avLst/>
          </a:prstGeom>
          <a:noFill/>
        </p:spPr>
        <p:txBody>
          <a:bodyPr wrap="square" lIns="0" rIns="0" tIns="0" bIns="0" anchor="t">
            <a:noAutofit/>
          </a:bodyPr>
          <a:lstStyle/>
          <a:p>
            <a:pPr algn="l">
              <a:lnSpc>
                <a:spcPct val="100000"/>
              </a:lnSpc>
              <a:spcAft>
                <a:spcPts val="0"/>
              </a:spcAft>
            </a:pPr>
            <a:r>
              <a:rPr sz="1220" b="1" i="0">
                <a:solidFill>
                  <a:srgbClr val="17172F"/>
                </a:solidFill>
                <a:latin typeface="Calibri"/>
              </a:rPr>
              <a:t>Calibrate</a:t>
            </a:r>
          </a:p>
        </p:txBody>
      </p:sp>
      <p:sp>
        <p:nvSpPr>
          <p:cNvPr id="32" name="TextBox 31"/>
          <p:cNvSpPr txBox="1"/>
          <p:nvPr/>
        </p:nvSpPr>
        <p:spPr>
          <a:xfrm>
            <a:off x="6583680" y="3593591"/>
            <a:ext cx="1389888" cy="658368"/>
          </a:xfrm>
          <a:prstGeom prst="rect">
            <a:avLst/>
          </a:prstGeom>
          <a:noFill/>
        </p:spPr>
        <p:txBody>
          <a:bodyPr wrap="square" lIns="0" rIns="0" tIns="0" bIns="0" anchor="t">
            <a:noAutofit/>
          </a:bodyPr>
          <a:lstStyle/>
          <a:p>
            <a:pPr algn="l">
              <a:lnSpc>
                <a:spcPct val="115000"/>
              </a:lnSpc>
              <a:spcAft>
                <a:spcPts val="0"/>
              </a:spcAft>
            </a:pPr>
            <a:r>
              <a:rPr sz="960" b="0" i="0">
                <a:solidFill>
                  <a:srgbClr val="5B5B7A"/>
                </a:solidFill>
                <a:latin typeface="Calibri"/>
              </a:rPr>
              <a:t>EWMA baseline
Crisis-gated</a:t>
            </a:r>
          </a:p>
        </p:txBody>
      </p:sp>
      <p:sp>
        <p:nvSpPr>
          <p:cNvPr id="33" name="Right Arrow 32"/>
          <p:cNvSpPr/>
          <p:nvPr/>
        </p:nvSpPr>
        <p:spPr>
          <a:xfrm>
            <a:off x="8142731" y="3255264"/>
            <a:ext cx="210312" cy="256032"/>
          </a:xfrm>
          <a:prstGeom prst="rightArrow">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8394192" y="2423160"/>
            <a:ext cx="1664208" cy="1965960"/>
          </a:xfrm>
          <a:prstGeom prst="roundRect">
            <a:avLst>
              <a:gd name="adj" fmla="val 7692"/>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8394192" y="2423160"/>
            <a:ext cx="1664208" cy="91440"/>
          </a:xfrm>
          <a:prstGeom prst="roundRect">
            <a:avLst>
              <a:gd name="adj" fmla="val 50000"/>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8485632" y="2651760"/>
            <a:ext cx="310896" cy="310896"/>
          </a:xfrm>
          <a:prstGeom prst="ellipse">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485632" y="2651760"/>
            <a:ext cx="310896" cy="310896"/>
          </a:xfrm>
          <a:prstGeom prst="rect">
            <a:avLst/>
          </a:prstGeom>
          <a:noFill/>
        </p:spPr>
        <p:txBody>
          <a:bodyPr wrap="square" lIns="0" rIns="0" tIns="0" bIns="0" anchor="ctr">
            <a:noAutofit/>
          </a:bodyPr>
          <a:lstStyle/>
          <a:p>
            <a:pPr algn="ctr">
              <a:lnSpc>
                <a:spcPct val="108000"/>
              </a:lnSpc>
              <a:spcAft>
                <a:spcPts val="0"/>
              </a:spcAft>
            </a:pPr>
            <a:r>
              <a:rPr sz="900" b="1" i="0">
                <a:solidFill>
                  <a:srgbClr val="FFFFFF"/>
                </a:solidFill>
                <a:latin typeface="Calibri"/>
              </a:rPr>
              <a:t>5</a:t>
            </a:r>
          </a:p>
        </p:txBody>
      </p:sp>
      <p:sp>
        <p:nvSpPr>
          <p:cNvPr id="38" name="TextBox 37"/>
          <p:cNvSpPr txBox="1"/>
          <p:nvPr/>
        </p:nvSpPr>
        <p:spPr>
          <a:xfrm>
            <a:off x="8540496" y="3099815"/>
            <a:ext cx="1389888" cy="438912"/>
          </a:xfrm>
          <a:prstGeom prst="rect">
            <a:avLst/>
          </a:prstGeom>
          <a:noFill/>
        </p:spPr>
        <p:txBody>
          <a:bodyPr wrap="square" lIns="0" rIns="0" tIns="0" bIns="0" anchor="t">
            <a:noAutofit/>
          </a:bodyPr>
          <a:lstStyle/>
          <a:p>
            <a:pPr algn="l">
              <a:lnSpc>
                <a:spcPct val="100000"/>
              </a:lnSpc>
              <a:spcAft>
                <a:spcPts val="0"/>
              </a:spcAft>
            </a:pPr>
            <a:r>
              <a:rPr sz="1220" b="1" i="0">
                <a:solidFill>
                  <a:srgbClr val="17172F"/>
                </a:solidFill>
                <a:latin typeface="Calibri"/>
              </a:rPr>
              <a:t>Detect</a:t>
            </a:r>
          </a:p>
        </p:txBody>
      </p:sp>
      <p:sp>
        <p:nvSpPr>
          <p:cNvPr id="39" name="TextBox 38"/>
          <p:cNvSpPr txBox="1"/>
          <p:nvPr/>
        </p:nvSpPr>
        <p:spPr>
          <a:xfrm>
            <a:off x="8540496" y="3593591"/>
            <a:ext cx="1389888" cy="658368"/>
          </a:xfrm>
          <a:prstGeom prst="rect">
            <a:avLst/>
          </a:prstGeom>
          <a:noFill/>
        </p:spPr>
        <p:txBody>
          <a:bodyPr wrap="square" lIns="0" rIns="0" tIns="0" bIns="0" anchor="t">
            <a:noAutofit/>
          </a:bodyPr>
          <a:lstStyle/>
          <a:p>
            <a:pPr algn="l">
              <a:lnSpc>
                <a:spcPct val="115000"/>
              </a:lnSpc>
              <a:spcAft>
                <a:spcPts val="0"/>
              </a:spcAft>
            </a:pPr>
            <a:r>
              <a:rPr sz="960" b="0" i="0">
                <a:solidFill>
                  <a:srgbClr val="5B5B7A"/>
                </a:solidFill>
                <a:latin typeface="Calibri"/>
              </a:rPr>
              <a:t>Clinical floors
Personal σ + ML</a:t>
            </a:r>
          </a:p>
        </p:txBody>
      </p:sp>
      <p:sp>
        <p:nvSpPr>
          <p:cNvPr id="40" name="Right Arrow 39"/>
          <p:cNvSpPr/>
          <p:nvPr/>
        </p:nvSpPr>
        <p:spPr>
          <a:xfrm>
            <a:off x="10099548" y="3255264"/>
            <a:ext cx="210312" cy="256032"/>
          </a:xfrm>
          <a:prstGeom prst="rightArrow">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10351008" y="2423160"/>
            <a:ext cx="1664208" cy="1965960"/>
          </a:xfrm>
          <a:prstGeom prst="roundRect">
            <a:avLst>
              <a:gd name="adj" fmla="val 7692"/>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10351008" y="2423160"/>
            <a:ext cx="1664208" cy="91440"/>
          </a:xfrm>
          <a:prstGeom prst="roundRect">
            <a:avLst>
              <a:gd name="adj" fmla="val 50000"/>
            </a:avLst>
          </a:prstGeom>
          <a:solidFill>
            <a:srgbClr val="D96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10442448" y="2651760"/>
            <a:ext cx="310896" cy="310896"/>
          </a:xfrm>
          <a:prstGeom prst="ellipse">
            <a:avLst/>
          </a:prstGeom>
          <a:solidFill>
            <a:srgbClr val="D96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442448" y="2651760"/>
            <a:ext cx="310896" cy="310896"/>
          </a:xfrm>
          <a:prstGeom prst="rect">
            <a:avLst/>
          </a:prstGeom>
          <a:noFill/>
        </p:spPr>
        <p:txBody>
          <a:bodyPr wrap="square" lIns="0" rIns="0" tIns="0" bIns="0" anchor="ctr">
            <a:noAutofit/>
          </a:bodyPr>
          <a:lstStyle/>
          <a:p>
            <a:pPr algn="ctr">
              <a:lnSpc>
                <a:spcPct val="108000"/>
              </a:lnSpc>
              <a:spcAft>
                <a:spcPts val="0"/>
              </a:spcAft>
            </a:pPr>
            <a:r>
              <a:rPr sz="900" b="1" i="0">
                <a:solidFill>
                  <a:srgbClr val="FFFFFF"/>
                </a:solidFill>
                <a:latin typeface="Calibri"/>
              </a:rPr>
              <a:t>6</a:t>
            </a:r>
          </a:p>
        </p:txBody>
      </p:sp>
      <p:sp>
        <p:nvSpPr>
          <p:cNvPr id="45" name="TextBox 44"/>
          <p:cNvSpPr txBox="1"/>
          <p:nvPr/>
        </p:nvSpPr>
        <p:spPr>
          <a:xfrm>
            <a:off x="10497312" y="3099815"/>
            <a:ext cx="1389888" cy="438912"/>
          </a:xfrm>
          <a:prstGeom prst="rect">
            <a:avLst/>
          </a:prstGeom>
          <a:noFill/>
        </p:spPr>
        <p:txBody>
          <a:bodyPr wrap="square" lIns="0" rIns="0" tIns="0" bIns="0" anchor="t">
            <a:noAutofit/>
          </a:bodyPr>
          <a:lstStyle/>
          <a:p>
            <a:pPr algn="l">
              <a:lnSpc>
                <a:spcPct val="100000"/>
              </a:lnSpc>
              <a:spcAft>
                <a:spcPts val="0"/>
              </a:spcAft>
            </a:pPr>
            <a:r>
              <a:rPr sz="1220" b="1" i="0">
                <a:solidFill>
                  <a:srgbClr val="17172F"/>
                </a:solidFill>
                <a:latin typeface="Calibri"/>
              </a:rPr>
              <a:t>Explain + deliver</a:t>
            </a:r>
          </a:p>
        </p:txBody>
      </p:sp>
      <p:sp>
        <p:nvSpPr>
          <p:cNvPr id="46" name="TextBox 45"/>
          <p:cNvSpPr txBox="1"/>
          <p:nvPr/>
        </p:nvSpPr>
        <p:spPr>
          <a:xfrm>
            <a:off x="10497312" y="3593591"/>
            <a:ext cx="1389888" cy="658368"/>
          </a:xfrm>
          <a:prstGeom prst="rect">
            <a:avLst/>
          </a:prstGeom>
          <a:noFill/>
        </p:spPr>
        <p:txBody>
          <a:bodyPr wrap="square" lIns="0" rIns="0" tIns="0" bIns="0" anchor="t">
            <a:noAutofit/>
          </a:bodyPr>
          <a:lstStyle/>
          <a:p>
            <a:pPr algn="l">
              <a:lnSpc>
                <a:spcPct val="115000"/>
              </a:lnSpc>
              <a:spcAft>
                <a:spcPts val="0"/>
              </a:spcAft>
            </a:pPr>
            <a:r>
              <a:rPr sz="960" b="0" i="0">
                <a:solidFill>
                  <a:srgbClr val="5B5B7A"/>
                </a:solidFill>
                <a:latin typeface="Calibri"/>
              </a:rPr>
              <a:t>Plain-language alert
Live dashboard</a:t>
            </a:r>
          </a:p>
        </p:txBody>
      </p:sp>
      <p:sp>
        <p:nvSpPr>
          <p:cNvPr id="47" name="Rounded Rectangle 46"/>
          <p:cNvSpPr/>
          <p:nvPr/>
        </p:nvSpPr>
        <p:spPr>
          <a:xfrm>
            <a:off x="566928" y="4736592"/>
            <a:ext cx="11082528" cy="859536"/>
          </a:xfrm>
          <a:prstGeom prst="roundRect">
            <a:avLst>
              <a:gd name="adj" fmla="val 14893"/>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822960" y="4892040"/>
            <a:ext cx="2011680" cy="228600"/>
          </a:xfrm>
          <a:prstGeom prst="rect">
            <a:avLst/>
          </a:prstGeom>
          <a:noFill/>
        </p:spPr>
        <p:txBody>
          <a:bodyPr wrap="square" lIns="0" rIns="0" tIns="0" bIns="0" anchor="ctr">
            <a:noAutofit/>
          </a:bodyPr>
          <a:lstStyle/>
          <a:p>
            <a:pPr algn="l">
              <a:lnSpc>
                <a:spcPct val="108000"/>
              </a:lnSpc>
              <a:spcAft>
                <a:spcPts val="0"/>
              </a:spcAft>
            </a:pPr>
            <a:r>
              <a:rPr sz="850" b="1" i="0" spc="160">
                <a:solidFill>
                  <a:srgbClr val="22D3EE"/>
                </a:solidFill>
                <a:latin typeface="Calibri"/>
              </a:rPr>
              <a:t>DECISION PRINCIPLE</a:t>
            </a:r>
          </a:p>
        </p:txBody>
      </p:sp>
      <p:sp>
        <p:nvSpPr>
          <p:cNvPr id="49" name="TextBox 48"/>
          <p:cNvSpPr txBox="1"/>
          <p:nvPr/>
        </p:nvSpPr>
        <p:spPr>
          <a:xfrm>
            <a:off x="2788920" y="4855464"/>
            <a:ext cx="8503920" cy="502920"/>
          </a:xfrm>
          <a:prstGeom prst="rect">
            <a:avLst/>
          </a:prstGeom>
          <a:noFill/>
        </p:spPr>
        <p:txBody>
          <a:bodyPr wrap="square" lIns="0" rIns="0" tIns="0" bIns="0" anchor="ctr">
            <a:noAutofit/>
          </a:bodyPr>
          <a:lstStyle/>
          <a:p>
            <a:pPr algn="l">
              <a:lnSpc>
                <a:spcPct val="108000"/>
              </a:lnSpc>
              <a:spcAft>
                <a:spcPts val="0"/>
              </a:spcAft>
            </a:pPr>
            <a:r>
              <a:rPr sz="1500" b="1" i="0">
                <a:solidFill>
                  <a:srgbClr val="FFFFFF"/>
                </a:solidFill>
                <a:latin typeface="Calibri"/>
              </a:rPr>
              <a:t>A model may add context; it never replaces a wearer-first safety workflow.</a:t>
            </a:r>
          </a:p>
        </p:txBody>
      </p:sp>
      <p:sp>
        <p:nvSpPr>
          <p:cNvPr id="50" name="TextBox 49"/>
          <p:cNvSpPr txBox="1"/>
          <p:nvPr/>
        </p:nvSpPr>
        <p:spPr>
          <a:xfrm>
            <a:off x="594360" y="5760720"/>
            <a:ext cx="10972800" cy="320040"/>
          </a:xfrm>
          <a:prstGeom prst="rect">
            <a:avLst/>
          </a:prstGeom>
          <a:noFill/>
        </p:spPr>
        <p:txBody>
          <a:bodyPr wrap="square" lIns="0" rIns="0" tIns="0" bIns="0" anchor="t">
            <a:noAutofit/>
          </a:bodyPr>
          <a:lstStyle/>
          <a:p>
            <a:pPr algn="l">
              <a:lnSpc>
                <a:spcPct val="108000"/>
              </a:lnSpc>
              <a:spcAft>
                <a:spcPts val="0"/>
              </a:spcAft>
            </a:pPr>
            <a:r>
              <a:rPr sz="919" b="0" i="1">
                <a:solidFill>
                  <a:srgbClr val="5B5B7A"/>
                </a:solidFill>
                <a:latin typeface="Calibri"/>
              </a:rPr>
              <a:t>Integration note: align device MQTT topic / cloud broker with the API subscription before live end-to-end demos.</a:t>
            </a:r>
          </a:p>
        </p:txBody>
      </p:sp>
      <p:sp>
        <p:nvSpPr>
          <p:cNvPr id="51" name="TextBox 50"/>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5B5B7A"/>
                </a:solidFill>
                <a:latin typeface="Calibri"/>
              </a:rPr>
              <a:t>AI ARCHITECTURE</a:t>
            </a:r>
            <a:r>
              <a:rPr sz="800" b="0" i="0" spc="140">
                <a:solidFill>
                  <a:srgbClr val="5B5B7A"/>
                </a:solidFill>
                <a:latin typeface="Calibri"/>
              </a:rPr>
              <a:t>   |   SENSOR-TO-ALERT PATHWAY</a:t>
            </a:r>
          </a:p>
        </p:txBody>
      </p:sp>
      <p:sp>
        <p:nvSpPr>
          <p:cNvPr id="52" name="TextBox 51"/>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6C3CE9"/>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0E2A"/>
        </a:solidFill>
        <a:effectLst/>
      </p:bgPr>
    </p:bg>
    <p:spTree>
      <p:nvGrpSpPr>
        <p:cNvPr id="1" name=""/>
        <p:cNvGrpSpPr/>
        <p:nvPr/>
      </p:nvGrpSpPr>
      <p:grpSpPr/>
      <p:sp>
        <p:nvSpPr>
          <p:cNvPr id="2" name="TextBox 1"/>
          <p:cNvSpPr txBox="1"/>
          <p:nvPr/>
        </p:nvSpPr>
        <p:spPr>
          <a:xfrm>
            <a:off x="548640" y="502920"/>
            <a:ext cx="9326880" cy="603504"/>
          </a:xfrm>
          <a:prstGeom prst="rect">
            <a:avLst/>
          </a:prstGeom>
          <a:noFill/>
        </p:spPr>
        <p:txBody>
          <a:bodyPr wrap="square" lIns="0" rIns="0" tIns="0" bIns="0" anchor="t">
            <a:noAutofit/>
          </a:bodyPr>
          <a:lstStyle/>
          <a:p>
            <a:pPr algn="l">
              <a:lnSpc>
                <a:spcPct val="100000"/>
              </a:lnSpc>
              <a:spcAft>
                <a:spcPts val="0"/>
              </a:spcAft>
            </a:pPr>
            <a:r>
              <a:rPr sz="3200" b="1" i="0">
                <a:solidFill>
                  <a:srgbClr val="FFFFFF"/>
                </a:solidFill>
                <a:latin typeface="Calibri"/>
              </a:rPr>
              <a:t>Two trained models, two different jobs</a:t>
            </a:r>
          </a:p>
        </p:txBody>
      </p:sp>
      <p:sp>
        <p:nvSpPr>
          <p:cNvPr id="3" name="TextBox 2"/>
          <p:cNvSpPr txBox="1"/>
          <p:nvPr/>
        </p:nvSpPr>
        <p:spPr>
          <a:xfrm>
            <a:off x="548640" y="1143000"/>
            <a:ext cx="9326880" cy="548640"/>
          </a:xfrm>
          <a:prstGeom prst="rect">
            <a:avLst/>
          </a:prstGeom>
          <a:noFill/>
        </p:spPr>
        <p:txBody>
          <a:bodyPr wrap="square" lIns="0" rIns="0" tIns="0" bIns="0" anchor="t">
            <a:noAutofit/>
          </a:bodyPr>
          <a:lstStyle/>
          <a:p>
            <a:pPr algn="l">
              <a:lnSpc>
                <a:spcPct val="115000"/>
              </a:lnSpc>
              <a:spcAft>
                <a:spcPts val="0"/>
              </a:spcAft>
            </a:pPr>
            <a:r>
              <a:rPr sz="1400" b="0" i="0">
                <a:solidFill>
                  <a:srgbClr val="A9A9C7"/>
                </a:solidFill>
                <a:latin typeface="Calibri"/>
              </a:rPr>
              <a:t>One recognizes movement context; the other looks for unusual multivariate readings.</a:t>
            </a:r>
          </a:p>
        </p:txBody>
      </p:sp>
      <p:sp>
        <p:nvSpPr>
          <p:cNvPr id="4" name="Rounded Rectangle 3"/>
          <p:cNvSpPr/>
          <p:nvPr/>
        </p:nvSpPr>
        <p:spPr>
          <a:xfrm>
            <a:off x="566928" y="1993392"/>
            <a:ext cx="5376672" cy="3429000"/>
          </a:xfrm>
          <a:prstGeom prst="roundRect">
            <a:avLst>
              <a:gd name="adj" fmla="val 4800"/>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822960" y="2212848"/>
            <a:ext cx="1554480"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2212848"/>
            <a:ext cx="1554480" cy="256032"/>
          </a:xfrm>
          <a:prstGeom prst="rect">
            <a:avLst/>
          </a:prstGeom>
          <a:noFill/>
        </p:spPr>
        <p:txBody>
          <a:bodyPr wrap="square" lIns="0" rIns="0" tIns="0" bIns="0" anchor="ctr">
            <a:noAutofit/>
          </a:bodyPr>
          <a:lstStyle/>
          <a:p>
            <a:pPr algn="ctr">
              <a:lnSpc>
                <a:spcPct val="108000"/>
              </a:lnSpc>
              <a:spcAft>
                <a:spcPts val="0"/>
              </a:spcAft>
            </a:pPr>
            <a:r>
              <a:rPr sz="760" b="1" i="0" spc="120">
                <a:solidFill>
                  <a:srgbClr val="0F0E2A"/>
                </a:solidFill>
                <a:latin typeface="Calibri"/>
              </a:rPr>
              <a:t>CONTEXT MODEL</a:t>
            </a:r>
          </a:p>
        </p:txBody>
      </p:sp>
      <p:sp>
        <p:nvSpPr>
          <p:cNvPr id="7" name="TextBox 6"/>
          <p:cNvSpPr txBox="1"/>
          <p:nvPr/>
        </p:nvSpPr>
        <p:spPr>
          <a:xfrm>
            <a:off x="822960" y="2670048"/>
            <a:ext cx="4800600" cy="502920"/>
          </a:xfrm>
          <a:prstGeom prst="rect">
            <a:avLst/>
          </a:prstGeom>
          <a:noFill/>
        </p:spPr>
        <p:txBody>
          <a:bodyPr wrap="square" lIns="0" rIns="0" tIns="0" bIns="0" anchor="t">
            <a:noAutofit/>
          </a:bodyPr>
          <a:lstStyle/>
          <a:p>
            <a:pPr algn="l">
              <a:lnSpc>
                <a:spcPct val="108000"/>
              </a:lnSpc>
              <a:spcAft>
                <a:spcPts val="0"/>
              </a:spcAft>
            </a:pPr>
            <a:r>
              <a:rPr sz="1800" b="1" i="0">
                <a:solidFill>
                  <a:srgbClr val="FFFFFF"/>
                </a:solidFill>
                <a:latin typeface="Calibri"/>
              </a:rPr>
              <a:t>Random Forest Activity Classifier</a:t>
            </a:r>
          </a:p>
        </p:txBody>
      </p:sp>
      <p:sp>
        <p:nvSpPr>
          <p:cNvPr id="8" name="TextBox 7"/>
          <p:cNvSpPr txBox="1"/>
          <p:nvPr/>
        </p:nvSpPr>
        <p:spPr>
          <a:xfrm>
            <a:off x="822960" y="3319272"/>
            <a:ext cx="4389120" cy="228600"/>
          </a:xfrm>
          <a:prstGeom prst="rect">
            <a:avLst/>
          </a:prstGeom>
          <a:noFill/>
        </p:spPr>
        <p:txBody>
          <a:bodyPr wrap="square" lIns="0" rIns="0" tIns="0" bIns="0" anchor="ctr">
            <a:noAutofit/>
          </a:bodyPr>
          <a:lstStyle/>
          <a:p>
            <a:pPr algn="l">
              <a:lnSpc>
                <a:spcPct val="108000"/>
              </a:lnSpc>
              <a:spcAft>
                <a:spcPts val="0"/>
              </a:spcAft>
            </a:pPr>
            <a:r>
              <a:rPr sz="830" b="1" i="0" spc="160">
                <a:solidFill>
                  <a:srgbClr val="22D3EE"/>
                </a:solidFill>
                <a:latin typeface="Calibri"/>
              </a:rPr>
              <a:t>MOTION-ONLY INPUTS</a:t>
            </a:r>
          </a:p>
        </p:txBody>
      </p:sp>
      <p:sp>
        <p:nvSpPr>
          <p:cNvPr id="9" name="TextBox 8"/>
          <p:cNvSpPr txBox="1"/>
          <p:nvPr/>
        </p:nvSpPr>
        <p:spPr>
          <a:xfrm>
            <a:off x="822960" y="3602736"/>
            <a:ext cx="4754880" cy="384048"/>
          </a:xfrm>
          <a:prstGeom prst="rect">
            <a:avLst/>
          </a:prstGeom>
          <a:noFill/>
        </p:spPr>
        <p:txBody>
          <a:bodyPr wrap="square" lIns="0" rIns="0" tIns="0" bIns="0" anchor="t">
            <a:noAutofit/>
          </a:bodyPr>
          <a:lstStyle/>
          <a:p>
            <a:pPr algn="l">
              <a:lnSpc>
                <a:spcPct val="108000"/>
              </a:lnSpc>
              <a:spcAft>
                <a:spcPts val="0"/>
              </a:spcAft>
            </a:pPr>
            <a:r>
              <a:rPr sz="1150" b="1" i="0">
                <a:solidFill>
                  <a:srgbClr val="FFFFFF"/>
                </a:solidFill>
                <a:latin typeface="Calibri"/>
              </a:rPr>
              <a:t>Accelerometer · gyroscope · step count</a:t>
            </a:r>
          </a:p>
        </p:txBody>
      </p:sp>
      <p:cxnSp>
        <p:nvCxnSpPr>
          <p:cNvPr id="10" name="Connector 9"/>
          <p:cNvCxnSpPr/>
          <p:nvPr/>
        </p:nvCxnSpPr>
        <p:spPr>
          <a:xfrm>
            <a:off x="822960" y="4096512"/>
            <a:ext cx="4846320"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2960" y="4233672"/>
            <a:ext cx="4782312" cy="667512"/>
          </a:xfrm>
          <a:prstGeom prst="rect">
            <a:avLst/>
          </a:prstGeom>
          <a:noFill/>
        </p:spPr>
        <p:txBody>
          <a:bodyPr wrap="square" lIns="0" rIns="0" tIns="0" bIns="0" anchor="t">
            <a:noAutofit/>
          </a:bodyPr>
          <a:lstStyle/>
          <a:p>
            <a:pPr algn="l">
              <a:lnSpc>
                <a:spcPct val="118000"/>
              </a:lnSpc>
              <a:spcAft>
                <a:spcPts val="0"/>
              </a:spcAft>
            </a:pPr>
            <a:r>
              <a:rPr sz="1050" b="0" i="0">
                <a:solidFill>
                  <a:srgbClr val="A9A9C7"/>
                </a:solidFill>
                <a:latin typeface="Calibri"/>
              </a:rPr>
              <a:t>Predicts sleeping, resting, walking, running or exercising. Its prediction is context—not an alert—and helps interpret what is normal for that activity.</a:t>
            </a:r>
          </a:p>
        </p:txBody>
      </p:sp>
      <p:sp>
        <p:nvSpPr>
          <p:cNvPr id="12" name="TextBox 11"/>
          <p:cNvSpPr txBox="1"/>
          <p:nvPr/>
        </p:nvSpPr>
        <p:spPr>
          <a:xfrm>
            <a:off x="822960" y="4965192"/>
            <a:ext cx="1005840" cy="228600"/>
          </a:xfrm>
          <a:prstGeom prst="rect">
            <a:avLst/>
          </a:prstGeom>
          <a:noFill/>
        </p:spPr>
        <p:txBody>
          <a:bodyPr wrap="square" lIns="0" rIns="0" tIns="0" bIns="0" anchor="ctr">
            <a:noAutofit/>
          </a:bodyPr>
          <a:lstStyle/>
          <a:p>
            <a:pPr algn="l">
              <a:lnSpc>
                <a:spcPct val="108000"/>
              </a:lnSpc>
              <a:spcAft>
                <a:spcPts val="0"/>
              </a:spcAft>
            </a:pPr>
            <a:r>
              <a:rPr sz="800" b="1" i="0" spc="160">
                <a:solidFill>
                  <a:srgbClr val="22D3EE"/>
                </a:solidFill>
                <a:latin typeface="Calibri"/>
              </a:rPr>
              <a:t>OUTPUT</a:t>
            </a:r>
          </a:p>
        </p:txBody>
      </p:sp>
      <p:sp>
        <p:nvSpPr>
          <p:cNvPr id="13" name="TextBox 12"/>
          <p:cNvSpPr txBox="1"/>
          <p:nvPr/>
        </p:nvSpPr>
        <p:spPr>
          <a:xfrm>
            <a:off x="1810512" y="4919472"/>
            <a:ext cx="3749039" cy="347472"/>
          </a:xfrm>
          <a:prstGeom prst="rect">
            <a:avLst/>
          </a:prstGeom>
          <a:noFill/>
        </p:spPr>
        <p:txBody>
          <a:bodyPr wrap="square" lIns="0" rIns="0" tIns="0" bIns="0" anchor="t">
            <a:noAutofit/>
          </a:bodyPr>
          <a:lstStyle/>
          <a:p>
            <a:pPr algn="l">
              <a:lnSpc>
                <a:spcPct val="108000"/>
              </a:lnSpc>
              <a:spcAft>
                <a:spcPts val="0"/>
              </a:spcAft>
            </a:pPr>
            <a:r>
              <a:rPr sz="1050" b="1" i="0">
                <a:solidFill>
                  <a:srgbClr val="FFFFFF"/>
                </a:solidFill>
                <a:latin typeface="Calibri"/>
              </a:rPr>
              <a:t>Activity label → expected context</a:t>
            </a:r>
          </a:p>
        </p:txBody>
      </p:sp>
      <p:sp>
        <p:nvSpPr>
          <p:cNvPr id="14" name="Rounded Rectangle 13"/>
          <p:cNvSpPr/>
          <p:nvPr/>
        </p:nvSpPr>
        <p:spPr>
          <a:xfrm>
            <a:off x="6245352" y="1993392"/>
            <a:ext cx="5376672" cy="3429000"/>
          </a:xfrm>
          <a:prstGeom prst="roundRect">
            <a:avLst>
              <a:gd name="adj" fmla="val 4800"/>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501384" y="2212848"/>
            <a:ext cx="1554480" cy="256032"/>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01384" y="2212848"/>
            <a:ext cx="1554480" cy="256032"/>
          </a:xfrm>
          <a:prstGeom prst="rect">
            <a:avLst/>
          </a:prstGeom>
          <a:noFill/>
        </p:spPr>
        <p:txBody>
          <a:bodyPr wrap="square" lIns="0" rIns="0" tIns="0" bIns="0" anchor="ctr">
            <a:noAutofit/>
          </a:bodyPr>
          <a:lstStyle/>
          <a:p>
            <a:pPr algn="ctr">
              <a:lnSpc>
                <a:spcPct val="108000"/>
              </a:lnSpc>
              <a:spcAft>
                <a:spcPts val="0"/>
              </a:spcAft>
            </a:pPr>
            <a:r>
              <a:rPr sz="760" b="1" i="0" spc="120">
                <a:solidFill>
                  <a:srgbClr val="FFFFFF"/>
                </a:solidFill>
                <a:latin typeface="Calibri"/>
              </a:rPr>
              <a:t>ANOMALY MODEL</a:t>
            </a:r>
          </a:p>
        </p:txBody>
      </p:sp>
      <p:sp>
        <p:nvSpPr>
          <p:cNvPr id="17" name="TextBox 16"/>
          <p:cNvSpPr txBox="1"/>
          <p:nvPr/>
        </p:nvSpPr>
        <p:spPr>
          <a:xfrm>
            <a:off x="6501384" y="2670048"/>
            <a:ext cx="4800600" cy="502920"/>
          </a:xfrm>
          <a:prstGeom prst="rect">
            <a:avLst/>
          </a:prstGeom>
          <a:noFill/>
        </p:spPr>
        <p:txBody>
          <a:bodyPr wrap="square" lIns="0" rIns="0" tIns="0" bIns="0" anchor="t">
            <a:noAutofit/>
          </a:bodyPr>
          <a:lstStyle/>
          <a:p>
            <a:pPr algn="l">
              <a:lnSpc>
                <a:spcPct val="108000"/>
              </a:lnSpc>
              <a:spcAft>
                <a:spcPts val="0"/>
              </a:spcAft>
            </a:pPr>
            <a:r>
              <a:rPr sz="1800" b="1" i="0">
                <a:solidFill>
                  <a:srgbClr val="FFFFFF"/>
                </a:solidFill>
                <a:latin typeface="Calibri"/>
              </a:rPr>
              <a:t>Isolation Forest</a:t>
            </a:r>
          </a:p>
        </p:txBody>
      </p:sp>
      <p:sp>
        <p:nvSpPr>
          <p:cNvPr id="18" name="TextBox 17"/>
          <p:cNvSpPr txBox="1"/>
          <p:nvPr/>
        </p:nvSpPr>
        <p:spPr>
          <a:xfrm>
            <a:off x="6501384" y="3319272"/>
            <a:ext cx="4389120" cy="228600"/>
          </a:xfrm>
          <a:prstGeom prst="rect">
            <a:avLst/>
          </a:prstGeom>
          <a:noFill/>
        </p:spPr>
        <p:txBody>
          <a:bodyPr wrap="square" lIns="0" rIns="0" tIns="0" bIns="0" anchor="ctr">
            <a:noAutofit/>
          </a:bodyPr>
          <a:lstStyle/>
          <a:p>
            <a:pPr algn="l">
              <a:lnSpc>
                <a:spcPct val="108000"/>
              </a:lnSpc>
              <a:spcAft>
                <a:spcPts val="0"/>
              </a:spcAft>
            </a:pPr>
            <a:r>
              <a:rPr sz="830" b="1" i="0" spc="160">
                <a:solidFill>
                  <a:srgbClr val="F59E0B"/>
                </a:solidFill>
                <a:latin typeface="Calibri"/>
              </a:rPr>
              <a:t>UNSUPERVISED · 23 FEATURES</a:t>
            </a:r>
          </a:p>
        </p:txBody>
      </p:sp>
      <p:sp>
        <p:nvSpPr>
          <p:cNvPr id="19" name="TextBox 18"/>
          <p:cNvSpPr txBox="1"/>
          <p:nvPr/>
        </p:nvSpPr>
        <p:spPr>
          <a:xfrm>
            <a:off x="6501384" y="3602736"/>
            <a:ext cx="4754880" cy="384048"/>
          </a:xfrm>
          <a:prstGeom prst="rect">
            <a:avLst/>
          </a:prstGeom>
          <a:noFill/>
        </p:spPr>
        <p:txBody>
          <a:bodyPr wrap="square" lIns="0" rIns="0" tIns="0" bIns="0" anchor="t">
            <a:noAutofit/>
          </a:bodyPr>
          <a:lstStyle/>
          <a:p>
            <a:pPr algn="l">
              <a:lnSpc>
                <a:spcPct val="108000"/>
              </a:lnSpc>
              <a:spcAft>
                <a:spcPts val="0"/>
              </a:spcAft>
            </a:pPr>
            <a:r>
              <a:rPr sz="1150" b="1" i="0">
                <a:solidFill>
                  <a:srgbClr val="FFFFFF"/>
                </a:solidFill>
                <a:latin typeface="Calibri"/>
              </a:rPr>
              <a:t>Vitals · motion · activity intensity</a:t>
            </a:r>
          </a:p>
        </p:txBody>
      </p:sp>
      <p:cxnSp>
        <p:nvCxnSpPr>
          <p:cNvPr id="20" name="Connector 19"/>
          <p:cNvCxnSpPr/>
          <p:nvPr/>
        </p:nvCxnSpPr>
        <p:spPr>
          <a:xfrm>
            <a:off x="6501384" y="4096512"/>
            <a:ext cx="4846320"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501384" y="4233672"/>
            <a:ext cx="4782312" cy="667512"/>
          </a:xfrm>
          <a:prstGeom prst="rect">
            <a:avLst/>
          </a:prstGeom>
          <a:noFill/>
        </p:spPr>
        <p:txBody>
          <a:bodyPr wrap="square" lIns="0" rIns="0" tIns="0" bIns="0" anchor="t">
            <a:noAutofit/>
          </a:bodyPr>
          <a:lstStyle/>
          <a:p>
            <a:pPr algn="l">
              <a:lnSpc>
                <a:spcPct val="118000"/>
              </a:lnSpc>
              <a:spcAft>
                <a:spcPts val="0"/>
              </a:spcAft>
            </a:pPr>
            <a:r>
              <a:rPr sz="1050" b="0" i="0">
                <a:solidFill>
                  <a:srgbClr val="A9A9C7"/>
                </a:solidFill>
                <a:latin typeface="Calibri"/>
              </a:rPr>
              <a:t>Scores each live feature row for unusual combinations. A separate condition-mapping layer can translate a flagged anomaly into an explainable cause.</a:t>
            </a:r>
          </a:p>
        </p:txBody>
      </p:sp>
      <p:sp>
        <p:nvSpPr>
          <p:cNvPr id="22" name="TextBox 21"/>
          <p:cNvSpPr txBox="1"/>
          <p:nvPr/>
        </p:nvSpPr>
        <p:spPr>
          <a:xfrm>
            <a:off x="6501384" y="4965192"/>
            <a:ext cx="1005840" cy="228600"/>
          </a:xfrm>
          <a:prstGeom prst="rect">
            <a:avLst/>
          </a:prstGeom>
          <a:noFill/>
        </p:spPr>
        <p:txBody>
          <a:bodyPr wrap="square" lIns="0" rIns="0" tIns="0" bIns="0" anchor="ctr">
            <a:noAutofit/>
          </a:bodyPr>
          <a:lstStyle/>
          <a:p>
            <a:pPr algn="l">
              <a:lnSpc>
                <a:spcPct val="108000"/>
              </a:lnSpc>
              <a:spcAft>
                <a:spcPts val="0"/>
              </a:spcAft>
            </a:pPr>
            <a:r>
              <a:rPr sz="800" b="1" i="0" spc="160">
                <a:solidFill>
                  <a:srgbClr val="F59E0B"/>
                </a:solidFill>
                <a:latin typeface="Calibri"/>
              </a:rPr>
              <a:t>OUTPUT</a:t>
            </a:r>
          </a:p>
        </p:txBody>
      </p:sp>
      <p:sp>
        <p:nvSpPr>
          <p:cNvPr id="23" name="TextBox 22"/>
          <p:cNvSpPr txBox="1"/>
          <p:nvPr/>
        </p:nvSpPr>
        <p:spPr>
          <a:xfrm>
            <a:off x="7488936" y="4919472"/>
            <a:ext cx="3749039" cy="347472"/>
          </a:xfrm>
          <a:prstGeom prst="rect">
            <a:avLst/>
          </a:prstGeom>
          <a:noFill/>
        </p:spPr>
        <p:txBody>
          <a:bodyPr wrap="square" lIns="0" rIns="0" tIns="0" bIns="0" anchor="t">
            <a:noAutofit/>
          </a:bodyPr>
          <a:lstStyle/>
          <a:p>
            <a:pPr algn="l">
              <a:lnSpc>
                <a:spcPct val="108000"/>
              </a:lnSpc>
              <a:spcAft>
                <a:spcPts val="0"/>
              </a:spcAft>
            </a:pPr>
            <a:r>
              <a:rPr sz="1050" b="1" i="0">
                <a:solidFill>
                  <a:srgbClr val="FFFFFF"/>
                </a:solidFill>
                <a:latin typeface="Calibri"/>
              </a:rPr>
              <a:t>Anomaly label + score</a:t>
            </a:r>
          </a:p>
        </p:txBody>
      </p:sp>
      <p:sp>
        <p:nvSpPr>
          <p:cNvPr id="24" name="Rounded Rectangle 23"/>
          <p:cNvSpPr/>
          <p:nvPr/>
        </p:nvSpPr>
        <p:spPr>
          <a:xfrm>
            <a:off x="566928" y="5650992"/>
            <a:ext cx="11055096" cy="502920"/>
          </a:xfrm>
          <a:prstGeom prst="roundRect">
            <a:avLst>
              <a:gd name="adj" fmla="val 21818"/>
            </a:avLst>
          </a:prstGeom>
          <a:solidFill>
            <a:srgbClr val="262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95528" y="5687568"/>
            <a:ext cx="10607040" cy="347472"/>
          </a:xfrm>
          <a:prstGeom prst="rect">
            <a:avLst/>
          </a:prstGeom>
          <a:noFill/>
        </p:spPr>
        <p:txBody>
          <a:bodyPr wrap="square" lIns="0" rIns="0" tIns="0" bIns="0" anchor="ctr">
            <a:noAutofit/>
          </a:bodyPr>
          <a:lstStyle/>
          <a:p>
            <a:pPr algn="ctr">
              <a:lnSpc>
                <a:spcPct val="108000"/>
              </a:lnSpc>
              <a:spcAft>
                <a:spcPts val="0"/>
              </a:spcAft>
            </a:pPr>
            <a:r>
              <a:rPr sz="1000" b="0" i="0">
                <a:solidFill>
                  <a:srgbClr val="A9A9C7"/>
                </a:solidFill>
                <a:latin typeface="Calibri"/>
              </a:rPr>
              <a:t>Both score a single live row without a rolling history; the LSTM autoencoder separately handles temporal windows.</a:t>
            </a:r>
          </a:p>
        </p:txBody>
      </p:sp>
      <p:sp>
        <p:nvSpPr>
          <p:cNvPr id="26" name="TextBox 25"/>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A9A9C7"/>
                </a:solidFill>
                <a:latin typeface="Calibri"/>
              </a:rPr>
              <a:t>AI / ML</a:t>
            </a:r>
            <a:r>
              <a:rPr sz="800" b="0" i="0" spc="140">
                <a:solidFill>
                  <a:srgbClr val="A9A9C7"/>
                </a:solidFill>
                <a:latin typeface="Calibri"/>
              </a:rPr>
              <a:t>   |   MODEL ROLES AND INFERENCE</a:t>
            </a:r>
          </a:p>
        </p:txBody>
      </p:sp>
      <p:sp>
        <p:nvSpPr>
          <p:cNvPr id="27" name="TextBox 26"/>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22D3EE"/>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TextBox 1"/>
          <p:cNvSpPr txBox="1"/>
          <p:nvPr/>
        </p:nvSpPr>
        <p:spPr>
          <a:xfrm>
            <a:off x="548640" y="502920"/>
            <a:ext cx="8321040" cy="1115568"/>
          </a:xfrm>
          <a:prstGeom prst="rect">
            <a:avLst/>
          </a:prstGeom>
          <a:noFill/>
        </p:spPr>
        <p:txBody>
          <a:bodyPr wrap="square" lIns="0" rIns="0" tIns="0" bIns="0" anchor="t">
            <a:noAutofit/>
          </a:bodyPr>
          <a:lstStyle/>
          <a:p>
            <a:pPr algn="l">
              <a:lnSpc>
                <a:spcPct val="100000"/>
              </a:lnSpc>
              <a:spcAft>
                <a:spcPts val="0"/>
              </a:spcAft>
            </a:pPr>
            <a:r>
              <a:rPr sz="3200" b="1" i="0">
                <a:solidFill>
                  <a:srgbClr val="17172F"/>
                </a:solidFill>
                <a:latin typeface="Calibri"/>
              </a:rPr>
              <a:t>Promising offline results —
with validation still ahead</a:t>
            </a:r>
          </a:p>
        </p:txBody>
      </p:sp>
      <p:sp>
        <p:nvSpPr>
          <p:cNvPr id="3" name="TextBox 2"/>
          <p:cNvSpPr txBox="1"/>
          <p:nvPr/>
        </p:nvSpPr>
        <p:spPr>
          <a:xfrm>
            <a:off x="548640" y="1655064"/>
            <a:ext cx="8321040" cy="548640"/>
          </a:xfrm>
          <a:prstGeom prst="rect">
            <a:avLst/>
          </a:prstGeom>
          <a:noFill/>
        </p:spPr>
        <p:txBody>
          <a:bodyPr wrap="square" lIns="0" rIns="0" tIns="0" bIns="0" anchor="t">
            <a:noAutofit/>
          </a:bodyPr>
          <a:lstStyle/>
          <a:p>
            <a:pPr algn="l">
              <a:lnSpc>
                <a:spcPct val="115000"/>
              </a:lnSpc>
              <a:spcAft>
                <a:spcPts val="0"/>
              </a:spcAft>
            </a:pPr>
            <a:r>
              <a:rPr sz="1400" b="0" i="0">
                <a:solidFill>
                  <a:srgbClr val="5B5B7A"/>
                </a:solidFill>
                <a:latin typeface="Calibri"/>
              </a:rPr>
              <a:t>Held-out evaluation: 375 readings from a 1,875-reading dataset.</a:t>
            </a:r>
          </a:p>
        </p:txBody>
      </p:sp>
      <p:sp>
        <p:nvSpPr>
          <p:cNvPr id="4" name="Rounded Rectangle 3"/>
          <p:cNvSpPr/>
          <p:nvPr/>
        </p:nvSpPr>
        <p:spPr>
          <a:xfrm>
            <a:off x="566928" y="2057400"/>
            <a:ext cx="5074920" cy="3310128"/>
          </a:xfrm>
          <a:prstGeom prst="roundRect">
            <a:avLst>
              <a:gd name="adj" fmla="val 4972"/>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2304288"/>
            <a:ext cx="4114800" cy="228600"/>
          </a:xfrm>
          <a:prstGeom prst="rect">
            <a:avLst/>
          </a:prstGeom>
          <a:noFill/>
        </p:spPr>
        <p:txBody>
          <a:bodyPr wrap="square" lIns="0" rIns="0" tIns="0" bIns="0" anchor="ctr">
            <a:noAutofit/>
          </a:bodyPr>
          <a:lstStyle/>
          <a:p>
            <a:pPr algn="l">
              <a:lnSpc>
                <a:spcPct val="108000"/>
              </a:lnSpc>
              <a:spcAft>
                <a:spcPts val="0"/>
              </a:spcAft>
            </a:pPr>
            <a:r>
              <a:rPr sz="850" b="1" i="0" spc="160">
                <a:solidFill>
                  <a:srgbClr val="22D3EE"/>
                </a:solidFill>
                <a:latin typeface="Calibri"/>
              </a:rPr>
              <a:t>ACTIVITY CLASSIFIER · HELD-OUT SET</a:t>
            </a:r>
          </a:p>
        </p:txBody>
      </p:sp>
      <p:sp>
        <p:nvSpPr>
          <p:cNvPr id="6" name="TextBox 5"/>
          <p:cNvSpPr txBox="1"/>
          <p:nvPr/>
        </p:nvSpPr>
        <p:spPr>
          <a:xfrm>
            <a:off x="868680" y="2697480"/>
            <a:ext cx="2194560" cy="749808"/>
          </a:xfrm>
          <a:prstGeom prst="rect">
            <a:avLst/>
          </a:prstGeom>
          <a:noFill/>
        </p:spPr>
        <p:txBody>
          <a:bodyPr wrap="square" lIns="0" rIns="0" tIns="0" bIns="0" anchor="t">
            <a:noAutofit/>
          </a:bodyPr>
          <a:lstStyle/>
          <a:p>
            <a:pPr algn="l">
              <a:lnSpc>
                <a:spcPct val="108000"/>
              </a:lnSpc>
              <a:spcAft>
                <a:spcPts val="0"/>
              </a:spcAft>
            </a:pPr>
            <a:r>
              <a:rPr sz="3900" b="1" i="0">
                <a:solidFill>
                  <a:srgbClr val="FFFFFF"/>
                </a:solidFill>
                <a:latin typeface="Calibri"/>
              </a:rPr>
              <a:t>94%</a:t>
            </a:r>
          </a:p>
        </p:txBody>
      </p:sp>
      <p:sp>
        <p:nvSpPr>
          <p:cNvPr id="7" name="TextBox 6"/>
          <p:cNvSpPr txBox="1"/>
          <p:nvPr/>
        </p:nvSpPr>
        <p:spPr>
          <a:xfrm>
            <a:off x="3017520" y="2743200"/>
            <a:ext cx="2148840" cy="658368"/>
          </a:xfrm>
          <a:prstGeom prst="rect">
            <a:avLst/>
          </a:prstGeom>
          <a:noFill/>
        </p:spPr>
        <p:txBody>
          <a:bodyPr wrap="square" lIns="0" rIns="0" tIns="0" bIns="0" anchor="ctr">
            <a:noAutofit/>
          </a:bodyPr>
          <a:lstStyle/>
          <a:p>
            <a:pPr algn="l">
              <a:lnSpc>
                <a:spcPct val="108000"/>
              </a:lnSpc>
              <a:spcAft>
                <a:spcPts val="0"/>
              </a:spcAft>
            </a:pPr>
            <a:r>
              <a:rPr sz="1400" b="1" i="0">
                <a:solidFill>
                  <a:srgbClr val="A9A9C7"/>
                </a:solidFill>
                <a:latin typeface="Calibri"/>
              </a:rPr>
              <a:t>accuracy</a:t>
            </a:r>
          </a:p>
        </p:txBody>
      </p:sp>
      <p:cxnSp>
        <p:nvCxnSpPr>
          <p:cNvPr id="8" name="Connector 7"/>
          <p:cNvCxnSpPr/>
          <p:nvPr/>
        </p:nvCxnSpPr>
        <p:spPr>
          <a:xfrm>
            <a:off x="868680" y="3584448"/>
            <a:ext cx="4480560" cy="0"/>
          </a:xfrm>
          <a:prstGeom prst="line">
            <a:avLst/>
          </a:prstGeom>
          <a:ln w="13970">
            <a:solidFill>
              <a:srgbClr val="26255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 y="3803904"/>
            <a:ext cx="2194560" cy="713232"/>
          </a:xfrm>
          <a:prstGeom prst="rect">
            <a:avLst/>
          </a:prstGeom>
          <a:noFill/>
        </p:spPr>
        <p:txBody>
          <a:bodyPr wrap="square" lIns="0" rIns="0" tIns="0" bIns="0" anchor="t">
            <a:noAutofit/>
          </a:bodyPr>
          <a:lstStyle/>
          <a:p>
            <a:pPr algn="l">
              <a:lnSpc>
                <a:spcPct val="108000"/>
              </a:lnSpc>
              <a:spcAft>
                <a:spcPts val="0"/>
              </a:spcAft>
            </a:pPr>
            <a:r>
              <a:rPr sz="3400" b="1" i="0">
                <a:solidFill>
                  <a:srgbClr val="22D3EE"/>
                </a:solidFill>
                <a:latin typeface="Calibri"/>
              </a:rPr>
              <a:t>0.94</a:t>
            </a:r>
          </a:p>
        </p:txBody>
      </p:sp>
      <p:sp>
        <p:nvSpPr>
          <p:cNvPr id="10" name="TextBox 9"/>
          <p:cNvSpPr txBox="1"/>
          <p:nvPr/>
        </p:nvSpPr>
        <p:spPr>
          <a:xfrm>
            <a:off x="3017520" y="3858768"/>
            <a:ext cx="2148840" cy="594360"/>
          </a:xfrm>
          <a:prstGeom prst="rect">
            <a:avLst/>
          </a:prstGeom>
          <a:noFill/>
        </p:spPr>
        <p:txBody>
          <a:bodyPr wrap="square" lIns="0" rIns="0" tIns="0" bIns="0" anchor="ctr">
            <a:noAutofit/>
          </a:bodyPr>
          <a:lstStyle/>
          <a:p>
            <a:pPr algn="l">
              <a:lnSpc>
                <a:spcPct val="108000"/>
              </a:lnSpc>
              <a:spcAft>
                <a:spcPts val="0"/>
              </a:spcAft>
            </a:pPr>
            <a:r>
              <a:rPr sz="1400" b="1" i="0">
                <a:solidFill>
                  <a:srgbClr val="A9A9C7"/>
                </a:solidFill>
                <a:latin typeface="Calibri"/>
              </a:rPr>
              <a:t>macro F1</a:t>
            </a:r>
          </a:p>
        </p:txBody>
      </p:sp>
      <p:sp>
        <p:nvSpPr>
          <p:cNvPr id="11" name="TextBox 10"/>
          <p:cNvSpPr txBox="1"/>
          <p:nvPr/>
        </p:nvSpPr>
        <p:spPr>
          <a:xfrm>
            <a:off x="868680" y="4718304"/>
            <a:ext cx="4434840" cy="384048"/>
          </a:xfrm>
          <a:prstGeom prst="rect">
            <a:avLst/>
          </a:prstGeom>
          <a:noFill/>
        </p:spPr>
        <p:txBody>
          <a:bodyPr wrap="square" lIns="0" rIns="0" tIns="0" bIns="0" anchor="t">
            <a:noAutofit/>
          </a:bodyPr>
          <a:lstStyle/>
          <a:p>
            <a:pPr algn="l">
              <a:lnSpc>
                <a:spcPct val="108000"/>
              </a:lnSpc>
              <a:spcAft>
                <a:spcPts val="0"/>
              </a:spcAft>
            </a:pPr>
            <a:r>
              <a:rPr sz="1000" b="0" i="0">
                <a:solidFill>
                  <a:srgbClr val="A9A9C7"/>
                </a:solidFill>
                <a:latin typeface="Calibri"/>
              </a:rPr>
              <a:t>375 test readings · 5 activity classes</a:t>
            </a:r>
          </a:p>
        </p:txBody>
      </p:sp>
      <p:sp>
        <p:nvSpPr>
          <p:cNvPr id="12" name="Rounded Rectangle 11"/>
          <p:cNvSpPr/>
          <p:nvPr/>
        </p:nvSpPr>
        <p:spPr>
          <a:xfrm>
            <a:off x="5870448" y="2057400"/>
            <a:ext cx="5751576" cy="3310128"/>
          </a:xfrm>
          <a:prstGeom prst="roundRect">
            <a:avLst>
              <a:gd name="adj" fmla="val 4972"/>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172200" y="2304288"/>
            <a:ext cx="4754880" cy="228600"/>
          </a:xfrm>
          <a:prstGeom prst="rect">
            <a:avLst/>
          </a:prstGeom>
          <a:noFill/>
        </p:spPr>
        <p:txBody>
          <a:bodyPr wrap="square" lIns="0" rIns="0" tIns="0" bIns="0" anchor="ctr">
            <a:noAutofit/>
          </a:bodyPr>
          <a:lstStyle/>
          <a:p>
            <a:pPr algn="l">
              <a:lnSpc>
                <a:spcPct val="108000"/>
              </a:lnSpc>
              <a:spcAft>
                <a:spcPts val="0"/>
              </a:spcAft>
            </a:pPr>
            <a:r>
              <a:rPr sz="850" b="1" i="0" spc="160">
                <a:solidFill>
                  <a:srgbClr val="6C3CE9"/>
                </a:solidFill>
                <a:latin typeface="Calibri"/>
              </a:rPr>
              <a:t>PER-CLASS F1</a:t>
            </a:r>
          </a:p>
        </p:txBody>
      </p:sp>
      <p:sp>
        <p:nvSpPr>
          <p:cNvPr id="14" name="TextBox 13"/>
          <p:cNvSpPr txBox="1"/>
          <p:nvPr/>
        </p:nvSpPr>
        <p:spPr>
          <a:xfrm>
            <a:off x="6172200" y="2697480"/>
            <a:ext cx="2560320" cy="347472"/>
          </a:xfrm>
          <a:prstGeom prst="rect">
            <a:avLst/>
          </a:prstGeom>
          <a:noFill/>
        </p:spPr>
        <p:txBody>
          <a:bodyPr wrap="square" lIns="0" rIns="0" tIns="0" bIns="0" anchor="ctr">
            <a:noAutofit/>
          </a:bodyPr>
          <a:lstStyle/>
          <a:p>
            <a:pPr algn="l">
              <a:lnSpc>
                <a:spcPct val="108000"/>
              </a:lnSpc>
              <a:spcAft>
                <a:spcPts val="0"/>
              </a:spcAft>
            </a:pPr>
            <a:r>
              <a:rPr sz="1120" b="1" i="0">
                <a:solidFill>
                  <a:srgbClr val="17172F"/>
                </a:solidFill>
                <a:latin typeface="Calibri"/>
              </a:rPr>
              <a:t>Sleeping + resting</a:t>
            </a:r>
          </a:p>
        </p:txBody>
      </p:sp>
      <p:sp>
        <p:nvSpPr>
          <p:cNvPr id="15" name="Rounded Rectangle 14"/>
          <p:cNvSpPr/>
          <p:nvPr/>
        </p:nvSpPr>
        <p:spPr>
          <a:xfrm>
            <a:off x="8732520" y="2779776"/>
            <a:ext cx="1691640" cy="146304"/>
          </a:xfrm>
          <a:prstGeom prst="roundRect">
            <a:avLst>
              <a:gd name="adj" fmla="val 50000"/>
            </a:avLst>
          </a:prstGeom>
          <a:solidFill>
            <a:srgbClr val="E6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732520" y="2779776"/>
            <a:ext cx="1674723" cy="146304"/>
          </a:xfrm>
          <a:prstGeom prst="roundRect">
            <a:avLst>
              <a:gd name="adj" fmla="val 500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561320" y="2697480"/>
            <a:ext cx="731520" cy="347472"/>
          </a:xfrm>
          <a:prstGeom prst="rect">
            <a:avLst/>
          </a:prstGeom>
          <a:noFill/>
        </p:spPr>
        <p:txBody>
          <a:bodyPr wrap="square" lIns="0" rIns="0" tIns="0" bIns="0" anchor="ctr">
            <a:noAutofit/>
          </a:bodyPr>
          <a:lstStyle/>
          <a:p>
            <a:pPr algn="r">
              <a:lnSpc>
                <a:spcPct val="108000"/>
              </a:lnSpc>
              <a:spcAft>
                <a:spcPts val="0"/>
              </a:spcAft>
            </a:pPr>
            <a:r>
              <a:rPr sz="1150" b="1" i="0">
                <a:solidFill>
                  <a:srgbClr val="34D399"/>
                </a:solidFill>
                <a:latin typeface="Calibri"/>
              </a:rPr>
              <a:t>≈0.99</a:t>
            </a:r>
          </a:p>
        </p:txBody>
      </p:sp>
      <p:sp>
        <p:nvSpPr>
          <p:cNvPr id="18" name="TextBox 17"/>
          <p:cNvSpPr txBox="1"/>
          <p:nvPr/>
        </p:nvSpPr>
        <p:spPr>
          <a:xfrm>
            <a:off x="6172200" y="3227832"/>
            <a:ext cx="2560320" cy="347472"/>
          </a:xfrm>
          <a:prstGeom prst="rect">
            <a:avLst/>
          </a:prstGeom>
          <a:noFill/>
        </p:spPr>
        <p:txBody>
          <a:bodyPr wrap="square" lIns="0" rIns="0" tIns="0" bIns="0" anchor="ctr">
            <a:noAutofit/>
          </a:bodyPr>
          <a:lstStyle/>
          <a:p>
            <a:pPr algn="l">
              <a:lnSpc>
                <a:spcPct val="108000"/>
              </a:lnSpc>
              <a:spcAft>
                <a:spcPts val="0"/>
              </a:spcAft>
            </a:pPr>
            <a:r>
              <a:rPr sz="1120" b="1" i="0">
                <a:solidFill>
                  <a:srgbClr val="17172F"/>
                </a:solidFill>
                <a:latin typeface="Calibri"/>
              </a:rPr>
              <a:t>Walking</a:t>
            </a:r>
          </a:p>
        </p:txBody>
      </p:sp>
      <p:sp>
        <p:nvSpPr>
          <p:cNvPr id="19" name="Rounded Rectangle 18"/>
          <p:cNvSpPr/>
          <p:nvPr/>
        </p:nvSpPr>
        <p:spPr>
          <a:xfrm>
            <a:off x="8732520" y="3310128"/>
            <a:ext cx="1691640" cy="146304"/>
          </a:xfrm>
          <a:prstGeom prst="roundRect">
            <a:avLst>
              <a:gd name="adj" fmla="val 50000"/>
            </a:avLst>
          </a:prstGeom>
          <a:solidFill>
            <a:srgbClr val="E6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732520" y="3310128"/>
            <a:ext cx="1640890" cy="146304"/>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561320" y="3227832"/>
            <a:ext cx="731520" cy="347472"/>
          </a:xfrm>
          <a:prstGeom prst="rect">
            <a:avLst/>
          </a:prstGeom>
          <a:noFill/>
        </p:spPr>
        <p:txBody>
          <a:bodyPr wrap="square" lIns="0" rIns="0" tIns="0" bIns="0" anchor="ctr">
            <a:noAutofit/>
          </a:bodyPr>
          <a:lstStyle/>
          <a:p>
            <a:pPr algn="r">
              <a:lnSpc>
                <a:spcPct val="108000"/>
              </a:lnSpc>
              <a:spcAft>
                <a:spcPts val="0"/>
              </a:spcAft>
            </a:pPr>
            <a:r>
              <a:rPr sz="1150" b="1" i="0">
                <a:solidFill>
                  <a:srgbClr val="22D3EE"/>
                </a:solidFill>
                <a:latin typeface="Calibri"/>
              </a:rPr>
              <a:t>0.97</a:t>
            </a:r>
          </a:p>
        </p:txBody>
      </p:sp>
      <p:sp>
        <p:nvSpPr>
          <p:cNvPr id="22" name="TextBox 21"/>
          <p:cNvSpPr txBox="1"/>
          <p:nvPr/>
        </p:nvSpPr>
        <p:spPr>
          <a:xfrm>
            <a:off x="6172200" y="3758184"/>
            <a:ext cx="2560320" cy="347472"/>
          </a:xfrm>
          <a:prstGeom prst="rect">
            <a:avLst/>
          </a:prstGeom>
          <a:noFill/>
        </p:spPr>
        <p:txBody>
          <a:bodyPr wrap="square" lIns="0" rIns="0" tIns="0" bIns="0" anchor="ctr">
            <a:noAutofit/>
          </a:bodyPr>
          <a:lstStyle/>
          <a:p>
            <a:pPr algn="l">
              <a:lnSpc>
                <a:spcPct val="108000"/>
              </a:lnSpc>
              <a:spcAft>
                <a:spcPts val="0"/>
              </a:spcAft>
            </a:pPr>
            <a:r>
              <a:rPr sz="1120" b="1" i="0">
                <a:solidFill>
                  <a:srgbClr val="17172F"/>
                </a:solidFill>
                <a:latin typeface="Calibri"/>
              </a:rPr>
              <a:t>Running</a:t>
            </a:r>
          </a:p>
        </p:txBody>
      </p:sp>
      <p:sp>
        <p:nvSpPr>
          <p:cNvPr id="23" name="Rounded Rectangle 22"/>
          <p:cNvSpPr/>
          <p:nvPr/>
        </p:nvSpPr>
        <p:spPr>
          <a:xfrm>
            <a:off x="8732520" y="3840480"/>
            <a:ext cx="1691640" cy="146304"/>
          </a:xfrm>
          <a:prstGeom prst="roundRect">
            <a:avLst>
              <a:gd name="adj" fmla="val 50000"/>
            </a:avLst>
          </a:prstGeom>
          <a:solidFill>
            <a:srgbClr val="E6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732520" y="3840480"/>
            <a:ext cx="1505559" cy="146304"/>
          </a:xfrm>
          <a:prstGeom prst="roundRect">
            <a:avLst>
              <a:gd name="adj" fmla="val 50000"/>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561320" y="3758184"/>
            <a:ext cx="731520" cy="347472"/>
          </a:xfrm>
          <a:prstGeom prst="rect">
            <a:avLst/>
          </a:prstGeom>
          <a:noFill/>
        </p:spPr>
        <p:txBody>
          <a:bodyPr wrap="square" lIns="0" rIns="0" tIns="0" bIns="0" anchor="ctr">
            <a:noAutofit/>
          </a:bodyPr>
          <a:lstStyle/>
          <a:p>
            <a:pPr algn="r">
              <a:lnSpc>
                <a:spcPct val="108000"/>
              </a:lnSpc>
              <a:spcAft>
                <a:spcPts val="0"/>
              </a:spcAft>
            </a:pPr>
            <a:r>
              <a:rPr sz="1150" b="1" i="0">
                <a:solidFill>
                  <a:srgbClr val="3B5BFF"/>
                </a:solidFill>
                <a:latin typeface="Calibri"/>
              </a:rPr>
              <a:t>0.89</a:t>
            </a:r>
          </a:p>
        </p:txBody>
      </p:sp>
      <p:sp>
        <p:nvSpPr>
          <p:cNvPr id="26" name="TextBox 25"/>
          <p:cNvSpPr txBox="1"/>
          <p:nvPr/>
        </p:nvSpPr>
        <p:spPr>
          <a:xfrm>
            <a:off x="6172200" y="4288536"/>
            <a:ext cx="2560320" cy="347472"/>
          </a:xfrm>
          <a:prstGeom prst="rect">
            <a:avLst/>
          </a:prstGeom>
          <a:noFill/>
        </p:spPr>
        <p:txBody>
          <a:bodyPr wrap="square" lIns="0" rIns="0" tIns="0" bIns="0" anchor="ctr">
            <a:noAutofit/>
          </a:bodyPr>
          <a:lstStyle/>
          <a:p>
            <a:pPr algn="l">
              <a:lnSpc>
                <a:spcPct val="108000"/>
              </a:lnSpc>
              <a:spcAft>
                <a:spcPts val="0"/>
              </a:spcAft>
            </a:pPr>
            <a:r>
              <a:rPr sz="1120" b="1" i="0">
                <a:solidFill>
                  <a:srgbClr val="17172F"/>
                </a:solidFill>
                <a:latin typeface="Calibri"/>
              </a:rPr>
              <a:t>Exercising</a:t>
            </a:r>
          </a:p>
        </p:txBody>
      </p:sp>
      <p:sp>
        <p:nvSpPr>
          <p:cNvPr id="27" name="Rounded Rectangle 26"/>
          <p:cNvSpPr/>
          <p:nvPr/>
        </p:nvSpPr>
        <p:spPr>
          <a:xfrm>
            <a:off x="8732520" y="4370832"/>
            <a:ext cx="1691640" cy="146304"/>
          </a:xfrm>
          <a:prstGeom prst="roundRect">
            <a:avLst>
              <a:gd name="adj" fmla="val 50000"/>
            </a:avLst>
          </a:prstGeom>
          <a:solidFill>
            <a:srgbClr val="E6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8732520" y="4370832"/>
            <a:ext cx="1437894" cy="146304"/>
          </a:xfrm>
          <a:prstGeom prst="roundRect">
            <a:avLst>
              <a:gd name="adj" fmla="val 50000"/>
            </a:avLst>
          </a:prstGeom>
          <a:solidFill>
            <a:srgbClr val="F5B3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561320" y="4288536"/>
            <a:ext cx="731520" cy="347472"/>
          </a:xfrm>
          <a:prstGeom prst="rect">
            <a:avLst/>
          </a:prstGeom>
          <a:noFill/>
        </p:spPr>
        <p:txBody>
          <a:bodyPr wrap="square" lIns="0" rIns="0" tIns="0" bIns="0" anchor="ctr">
            <a:noAutofit/>
          </a:bodyPr>
          <a:lstStyle/>
          <a:p>
            <a:pPr algn="r">
              <a:lnSpc>
                <a:spcPct val="108000"/>
              </a:lnSpc>
              <a:spcAft>
                <a:spcPts val="0"/>
              </a:spcAft>
            </a:pPr>
            <a:r>
              <a:rPr sz="1150" b="1" i="0">
                <a:solidFill>
                  <a:srgbClr val="F5B301"/>
                </a:solidFill>
                <a:latin typeface="Calibri"/>
              </a:rPr>
              <a:t>0.85</a:t>
            </a:r>
          </a:p>
        </p:txBody>
      </p:sp>
      <p:sp>
        <p:nvSpPr>
          <p:cNvPr id="30" name="Rounded Rectangle 29"/>
          <p:cNvSpPr/>
          <p:nvPr/>
        </p:nvSpPr>
        <p:spPr>
          <a:xfrm>
            <a:off x="566928" y="5513832"/>
            <a:ext cx="11055096" cy="621792"/>
          </a:xfrm>
          <a:prstGeom prst="roundRect">
            <a:avLst>
              <a:gd name="adj" fmla="val 17647"/>
            </a:avLst>
          </a:prstGeom>
          <a:solidFill>
            <a:srgbClr val="EE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04672" y="5577840"/>
            <a:ext cx="2148840" cy="457200"/>
          </a:xfrm>
          <a:prstGeom prst="rect">
            <a:avLst/>
          </a:prstGeom>
          <a:noFill/>
        </p:spPr>
        <p:txBody>
          <a:bodyPr wrap="square" lIns="0" rIns="0" tIns="0" bIns="0" anchor="ctr">
            <a:noAutofit/>
          </a:bodyPr>
          <a:lstStyle/>
          <a:p>
            <a:pPr algn="l">
              <a:lnSpc>
                <a:spcPct val="108000"/>
              </a:lnSpc>
              <a:spcAft>
                <a:spcPts val="0"/>
              </a:spcAft>
            </a:pPr>
            <a:r>
              <a:rPr sz="900" b="1" i="0">
                <a:solidFill>
                  <a:srgbClr val="6C3CE9"/>
                </a:solidFill>
                <a:latin typeface="Calibri"/>
              </a:rPr>
              <a:t>ISOLATION FOREST</a:t>
            </a:r>
          </a:p>
        </p:txBody>
      </p:sp>
      <p:sp>
        <p:nvSpPr>
          <p:cNvPr id="32" name="TextBox 31"/>
          <p:cNvSpPr txBox="1"/>
          <p:nvPr/>
        </p:nvSpPr>
        <p:spPr>
          <a:xfrm>
            <a:off x="2743200" y="5577840"/>
            <a:ext cx="1828800" cy="457200"/>
          </a:xfrm>
          <a:prstGeom prst="rect">
            <a:avLst/>
          </a:prstGeom>
          <a:noFill/>
        </p:spPr>
        <p:txBody>
          <a:bodyPr wrap="square" lIns="0" rIns="0" tIns="0" bIns="0" anchor="ctr">
            <a:noAutofit/>
          </a:bodyPr>
          <a:lstStyle/>
          <a:p>
            <a:pPr algn="l">
              <a:lnSpc>
                <a:spcPct val="108000"/>
              </a:lnSpc>
              <a:spcAft>
                <a:spcPts val="0"/>
              </a:spcAft>
            </a:pPr>
            <a:r>
              <a:rPr sz="1050" b="1" i="0">
                <a:solidFill>
                  <a:srgbClr val="17172F"/>
                </a:solidFill>
                <a:latin typeface="Calibri"/>
              </a:rPr>
              <a:t>37 / 375 flagged</a:t>
            </a:r>
          </a:p>
        </p:txBody>
      </p:sp>
      <p:sp>
        <p:nvSpPr>
          <p:cNvPr id="33" name="TextBox 32"/>
          <p:cNvSpPr txBox="1"/>
          <p:nvPr/>
        </p:nvSpPr>
        <p:spPr>
          <a:xfrm>
            <a:off x="4599432" y="5577840"/>
            <a:ext cx="3108960" cy="457200"/>
          </a:xfrm>
          <a:prstGeom prst="rect">
            <a:avLst/>
          </a:prstGeom>
          <a:noFill/>
        </p:spPr>
        <p:txBody>
          <a:bodyPr wrap="square" lIns="0" rIns="0" tIns="0" bIns="0" anchor="ctr">
            <a:noAutofit/>
          </a:bodyPr>
          <a:lstStyle/>
          <a:p>
            <a:pPr algn="l">
              <a:lnSpc>
                <a:spcPct val="108000"/>
              </a:lnSpc>
              <a:spcAft>
                <a:spcPts val="0"/>
              </a:spcAft>
            </a:pPr>
            <a:r>
              <a:rPr sz="980" b="0" i="0">
                <a:solidFill>
                  <a:srgbClr val="17172F"/>
                </a:solidFill>
                <a:latin typeface="Calibri"/>
              </a:rPr>
              <a:t>35 mapped · 18 low oxygen · 17 fever</a:t>
            </a:r>
          </a:p>
        </p:txBody>
      </p:sp>
      <p:sp>
        <p:nvSpPr>
          <p:cNvPr id="34" name="TextBox 33"/>
          <p:cNvSpPr txBox="1"/>
          <p:nvPr/>
        </p:nvSpPr>
        <p:spPr>
          <a:xfrm>
            <a:off x="7882127" y="5577840"/>
            <a:ext cx="1554480" cy="457200"/>
          </a:xfrm>
          <a:prstGeom prst="rect">
            <a:avLst/>
          </a:prstGeom>
          <a:noFill/>
        </p:spPr>
        <p:txBody>
          <a:bodyPr wrap="square" lIns="0" rIns="0" tIns="0" bIns="0" anchor="ctr">
            <a:noAutofit/>
          </a:bodyPr>
          <a:lstStyle/>
          <a:p>
            <a:pPr algn="l">
              <a:lnSpc>
                <a:spcPct val="108000"/>
              </a:lnSpc>
              <a:spcAft>
                <a:spcPts val="0"/>
              </a:spcAft>
            </a:pPr>
            <a:r>
              <a:rPr sz="980" b="1" i="0">
                <a:solidFill>
                  <a:srgbClr val="5B5B7A"/>
                </a:solidFill>
                <a:latin typeface="Calibri"/>
              </a:rPr>
              <a:t>2 unresolved</a:t>
            </a:r>
          </a:p>
        </p:txBody>
      </p:sp>
      <p:sp>
        <p:nvSpPr>
          <p:cNvPr id="35" name="Rounded Rectangle 34"/>
          <p:cNvSpPr/>
          <p:nvPr/>
        </p:nvSpPr>
        <p:spPr>
          <a:xfrm>
            <a:off x="9646920" y="5660136"/>
            <a:ext cx="1600200" cy="256032"/>
          </a:xfrm>
          <a:prstGeom prst="roundRect">
            <a:avLst>
              <a:gd name="adj" fmla="val 50000"/>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646920" y="5660136"/>
            <a:ext cx="1600200" cy="256032"/>
          </a:xfrm>
          <a:prstGeom prst="rect">
            <a:avLst/>
          </a:prstGeom>
          <a:noFill/>
        </p:spPr>
        <p:txBody>
          <a:bodyPr wrap="square" lIns="0" rIns="0" tIns="0" bIns="0" anchor="ctr">
            <a:noAutofit/>
          </a:bodyPr>
          <a:lstStyle/>
          <a:p>
            <a:pPr algn="ctr">
              <a:lnSpc>
                <a:spcPct val="108000"/>
              </a:lnSpc>
              <a:spcAft>
                <a:spcPts val="0"/>
              </a:spcAft>
            </a:pPr>
            <a:r>
              <a:rPr sz="730" b="1" i="0" spc="120">
                <a:solidFill>
                  <a:srgbClr val="FFFFFF"/>
                </a:solidFill>
                <a:latin typeface="Calibri"/>
              </a:rPr>
              <a:t>≈10% FLAGGED</a:t>
            </a:r>
          </a:p>
        </p:txBody>
      </p:sp>
      <p:sp>
        <p:nvSpPr>
          <p:cNvPr id="37" name="TextBox 36"/>
          <p:cNvSpPr txBox="1"/>
          <p:nvPr/>
        </p:nvSpPr>
        <p:spPr>
          <a:xfrm>
            <a:off x="594360" y="6190488"/>
            <a:ext cx="10881360" cy="182880"/>
          </a:xfrm>
          <a:prstGeom prst="rect">
            <a:avLst/>
          </a:prstGeom>
          <a:noFill/>
        </p:spPr>
        <p:txBody>
          <a:bodyPr wrap="square" lIns="0" rIns="0" tIns="0" bIns="0" anchor="t">
            <a:noAutofit/>
          </a:bodyPr>
          <a:lstStyle/>
          <a:p>
            <a:pPr algn="l">
              <a:lnSpc>
                <a:spcPct val="108000"/>
              </a:lnSpc>
              <a:spcAft>
                <a:spcPts val="0"/>
              </a:spcAft>
            </a:pPr>
            <a:r>
              <a:rPr sz="869" b="0" i="1">
                <a:solidFill>
                  <a:srgbClr val="5B5B7A"/>
                </a:solidFill>
                <a:latin typeface="Calibri"/>
              </a:rPr>
              <a:t>Offline dataset metrics only — not clinical validation or a claim of real-world sensitivity.</a:t>
            </a:r>
          </a:p>
        </p:txBody>
      </p:sp>
      <p:sp>
        <p:nvSpPr>
          <p:cNvPr id="38" name="TextBox 37"/>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5B5B7A"/>
                </a:solidFill>
                <a:latin typeface="Calibri"/>
              </a:rPr>
              <a:t>AI / ML</a:t>
            </a:r>
            <a:r>
              <a:rPr sz="800" b="0" i="0" spc="140">
                <a:solidFill>
                  <a:srgbClr val="5B5B7A"/>
                </a:solidFill>
                <a:latin typeface="Calibri"/>
              </a:rPr>
              <a:t>   |   PRELIMINARY MODEL EVALUATION</a:t>
            </a:r>
          </a:p>
        </p:txBody>
      </p:sp>
      <p:sp>
        <p:nvSpPr>
          <p:cNvPr id="39" name="TextBox 38"/>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6C3CE9"/>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TextBox 1"/>
          <p:cNvSpPr txBox="1"/>
          <p:nvPr/>
        </p:nvSpPr>
        <p:spPr>
          <a:xfrm>
            <a:off x="548640" y="502920"/>
            <a:ext cx="9509760" cy="603504"/>
          </a:xfrm>
          <a:prstGeom prst="rect">
            <a:avLst/>
          </a:prstGeom>
          <a:noFill/>
        </p:spPr>
        <p:txBody>
          <a:bodyPr wrap="square" lIns="0" rIns="0" tIns="0" bIns="0" anchor="t">
            <a:noAutofit/>
          </a:bodyPr>
          <a:lstStyle/>
          <a:p>
            <a:pPr algn="l">
              <a:lnSpc>
                <a:spcPct val="100000"/>
              </a:lnSpc>
              <a:spcAft>
                <a:spcPts val="0"/>
              </a:spcAft>
            </a:pPr>
            <a:r>
              <a:rPr sz="3200" b="1" i="0">
                <a:solidFill>
                  <a:srgbClr val="17172F"/>
                </a:solidFill>
                <a:latin typeface="Calibri"/>
              </a:rPr>
              <a:t>Equation library — documented, not learned</a:t>
            </a:r>
          </a:p>
        </p:txBody>
      </p:sp>
      <p:sp>
        <p:nvSpPr>
          <p:cNvPr id="3" name="TextBox 2"/>
          <p:cNvSpPr txBox="1"/>
          <p:nvPr/>
        </p:nvSpPr>
        <p:spPr>
          <a:xfrm>
            <a:off x="548640" y="1143000"/>
            <a:ext cx="9509760" cy="548640"/>
          </a:xfrm>
          <a:prstGeom prst="rect">
            <a:avLst/>
          </a:prstGeom>
          <a:noFill/>
        </p:spPr>
        <p:txBody>
          <a:bodyPr wrap="square" lIns="0" rIns="0" tIns="0" bIns="0" anchor="t">
            <a:noAutofit/>
          </a:bodyPr>
          <a:lstStyle/>
          <a:p>
            <a:pPr algn="l">
              <a:lnSpc>
                <a:spcPct val="115000"/>
              </a:lnSpc>
              <a:spcAft>
                <a:spcPts val="0"/>
              </a:spcAft>
            </a:pPr>
            <a:r>
              <a:rPr sz="1400" b="0" i="0">
                <a:solidFill>
                  <a:srgbClr val="5B5B7A"/>
                </a:solidFill>
                <a:latin typeface="Calibri"/>
              </a:rPr>
              <a:t>Transparent score logic complements the trained models; it does not replace them.</a:t>
            </a:r>
          </a:p>
        </p:txBody>
      </p:sp>
      <p:sp>
        <p:nvSpPr>
          <p:cNvPr id="4" name="Rounded Rectangle 3"/>
          <p:cNvSpPr/>
          <p:nvPr/>
        </p:nvSpPr>
        <p:spPr>
          <a:xfrm>
            <a:off x="9326880" y="1700784"/>
            <a:ext cx="2240280" cy="283464"/>
          </a:xfrm>
          <a:prstGeom prst="roundRect">
            <a:avLst>
              <a:gd name="adj" fmla="val 50000"/>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326880" y="1700784"/>
            <a:ext cx="2240280" cy="283464"/>
          </a:xfrm>
          <a:prstGeom prst="rect">
            <a:avLst/>
          </a:prstGeom>
          <a:noFill/>
        </p:spPr>
        <p:txBody>
          <a:bodyPr wrap="square" lIns="0" rIns="0" tIns="0" bIns="0" anchor="ctr">
            <a:noAutofit/>
          </a:bodyPr>
          <a:lstStyle/>
          <a:p>
            <a:pPr algn="ctr">
              <a:lnSpc>
                <a:spcPct val="108000"/>
              </a:lnSpc>
              <a:spcAft>
                <a:spcPts val="0"/>
              </a:spcAft>
            </a:pPr>
            <a:r>
              <a:rPr sz="750" b="1" i="0" spc="120">
                <a:solidFill>
                  <a:srgbClr val="FFFFFF"/>
                </a:solidFill>
                <a:latin typeface="Calibri"/>
              </a:rPr>
              <a:t>RULES · PILOT VALIDATION</a:t>
            </a:r>
          </a:p>
        </p:txBody>
      </p:sp>
      <p:sp>
        <p:nvSpPr>
          <p:cNvPr id="6" name="Rounded Rectangle 5"/>
          <p:cNvSpPr/>
          <p:nvPr/>
        </p:nvSpPr>
        <p:spPr>
          <a:xfrm>
            <a:off x="566928" y="2212848"/>
            <a:ext cx="3520440" cy="1536192"/>
          </a:xfrm>
          <a:prstGeom prst="roundRect">
            <a:avLst>
              <a:gd name="adj" fmla="val 9523"/>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2212848"/>
            <a:ext cx="3520440" cy="82296"/>
          </a:xfrm>
          <a:prstGeom prst="roundRect">
            <a:avLst>
              <a:gd name="adj" fmla="val 50000"/>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86384" y="2450592"/>
            <a:ext cx="3063240" cy="329184"/>
          </a:xfrm>
          <a:prstGeom prst="rect">
            <a:avLst/>
          </a:prstGeom>
          <a:noFill/>
        </p:spPr>
        <p:txBody>
          <a:bodyPr wrap="square" lIns="0" rIns="0" tIns="0" bIns="0" anchor="t">
            <a:noAutofit/>
          </a:bodyPr>
          <a:lstStyle/>
          <a:p>
            <a:pPr algn="l">
              <a:lnSpc>
                <a:spcPct val="108000"/>
              </a:lnSpc>
              <a:spcAft>
                <a:spcPts val="0"/>
              </a:spcAft>
            </a:pPr>
            <a:r>
              <a:rPr sz="1400" b="1" i="0">
                <a:solidFill>
                  <a:srgbClr val="17172F"/>
                </a:solidFill>
                <a:latin typeface="Calibri"/>
              </a:rPr>
              <a:t>Stress index</a:t>
            </a:r>
          </a:p>
        </p:txBody>
      </p:sp>
      <p:sp>
        <p:nvSpPr>
          <p:cNvPr id="9" name="TextBox 8"/>
          <p:cNvSpPr txBox="1"/>
          <p:nvPr/>
        </p:nvSpPr>
        <p:spPr>
          <a:xfrm>
            <a:off x="786384" y="2816352"/>
            <a:ext cx="3063240" cy="420624"/>
          </a:xfrm>
          <a:prstGeom prst="rect">
            <a:avLst/>
          </a:prstGeom>
          <a:noFill/>
        </p:spPr>
        <p:txBody>
          <a:bodyPr wrap="square" lIns="0" rIns="0" tIns="0" bIns="0" anchor="t">
            <a:noAutofit/>
          </a:bodyPr>
          <a:lstStyle/>
          <a:p>
            <a:pPr algn="l">
              <a:lnSpc>
                <a:spcPct val="105000"/>
              </a:lnSpc>
              <a:spcAft>
                <a:spcPts val="0"/>
              </a:spcAft>
            </a:pPr>
            <a:r>
              <a:rPr sz="1120" b="1" i="0">
                <a:solidFill>
                  <a:srgbClr val="6C3CE9"/>
                </a:solidFill>
                <a:latin typeface="Calibri"/>
              </a:rPr>
              <a:t>GSR arousal  +  HRV drop  +  resting-HR rise</a:t>
            </a:r>
          </a:p>
        </p:txBody>
      </p:sp>
      <p:sp>
        <p:nvSpPr>
          <p:cNvPr id="10" name="TextBox 9"/>
          <p:cNvSpPr txBox="1"/>
          <p:nvPr/>
        </p:nvSpPr>
        <p:spPr>
          <a:xfrm>
            <a:off x="786384" y="3273552"/>
            <a:ext cx="3063240" cy="384048"/>
          </a:xfrm>
          <a:prstGeom prst="rect">
            <a:avLst/>
          </a:prstGeom>
          <a:noFill/>
        </p:spPr>
        <p:txBody>
          <a:bodyPr wrap="square" lIns="0" rIns="0" tIns="0" bIns="0" anchor="t">
            <a:noAutofit/>
          </a:bodyPr>
          <a:lstStyle/>
          <a:p>
            <a:pPr algn="l">
              <a:lnSpc>
                <a:spcPct val="110000"/>
              </a:lnSpc>
              <a:spcAft>
                <a:spcPts val="0"/>
              </a:spcAft>
            </a:pPr>
            <a:r>
              <a:rPr sz="919" b="0" i="0">
                <a:solidFill>
                  <a:srgbClr val="5B5B7A"/>
                </a:solidFill>
                <a:latin typeface="Calibri"/>
              </a:rPr>
              <a:t>Combined signals; no single sensor decides alone.</a:t>
            </a:r>
          </a:p>
        </p:txBody>
      </p:sp>
      <p:sp>
        <p:nvSpPr>
          <p:cNvPr id="11" name="Rounded Rectangle 10"/>
          <p:cNvSpPr/>
          <p:nvPr/>
        </p:nvSpPr>
        <p:spPr>
          <a:xfrm>
            <a:off x="4334256" y="2212848"/>
            <a:ext cx="3520440" cy="1536192"/>
          </a:xfrm>
          <a:prstGeom prst="roundRect">
            <a:avLst>
              <a:gd name="adj" fmla="val 9523"/>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4334256" y="2212848"/>
            <a:ext cx="3520440" cy="8229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53712" y="2450592"/>
            <a:ext cx="3063240" cy="329184"/>
          </a:xfrm>
          <a:prstGeom prst="rect">
            <a:avLst/>
          </a:prstGeom>
          <a:noFill/>
        </p:spPr>
        <p:txBody>
          <a:bodyPr wrap="square" lIns="0" rIns="0" tIns="0" bIns="0" anchor="t">
            <a:noAutofit/>
          </a:bodyPr>
          <a:lstStyle/>
          <a:p>
            <a:pPr algn="l">
              <a:lnSpc>
                <a:spcPct val="108000"/>
              </a:lnSpc>
              <a:spcAft>
                <a:spcPts val="0"/>
              </a:spcAft>
            </a:pPr>
            <a:r>
              <a:rPr sz="1400" b="1" i="0">
                <a:solidFill>
                  <a:srgbClr val="17172F"/>
                </a:solidFill>
                <a:latin typeface="Calibri"/>
              </a:rPr>
              <a:t>Core temperature</a:t>
            </a:r>
          </a:p>
        </p:txBody>
      </p:sp>
      <p:sp>
        <p:nvSpPr>
          <p:cNvPr id="14" name="TextBox 13"/>
          <p:cNvSpPr txBox="1"/>
          <p:nvPr/>
        </p:nvSpPr>
        <p:spPr>
          <a:xfrm>
            <a:off x="4553712" y="2816352"/>
            <a:ext cx="3063240" cy="420624"/>
          </a:xfrm>
          <a:prstGeom prst="rect">
            <a:avLst/>
          </a:prstGeom>
          <a:noFill/>
        </p:spPr>
        <p:txBody>
          <a:bodyPr wrap="square" lIns="0" rIns="0" tIns="0" bIns="0" anchor="t">
            <a:noAutofit/>
          </a:bodyPr>
          <a:lstStyle/>
          <a:p>
            <a:pPr algn="l">
              <a:lnSpc>
                <a:spcPct val="105000"/>
              </a:lnSpc>
              <a:spcAft>
                <a:spcPts val="0"/>
              </a:spcAft>
            </a:pPr>
            <a:r>
              <a:rPr sz="1120" b="1" i="0">
                <a:solidFill>
                  <a:srgbClr val="22D3EE"/>
                </a:solidFill>
                <a:latin typeface="Calibri"/>
              </a:rPr>
              <a:t>Tcore ≈ gain × Tskin + offset</a:t>
            </a:r>
          </a:p>
        </p:txBody>
      </p:sp>
      <p:sp>
        <p:nvSpPr>
          <p:cNvPr id="15" name="TextBox 14"/>
          <p:cNvSpPr txBox="1"/>
          <p:nvPr/>
        </p:nvSpPr>
        <p:spPr>
          <a:xfrm>
            <a:off x="4553712" y="3273552"/>
            <a:ext cx="3063240" cy="384048"/>
          </a:xfrm>
          <a:prstGeom prst="rect">
            <a:avLst/>
          </a:prstGeom>
          <a:noFill/>
        </p:spPr>
        <p:txBody>
          <a:bodyPr wrap="square" lIns="0" rIns="0" tIns="0" bIns="0" anchor="t">
            <a:noAutofit/>
          </a:bodyPr>
          <a:lstStyle/>
          <a:p>
            <a:pPr algn="l">
              <a:lnSpc>
                <a:spcPct val="110000"/>
              </a:lnSpc>
              <a:spcAft>
                <a:spcPts val="0"/>
              </a:spcAft>
            </a:pPr>
            <a:r>
              <a:rPr sz="919" b="0" i="0">
                <a:solidFill>
                  <a:srgbClr val="5B5B7A"/>
                </a:solidFill>
                <a:latin typeface="Calibri"/>
              </a:rPr>
              <a:t>Calibrated estimate from the skin-temperature reading.</a:t>
            </a:r>
          </a:p>
        </p:txBody>
      </p:sp>
      <p:sp>
        <p:nvSpPr>
          <p:cNvPr id="16" name="Rounded Rectangle 15"/>
          <p:cNvSpPr/>
          <p:nvPr/>
        </p:nvSpPr>
        <p:spPr>
          <a:xfrm>
            <a:off x="8101583" y="2212848"/>
            <a:ext cx="3520440" cy="1536192"/>
          </a:xfrm>
          <a:prstGeom prst="roundRect">
            <a:avLst>
              <a:gd name="adj" fmla="val 9523"/>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101583" y="2212848"/>
            <a:ext cx="3520440" cy="82296"/>
          </a:xfrm>
          <a:prstGeom prst="roundRect">
            <a:avLst>
              <a:gd name="adj" fmla="val 50000"/>
            </a:avLst>
          </a:prstGeom>
          <a:solidFill>
            <a:srgbClr val="F5B3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21040" y="2450592"/>
            <a:ext cx="3063240" cy="329184"/>
          </a:xfrm>
          <a:prstGeom prst="rect">
            <a:avLst/>
          </a:prstGeom>
          <a:noFill/>
        </p:spPr>
        <p:txBody>
          <a:bodyPr wrap="square" lIns="0" rIns="0" tIns="0" bIns="0" anchor="t">
            <a:noAutofit/>
          </a:bodyPr>
          <a:lstStyle/>
          <a:p>
            <a:pPr algn="l">
              <a:lnSpc>
                <a:spcPct val="108000"/>
              </a:lnSpc>
              <a:spcAft>
                <a:spcPts val="0"/>
              </a:spcAft>
            </a:pPr>
            <a:r>
              <a:rPr sz="1400" b="1" i="0">
                <a:solidFill>
                  <a:srgbClr val="17172F"/>
                </a:solidFill>
                <a:latin typeface="Calibri"/>
              </a:rPr>
              <a:t>Fever score</a:t>
            </a:r>
          </a:p>
        </p:txBody>
      </p:sp>
      <p:sp>
        <p:nvSpPr>
          <p:cNvPr id="19" name="TextBox 18"/>
          <p:cNvSpPr txBox="1"/>
          <p:nvPr/>
        </p:nvSpPr>
        <p:spPr>
          <a:xfrm>
            <a:off x="8321040" y="2816352"/>
            <a:ext cx="3063240" cy="420624"/>
          </a:xfrm>
          <a:prstGeom prst="rect">
            <a:avLst/>
          </a:prstGeom>
          <a:noFill/>
        </p:spPr>
        <p:txBody>
          <a:bodyPr wrap="square" lIns="0" rIns="0" tIns="0" bIns="0" anchor="t">
            <a:noAutofit/>
          </a:bodyPr>
          <a:lstStyle/>
          <a:p>
            <a:pPr algn="l">
              <a:lnSpc>
                <a:spcPct val="105000"/>
              </a:lnSpc>
              <a:spcAft>
                <a:spcPts val="0"/>
              </a:spcAft>
            </a:pPr>
            <a:r>
              <a:rPr sz="1120" b="1" i="0">
                <a:solidFill>
                  <a:srgbClr val="F5B301"/>
                </a:solidFill>
                <a:latin typeface="Calibri"/>
              </a:rPr>
              <a:t>Tcore  +  rate of rise  +  HR–temperature coupling</a:t>
            </a:r>
          </a:p>
        </p:txBody>
      </p:sp>
      <p:sp>
        <p:nvSpPr>
          <p:cNvPr id="20" name="TextBox 19"/>
          <p:cNvSpPr txBox="1"/>
          <p:nvPr/>
        </p:nvSpPr>
        <p:spPr>
          <a:xfrm>
            <a:off x="8321040" y="3273552"/>
            <a:ext cx="3063240" cy="384048"/>
          </a:xfrm>
          <a:prstGeom prst="rect">
            <a:avLst/>
          </a:prstGeom>
          <a:noFill/>
        </p:spPr>
        <p:txBody>
          <a:bodyPr wrap="square" lIns="0" rIns="0" tIns="0" bIns="0" anchor="t">
            <a:noAutofit/>
          </a:bodyPr>
          <a:lstStyle/>
          <a:p>
            <a:pPr algn="l">
              <a:lnSpc>
                <a:spcPct val="110000"/>
              </a:lnSpc>
              <a:spcAft>
                <a:spcPts val="0"/>
              </a:spcAft>
            </a:pPr>
            <a:r>
              <a:rPr sz="919" b="0" i="0">
                <a:solidFill>
                  <a:srgbClr val="5B5B7A"/>
                </a:solidFill>
                <a:latin typeface="Calibri"/>
              </a:rPr>
              <a:t>Combines level, trend and physiological context.</a:t>
            </a:r>
          </a:p>
        </p:txBody>
      </p:sp>
      <p:sp>
        <p:nvSpPr>
          <p:cNvPr id="21" name="Rounded Rectangle 20"/>
          <p:cNvSpPr/>
          <p:nvPr/>
        </p:nvSpPr>
        <p:spPr>
          <a:xfrm>
            <a:off x="1572768" y="3977639"/>
            <a:ext cx="4251960" cy="1444752"/>
          </a:xfrm>
          <a:prstGeom prst="roundRect">
            <a:avLst>
              <a:gd name="adj" fmla="val 10126"/>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1572768" y="3977639"/>
            <a:ext cx="4251960" cy="82296"/>
          </a:xfrm>
          <a:prstGeom prst="roundRect">
            <a:avLst>
              <a:gd name="adj" fmla="val 50000"/>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792224" y="4206240"/>
            <a:ext cx="3794760" cy="310896"/>
          </a:xfrm>
          <a:prstGeom prst="rect">
            <a:avLst/>
          </a:prstGeom>
          <a:noFill/>
        </p:spPr>
        <p:txBody>
          <a:bodyPr wrap="square" lIns="0" rIns="0" tIns="0" bIns="0" anchor="t">
            <a:noAutofit/>
          </a:bodyPr>
          <a:lstStyle/>
          <a:p>
            <a:pPr algn="l">
              <a:lnSpc>
                <a:spcPct val="108000"/>
              </a:lnSpc>
              <a:spcAft>
                <a:spcPts val="0"/>
              </a:spcAft>
            </a:pPr>
            <a:r>
              <a:rPr sz="1400" b="1" i="0">
                <a:solidFill>
                  <a:srgbClr val="17172F"/>
                </a:solidFill>
                <a:latin typeface="Calibri"/>
              </a:rPr>
              <a:t>Hypoxic burden</a:t>
            </a:r>
          </a:p>
        </p:txBody>
      </p:sp>
      <p:sp>
        <p:nvSpPr>
          <p:cNvPr id="24" name="TextBox 23"/>
          <p:cNvSpPr txBox="1"/>
          <p:nvPr/>
        </p:nvSpPr>
        <p:spPr>
          <a:xfrm>
            <a:off x="1792224" y="4562856"/>
            <a:ext cx="3794760" cy="393192"/>
          </a:xfrm>
          <a:prstGeom prst="rect">
            <a:avLst/>
          </a:prstGeom>
          <a:noFill/>
        </p:spPr>
        <p:txBody>
          <a:bodyPr wrap="square" lIns="0" rIns="0" tIns="0" bIns="0" anchor="t">
            <a:noAutofit/>
          </a:bodyPr>
          <a:lstStyle/>
          <a:p>
            <a:pPr algn="l">
              <a:lnSpc>
                <a:spcPct val="105000"/>
              </a:lnSpc>
              <a:spcAft>
                <a:spcPts val="0"/>
              </a:spcAft>
            </a:pPr>
            <a:r>
              <a:rPr sz="1100" b="1" i="0">
                <a:solidFill>
                  <a:srgbClr val="3B5BFF"/>
                </a:solidFill>
                <a:latin typeface="Calibri"/>
              </a:rPr>
              <a:t>Accumulated desaturation over time</a:t>
            </a:r>
          </a:p>
        </p:txBody>
      </p:sp>
      <p:sp>
        <p:nvSpPr>
          <p:cNvPr id="25" name="TextBox 24"/>
          <p:cNvSpPr txBox="1"/>
          <p:nvPr/>
        </p:nvSpPr>
        <p:spPr>
          <a:xfrm>
            <a:off x="1792224" y="4992624"/>
            <a:ext cx="3794760" cy="310896"/>
          </a:xfrm>
          <a:prstGeom prst="rect">
            <a:avLst/>
          </a:prstGeom>
          <a:noFill/>
        </p:spPr>
        <p:txBody>
          <a:bodyPr wrap="square" lIns="0" rIns="0" tIns="0" bIns="0" anchor="t">
            <a:noAutofit/>
          </a:bodyPr>
          <a:lstStyle/>
          <a:p>
            <a:pPr algn="l">
              <a:lnSpc>
                <a:spcPct val="110000"/>
              </a:lnSpc>
              <a:spcAft>
                <a:spcPts val="0"/>
              </a:spcAft>
            </a:pPr>
            <a:r>
              <a:rPr sz="919" b="0" i="0">
                <a:solidFill>
                  <a:srgbClr val="5B5B7A"/>
                </a:solidFill>
                <a:latin typeface="Calibri"/>
              </a:rPr>
              <a:t>Temporal accumulation filters single noisy dips.</a:t>
            </a:r>
          </a:p>
        </p:txBody>
      </p:sp>
      <p:sp>
        <p:nvSpPr>
          <p:cNvPr id="26" name="Rounded Rectangle 25"/>
          <p:cNvSpPr/>
          <p:nvPr/>
        </p:nvSpPr>
        <p:spPr>
          <a:xfrm>
            <a:off x="6382512" y="3977639"/>
            <a:ext cx="4251960" cy="1444752"/>
          </a:xfrm>
          <a:prstGeom prst="roundRect">
            <a:avLst>
              <a:gd name="adj" fmla="val 10126"/>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382512" y="3977639"/>
            <a:ext cx="4251960" cy="82296"/>
          </a:xfrm>
          <a:prstGeom prst="roundRect">
            <a:avLst>
              <a:gd name="adj" fmla="val 50000"/>
            </a:avLst>
          </a:prstGeom>
          <a:solidFill>
            <a:srgbClr val="F43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601968" y="4206240"/>
            <a:ext cx="3794760" cy="310896"/>
          </a:xfrm>
          <a:prstGeom prst="rect">
            <a:avLst/>
          </a:prstGeom>
          <a:noFill/>
        </p:spPr>
        <p:txBody>
          <a:bodyPr wrap="square" lIns="0" rIns="0" tIns="0" bIns="0" anchor="t">
            <a:noAutofit/>
          </a:bodyPr>
          <a:lstStyle/>
          <a:p>
            <a:pPr algn="l">
              <a:lnSpc>
                <a:spcPct val="108000"/>
              </a:lnSpc>
              <a:spcAft>
                <a:spcPts val="0"/>
              </a:spcAft>
            </a:pPr>
            <a:r>
              <a:rPr sz="1400" b="1" i="0">
                <a:solidFill>
                  <a:srgbClr val="17172F"/>
                </a:solidFill>
                <a:latin typeface="Calibri"/>
              </a:rPr>
              <a:t>Fall signature</a:t>
            </a:r>
          </a:p>
        </p:txBody>
      </p:sp>
      <p:sp>
        <p:nvSpPr>
          <p:cNvPr id="29" name="TextBox 28"/>
          <p:cNvSpPr txBox="1"/>
          <p:nvPr/>
        </p:nvSpPr>
        <p:spPr>
          <a:xfrm>
            <a:off x="6601968" y="4562856"/>
            <a:ext cx="3794760" cy="393192"/>
          </a:xfrm>
          <a:prstGeom prst="rect">
            <a:avLst/>
          </a:prstGeom>
          <a:noFill/>
        </p:spPr>
        <p:txBody>
          <a:bodyPr wrap="square" lIns="0" rIns="0" tIns="0" bIns="0" anchor="t">
            <a:noAutofit/>
          </a:bodyPr>
          <a:lstStyle/>
          <a:p>
            <a:pPr algn="l">
              <a:lnSpc>
                <a:spcPct val="105000"/>
              </a:lnSpc>
              <a:spcAft>
                <a:spcPts val="0"/>
              </a:spcAft>
            </a:pPr>
            <a:r>
              <a:rPr sz="1100" b="1" i="0">
                <a:solidFill>
                  <a:srgbClr val="F43F7A"/>
                </a:solidFill>
                <a:latin typeface="Calibri"/>
              </a:rPr>
              <a:t>Free-fall → impact (≥2.8 g) → tumble (≥2.4 rad/s) → stillness</a:t>
            </a:r>
          </a:p>
        </p:txBody>
      </p:sp>
      <p:sp>
        <p:nvSpPr>
          <p:cNvPr id="30" name="TextBox 29"/>
          <p:cNvSpPr txBox="1"/>
          <p:nvPr/>
        </p:nvSpPr>
        <p:spPr>
          <a:xfrm>
            <a:off x="6601968" y="4992624"/>
            <a:ext cx="3794760" cy="310896"/>
          </a:xfrm>
          <a:prstGeom prst="rect">
            <a:avLst/>
          </a:prstGeom>
          <a:noFill/>
        </p:spPr>
        <p:txBody>
          <a:bodyPr wrap="square" lIns="0" rIns="0" tIns="0" bIns="0" anchor="t">
            <a:noAutofit/>
          </a:bodyPr>
          <a:lstStyle/>
          <a:p>
            <a:pPr algn="l">
              <a:lnSpc>
                <a:spcPct val="110000"/>
              </a:lnSpc>
              <a:spcAft>
                <a:spcPts val="0"/>
              </a:spcAft>
            </a:pPr>
            <a:r>
              <a:rPr sz="919" b="0" i="0">
                <a:solidFill>
                  <a:srgbClr val="5B5B7A"/>
                </a:solidFill>
                <a:latin typeface="Calibri"/>
              </a:rPr>
              <a:t>A sequence of motion cues, not an isolated acceleration peak.</a:t>
            </a:r>
          </a:p>
        </p:txBody>
      </p:sp>
      <p:sp>
        <p:nvSpPr>
          <p:cNvPr id="31" name="TextBox 30"/>
          <p:cNvSpPr txBox="1"/>
          <p:nvPr/>
        </p:nvSpPr>
        <p:spPr>
          <a:xfrm>
            <a:off x="594360" y="5779008"/>
            <a:ext cx="10972800" cy="320040"/>
          </a:xfrm>
          <a:prstGeom prst="rect">
            <a:avLst/>
          </a:prstGeom>
          <a:noFill/>
        </p:spPr>
        <p:txBody>
          <a:bodyPr wrap="square" lIns="0" rIns="0" tIns="0" bIns="0" anchor="t">
            <a:noAutofit/>
          </a:bodyPr>
          <a:lstStyle/>
          <a:p>
            <a:pPr algn="ctr">
              <a:lnSpc>
                <a:spcPct val="108000"/>
              </a:lnSpc>
              <a:spcAft>
                <a:spcPts val="0"/>
              </a:spcAft>
            </a:pPr>
            <a:r>
              <a:rPr sz="919" b="0" i="1">
                <a:solidFill>
                  <a:srgbClr val="5B5B7A"/>
                </a:solidFill>
                <a:latin typeface="Calibri"/>
              </a:rPr>
              <a:t>Deterministic by design · formula definitions and thresholds remain subject to bench and on-body validation.</a:t>
            </a:r>
          </a:p>
        </p:txBody>
      </p:sp>
      <p:sp>
        <p:nvSpPr>
          <p:cNvPr id="32" name="TextBox 31"/>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5B5B7A"/>
                </a:solidFill>
                <a:latin typeface="Calibri"/>
              </a:rPr>
              <a:t>AI / ML</a:t>
            </a:r>
            <a:r>
              <a:rPr sz="800" b="0" i="0" spc="140">
                <a:solidFill>
                  <a:srgbClr val="5B5B7A"/>
                </a:solidFill>
                <a:latin typeface="Calibri"/>
              </a:rPr>
              <a:t>   |   TRANSPARENT HEALTH-SCORE LOGIC</a:t>
            </a:r>
          </a:p>
        </p:txBody>
      </p:sp>
      <p:sp>
        <p:nvSpPr>
          <p:cNvPr id="33" name="TextBox 32"/>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6C3CE9"/>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0E2A"/>
        </a:solidFill>
        <a:effectLst/>
      </p:bgPr>
    </p:bg>
    <p:spTree>
      <p:nvGrpSpPr>
        <p:cNvPr id="1" name=""/>
        <p:cNvGrpSpPr/>
        <p:nvPr/>
      </p:nvGrpSpPr>
      <p:grpSpPr/>
      <p:sp>
        <p:nvSpPr>
          <p:cNvPr id="2" name="TextBox 1"/>
          <p:cNvSpPr txBox="1"/>
          <p:nvPr/>
        </p:nvSpPr>
        <p:spPr>
          <a:xfrm>
            <a:off x="548640" y="502920"/>
            <a:ext cx="8412480" cy="1115568"/>
          </a:xfrm>
          <a:prstGeom prst="rect">
            <a:avLst/>
          </a:prstGeom>
          <a:noFill/>
        </p:spPr>
        <p:txBody>
          <a:bodyPr wrap="square" lIns="0" rIns="0" tIns="0" bIns="0" anchor="t">
            <a:noAutofit/>
          </a:bodyPr>
          <a:lstStyle/>
          <a:p>
            <a:pPr algn="l">
              <a:lnSpc>
                <a:spcPct val="100000"/>
              </a:lnSpc>
              <a:spcAft>
                <a:spcPts val="0"/>
              </a:spcAft>
            </a:pPr>
            <a:r>
              <a:rPr sz="3200" b="1" i="0">
                <a:solidFill>
                  <a:srgbClr val="FFFFFF"/>
                </a:solidFill>
                <a:latin typeface="Calibri"/>
              </a:rPr>
              <a:t>Personal calibration — learning
each wearer’s baseline</a:t>
            </a:r>
          </a:p>
        </p:txBody>
      </p:sp>
      <p:sp>
        <p:nvSpPr>
          <p:cNvPr id="3" name="TextBox 2"/>
          <p:cNvSpPr txBox="1"/>
          <p:nvPr/>
        </p:nvSpPr>
        <p:spPr>
          <a:xfrm>
            <a:off x="548640" y="1655064"/>
            <a:ext cx="8412480" cy="548640"/>
          </a:xfrm>
          <a:prstGeom prst="rect">
            <a:avLst/>
          </a:prstGeom>
          <a:noFill/>
        </p:spPr>
        <p:txBody>
          <a:bodyPr wrap="square" lIns="0" rIns="0" tIns="0" bIns="0" anchor="t">
            <a:noAutofit/>
          </a:bodyPr>
          <a:lstStyle/>
          <a:p>
            <a:pPr algn="l">
              <a:lnSpc>
                <a:spcPct val="115000"/>
              </a:lnSpc>
              <a:spcAft>
                <a:spcPts val="0"/>
              </a:spcAft>
            </a:pPr>
            <a:r>
              <a:rPr sz="1400" b="0" i="0">
                <a:solidFill>
                  <a:srgbClr val="A9A9C7"/>
                </a:solidFill>
                <a:latin typeface="Calibri"/>
              </a:rPr>
              <a:t>A rolling reference makes deviations personal without letting a crisis redefine normal.</a:t>
            </a:r>
          </a:p>
        </p:txBody>
      </p:sp>
      <p:sp>
        <p:nvSpPr>
          <p:cNvPr id="4" name="Rounded Rectangle 3"/>
          <p:cNvSpPr/>
          <p:nvPr/>
        </p:nvSpPr>
        <p:spPr>
          <a:xfrm>
            <a:off x="9281160" y="1700784"/>
            <a:ext cx="2057400" cy="283464"/>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281160" y="1700784"/>
            <a:ext cx="2057400" cy="283464"/>
          </a:xfrm>
          <a:prstGeom prst="rect">
            <a:avLst/>
          </a:prstGeom>
          <a:noFill/>
        </p:spPr>
        <p:txBody>
          <a:bodyPr wrap="square" lIns="0" rIns="0" tIns="0" bIns="0" anchor="ctr">
            <a:noAutofit/>
          </a:bodyPr>
          <a:lstStyle/>
          <a:p>
            <a:pPr algn="ctr">
              <a:lnSpc>
                <a:spcPct val="108000"/>
              </a:lnSpc>
              <a:spcAft>
                <a:spcPts val="0"/>
              </a:spcAft>
            </a:pPr>
            <a:r>
              <a:rPr sz="750" b="1" i="0" spc="120">
                <a:solidFill>
                  <a:srgbClr val="0F0E2A"/>
                </a:solidFill>
                <a:latin typeface="Calibri"/>
              </a:rPr>
              <a:t>PILOT DESIGN</a:t>
            </a:r>
          </a:p>
        </p:txBody>
      </p:sp>
      <p:sp>
        <p:nvSpPr>
          <p:cNvPr id="6" name="Rounded Rectangle 5"/>
          <p:cNvSpPr/>
          <p:nvPr/>
        </p:nvSpPr>
        <p:spPr>
          <a:xfrm>
            <a:off x="566928" y="2148840"/>
            <a:ext cx="4983480" cy="1188720"/>
          </a:xfrm>
          <a:prstGeom prst="roundRect">
            <a:avLst>
              <a:gd name="adj" fmla="val 12307"/>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0392" y="2340864"/>
            <a:ext cx="2103120" cy="228600"/>
          </a:xfrm>
          <a:prstGeom prst="rect">
            <a:avLst/>
          </a:prstGeom>
          <a:noFill/>
        </p:spPr>
        <p:txBody>
          <a:bodyPr wrap="square" lIns="0" rIns="0" tIns="0" bIns="0" anchor="ctr">
            <a:noAutofit/>
          </a:bodyPr>
          <a:lstStyle/>
          <a:p>
            <a:pPr algn="l">
              <a:lnSpc>
                <a:spcPct val="108000"/>
              </a:lnSpc>
              <a:spcAft>
                <a:spcPts val="0"/>
              </a:spcAft>
            </a:pPr>
            <a:r>
              <a:rPr sz="850" b="1" i="0" spc="160">
                <a:solidFill>
                  <a:srgbClr val="22D3EE"/>
                </a:solidFill>
                <a:latin typeface="Calibri"/>
              </a:rPr>
              <a:t>EWMA UPDATE</a:t>
            </a:r>
          </a:p>
        </p:txBody>
      </p:sp>
      <p:sp>
        <p:nvSpPr>
          <p:cNvPr id="8" name="TextBox 7"/>
          <p:cNvSpPr txBox="1"/>
          <p:nvPr/>
        </p:nvSpPr>
        <p:spPr>
          <a:xfrm>
            <a:off x="850392" y="2633472"/>
            <a:ext cx="4434840" cy="438912"/>
          </a:xfrm>
          <a:prstGeom prst="rect">
            <a:avLst/>
          </a:prstGeom>
          <a:noFill/>
        </p:spPr>
        <p:txBody>
          <a:bodyPr wrap="square" lIns="0" rIns="0" tIns="0" bIns="0" anchor="ctr">
            <a:noAutofit/>
          </a:bodyPr>
          <a:lstStyle/>
          <a:p>
            <a:pPr algn="ctr">
              <a:lnSpc>
                <a:spcPct val="108000"/>
              </a:lnSpc>
              <a:spcAft>
                <a:spcPts val="0"/>
              </a:spcAft>
            </a:pPr>
            <a:r>
              <a:rPr sz="1500" b="1" i="0">
                <a:solidFill>
                  <a:srgbClr val="FFFFFF"/>
                </a:solidFill>
                <a:latin typeface="Calibri"/>
              </a:rPr>
              <a:t>Baselineₜ = α · readingₜ + (1 − α) · Baselineₜ₋₁</a:t>
            </a:r>
          </a:p>
        </p:txBody>
      </p:sp>
      <p:sp>
        <p:nvSpPr>
          <p:cNvPr id="9" name="TextBox 8"/>
          <p:cNvSpPr txBox="1"/>
          <p:nvPr/>
        </p:nvSpPr>
        <p:spPr>
          <a:xfrm>
            <a:off x="621792" y="3584448"/>
            <a:ext cx="4846320" cy="320040"/>
          </a:xfrm>
          <a:prstGeom prst="rect">
            <a:avLst/>
          </a:prstGeom>
          <a:noFill/>
        </p:spPr>
        <p:txBody>
          <a:bodyPr wrap="square" lIns="0" rIns="0" tIns="0" bIns="0" anchor="t">
            <a:noAutofit/>
          </a:bodyPr>
          <a:lstStyle/>
          <a:p>
            <a:pPr algn="l">
              <a:lnSpc>
                <a:spcPct val="108000"/>
              </a:lnSpc>
              <a:spcAft>
                <a:spcPts val="0"/>
              </a:spcAft>
            </a:pPr>
            <a:r>
              <a:rPr sz="1000" b="0" i="0">
                <a:solidFill>
                  <a:srgbClr val="A9A9C7"/>
                </a:solidFill>
                <a:latin typeface="Calibri"/>
              </a:rPr>
              <a:t>Each valid reading can refine these resting-state references:</a:t>
            </a:r>
          </a:p>
        </p:txBody>
      </p:sp>
      <p:sp>
        <p:nvSpPr>
          <p:cNvPr id="10" name="Rounded Rectangle 9"/>
          <p:cNvSpPr/>
          <p:nvPr/>
        </p:nvSpPr>
        <p:spPr>
          <a:xfrm>
            <a:off x="621792" y="3995928"/>
            <a:ext cx="439483" cy="256032"/>
          </a:xfrm>
          <a:prstGeom prst="roundRect">
            <a:avLst>
              <a:gd name="adj" fmla="val 50000"/>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 y="3995928"/>
            <a:ext cx="439483" cy="256032"/>
          </a:xfrm>
          <a:prstGeom prst="rect">
            <a:avLst/>
          </a:prstGeom>
          <a:noFill/>
        </p:spPr>
        <p:txBody>
          <a:bodyPr wrap="square" lIns="0" rIns="0" tIns="0" bIns="0" anchor="ctr">
            <a:noAutofit/>
          </a:bodyPr>
          <a:lstStyle/>
          <a:p>
            <a:pPr algn="ctr">
              <a:lnSpc>
                <a:spcPct val="108000"/>
              </a:lnSpc>
              <a:spcAft>
                <a:spcPts val="0"/>
              </a:spcAft>
            </a:pPr>
            <a:r>
              <a:rPr sz="850" b="1" i="0" spc="120">
                <a:solidFill>
                  <a:srgbClr val="FFFFFF"/>
                </a:solidFill>
                <a:latin typeface="Calibri"/>
              </a:rPr>
              <a:t>HR</a:t>
            </a:r>
          </a:p>
        </p:txBody>
      </p:sp>
      <p:sp>
        <p:nvSpPr>
          <p:cNvPr id="12" name="Rounded Rectangle 11"/>
          <p:cNvSpPr/>
          <p:nvPr/>
        </p:nvSpPr>
        <p:spPr>
          <a:xfrm>
            <a:off x="1171003" y="3995928"/>
            <a:ext cx="522065" cy="256032"/>
          </a:xfrm>
          <a:prstGeom prst="roundRect">
            <a:avLst>
              <a:gd name="adj" fmla="val 50000"/>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71003" y="3995928"/>
            <a:ext cx="522065" cy="256032"/>
          </a:xfrm>
          <a:prstGeom prst="rect">
            <a:avLst/>
          </a:prstGeom>
          <a:noFill/>
        </p:spPr>
        <p:txBody>
          <a:bodyPr wrap="square" lIns="0" rIns="0" tIns="0" bIns="0" anchor="ctr">
            <a:noAutofit/>
          </a:bodyPr>
          <a:lstStyle/>
          <a:p>
            <a:pPr algn="ctr">
              <a:lnSpc>
                <a:spcPct val="108000"/>
              </a:lnSpc>
              <a:spcAft>
                <a:spcPts val="0"/>
              </a:spcAft>
            </a:pPr>
            <a:r>
              <a:rPr sz="850" b="1" i="0" spc="120">
                <a:solidFill>
                  <a:srgbClr val="FFFFFF"/>
                </a:solidFill>
                <a:latin typeface="Calibri"/>
              </a:rPr>
              <a:t>HRV</a:t>
            </a:r>
          </a:p>
        </p:txBody>
      </p:sp>
      <p:sp>
        <p:nvSpPr>
          <p:cNvPr id="14" name="Rounded Rectangle 13"/>
          <p:cNvSpPr/>
          <p:nvPr/>
        </p:nvSpPr>
        <p:spPr>
          <a:xfrm>
            <a:off x="1802796" y="3995928"/>
            <a:ext cx="522065" cy="256032"/>
          </a:xfrm>
          <a:prstGeom prst="roundRect">
            <a:avLst>
              <a:gd name="adj" fmla="val 50000"/>
            </a:avLst>
          </a:prstGeom>
          <a:solidFill>
            <a:srgbClr val="0F9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802796" y="3995928"/>
            <a:ext cx="522065" cy="256032"/>
          </a:xfrm>
          <a:prstGeom prst="rect">
            <a:avLst/>
          </a:prstGeom>
          <a:noFill/>
        </p:spPr>
        <p:txBody>
          <a:bodyPr wrap="square" lIns="0" rIns="0" tIns="0" bIns="0" anchor="ctr">
            <a:noAutofit/>
          </a:bodyPr>
          <a:lstStyle/>
          <a:p>
            <a:pPr algn="ctr">
              <a:lnSpc>
                <a:spcPct val="108000"/>
              </a:lnSpc>
              <a:spcAft>
                <a:spcPts val="0"/>
              </a:spcAft>
            </a:pPr>
            <a:r>
              <a:rPr sz="850" b="1" i="0" spc="120">
                <a:solidFill>
                  <a:srgbClr val="FFFFFF"/>
                </a:solidFill>
                <a:latin typeface="Calibri"/>
              </a:rPr>
              <a:t>GSR</a:t>
            </a:r>
          </a:p>
        </p:txBody>
      </p:sp>
      <p:sp>
        <p:nvSpPr>
          <p:cNvPr id="16" name="Rounded Rectangle 15"/>
          <p:cNvSpPr/>
          <p:nvPr/>
        </p:nvSpPr>
        <p:spPr>
          <a:xfrm>
            <a:off x="2434590" y="3995928"/>
            <a:ext cx="1182719" cy="256032"/>
          </a:xfrm>
          <a:prstGeom prst="roundRect">
            <a:avLst>
              <a:gd name="adj" fmla="val 50000"/>
            </a:avLst>
          </a:prstGeom>
          <a:solidFill>
            <a:srgbClr val="D96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434590" y="3995928"/>
            <a:ext cx="1182719" cy="256032"/>
          </a:xfrm>
          <a:prstGeom prst="rect">
            <a:avLst/>
          </a:prstGeom>
          <a:noFill/>
        </p:spPr>
        <p:txBody>
          <a:bodyPr wrap="square" lIns="0" rIns="0" tIns="0" bIns="0" anchor="ctr">
            <a:noAutofit/>
          </a:bodyPr>
          <a:lstStyle/>
          <a:p>
            <a:pPr algn="ctr">
              <a:lnSpc>
                <a:spcPct val="108000"/>
              </a:lnSpc>
              <a:spcAft>
                <a:spcPts val="0"/>
              </a:spcAft>
            </a:pPr>
            <a:r>
              <a:rPr sz="850" b="1" i="0" spc="120">
                <a:solidFill>
                  <a:srgbClr val="FFFFFF"/>
                </a:solidFill>
                <a:latin typeface="Calibri"/>
              </a:rPr>
              <a:t>TEMPERATURE</a:t>
            </a:r>
          </a:p>
        </p:txBody>
      </p:sp>
      <p:sp>
        <p:nvSpPr>
          <p:cNvPr id="18" name="Rounded Rectangle 17"/>
          <p:cNvSpPr/>
          <p:nvPr/>
        </p:nvSpPr>
        <p:spPr>
          <a:xfrm>
            <a:off x="3727037" y="3995928"/>
            <a:ext cx="604647" cy="256032"/>
          </a:xfrm>
          <a:prstGeom prst="roundRect">
            <a:avLst>
              <a:gd name="adj" fmla="val 50000"/>
            </a:avLst>
          </a:prstGeom>
          <a:solidFill>
            <a:srgbClr val="16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727037" y="3995928"/>
            <a:ext cx="604647" cy="256032"/>
          </a:xfrm>
          <a:prstGeom prst="rect">
            <a:avLst/>
          </a:prstGeom>
          <a:noFill/>
        </p:spPr>
        <p:txBody>
          <a:bodyPr wrap="square" lIns="0" rIns="0" tIns="0" bIns="0" anchor="ctr">
            <a:noAutofit/>
          </a:bodyPr>
          <a:lstStyle/>
          <a:p>
            <a:pPr algn="ctr">
              <a:lnSpc>
                <a:spcPct val="108000"/>
              </a:lnSpc>
              <a:spcAft>
                <a:spcPts val="0"/>
              </a:spcAft>
            </a:pPr>
            <a:r>
              <a:rPr sz="850" b="1" i="0" spc="120">
                <a:solidFill>
                  <a:srgbClr val="FFFFFF"/>
                </a:solidFill>
                <a:latin typeface="Calibri"/>
              </a:rPr>
              <a:t>SPO₂</a:t>
            </a:r>
          </a:p>
        </p:txBody>
      </p:sp>
      <p:sp>
        <p:nvSpPr>
          <p:cNvPr id="20" name="TextBox 19"/>
          <p:cNvSpPr txBox="1"/>
          <p:nvPr/>
        </p:nvSpPr>
        <p:spPr>
          <a:xfrm>
            <a:off x="5989320" y="2157984"/>
            <a:ext cx="5120640" cy="228600"/>
          </a:xfrm>
          <a:prstGeom prst="rect">
            <a:avLst/>
          </a:prstGeom>
          <a:noFill/>
        </p:spPr>
        <p:txBody>
          <a:bodyPr wrap="square" lIns="0" rIns="0" tIns="0" bIns="0" anchor="ctr">
            <a:noAutofit/>
          </a:bodyPr>
          <a:lstStyle/>
          <a:p>
            <a:pPr algn="l">
              <a:lnSpc>
                <a:spcPct val="108000"/>
              </a:lnSpc>
              <a:spcAft>
                <a:spcPts val="0"/>
              </a:spcAft>
            </a:pPr>
            <a:r>
              <a:rPr sz="850" b="1" i="0" spc="160">
                <a:solidFill>
                  <a:srgbClr val="22D3EE"/>
                </a:solidFill>
                <a:latin typeface="Calibri"/>
              </a:rPr>
              <a:t>THREE SAFEGUARDS</a:t>
            </a:r>
          </a:p>
        </p:txBody>
      </p:sp>
      <p:sp>
        <p:nvSpPr>
          <p:cNvPr id="21" name="Rounded Rectangle 20"/>
          <p:cNvSpPr/>
          <p:nvPr/>
        </p:nvSpPr>
        <p:spPr>
          <a:xfrm>
            <a:off x="5989320" y="2523744"/>
            <a:ext cx="5632704" cy="713232"/>
          </a:xfrm>
          <a:prstGeom prst="roundRect">
            <a:avLst>
              <a:gd name="adj" fmla="val 15384"/>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5989320" y="2523744"/>
            <a:ext cx="64008" cy="7132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36208" y="2615184"/>
            <a:ext cx="1645920" cy="256032"/>
          </a:xfrm>
          <a:prstGeom prst="rect">
            <a:avLst/>
          </a:prstGeom>
          <a:noFill/>
        </p:spPr>
        <p:txBody>
          <a:bodyPr wrap="square" lIns="0" rIns="0" tIns="0" bIns="0" anchor="t">
            <a:noAutofit/>
          </a:bodyPr>
          <a:lstStyle/>
          <a:p>
            <a:pPr algn="l">
              <a:lnSpc>
                <a:spcPct val="108000"/>
              </a:lnSpc>
              <a:spcAft>
                <a:spcPts val="0"/>
              </a:spcAft>
            </a:pPr>
            <a:r>
              <a:rPr sz="1150" b="1" i="0">
                <a:solidFill>
                  <a:srgbClr val="22D3EE"/>
                </a:solidFill>
                <a:latin typeface="Calibri"/>
              </a:rPr>
              <a:t>Automatic</a:t>
            </a:r>
          </a:p>
        </p:txBody>
      </p:sp>
      <p:sp>
        <p:nvSpPr>
          <p:cNvPr id="24" name="TextBox 23"/>
          <p:cNvSpPr txBox="1"/>
          <p:nvPr/>
        </p:nvSpPr>
        <p:spPr>
          <a:xfrm>
            <a:off x="7909560" y="2596896"/>
            <a:ext cx="3456432" cy="512064"/>
          </a:xfrm>
          <a:prstGeom prst="rect">
            <a:avLst/>
          </a:prstGeom>
          <a:noFill/>
        </p:spPr>
        <p:txBody>
          <a:bodyPr wrap="square" lIns="0" rIns="0" tIns="0" bIns="0" anchor="ctr">
            <a:noAutofit/>
          </a:bodyPr>
          <a:lstStyle/>
          <a:p>
            <a:pPr algn="l">
              <a:lnSpc>
                <a:spcPct val="112000"/>
              </a:lnSpc>
              <a:spcAft>
                <a:spcPts val="0"/>
              </a:spcAft>
            </a:pPr>
            <a:r>
              <a:rPr sz="950" b="0" i="0">
                <a:solidFill>
                  <a:srgbClr val="A9A9C7"/>
                </a:solidFill>
                <a:latin typeface="Calibri"/>
              </a:rPr>
              <a:t>Recent valid readings carry more weight; one spike cannot reset the baseline.</a:t>
            </a:r>
          </a:p>
        </p:txBody>
      </p:sp>
      <p:sp>
        <p:nvSpPr>
          <p:cNvPr id="25" name="Rounded Rectangle 24"/>
          <p:cNvSpPr/>
          <p:nvPr/>
        </p:nvSpPr>
        <p:spPr>
          <a:xfrm>
            <a:off x="5989320" y="3346703"/>
            <a:ext cx="5632704" cy="713232"/>
          </a:xfrm>
          <a:prstGeom prst="roundRect">
            <a:avLst>
              <a:gd name="adj" fmla="val 15384"/>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989320" y="3346703"/>
            <a:ext cx="64008" cy="713232"/>
          </a:xfrm>
          <a:prstGeom prst="roundRect">
            <a:avLst>
              <a:gd name="adj" fmla="val 50000"/>
            </a:avLst>
          </a:prstGeom>
          <a:solidFill>
            <a:srgbClr val="F43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36208" y="3438144"/>
            <a:ext cx="1645920" cy="256032"/>
          </a:xfrm>
          <a:prstGeom prst="rect">
            <a:avLst/>
          </a:prstGeom>
          <a:noFill/>
        </p:spPr>
        <p:txBody>
          <a:bodyPr wrap="square" lIns="0" rIns="0" tIns="0" bIns="0" anchor="t">
            <a:noAutofit/>
          </a:bodyPr>
          <a:lstStyle/>
          <a:p>
            <a:pPr algn="l">
              <a:lnSpc>
                <a:spcPct val="108000"/>
              </a:lnSpc>
              <a:spcAft>
                <a:spcPts val="0"/>
              </a:spcAft>
            </a:pPr>
            <a:r>
              <a:rPr sz="1150" b="1" i="0">
                <a:solidFill>
                  <a:srgbClr val="F43F7A"/>
                </a:solidFill>
                <a:latin typeface="Calibri"/>
              </a:rPr>
              <a:t>Crisis-gated</a:t>
            </a:r>
          </a:p>
        </p:txBody>
      </p:sp>
      <p:sp>
        <p:nvSpPr>
          <p:cNvPr id="28" name="TextBox 27"/>
          <p:cNvSpPr txBox="1"/>
          <p:nvPr/>
        </p:nvSpPr>
        <p:spPr>
          <a:xfrm>
            <a:off x="7909560" y="3419856"/>
            <a:ext cx="3456432" cy="512064"/>
          </a:xfrm>
          <a:prstGeom prst="rect">
            <a:avLst/>
          </a:prstGeom>
          <a:noFill/>
        </p:spPr>
        <p:txBody>
          <a:bodyPr wrap="square" lIns="0" rIns="0" tIns="0" bIns="0" anchor="ctr">
            <a:noAutofit/>
          </a:bodyPr>
          <a:lstStyle/>
          <a:p>
            <a:pPr algn="l">
              <a:lnSpc>
                <a:spcPct val="112000"/>
              </a:lnSpc>
              <a:spcAft>
                <a:spcPts val="0"/>
              </a:spcAft>
            </a:pPr>
            <a:r>
              <a:rPr sz="950" b="0" i="0">
                <a:solidFill>
                  <a:srgbClr val="A9A9C7"/>
                </a:solidFill>
                <a:latin typeface="Calibri"/>
              </a:rPr>
              <a:t>Exclude readings during an active alert so illness is not learned as normal.</a:t>
            </a:r>
          </a:p>
        </p:txBody>
      </p:sp>
      <p:sp>
        <p:nvSpPr>
          <p:cNvPr id="29" name="Rounded Rectangle 28"/>
          <p:cNvSpPr/>
          <p:nvPr/>
        </p:nvSpPr>
        <p:spPr>
          <a:xfrm>
            <a:off x="5989320" y="4169663"/>
            <a:ext cx="5632704" cy="713232"/>
          </a:xfrm>
          <a:prstGeom prst="roundRect">
            <a:avLst>
              <a:gd name="adj" fmla="val 15384"/>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5989320" y="4169663"/>
            <a:ext cx="64008" cy="713232"/>
          </a:xfrm>
          <a:prstGeom prst="roundRect">
            <a:avLst>
              <a:gd name="adj" fmla="val 500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36208" y="4261103"/>
            <a:ext cx="1645920" cy="256032"/>
          </a:xfrm>
          <a:prstGeom prst="rect">
            <a:avLst/>
          </a:prstGeom>
          <a:noFill/>
        </p:spPr>
        <p:txBody>
          <a:bodyPr wrap="square" lIns="0" rIns="0" tIns="0" bIns="0" anchor="t">
            <a:noAutofit/>
          </a:bodyPr>
          <a:lstStyle/>
          <a:p>
            <a:pPr algn="l">
              <a:lnSpc>
                <a:spcPct val="108000"/>
              </a:lnSpc>
              <a:spcAft>
                <a:spcPts val="0"/>
              </a:spcAft>
            </a:pPr>
            <a:r>
              <a:rPr sz="1150" b="1" i="0">
                <a:solidFill>
                  <a:srgbClr val="34D399"/>
                </a:solidFill>
                <a:latin typeface="Calibri"/>
              </a:rPr>
              <a:t>Caregiver-anchored</a:t>
            </a:r>
          </a:p>
        </p:txBody>
      </p:sp>
      <p:sp>
        <p:nvSpPr>
          <p:cNvPr id="32" name="TextBox 31"/>
          <p:cNvSpPr txBox="1"/>
          <p:nvPr/>
        </p:nvSpPr>
        <p:spPr>
          <a:xfrm>
            <a:off x="7909560" y="4242816"/>
            <a:ext cx="3456432" cy="512064"/>
          </a:xfrm>
          <a:prstGeom prst="rect">
            <a:avLst/>
          </a:prstGeom>
          <a:noFill/>
        </p:spPr>
        <p:txBody>
          <a:bodyPr wrap="square" lIns="0" rIns="0" tIns="0" bIns="0" anchor="ctr">
            <a:noAutofit/>
          </a:bodyPr>
          <a:lstStyle/>
          <a:p>
            <a:pPr algn="l">
              <a:lnSpc>
                <a:spcPct val="112000"/>
              </a:lnSpc>
              <a:spcAft>
                <a:spcPts val="0"/>
              </a:spcAft>
            </a:pPr>
            <a:r>
              <a:rPr sz="950" b="0" i="0">
                <a:solidFill>
                  <a:srgbClr val="A9A9C7"/>
                </a:solidFill>
                <a:latin typeface="Calibri"/>
              </a:rPr>
              <a:t>A reference-device measurement can correct a personal sensor offset.</a:t>
            </a:r>
          </a:p>
        </p:txBody>
      </p:sp>
      <p:sp>
        <p:nvSpPr>
          <p:cNvPr id="33" name="TextBox 32"/>
          <p:cNvSpPr txBox="1"/>
          <p:nvPr/>
        </p:nvSpPr>
        <p:spPr>
          <a:xfrm>
            <a:off x="621792" y="4919472"/>
            <a:ext cx="2011680" cy="292608"/>
          </a:xfrm>
          <a:prstGeom prst="rect">
            <a:avLst/>
          </a:prstGeom>
          <a:noFill/>
        </p:spPr>
        <p:txBody>
          <a:bodyPr wrap="square" lIns="0" rIns="0" tIns="0" bIns="0" anchor="t">
            <a:noAutofit/>
          </a:bodyPr>
          <a:lstStyle/>
          <a:p>
            <a:pPr algn="l">
              <a:lnSpc>
                <a:spcPct val="108000"/>
              </a:lnSpc>
              <a:spcAft>
                <a:spcPts val="0"/>
              </a:spcAft>
            </a:pPr>
            <a:r>
              <a:rPr sz="850" b="1" i="0" spc="110">
                <a:solidFill>
                  <a:srgbClr val="A9A9C7"/>
                </a:solidFill>
                <a:latin typeface="Calibri"/>
              </a:rPr>
              <a:t>BASELINE CONFIDENCE</a:t>
            </a:r>
          </a:p>
        </p:txBody>
      </p:sp>
      <p:sp>
        <p:nvSpPr>
          <p:cNvPr id="34" name="Rounded Rectangle 33"/>
          <p:cNvSpPr/>
          <p:nvPr/>
        </p:nvSpPr>
        <p:spPr>
          <a:xfrm>
            <a:off x="2423160" y="5020056"/>
            <a:ext cx="3657600" cy="109728"/>
          </a:xfrm>
          <a:prstGeom prst="roundRect">
            <a:avLst>
              <a:gd name="adj" fmla="val 50000"/>
            </a:avLst>
          </a:prstGeom>
          <a:solidFill>
            <a:srgbClr val="262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2423160" y="5020056"/>
            <a:ext cx="2331720" cy="109728"/>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2423160" y="5230368"/>
            <a:ext cx="1371600" cy="256032"/>
          </a:xfrm>
          <a:prstGeom prst="rect">
            <a:avLst/>
          </a:prstGeom>
          <a:noFill/>
        </p:spPr>
        <p:txBody>
          <a:bodyPr wrap="square" lIns="0" rIns="0" tIns="0" bIns="0" anchor="t">
            <a:noAutofit/>
          </a:bodyPr>
          <a:lstStyle/>
          <a:p>
            <a:pPr algn="l">
              <a:lnSpc>
                <a:spcPct val="108000"/>
              </a:lnSpc>
              <a:spcAft>
                <a:spcPts val="0"/>
              </a:spcAft>
            </a:pPr>
            <a:r>
              <a:rPr sz="900" b="0" i="0">
                <a:solidFill>
                  <a:srgbClr val="A9A9C7"/>
                </a:solidFill>
                <a:latin typeface="Calibri"/>
              </a:rPr>
              <a:t>warming_up</a:t>
            </a:r>
          </a:p>
        </p:txBody>
      </p:sp>
      <p:sp>
        <p:nvSpPr>
          <p:cNvPr id="37" name="TextBox 36"/>
          <p:cNvSpPr txBox="1"/>
          <p:nvPr/>
        </p:nvSpPr>
        <p:spPr>
          <a:xfrm>
            <a:off x="4709160" y="5230368"/>
            <a:ext cx="1371600" cy="256032"/>
          </a:xfrm>
          <a:prstGeom prst="rect">
            <a:avLst/>
          </a:prstGeom>
          <a:noFill/>
        </p:spPr>
        <p:txBody>
          <a:bodyPr wrap="square" lIns="0" rIns="0" tIns="0" bIns="0" anchor="t">
            <a:noAutofit/>
          </a:bodyPr>
          <a:lstStyle/>
          <a:p>
            <a:pPr algn="r">
              <a:lnSpc>
                <a:spcPct val="108000"/>
              </a:lnSpc>
              <a:spcAft>
                <a:spcPts val="0"/>
              </a:spcAft>
            </a:pPr>
            <a:r>
              <a:rPr sz="900" b="1" i="0">
                <a:solidFill>
                  <a:srgbClr val="22D3EE"/>
                </a:solidFill>
                <a:latin typeface="Calibri"/>
              </a:rPr>
              <a:t>active</a:t>
            </a:r>
          </a:p>
        </p:txBody>
      </p:sp>
      <p:sp>
        <p:nvSpPr>
          <p:cNvPr id="38" name="Rounded Rectangle 37"/>
          <p:cNvSpPr/>
          <p:nvPr/>
        </p:nvSpPr>
        <p:spPr>
          <a:xfrm>
            <a:off x="6446520" y="4992624"/>
            <a:ext cx="5175504" cy="621792"/>
          </a:xfrm>
          <a:prstGeom prst="roundRect">
            <a:avLst>
              <a:gd name="adj" fmla="val 19117"/>
            </a:avLst>
          </a:prstGeom>
          <a:solidFill>
            <a:srgbClr val="262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693408" y="5010912"/>
            <a:ext cx="4681728" cy="548640"/>
          </a:xfrm>
          <a:prstGeom prst="rect">
            <a:avLst/>
          </a:prstGeom>
          <a:noFill/>
        </p:spPr>
        <p:txBody>
          <a:bodyPr wrap="square" lIns="0" rIns="0" tIns="0" bIns="0" anchor="ctr">
            <a:noAutofit/>
          </a:bodyPr>
          <a:lstStyle/>
          <a:p>
            <a:pPr algn="ctr">
              <a:lnSpc>
                <a:spcPct val="108000"/>
              </a:lnSpc>
              <a:spcAft>
                <a:spcPts val="0"/>
              </a:spcAft>
            </a:pPr>
            <a:r>
              <a:rPr sz="1000" b="0" i="0">
                <a:solidFill>
                  <a:srgbClr val="FFFFFF"/>
                </a:solidFill>
                <a:latin typeface="Calibri"/>
              </a:rPr>
              <a:t>Status progresses with reliable wear time; clinical floors remain universal.</a:t>
            </a:r>
          </a:p>
        </p:txBody>
      </p:sp>
      <p:sp>
        <p:nvSpPr>
          <p:cNvPr id="40" name="TextBox 39"/>
          <p:cNvSpPr txBox="1"/>
          <p:nvPr/>
        </p:nvSpPr>
        <p:spPr>
          <a:xfrm>
            <a:off x="594360" y="5870448"/>
            <a:ext cx="10972800" cy="274320"/>
          </a:xfrm>
          <a:prstGeom prst="rect">
            <a:avLst/>
          </a:prstGeom>
          <a:noFill/>
        </p:spPr>
        <p:txBody>
          <a:bodyPr wrap="square" lIns="0" rIns="0" tIns="0" bIns="0" anchor="t">
            <a:noAutofit/>
          </a:bodyPr>
          <a:lstStyle/>
          <a:p>
            <a:pPr algn="l">
              <a:lnSpc>
                <a:spcPct val="108000"/>
              </a:lnSpc>
              <a:spcAft>
                <a:spcPts val="0"/>
              </a:spcAft>
            </a:pPr>
            <a:r>
              <a:rPr sz="890" b="0" i="1">
                <a:solidFill>
                  <a:srgbClr val="A9A9C7"/>
                </a:solidFill>
                <a:latin typeface="Calibri"/>
              </a:rPr>
              <a:t>Calibration is a target feature; validate update rate, exclusions and caregiver corrections before pilot use.</a:t>
            </a:r>
          </a:p>
        </p:txBody>
      </p:sp>
      <p:sp>
        <p:nvSpPr>
          <p:cNvPr id="41" name="TextBox 40"/>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A9A9C7"/>
                </a:solidFill>
                <a:latin typeface="Calibri"/>
              </a:rPr>
              <a:t>AI / ML</a:t>
            </a:r>
            <a:r>
              <a:rPr sz="800" b="0" i="0" spc="140">
                <a:solidFill>
                  <a:srgbClr val="A9A9C7"/>
                </a:solidFill>
                <a:latin typeface="Calibri"/>
              </a:rPr>
              <a:t>   |   PERSONALIZED REFERENCE SIGNALS</a:t>
            </a:r>
          </a:p>
        </p:txBody>
      </p:sp>
      <p:sp>
        <p:nvSpPr>
          <p:cNvPr id="42" name="TextBox 41"/>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22D3E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TextBox 1"/>
          <p:cNvSpPr txBox="1"/>
          <p:nvPr/>
        </p:nvSpPr>
        <p:spPr>
          <a:xfrm>
            <a:off x="548640" y="502920"/>
            <a:ext cx="8778240" cy="603504"/>
          </a:xfrm>
          <a:prstGeom prst="rect">
            <a:avLst/>
          </a:prstGeom>
          <a:noFill/>
        </p:spPr>
        <p:txBody>
          <a:bodyPr wrap="square" lIns="0" rIns="0" tIns="0" bIns="0" anchor="t">
            <a:noAutofit/>
          </a:bodyPr>
          <a:lstStyle/>
          <a:p>
            <a:pPr algn="l">
              <a:lnSpc>
                <a:spcPct val="100000"/>
              </a:lnSpc>
              <a:spcAft>
                <a:spcPts val="0"/>
              </a:spcAft>
            </a:pPr>
            <a:r>
              <a:rPr sz="3200" b="1" i="0">
                <a:solidFill>
                  <a:srgbClr val="17172F"/>
                </a:solidFill>
                <a:latin typeface="Calibri"/>
              </a:rPr>
              <a:t>Three independent detection tiers</a:t>
            </a:r>
          </a:p>
        </p:txBody>
      </p:sp>
      <p:sp>
        <p:nvSpPr>
          <p:cNvPr id="3" name="TextBox 2"/>
          <p:cNvSpPr txBox="1"/>
          <p:nvPr/>
        </p:nvSpPr>
        <p:spPr>
          <a:xfrm>
            <a:off x="548640" y="1143000"/>
            <a:ext cx="8778240" cy="548640"/>
          </a:xfrm>
          <a:prstGeom prst="rect">
            <a:avLst/>
          </a:prstGeom>
          <a:noFill/>
        </p:spPr>
        <p:txBody>
          <a:bodyPr wrap="square" lIns="0" rIns="0" tIns="0" bIns="0" anchor="t">
            <a:noAutofit/>
          </a:bodyPr>
          <a:lstStyle/>
          <a:p>
            <a:pPr algn="l">
              <a:lnSpc>
                <a:spcPct val="115000"/>
              </a:lnSpc>
              <a:spcAft>
                <a:spcPts val="0"/>
              </a:spcAft>
            </a:pPr>
            <a:r>
              <a:rPr sz="1400" b="0" i="0">
                <a:solidFill>
                  <a:srgbClr val="5B5B7A"/>
                </a:solidFill>
                <a:latin typeface="Calibri"/>
              </a:rPr>
              <a:t>Activity informs context; any one safety path can raise an alert.</a:t>
            </a:r>
          </a:p>
        </p:txBody>
      </p:sp>
      <p:sp>
        <p:nvSpPr>
          <p:cNvPr id="4" name="Rounded Rectangle 3"/>
          <p:cNvSpPr/>
          <p:nvPr/>
        </p:nvSpPr>
        <p:spPr>
          <a:xfrm>
            <a:off x="9144000" y="1700784"/>
            <a:ext cx="2331720" cy="283464"/>
          </a:xfrm>
          <a:prstGeom prst="roundRect">
            <a:avLst>
              <a:gd name="adj" fmla="val 50000"/>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0" y="1700784"/>
            <a:ext cx="2331720" cy="283464"/>
          </a:xfrm>
          <a:prstGeom prst="rect">
            <a:avLst/>
          </a:prstGeom>
          <a:noFill/>
        </p:spPr>
        <p:txBody>
          <a:bodyPr wrap="square" lIns="0" rIns="0" tIns="0" bIns="0" anchor="ctr">
            <a:noAutofit/>
          </a:bodyPr>
          <a:lstStyle/>
          <a:p>
            <a:pPr algn="ctr">
              <a:lnSpc>
                <a:spcPct val="108000"/>
              </a:lnSpc>
              <a:spcAft>
                <a:spcPts val="0"/>
              </a:spcAft>
            </a:pPr>
            <a:r>
              <a:rPr sz="750" b="1" i="0" spc="120">
                <a:solidFill>
                  <a:srgbClr val="FFFFFF"/>
                </a:solidFill>
                <a:latin typeface="Calibri"/>
              </a:rPr>
              <a:t>TARGET ALERT POLICY</a:t>
            </a:r>
          </a:p>
        </p:txBody>
      </p:sp>
      <p:sp>
        <p:nvSpPr>
          <p:cNvPr id="6" name="Rounded Rectangle 5"/>
          <p:cNvSpPr/>
          <p:nvPr/>
        </p:nvSpPr>
        <p:spPr>
          <a:xfrm>
            <a:off x="4315968" y="2029968"/>
            <a:ext cx="3566160" cy="658368"/>
          </a:xfrm>
          <a:prstGeom prst="roundRect">
            <a:avLst>
              <a:gd name="adj" fmla="val 19444"/>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53712" y="2112264"/>
            <a:ext cx="1508760" cy="228600"/>
          </a:xfrm>
          <a:prstGeom prst="rect">
            <a:avLst/>
          </a:prstGeom>
          <a:noFill/>
        </p:spPr>
        <p:txBody>
          <a:bodyPr wrap="square" lIns="0" rIns="0" tIns="0" bIns="0" anchor="ctr">
            <a:noAutofit/>
          </a:bodyPr>
          <a:lstStyle/>
          <a:p>
            <a:pPr algn="l">
              <a:lnSpc>
                <a:spcPct val="108000"/>
              </a:lnSpc>
              <a:spcAft>
                <a:spcPts val="0"/>
              </a:spcAft>
            </a:pPr>
            <a:r>
              <a:rPr sz="750" b="1" i="0" spc="160">
                <a:solidFill>
                  <a:srgbClr val="22D3EE"/>
                </a:solidFill>
                <a:latin typeface="Calibri"/>
              </a:rPr>
              <a:t>CONTEXT</a:t>
            </a:r>
          </a:p>
        </p:txBody>
      </p:sp>
      <p:sp>
        <p:nvSpPr>
          <p:cNvPr id="8" name="TextBox 7"/>
          <p:cNvSpPr txBox="1"/>
          <p:nvPr/>
        </p:nvSpPr>
        <p:spPr>
          <a:xfrm>
            <a:off x="5623560" y="2084831"/>
            <a:ext cx="1965960" cy="438912"/>
          </a:xfrm>
          <a:prstGeom prst="rect">
            <a:avLst/>
          </a:prstGeom>
          <a:noFill/>
        </p:spPr>
        <p:txBody>
          <a:bodyPr wrap="square" lIns="0" rIns="0" tIns="0" bIns="0" anchor="ctr">
            <a:noAutofit/>
          </a:bodyPr>
          <a:lstStyle/>
          <a:p>
            <a:pPr algn="l">
              <a:lnSpc>
                <a:spcPct val="108000"/>
              </a:lnSpc>
              <a:spcAft>
                <a:spcPts val="0"/>
              </a:spcAft>
            </a:pPr>
            <a:r>
              <a:rPr sz="1400" b="1" i="0">
                <a:solidFill>
                  <a:srgbClr val="FFFFFF"/>
                </a:solidFill>
                <a:latin typeface="Calibri"/>
              </a:rPr>
              <a:t>Activity classifier</a:t>
            </a:r>
          </a:p>
        </p:txBody>
      </p:sp>
      <p:cxnSp>
        <p:nvCxnSpPr>
          <p:cNvPr id="9" name="Connector 8"/>
          <p:cNvCxnSpPr/>
          <p:nvPr/>
        </p:nvCxnSpPr>
        <p:spPr>
          <a:xfrm>
            <a:off x="2359152" y="2953512"/>
            <a:ext cx="7479792" cy="0"/>
          </a:xfrm>
          <a:prstGeom prst="line">
            <a:avLst/>
          </a:prstGeom>
          <a:ln w="17780">
            <a:solidFill>
              <a:srgbClr val="A8A8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99048" y="2688336"/>
            <a:ext cx="0" cy="265176"/>
          </a:xfrm>
          <a:prstGeom prst="line">
            <a:avLst/>
          </a:prstGeom>
          <a:ln w="17780">
            <a:solidFill>
              <a:srgbClr val="A8A8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13432" y="2953512"/>
            <a:ext cx="0" cy="228600"/>
          </a:xfrm>
          <a:prstGeom prst="line">
            <a:avLst/>
          </a:prstGeom>
          <a:ln w="15875">
            <a:solidFill>
              <a:srgbClr val="A8A8B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66928" y="3182112"/>
            <a:ext cx="3493008" cy="1444752"/>
          </a:xfrm>
          <a:prstGeom prst="roundRect">
            <a:avLst>
              <a:gd name="adj" fmla="val 10126"/>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66928" y="3182112"/>
            <a:ext cx="3493008" cy="82296"/>
          </a:xfrm>
          <a:prstGeom prst="roundRect">
            <a:avLst>
              <a:gd name="adj" fmla="val 50000"/>
            </a:avLst>
          </a:prstGeom>
          <a:solidFill>
            <a:srgbClr val="16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713232" y="3374136"/>
            <a:ext cx="329184" cy="329184"/>
          </a:xfrm>
          <a:prstGeom prst="ellipse">
            <a:avLst/>
          </a:prstGeom>
          <a:solidFill>
            <a:srgbClr val="16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13232" y="3374136"/>
            <a:ext cx="329184" cy="329184"/>
          </a:xfrm>
          <a:prstGeom prst="rect">
            <a:avLst/>
          </a:prstGeom>
          <a:noFill/>
        </p:spPr>
        <p:txBody>
          <a:bodyPr wrap="square" lIns="0" rIns="0" tIns="0" bIns="0" anchor="ctr">
            <a:noAutofit/>
          </a:bodyPr>
          <a:lstStyle/>
          <a:p>
            <a:pPr algn="ctr">
              <a:lnSpc>
                <a:spcPct val="108000"/>
              </a:lnSpc>
              <a:spcAft>
                <a:spcPts val="0"/>
              </a:spcAft>
            </a:pPr>
            <a:r>
              <a:rPr sz="850" b="1" i="0">
                <a:solidFill>
                  <a:srgbClr val="FFFFFF"/>
                </a:solidFill>
                <a:latin typeface="Calibri"/>
              </a:rPr>
              <a:t>01</a:t>
            </a:r>
          </a:p>
        </p:txBody>
      </p:sp>
      <p:sp>
        <p:nvSpPr>
          <p:cNvPr id="16" name="TextBox 15"/>
          <p:cNvSpPr txBox="1"/>
          <p:nvPr/>
        </p:nvSpPr>
        <p:spPr>
          <a:xfrm>
            <a:off x="1133856" y="3364992"/>
            <a:ext cx="2697480" cy="310896"/>
          </a:xfrm>
          <a:prstGeom prst="rect">
            <a:avLst/>
          </a:prstGeom>
          <a:noFill/>
        </p:spPr>
        <p:txBody>
          <a:bodyPr wrap="square" lIns="0" rIns="0" tIns="0" bIns="0" anchor="t">
            <a:noAutofit/>
          </a:bodyPr>
          <a:lstStyle/>
          <a:p>
            <a:pPr algn="l">
              <a:lnSpc>
                <a:spcPct val="108000"/>
              </a:lnSpc>
              <a:spcAft>
                <a:spcPts val="0"/>
              </a:spcAft>
            </a:pPr>
            <a:r>
              <a:rPr sz="1340" b="1" i="0">
                <a:solidFill>
                  <a:srgbClr val="17172F"/>
                </a:solidFill>
                <a:latin typeface="Calibri"/>
              </a:rPr>
              <a:t>Clinical floors</a:t>
            </a:r>
          </a:p>
        </p:txBody>
      </p:sp>
      <p:sp>
        <p:nvSpPr>
          <p:cNvPr id="17" name="TextBox 16"/>
          <p:cNvSpPr txBox="1"/>
          <p:nvPr/>
        </p:nvSpPr>
        <p:spPr>
          <a:xfrm>
            <a:off x="1133856" y="3685032"/>
            <a:ext cx="2697480" cy="246888"/>
          </a:xfrm>
          <a:prstGeom prst="rect">
            <a:avLst/>
          </a:prstGeom>
          <a:noFill/>
        </p:spPr>
        <p:txBody>
          <a:bodyPr wrap="square" lIns="0" rIns="0" tIns="0" bIns="0" anchor="t">
            <a:noAutofit/>
          </a:bodyPr>
          <a:lstStyle/>
          <a:p>
            <a:pPr algn="l">
              <a:lnSpc>
                <a:spcPct val="108000"/>
              </a:lnSpc>
              <a:spcAft>
                <a:spcPts val="0"/>
              </a:spcAft>
            </a:pPr>
            <a:r>
              <a:rPr sz="919" b="1" i="0">
                <a:solidFill>
                  <a:srgbClr val="1676B8"/>
                </a:solidFill>
                <a:latin typeface="Calibri"/>
              </a:rPr>
              <a:t>Fixed medical limits</a:t>
            </a:r>
          </a:p>
        </p:txBody>
      </p:sp>
      <p:sp>
        <p:nvSpPr>
          <p:cNvPr id="18" name="TextBox 17"/>
          <p:cNvSpPr txBox="1"/>
          <p:nvPr/>
        </p:nvSpPr>
        <p:spPr>
          <a:xfrm>
            <a:off x="786384" y="4078224"/>
            <a:ext cx="3054096" cy="429768"/>
          </a:xfrm>
          <a:prstGeom prst="rect">
            <a:avLst/>
          </a:prstGeom>
          <a:noFill/>
        </p:spPr>
        <p:txBody>
          <a:bodyPr wrap="square" lIns="0" rIns="0" tIns="0" bIns="0" anchor="t">
            <a:noAutofit/>
          </a:bodyPr>
          <a:lstStyle/>
          <a:p>
            <a:pPr algn="l">
              <a:lnSpc>
                <a:spcPct val="110000"/>
              </a:lnSpc>
              <a:spcAft>
                <a:spcPts val="0"/>
              </a:spcAft>
            </a:pPr>
            <a:r>
              <a:rPr sz="910" b="0" i="0">
                <a:solidFill>
                  <a:srgbClr val="5B5B7A"/>
                </a:solidFill>
                <a:latin typeface="Calibri"/>
              </a:rPr>
              <a:t>SpO₂ &lt;90% · core temp ≥37.8°C
Fall impact ≥2.8 g</a:t>
            </a:r>
          </a:p>
        </p:txBody>
      </p:sp>
      <p:cxnSp>
        <p:nvCxnSpPr>
          <p:cNvPr id="19" name="Connector 18"/>
          <p:cNvCxnSpPr/>
          <p:nvPr/>
        </p:nvCxnSpPr>
        <p:spPr>
          <a:xfrm>
            <a:off x="6099048" y="2953512"/>
            <a:ext cx="0" cy="228600"/>
          </a:xfrm>
          <a:prstGeom prst="line">
            <a:avLst/>
          </a:prstGeom>
          <a:ln w="15875">
            <a:solidFill>
              <a:srgbClr val="A8A8B5"/>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52544" y="3182112"/>
            <a:ext cx="3493008" cy="1444752"/>
          </a:xfrm>
          <a:prstGeom prst="roundRect">
            <a:avLst>
              <a:gd name="adj" fmla="val 10126"/>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352544" y="3182112"/>
            <a:ext cx="3493008" cy="82296"/>
          </a:xfrm>
          <a:prstGeom prst="roundRect">
            <a:avLst>
              <a:gd name="adj" fmla="val 50000"/>
            </a:avLst>
          </a:prstGeom>
          <a:solidFill>
            <a:srgbClr val="0F9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498848" y="3374136"/>
            <a:ext cx="329184" cy="329184"/>
          </a:xfrm>
          <a:prstGeom prst="ellipse">
            <a:avLst/>
          </a:prstGeom>
          <a:solidFill>
            <a:srgbClr val="0F9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98848" y="3374136"/>
            <a:ext cx="329184" cy="329184"/>
          </a:xfrm>
          <a:prstGeom prst="rect">
            <a:avLst/>
          </a:prstGeom>
          <a:noFill/>
        </p:spPr>
        <p:txBody>
          <a:bodyPr wrap="square" lIns="0" rIns="0" tIns="0" bIns="0" anchor="ctr">
            <a:noAutofit/>
          </a:bodyPr>
          <a:lstStyle/>
          <a:p>
            <a:pPr algn="ctr">
              <a:lnSpc>
                <a:spcPct val="108000"/>
              </a:lnSpc>
              <a:spcAft>
                <a:spcPts val="0"/>
              </a:spcAft>
            </a:pPr>
            <a:r>
              <a:rPr sz="850" b="1" i="0">
                <a:solidFill>
                  <a:srgbClr val="FFFFFF"/>
                </a:solidFill>
                <a:latin typeface="Calibri"/>
              </a:rPr>
              <a:t>02</a:t>
            </a:r>
          </a:p>
        </p:txBody>
      </p:sp>
      <p:sp>
        <p:nvSpPr>
          <p:cNvPr id="24" name="TextBox 23"/>
          <p:cNvSpPr txBox="1"/>
          <p:nvPr/>
        </p:nvSpPr>
        <p:spPr>
          <a:xfrm>
            <a:off x="4919472" y="3364992"/>
            <a:ext cx="2697480" cy="310896"/>
          </a:xfrm>
          <a:prstGeom prst="rect">
            <a:avLst/>
          </a:prstGeom>
          <a:noFill/>
        </p:spPr>
        <p:txBody>
          <a:bodyPr wrap="square" lIns="0" rIns="0" tIns="0" bIns="0" anchor="t">
            <a:noAutofit/>
          </a:bodyPr>
          <a:lstStyle/>
          <a:p>
            <a:pPr algn="l">
              <a:lnSpc>
                <a:spcPct val="108000"/>
              </a:lnSpc>
              <a:spcAft>
                <a:spcPts val="0"/>
              </a:spcAft>
            </a:pPr>
            <a:r>
              <a:rPr sz="1340" b="1" i="0">
                <a:solidFill>
                  <a:srgbClr val="17172F"/>
                </a:solidFill>
                <a:latin typeface="Calibri"/>
              </a:rPr>
              <a:t>Personal σ-rules</a:t>
            </a:r>
          </a:p>
        </p:txBody>
      </p:sp>
      <p:sp>
        <p:nvSpPr>
          <p:cNvPr id="25" name="TextBox 24"/>
          <p:cNvSpPr txBox="1"/>
          <p:nvPr/>
        </p:nvSpPr>
        <p:spPr>
          <a:xfrm>
            <a:off x="4919472" y="3685032"/>
            <a:ext cx="2697480" cy="246888"/>
          </a:xfrm>
          <a:prstGeom prst="rect">
            <a:avLst/>
          </a:prstGeom>
          <a:noFill/>
        </p:spPr>
        <p:txBody>
          <a:bodyPr wrap="square" lIns="0" rIns="0" tIns="0" bIns="0" anchor="t">
            <a:noAutofit/>
          </a:bodyPr>
          <a:lstStyle/>
          <a:p>
            <a:pPr algn="l">
              <a:lnSpc>
                <a:spcPct val="108000"/>
              </a:lnSpc>
              <a:spcAft>
                <a:spcPts val="0"/>
              </a:spcAft>
            </a:pPr>
            <a:r>
              <a:rPr sz="919" b="1" i="0">
                <a:solidFill>
                  <a:srgbClr val="0F9F6E"/>
                </a:solidFill>
                <a:latin typeface="Calibri"/>
              </a:rPr>
              <a:t>Per-activity baseline</a:t>
            </a:r>
          </a:p>
        </p:txBody>
      </p:sp>
      <p:sp>
        <p:nvSpPr>
          <p:cNvPr id="26" name="TextBox 25"/>
          <p:cNvSpPr txBox="1"/>
          <p:nvPr/>
        </p:nvSpPr>
        <p:spPr>
          <a:xfrm>
            <a:off x="4572000" y="4078224"/>
            <a:ext cx="3054096" cy="429768"/>
          </a:xfrm>
          <a:prstGeom prst="rect">
            <a:avLst/>
          </a:prstGeom>
          <a:noFill/>
        </p:spPr>
        <p:txBody>
          <a:bodyPr wrap="square" lIns="0" rIns="0" tIns="0" bIns="0" anchor="t">
            <a:noAutofit/>
          </a:bodyPr>
          <a:lstStyle/>
          <a:p>
            <a:pPr algn="l">
              <a:lnSpc>
                <a:spcPct val="110000"/>
              </a:lnSpc>
              <a:spcAft>
                <a:spcPts val="0"/>
              </a:spcAft>
            </a:pPr>
            <a:r>
              <a:rPr sz="910" b="0" i="0">
                <a:solidFill>
                  <a:srgbClr val="5B5B7A"/>
                </a:solidFill>
                <a:latin typeface="Calibri"/>
              </a:rPr>
              <a:t>Deviation from the wearer’s
calibrated activity baseline</a:t>
            </a:r>
          </a:p>
        </p:txBody>
      </p:sp>
      <p:cxnSp>
        <p:nvCxnSpPr>
          <p:cNvPr id="27" name="Connector 26"/>
          <p:cNvCxnSpPr/>
          <p:nvPr/>
        </p:nvCxnSpPr>
        <p:spPr>
          <a:xfrm>
            <a:off x="9884664" y="2953512"/>
            <a:ext cx="0" cy="228600"/>
          </a:xfrm>
          <a:prstGeom prst="line">
            <a:avLst/>
          </a:prstGeom>
          <a:ln w="15875">
            <a:solidFill>
              <a:srgbClr val="A8A8B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138160" y="3182112"/>
            <a:ext cx="3493008" cy="1444752"/>
          </a:xfrm>
          <a:prstGeom prst="roundRect">
            <a:avLst>
              <a:gd name="adj" fmla="val 10126"/>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138160" y="3182112"/>
            <a:ext cx="3493008" cy="82296"/>
          </a:xfrm>
          <a:prstGeom prst="roundRect">
            <a:avLst>
              <a:gd name="adj" fmla="val 50000"/>
            </a:avLst>
          </a:prstGeom>
          <a:solidFill>
            <a:srgbClr val="D96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84464" y="3374136"/>
            <a:ext cx="329184" cy="329184"/>
          </a:xfrm>
          <a:prstGeom prst="ellipse">
            <a:avLst/>
          </a:prstGeom>
          <a:solidFill>
            <a:srgbClr val="D96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284464" y="3374136"/>
            <a:ext cx="329184" cy="329184"/>
          </a:xfrm>
          <a:prstGeom prst="rect">
            <a:avLst/>
          </a:prstGeom>
          <a:noFill/>
        </p:spPr>
        <p:txBody>
          <a:bodyPr wrap="square" lIns="0" rIns="0" tIns="0" bIns="0" anchor="ctr">
            <a:noAutofit/>
          </a:bodyPr>
          <a:lstStyle/>
          <a:p>
            <a:pPr algn="ctr">
              <a:lnSpc>
                <a:spcPct val="108000"/>
              </a:lnSpc>
              <a:spcAft>
                <a:spcPts val="0"/>
              </a:spcAft>
            </a:pPr>
            <a:r>
              <a:rPr sz="850" b="1" i="0">
                <a:solidFill>
                  <a:srgbClr val="FFFFFF"/>
                </a:solidFill>
                <a:latin typeface="Calibri"/>
              </a:rPr>
              <a:t>03</a:t>
            </a:r>
          </a:p>
        </p:txBody>
      </p:sp>
      <p:sp>
        <p:nvSpPr>
          <p:cNvPr id="32" name="TextBox 31"/>
          <p:cNvSpPr txBox="1"/>
          <p:nvPr/>
        </p:nvSpPr>
        <p:spPr>
          <a:xfrm>
            <a:off x="8705088" y="3364992"/>
            <a:ext cx="2697480" cy="310896"/>
          </a:xfrm>
          <a:prstGeom prst="rect">
            <a:avLst/>
          </a:prstGeom>
          <a:noFill/>
        </p:spPr>
        <p:txBody>
          <a:bodyPr wrap="square" lIns="0" rIns="0" tIns="0" bIns="0" anchor="t">
            <a:noAutofit/>
          </a:bodyPr>
          <a:lstStyle/>
          <a:p>
            <a:pPr algn="l">
              <a:lnSpc>
                <a:spcPct val="108000"/>
              </a:lnSpc>
              <a:spcAft>
                <a:spcPts val="0"/>
              </a:spcAft>
            </a:pPr>
            <a:r>
              <a:rPr sz="1340" b="1" i="0">
                <a:solidFill>
                  <a:srgbClr val="17172F"/>
                </a:solidFill>
                <a:latin typeface="Calibri"/>
              </a:rPr>
              <a:t>Trained ML model</a:t>
            </a:r>
          </a:p>
        </p:txBody>
      </p:sp>
      <p:sp>
        <p:nvSpPr>
          <p:cNvPr id="33" name="TextBox 32"/>
          <p:cNvSpPr txBox="1"/>
          <p:nvPr/>
        </p:nvSpPr>
        <p:spPr>
          <a:xfrm>
            <a:off x="8705088" y="3685032"/>
            <a:ext cx="2697480" cy="246888"/>
          </a:xfrm>
          <a:prstGeom prst="rect">
            <a:avLst/>
          </a:prstGeom>
          <a:noFill/>
        </p:spPr>
        <p:txBody>
          <a:bodyPr wrap="square" lIns="0" rIns="0" tIns="0" bIns="0" anchor="t">
            <a:noAutofit/>
          </a:bodyPr>
          <a:lstStyle/>
          <a:p>
            <a:pPr algn="l">
              <a:lnSpc>
                <a:spcPct val="108000"/>
              </a:lnSpc>
              <a:spcAft>
                <a:spcPts val="0"/>
              </a:spcAft>
            </a:pPr>
            <a:r>
              <a:rPr sz="919" b="1" i="0">
                <a:solidFill>
                  <a:srgbClr val="D96D36"/>
                </a:solidFill>
                <a:latin typeface="Calibri"/>
              </a:rPr>
              <a:t>Isolation Forest</a:t>
            </a:r>
          </a:p>
        </p:txBody>
      </p:sp>
      <p:sp>
        <p:nvSpPr>
          <p:cNvPr id="34" name="TextBox 33"/>
          <p:cNvSpPr txBox="1"/>
          <p:nvPr/>
        </p:nvSpPr>
        <p:spPr>
          <a:xfrm>
            <a:off x="8357616" y="4078224"/>
            <a:ext cx="3054096" cy="429768"/>
          </a:xfrm>
          <a:prstGeom prst="rect">
            <a:avLst/>
          </a:prstGeom>
          <a:noFill/>
        </p:spPr>
        <p:txBody>
          <a:bodyPr wrap="square" lIns="0" rIns="0" tIns="0" bIns="0" anchor="t">
            <a:noAutofit/>
          </a:bodyPr>
          <a:lstStyle/>
          <a:p>
            <a:pPr algn="l">
              <a:lnSpc>
                <a:spcPct val="110000"/>
              </a:lnSpc>
              <a:spcAft>
                <a:spcPts val="0"/>
              </a:spcAft>
            </a:pPr>
            <a:r>
              <a:rPr sz="910" b="0" i="0">
                <a:solidFill>
                  <a:srgbClr val="5B5B7A"/>
                </a:solidFill>
                <a:latin typeface="Calibri"/>
              </a:rPr>
              <a:t>23-feature anomaly score
with activity as an input</a:t>
            </a:r>
          </a:p>
        </p:txBody>
      </p:sp>
      <p:cxnSp>
        <p:nvCxnSpPr>
          <p:cNvPr id="35" name="Connector 34"/>
          <p:cNvCxnSpPr/>
          <p:nvPr/>
        </p:nvCxnSpPr>
        <p:spPr>
          <a:xfrm>
            <a:off x="2313432" y="4626864"/>
            <a:ext cx="0" cy="283463"/>
          </a:xfrm>
          <a:prstGeom prst="line">
            <a:avLst/>
          </a:prstGeom>
          <a:ln w="16510">
            <a:solidFill>
              <a:srgbClr val="A8A8B5"/>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099048" y="4626864"/>
            <a:ext cx="0" cy="283463"/>
          </a:xfrm>
          <a:prstGeom prst="line">
            <a:avLst/>
          </a:prstGeom>
          <a:ln w="16510">
            <a:solidFill>
              <a:srgbClr val="A8A8B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884664" y="4626864"/>
            <a:ext cx="0" cy="283463"/>
          </a:xfrm>
          <a:prstGeom prst="line">
            <a:avLst/>
          </a:prstGeom>
          <a:ln w="16510">
            <a:solidFill>
              <a:srgbClr val="A8A8B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13432" y="4910328"/>
            <a:ext cx="7571231" cy="0"/>
          </a:xfrm>
          <a:prstGeom prst="line">
            <a:avLst/>
          </a:prstGeom>
          <a:ln w="16510">
            <a:solidFill>
              <a:srgbClr val="A8A8B5"/>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99048" y="4910328"/>
            <a:ext cx="0" cy="146304"/>
          </a:xfrm>
          <a:prstGeom prst="line">
            <a:avLst/>
          </a:prstGeom>
          <a:ln w="16510">
            <a:solidFill>
              <a:srgbClr val="A8A8B5"/>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133087" y="5056632"/>
            <a:ext cx="3931920" cy="640080"/>
          </a:xfrm>
          <a:prstGeom prst="roundRect">
            <a:avLst>
              <a:gd name="adj" fmla="val 22857"/>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315968" y="5102352"/>
            <a:ext cx="3566160" cy="512064"/>
          </a:xfrm>
          <a:prstGeom prst="rect">
            <a:avLst/>
          </a:prstGeom>
          <a:noFill/>
        </p:spPr>
        <p:txBody>
          <a:bodyPr wrap="square" lIns="0" rIns="0" tIns="0" bIns="0" anchor="ctr">
            <a:noAutofit/>
          </a:bodyPr>
          <a:lstStyle/>
          <a:p>
            <a:pPr algn="ctr">
              <a:lnSpc>
                <a:spcPct val="108000"/>
              </a:lnSpc>
              <a:spcAft>
                <a:spcPts val="0"/>
              </a:spcAft>
            </a:pPr>
            <a:r>
              <a:rPr sz="1500" b="1" i="0">
                <a:solidFill>
                  <a:srgbClr val="FFFFFF"/>
                </a:solidFill>
                <a:latin typeface="Calibri"/>
              </a:rPr>
              <a:t>OR gate · any one tier fires → alert</a:t>
            </a:r>
          </a:p>
        </p:txBody>
      </p:sp>
      <p:sp>
        <p:nvSpPr>
          <p:cNvPr id="42" name="TextBox 41"/>
          <p:cNvSpPr txBox="1"/>
          <p:nvPr/>
        </p:nvSpPr>
        <p:spPr>
          <a:xfrm>
            <a:off x="594360" y="5870448"/>
            <a:ext cx="10972800" cy="256032"/>
          </a:xfrm>
          <a:prstGeom prst="rect">
            <a:avLst/>
          </a:prstGeom>
          <a:noFill/>
        </p:spPr>
        <p:txBody>
          <a:bodyPr wrap="square" lIns="0" rIns="0" tIns="0" bIns="0" anchor="t">
            <a:noAutofit/>
          </a:bodyPr>
          <a:lstStyle/>
          <a:p>
            <a:pPr algn="ctr">
              <a:lnSpc>
                <a:spcPct val="108000"/>
              </a:lnSpc>
              <a:spcAft>
                <a:spcPts val="0"/>
              </a:spcAft>
            </a:pPr>
            <a:r>
              <a:rPr sz="860" b="0" i="1">
                <a:solidFill>
                  <a:srgbClr val="5B5B7A"/>
                </a:solidFill>
                <a:latin typeface="Calibri"/>
              </a:rPr>
              <a:t>Safety principle: personal calibration cannot suppress a clinical floor. Target architecture · thresholds and independent paths require validation.</a:t>
            </a:r>
          </a:p>
        </p:txBody>
      </p:sp>
      <p:sp>
        <p:nvSpPr>
          <p:cNvPr id="43" name="TextBox 42"/>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5B5B7A"/>
                </a:solidFill>
                <a:latin typeface="Calibri"/>
              </a:rPr>
              <a:t>AI SAFETY</a:t>
            </a:r>
            <a:r>
              <a:rPr sz="800" b="0" i="0" spc="140">
                <a:solidFill>
                  <a:srgbClr val="5B5B7A"/>
                </a:solidFill>
                <a:latin typeface="Calibri"/>
              </a:rPr>
              <a:t>   |   INDEPENDENT DETECTION PATHS</a:t>
            </a:r>
          </a:p>
        </p:txBody>
      </p:sp>
      <p:sp>
        <p:nvSpPr>
          <p:cNvPr id="44" name="TextBox 43"/>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6C3CE9"/>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0E2A"/>
        </a:solidFill>
        <a:effectLst/>
      </p:bgPr>
    </p:bg>
    <p:spTree>
      <p:nvGrpSpPr>
        <p:cNvPr id="1" name=""/>
        <p:cNvGrpSpPr/>
        <p:nvPr/>
      </p:nvGrpSpPr>
      <p:grpSpPr/>
      <p:pic>
        <p:nvPicPr>
          <p:cNvPr id="2" name="Picture 1" descr="elder_home.jpg"/>
          <p:cNvPicPr>
            <a:picLocks noChangeAspect="1"/>
          </p:cNvPicPr>
          <p:nvPr/>
        </p:nvPicPr>
        <p:blipFill>
          <a:blip r:embed="rId2"/>
          <a:srcRect l="42889" r="16679"/>
          <a:stretch>
            <a:fillRect/>
          </a:stretch>
        </p:blipFill>
        <p:spPr>
          <a:xfrm>
            <a:off x="7223760" y="0"/>
            <a:ext cx="4967935" cy="6858000"/>
          </a:xfrm>
          <a:prstGeom prst="rect">
            <a:avLst/>
          </a:prstGeom>
        </p:spPr>
      </p:pic>
      <p:sp>
        <p:nvSpPr>
          <p:cNvPr id="3" name="Rectangle 2"/>
          <p:cNvSpPr/>
          <p:nvPr/>
        </p:nvSpPr>
        <p:spPr>
          <a:xfrm>
            <a:off x="7223760" y="0"/>
            <a:ext cx="2011680" cy="6858000"/>
          </a:xfrm>
          <a:prstGeom prst="rect">
            <a:avLst/>
          </a:prstGeom>
          <a:gradFill rotWithShape="1">
            <a:gsLst>
              <a:gs pos="0">
                <a:srgbClr val="0F0E2A"/>
              </a:gs>
              <a:gs pos="100000">
                <a:srgbClr val="0F0E2A">
                  <a:alpha val="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502920"/>
            <a:ext cx="6400800" cy="1115568"/>
          </a:xfrm>
          <a:prstGeom prst="rect">
            <a:avLst/>
          </a:prstGeom>
          <a:noFill/>
        </p:spPr>
        <p:txBody>
          <a:bodyPr wrap="square" lIns="0" rIns="0" tIns="0" bIns="0" anchor="t">
            <a:noAutofit/>
          </a:bodyPr>
          <a:lstStyle/>
          <a:p>
            <a:pPr algn="l">
              <a:lnSpc>
                <a:spcPct val="100000"/>
              </a:lnSpc>
              <a:spcAft>
                <a:spcPts val="0"/>
              </a:spcAft>
            </a:pPr>
            <a:r>
              <a:rPr sz="3200" b="1" i="0">
                <a:solidFill>
                  <a:srgbClr val="FFFFFF"/>
                </a:solidFill>
                <a:latin typeface="Calibri"/>
              </a:rPr>
              <a:t>A fall triggers a verified
safety workflow</a:t>
            </a:r>
          </a:p>
        </p:txBody>
      </p:sp>
      <p:sp>
        <p:nvSpPr>
          <p:cNvPr id="5" name="TextBox 4"/>
          <p:cNvSpPr txBox="1"/>
          <p:nvPr/>
        </p:nvSpPr>
        <p:spPr>
          <a:xfrm>
            <a:off x="548640" y="1600200"/>
            <a:ext cx="4572000" cy="228600"/>
          </a:xfrm>
          <a:prstGeom prst="rect">
            <a:avLst/>
          </a:prstGeom>
          <a:noFill/>
        </p:spPr>
        <p:txBody>
          <a:bodyPr wrap="square" lIns="0" rIns="0" tIns="0" bIns="0" anchor="ctr">
            <a:noAutofit/>
          </a:bodyPr>
          <a:lstStyle/>
          <a:p>
            <a:pPr algn="l">
              <a:lnSpc>
                <a:spcPct val="108000"/>
              </a:lnSpc>
              <a:spcAft>
                <a:spcPts val="0"/>
              </a:spcAft>
            </a:pPr>
            <a:r>
              <a:rPr sz="950" b="1" i="0" spc="160">
                <a:solidFill>
                  <a:srgbClr val="22D3EE"/>
                </a:solidFill>
                <a:latin typeface="Calibri"/>
              </a:rPr>
              <a:t>DESIGNED EMERGENCY ESCALATION</a:t>
            </a:r>
          </a:p>
        </p:txBody>
      </p:sp>
      <p:cxnSp>
        <p:nvCxnSpPr>
          <p:cNvPr id="6" name="Connector 5"/>
          <p:cNvCxnSpPr/>
          <p:nvPr/>
        </p:nvCxnSpPr>
        <p:spPr>
          <a:xfrm>
            <a:off x="777240" y="2286000"/>
            <a:ext cx="0" cy="3145536"/>
          </a:xfrm>
          <a:prstGeom prst="line">
            <a:avLst/>
          </a:prstGeom>
          <a:ln w="19050">
            <a:solidFill>
              <a:srgbClr val="26255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85216" y="2093976"/>
            <a:ext cx="384048" cy="384048"/>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85216" y="2093976"/>
            <a:ext cx="384048" cy="384048"/>
          </a:xfrm>
          <a:prstGeom prst="rect">
            <a:avLst/>
          </a:prstGeom>
          <a:noFill/>
        </p:spPr>
        <p:txBody>
          <a:bodyPr wrap="square" lIns="0" rIns="0" tIns="0" bIns="0" anchor="ctr">
            <a:noAutofit/>
          </a:bodyPr>
          <a:lstStyle/>
          <a:p>
            <a:pPr algn="ctr">
              <a:lnSpc>
                <a:spcPct val="108000"/>
              </a:lnSpc>
              <a:spcAft>
                <a:spcPts val="0"/>
              </a:spcAft>
            </a:pPr>
            <a:r>
              <a:rPr sz="1000" b="1" i="0">
                <a:solidFill>
                  <a:srgbClr val="0F0E2A"/>
                </a:solidFill>
                <a:latin typeface="Calibri"/>
              </a:rPr>
              <a:t>1</a:t>
            </a:r>
          </a:p>
        </p:txBody>
      </p:sp>
      <p:sp>
        <p:nvSpPr>
          <p:cNvPr id="9" name="TextBox 8"/>
          <p:cNvSpPr txBox="1"/>
          <p:nvPr/>
        </p:nvSpPr>
        <p:spPr>
          <a:xfrm>
            <a:off x="1280160" y="2075688"/>
            <a:ext cx="1280160" cy="365760"/>
          </a:xfrm>
          <a:prstGeom prst="rect">
            <a:avLst/>
          </a:prstGeom>
          <a:noFill/>
        </p:spPr>
        <p:txBody>
          <a:bodyPr wrap="square" lIns="0" rIns="0" tIns="0" bIns="0" anchor="t">
            <a:noAutofit/>
          </a:bodyPr>
          <a:lstStyle/>
          <a:p>
            <a:pPr algn="l">
              <a:lnSpc>
                <a:spcPct val="108000"/>
              </a:lnSpc>
              <a:spcAft>
                <a:spcPts val="0"/>
              </a:spcAft>
            </a:pPr>
            <a:r>
              <a:rPr sz="1350" b="1" i="0">
                <a:solidFill>
                  <a:srgbClr val="FFFFFF"/>
                </a:solidFill>
                <a:latin typeface="Calibri"/>
              </a:rPr>
              <a:t>Detect</a:t>
            </a:r>
          </a:p>
        </p:txBody>
      </p:sp>
      <p:sp>
        <p:nvSpPr>
          <p:cNvPr id="10" name="TextBox 9"/>
          <p:cNvSpPr txBox="1"/>
          <p:nvPr/>
        </p:nvSpPr>
        <p:spPr>
          <a:xfrm>
            <a:off x="2468880" y="2103120"/>
            <a:ext cx="4480560" cy="731520"/>
          </a:xfrm>
          <a:prstGeom prst="rect">
            <a:avLst/>
          </a:prstGeom>
          <a:noFill/>
        </p:spPr>
        <p:txBody>
          <a:bodyPr wrap="square" lIns="0" rIns="0" tIns="0" bIns="0" anchor="t">
            <a:noAutofit/>
          </a:bodyPr>
          <a:lstStyle/>
          <a:p>
            <a:pPr algn="l">
              <a:lnSpc>
                <a:spcPct val="120000"/>
              </a:lnSpc>
              <a:spcAft>
                <a:spcPts val="0"/>
              </a:spcAft>
            </a:pPr>
            <a:r>
              <a:rPr sz="1050" b="0" i="0">
                <a:solidFill>
                  <a:srgbClr val="A9A9C7"/>
                </a:solidFill>
                <a:latin typeface="Calibri"/>
              </a:rPr>
              <a:t>Impact above 3 g, a free-fall cue, or a dangerous vital pattern from the AI core</a:t>
            </a:r>
          </a:p>
        </p:txBody>
      </p:sp>
      <p:sp>
        <p:nvSpPr>
          <p:cNvPr id="11" name="Oval 10"/>
          <p:cNvSpPr/>
          <p:nvPr/>
        </p:nvSpPr>
        <p:spPr>
          <a:xfrm>
            <a:off x="585216" y="2880360"/>
            <a:ext cx="384048" cy="384048"/>
          </a:xfrm>
          <a:prstGeom prst="ellipse">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85216" y="2880360"/>
            <a:ext cx="384048" cy="384048"/>
          </a:xfrm>
          <a:prstGeom prst="rect">
            <a:avLst/>
          </a:prstGeom>
          <a:noFill/>
        </p:spPr>
        <p:txBody>
          <a:bodyPr wrap="square" lIns="0" rIns="0" tIns="0" bIns="0" anchor="ctr">
            <a:noAutofit/>
          </a:bodyPr>
          <a:lstStyle/>
          <a:p>
            <a:pPr algn="ctr">
              <a:lnSpc>
                <a:spcPct val="108000"/>
              </a:lnSpc>
              <a:spcAft>
                <a:spcPts val="0"/>
              </a:spcAft>
            </a:pPr>
            <a:r>
              <a:rPr sz="1000" b="1" i="0">
                <a:solidFill>
                  <a:srgbClr val="FFFFFF"/>
                </a:solidFill>
                <a:latin typeface="Calibri"/>
              </a:rPr>
              <a:t>2</a:t>
            </a:r>
          </a:p>
        </p:txBody>
      </p:sp>
      <p:sp>
        <p:nvSpPr>
          <p:cNvPr id="13" name="TextBox 12"/>
          <p:cNvSpPr txBox="1"/>
          <p:nvPr/>
        </p:nvSpPr>
        <p:spPr>
          <a:xfrm>
            <a:off x="1280160" y="2862072"/>
            <a:ext cx="1280160" cy="365760"/>
          </a:xfrm>
          <a:prstGeom prst="rect">
            <a:avLst/>
          </a:prstGeom>
          <a:noFill/>
        </p:spPr>
        <p:txBody>
          <a:bodyPr wrap="square" lIns="0" rIns="0" tIns="0" bIns="0" anchor="t">
            <a:noAutofit/>
          </a:bodyPr>
          <a:lstStyle/>
          <a:p>
            <a:pPr algn="l">
              <a:lnSpc>
                <a:spcPct val="108000"/>
              </a:lnSpc>
              <a:spcAft>
                <a:spcPts val="0"/>
              </a:spcAft>
            </a:pPr>
            <a:r>
              <a:rPr sz="1350" b="1" i="0">
                <a:solidFill>
                  <a:srgbClr val="FFFFFF"/>
                </a:solidFill>
                <a:latin typeface="Calibri"/>
              </a:rPr>
              <a:t>Verify</a:t>
            </a:r>
          </a:p>
        </p:txBody>
      </p:sp>
      <p:sp>
        <p:nvSpPr>
          <p:cNvPr id="14" name="TextBox 13"/>
          <p:cNvSpPr txBox="1"/>
          <p:nvPr/>
        </p:nvSpPr>
        <p:spPr>
          <a:xfrm>
            <a:off x="2468880" y="2889503"/>
            <a:ext cx="4480560" cy="731520"/>
          </a:xfrm>
          <a:prstGeom prst="rect">
            <a:avLst/>
          </a:prstGeom>
          <a:noFill/>
        </p:spPr>
        <p:txBody>
          <a:bodyPr wrap="square" lIns="0" rIns="0" tIns="0" bIns="0" anchor="t">
            <a:noAutofit/>
          </a:bodyPr>
          <a:lstStyle/>
          <a:p>
            <a:pPr algn="l">
              <a:lnSpc>
                <a:spcPct val="120000"/>
              </a:lnSpc>
              <a:spcAft>
                <a:spcPts val="0"/>
              </a:spcAft>
            </a:pPr>
            <a:r>
              <a:rPr sz="1050" b="0" i="0">
                <a:solidFill>
                  <a:srgbClr val="A9A9C7"/>
                </a:solidFill>
                <a:latin typeface="Calibri"/>
              </a:rPr>
              <a:t>Post-impact immobility (4 s), orientation change, severity and GPS fix → confidence</a:t>
            </a:r>
          </a:p>
        </p:txBody>
      </p:sp>
      <p:sp>
        <p:nvSpPr>
          <p:cNvPr id="15" name="Oval 14"/>
          <p:cNvSpPr/>
          <p:nvPr/>
        </p:nvSpPr>
        <p:spPr>
          <a:xfrm>
            <a:off x="585216" y="3666744"/>
            <a:ext cx="384048" cy="384048"/>
          </a:xfrm>
          <a:prstGeom prst="ellipse">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5216" y="3666744"/>
            <a:ext cx="384048" cy="384048"/>
          </a:xfrm>
          <a:prstGeom prst="rect">
            <a:avLst/>
          </a:prstGeom>
          <a:noFill/>
        </p:spPr>
        <p:txBody>
          <a:bodyPr wrap="square" lIns="0" rIns="0" tIns="0" bIns="0" anchor="ctr">
            <a:noAutofit/>
          </a:bodyPr>
          <a:lstStyle/>
          <a:p>
            <a:pPr algn="ctr">
              <a:lnSpc>
                <a:spcPct val="108000"/>
              </a:lnSpc>
              <a:spcAft>
                <a:spcPts val="0"/>
              </a:spcAft>
            </a:pPr>
            <a:r>
              <a:rPr sz="1000" b="1" i="0">
                <a:solidFill>
                  <a:srgbClr val="FFFFFF"/>
                </a:solidFill>
                <a:latin typeface="Calibri"/>
              </a:rPr>
              <a:t>3</a:t>
            </a:r>
          </a:p>
        </p:txBody>
      </p:sp>
      <p:sp>
        <p:nvSpPr>
          <p:cNvPr id="17" name="TextBox 16"/>
          <p:cNvSpPr txBox="1"/>
          <p:nvPr/>
        </p:nvSpPr>
        <p:spPr>
          <a:xfrm>
            <a:off x="1280160" y="3648456"/>
            <a:ext cx="1280160" cy="365760"/>
          </a:xfrm>
          <a:prstGeom prst="rect">
            <a:avLst/>
          </a:prstGeom>
          <a:noFill/>
        </p:spPr>
        <p:txBody>
          <a:bodyPr wrap="square" lIns="0" rIns="0" tIns="0" bIns="0" anchor="t">
            <a:noAutofit/>
          </a:bodyPr>
          <a:lstStyle/>
          <a:p>
            <a:pPr algn="l">
              <a:lnSpc>
                <a:spcPct val="108000"/>
              </a:lnSpc>
              <a:spcAft>
                <a:spcPts val="0"/>
              </a:spcAft>
            </a:pPr>
            <a:r>
              <a:rPr sz="1350" b="1" i="0">
                <a:solidFill>
                  <a:srgbClr val="FFFFFF"/>
                </a:solidFill>
                <a:latin typeface="Calibri"/>
              </a:rPr>
              <a:t>Prompt</a:t>
            </a:r>
          </a:p>
        </p:txBody>
      </p:sp>
      <p:sp>
        <p:nvSpPr>
          <p:cNvPr id="18" name="TextBox 17"/>
          <p:cNvSpPr txBox="1"/>
          <p:nvPr/>
        </p:nvSpPr>
        <p:spPr>
          <a:xfrm>
            <a:off x="2468880" y="3675887"/>
            <a:ext cx="4480560" cy="731520"/>
          </a:xfrm>
          <a:prstGeom prst="rect">
            <a:avLst/>
          </a:prstGeom>
          <a:noFill/>
        </p:spPr>
        <p:txBody>
          <a:bodyPr wrap="square" lIns="0" rIns="0" tIns="0" bIns="0" anchor="t">
            <a:noAutofit/>
          </a:bodyPr>
          <a:lstStyle/>
          <a:p>
            <a:pPr algn="l">
              <a:lnSpc>
                <a:spcPct val="120000"/>
              </a:lnSpc>
              <a:spcAft>
                <a:spcPts val="0"/>
              </a:spcAft>
            </a:pPr>
            <a:r>
              <a:rPr sz="1050" b="0" i="0">
                <a:solidFill>
                  <a:srgbClr val="A9A9C7"/>
                </a:solidFill>
                <a:latin typeface="Calibri"/>
              </a:rPr>
              <a:t>OLED asks "Are you OK?" — one button press ends it; caregivers see a pre-alert</a:t>
            </a:r>
          </a:p>
        </p:txBody>
      </p:sp>
      <p:sp>
        <p:nvSpPr>
          <p:cNvPr id="19" name="Oval 18"/>
          <p:cNvSpPr/>
          <p:nvPr/>
        </p:nvSpPr>
        <p:spPr>
          <a:xfrm>
            <a:off x="585216" y="4453128"/>
            <a:ext cx="384048" cy="384048"/>
          </a:xfrm>
          <a:prstGeom prst="ellipse">
            <a:avLst/>
          </a:prstGeom>
          <a:solidFill>
            <a:srgbClr val="F5B3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85216" y="4453128"/>
            <a:ext cx="384048" cy="384048"/>
          </a:xfrm>
          <a:prstGeom prst="rect">
            <a:avLst/>
          </a:prstGeom>
          <a:noFill/>
        </p:spPr>
        <p:txBody>
          <a:bodyPr wrap="square" lIns="0" rIns="0" tIns="0" bIns="0" anchor="ctr">
            <a:noAutofit/>
          </a:bodyPr>
          <a:lstStyle/>
          <a:p>
            <a:pPr algn="ctr">
              <a:lnSpc>
                <a:spcPct val="108000"/>
              </a:lnSpc>
              <a:spcAft>
                <a:spcPts val="0"/>
              </a:spcAft>
            </a:pPr>
            <a:r>
              <a:rPr sz="1000" b="1" i="0">
                <a:solidFill>
                  <a:srgbClr val="0F0E2A"/>
                </a:solidFill>
                <a:latin typeface="Calibri"/>
              </a:rPr>
              <a:t>4</a:t>
            </a:r>
          </a:p>
        </p:txBody>
      </p:sp>
      <p:sp>
        <p:nvSpPr>
          <p:cNvPr id="21" name="TextBox 20"/>
          <p:cNvSpPr txBox="1"/>
          <p:nvPr/>
        </p:nvSpPr>
        <p:spPr>
          <a:xfrm>
            <a:off x="1280160" y="4434840"/>
            <a:ext cx="1280160" cy="365760"/>
          </a:xfrm>
          <a:prstGeom prst="rect">
            <a:avLst/>
          </a:prstGeom>
          <a:noFill/>
        </p:spPr>
        <p:txBody>
          <a:bodyPr wrap="square" lIns="0" rIns="0" tIns="0" bIns="0" anchor="t">
            <a:noAutofit/>
          </a:bodyPr>
          <a:lstStyle/>
          <a:p>
            <a:pPr algn="l">
              <a:lnSpc>
                <a:spcPct val="108000"/>
              </a:lnSpc>
              <a:spcAft>
                <a:spcPts val="0"/>
              </a:spcAft>
            </a:pPr>
            <a:r>
              <a:rPr sz="1350" b="1" i="0">
                <a:solidFill>
                  <a:srgbClr val="FFFFFF"/>
                </a:solidFill>
                <a:latin typeface="Calibri"/>
              </a:rPr>
              <a:t>Escalate</a:t>
            </a:r>
          </a:p>
        </p:txBody>
      </p:sp>
      <p:sp>
        <p:nvSpPr>
          <p:cNvPr id="22" name="TextBox 21"/>
          <p:cNvSpPr txBox="1"/>
          <p:nvPr/>
        </p:nvSpPr>
        <p:spPr>
          <a:xfrm>
            <a:off x="2468880" y="4462272"/>
            <a:ext cx="4480560" cy="731520"/>
          </a:xfrm>
          <a:prstGeom prst="rect">
            <a:avLst/>
          </a:prstGeom>
          <a:noFill/>
        </p:spPr>
        <p:txBody>
          <a:bodyPr wrap="square" lIns="0" rIns="0" tIns="0" bIns="0" anchor="t">
            <a:noAutofit/>
          </a:bodyPr>
          <a:lstStyle/>
          <a:p>
            <a:pPr algn="l">
              <a:lnSpc>
                <a:spcPct val="120000"/>
              </a:lnSpc>
              <a:spcAft>
                <a:spcPts val="0"/>
              </a:spcAft>
            </a:pPr>
            <a:r>
              <a:rPr sz="1050" b="0" i="0">
                <a:solidFill>
                  <a:srgbClr val="A9A9C7"/>
                </a:solidFill>
                <a:latin typeface="Calibri"/>
              </a:rPr>
              <a:t>No answer within 30 s → emergency packet: event, vitals, timestamp, Google Maps link</a:t>
            </a:r>
          </a:p>
        </p:txBody>
      </p:sp>
      <p:sp>
        <p:nvSpPr>
          <p:cNvPr id="23" name="Oval 22"/>
          <p:cNvSpPr/>
          <p:nvPr/>
        </p:nvSpPr>
        <p:spPr>
          <a:xfrm>
            <a:off x="585216" y="5239512"/>
            <a:ext cx="384048" cy="384048"/>
          </a:xfrm>
          <a:prstGeom prst="ellipse">
            <a:avLst/>
          </a:prstGeom>
          <a:solidFill>
            <a:srgbClr val="F43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85216" y="5239512"/>
            <a:ext cx="384048" cy="384048"/>
          </a:xfrm>
          <a:prstGeom prst="rect">
            <a:avLst/>
          </a:prstGeom>
          <a:noFill/>
        </p:spPr>
        <p:txBody>
          <a:bodyPr wrap="square" lIns="0" rIns="0" tIns="0" bIns="0" anchor="ctr">
            <a:noAutofit/>
          </a:bodyPr>
          <a:lstStyle/>
          <a:p>
            <a:pPr algn="ctr">
              <a:lnSpc>
                <a:spcPct val="108000"/>
              </a:lnSpc>
              <a:spcAft>
                <a:spcPts val="0"/>
              </a:spcAft>
            </a:pPr>
            <a:r>
              <a:rPr sz="1000" b="1" i="0">
                <a:solidFill>
                  <a:srgbClr val="FFFFFF"/>
                </a:solidFill>
                <a:latin typeface="Calibri"/>
              </a:rPr>
              <a:t>5</a:t>
            </a:r>
          </a:p>
        </p:txBody>
      </p:sp>
      <p:sp>
        <p:nvSpPr>
          <p:cNvPr id="25" name="TextBox 24"/>
          <p:cNvSpPr txBox="1"/>
          <p:nvPr/>
        </p:nvSpPr>
        <p:spPr>
          <a:xfrm>
            <a:off x="1280160" y="5221224"/>
            <a:ext cx="1280160" cy="365760"/>
          </a:xfrm>
          <a:prstGeom prst="rect">
            <a:avLst/>
          </a:prstGeom>
          <a:noFill/>
        </p:spPr>
        <p:txBody>
          <a:bodyPr wrap="square" lIns="0" rIns="0" tIns="0" bIns="0" anchor="t">
            <a:noAutofit/>
          </a:bodyPr>
          <a:lstStyle/>
          <a:p>
            <a:pPr algn="l">
              <a:lnSpc>
                <a:spcPct val="108000"/>
              </a:lnSpc>
              <a:spcAft>
                <a:spcPts val="0"/>
              </a:spcAft>
            </a:pPr>
            <a:r>
              <a:rPr sz="1350" b="1" i="0">
                <a:solidFill>
                  <a:srgbClr val="FFFFFF"/>
                </a:solidFill>
                <a:latin typeface="Calibri"/>
              </a:rPr>
              <a:t>Notify</a:t>
            </a:r>
          </a:p>
        </p:txBody>
      </p:sp>
      <p:sp>
        <p:nvSpPr>
          <p:cNvPr id="26" name="TextBox 25"/>
          <p:cNvSpPr txBox="1"/>
          <p:nvPr/>
        </p:nvSpPr>
        <p:spPr>
          <a:xfrm>
            <a:off x="2468880" y="5248656"/>
            <a:ext cx="4480560" cy="731520"/>
          </a:xfrm>
          <a:prstGeom prst="rect">
            <a:avLst/>
          </a:prstGeom>
          <a:noFill/>
        </p:spPr>
        <p:txBody>
          <a:bodyPr wrap="square" lIns="0" rIns="0" tIns="0" bIns="0" anchor="t">
            <a:noAutofit/>
          </a:bodyPr>
          <a:lstStyle/>
          <a:p>
            <a:pPr algn="l">
              <a:lnSpc>
                <a:spcPct val="120000"/>
              </a:lnSpc>
              <a:spcAft>
                <a:spcPts val="0"/>
              </a:spcAft>
            </a:pPr>
            <a:r>
              <a:rPr sz="1050" b="0" i="0">
                <a:solidFill>
                  <a:srgbClr val="A9A9C7"/>
                </a:solidFill>
                <a:latin typeface="Calibri"/>
              </a:rPr>
              <a:t>Backend dispatches to saved contacts; band shows HELP REQUESTED until acknowledged</a:t>
            </a:r>
          </a:p>
        </p:txBody>
      </p:sp>
      <p:sp>
        <p:nvSpPr>
          <p:cNvPr id="27" name="TextBox 26"/>
          <p:cNvSpPr txBox="1"/>
          <p:nvPr/>
        </p:nvSpPr>
        <p:spPr>
          <a:xfrm>
            <a:off x="548640" y="5989320"/>
            <a:ext cx="6400800" cy="365760"/>
          </a:xfrm>
          <a:prstGeom prst="rect">
            <a:avLst/>
          </a:prstGeom>
          <a:noFill/>
        </p:spPr>
        <p:txBody>
          <a:bodyPr wrap="square" lIns="0" rIns="0" tIns="0" bIns="0" anchor="t">
            <a:noAutofit/>
          </a:bodyPr>
          <a:lstStyle/>
          <a:p>
            <a:pPr algn="l">
              <a:lnSpc>
                <a:spcPct val="108000"/>
              </a:lnSpc>
              <a:spcAft>
                <a:spcPts val="0"/>
              </a:spcAft>
            </a:pPr>
            <a:r>
              <a:rPr sz="950" b="0" i="1">
                <a:solidFill>
                  <a:srgbClr val="A9A9C7"/>
                </a:solidFill>
                <a:latin typeface="Calibri"/>
              </a:rPr>
              <a:t>Escalation thresholds, consent flows and failure handling are validated in the pilot before any public launch.</a:t>
            </a:r>
          </a:p>
        </p:txBody>
      </p:sp>
      <p:sp>
        <p:nvSpPr>
          <p:cNvPr id="28" name="TextBox 27"/>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A9A9C7"/>
                </a:solidFill>
                <a:latin typeface="Calibri"/>
              </a:rPr>
              <a:t>SAFETY</a:t>
            </a:r>
            <a:r>
              <a:rPr sz="800" b="0" i="0" spc="140">
                <a:solidFill>
                  <a:srgbClr val="A9A9C7"/>
                </a:solidFill>
                <a:latin typeface="Calibri"/>
              </a:rPr>
              <a:t>   |   DESIGNED EMERGENCY ESCALATION</a:t>
            </a:r>
          </a:p>
        </p:txBody>
      </p:sp>
      <p:sp>
        <p:nvSpPr>
          <p:cNvPr id="29" name="TextBox 28"/>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22D3E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TextBox 1"/>
          <p:cNvSpPr txBox="1"/>
          <p:nvPr/>
        </p:nvSpPr>
        <p:spPr>
          <a:xfrm>
            <a:off x="548640" y="502920"/>
            <a:ext cx="7315200" cy="1115568"/>
          </a:xfrm>
          <a:prstGeom prst="rect">
            <a:avLst/>
          </a:prstGeom>
          <a:noFill/>
        </p:spPr>
        <p:txBody>
          <a:bodyPr wrap="square" lIns="0" rIns="0" tIns="0" bIns="0" anchor="t">
            <a:noAutofit/>
          </a:bodyPr>
          <a:lstStyle/>
          <a:p>
            <a:pPr algn="l">
              <a:lnSpc>
                <a:spcPct val="100000"/>
              </a:lnSpc>
              <a:spcAft>
                <a:spcPts val="0"/>
              </a:spcAft>
            </a:pPr>
            <a:r>
              <a:rPr sz="3200" b="1" i="0">
                <a:solidFill>
                  <a:srgbClr val="17172F"/>
                </a:solidFill>
                <a:latin typeface="Calibri"/>
              </a:rPr>
              <a:t>Live data becomes clear action
for families</a:t>
            </a:r>
          </a:p>
        </p:txBody>
      </p:sp>
      <p:pic>
        <p:nvPicPr>
          <p:cNvPr id="3" name="Picture 2" descr="caregiver_app.jpg"/>
          <p:cNvPicPr>
            <a:picLocks noChangeAspect="1"/>
          </p:cNvPicPr>
          <p:nvPr/>
        </p:nvPicPr>
        <p:blipFill>
          <a:blip r:embed="rId2"/>
          <a:srcRect l="11199" r="20798"/>
          <a:stretch>
            <a:fillRect/>
          </a:stretch>
        </p:blipFill>
        <p:spPr>
          <a:xfrm>
            <a:off x="548640" y="2011680"/>
            <a:ext cx="4846320" cy="3977639"/>
          </a:xfrm>
          <a:prstGeom prst="roundRect">
            <a:avLst>
              <a:gd name="adj" fmla="val 4597"/>
            </a:avLst>
          </a:prstGeom>
        </p:spPr>
      </p:pic>
      <p:sp>
        <p:nvSpPr>
          <p:cNvPr id="4" name="TextBox 3"/>
          <p:cNvSpPr txBox="1"/>
          <p:nvPr/>
        </p:nvSpPr>
        <p:spPr>
          <a:xfrm>
            <a:off x="5943600" y="2011680"/>
            <a:ext cx="3657600" cy="228600"/>
          </a:xfrm>
          <a:prstGeom prst="rect">
            <a:avLst/>
          </a:prstGeom>
          <a:noFill/>
        </p:spPr>
        <p:txBody>
          <a:bodyPr wrap="square" lIns="0" rIns="0" tIns="0" bIns="0" anchor="ctr">
            <a:noAutofit/>
          </a:bodyPr>
          <a:lstStyle/>
          <a:p>
            <a:pPr algn="l">
              <a:lnSpc>
                <a:spcPct val="108000"/>
              </a:lnSpc>
              <a:spcAft>
                <a:spcPts val="0"/>
              </a:spcAft>
            </a:pPr>
            <a:r>
              <a:rPr sz="1000" b="1" i="0" spc="160">
                <a:solidFill>
                  <a:srgbClr val="6C3CE9"/>
                </a:solidFill>
                <a:latin typeface="Calibri"/>
              </a:rPr>
              <a:t>CAREGIVER APP &amp; DASHBOARD</a:t>
            </a:r>
          </a:p>
        </p:txBody>
      </p:sp>
      <p:sp>
        <p:nvSpPr>
          <p:cNvPr id="5" name="Rounded Rectangle 4"/>
          <p:cNvSpPr/>
          <p:nvPr/>
        </p:nvSpPr>
        <p:spPr>
          <a:xfrm>
            <a:off x="5943600" y="2496312"/>
            <a:ext cx="73152" cy="457200"/>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172200" y="2423160"/>
            <a:ext cx="1188720" cy="320040"/>
          </a:xfrm>
          <a:prstGeom prst="rect">
            <a:avLst/>
          </a:prstGeom>
          <a:noFill/>
        </p:spPr>
        <p:txBody>
          <a:bodyPr wrap="square" lIns="0" rIns="0" tIns="0" bIns="0" anchor="t">
            <a:noAutofit/>
          </a:bodyPr>
          <a:lstStyle/>
          <a:p>
            <a:pPr algn="l">
              <a:lnSpc>
                <a:spcPct val="108000"/>
              </a:lnSpc>
              <a:spcAft>
                <a:spcPts val="0"/>
              </a:spcAft>
            </a:pPr>
            <a:r>
              <a:rPr sz="1000" b="1" i="0" spc="120">
                <a:solidFill>
                  <a:srgbClr val="17172F"/>
                </a:solidFill>
                <a:latin typeface="Calibri"/>
              </a:rPr>
              <a:t>LIVE</a:t>
            </a:r>
          </a:p>
        </p:txBody>
      </p:sp>
      <p:sp>
        <p:nvSpPr>
          <p:cNvPr id="7" name="TextBox 6"/>
          <p:cNvSpPr txBox="1"/>
          <p:nvPr/>
        </p:nvSpPr>
        <p:spPr>
          <a:xfrm>
            <a:off x="7315200" y="2404872"/>
            <a:ext cx="4297680" cy="640080"/>
          </a:xfrm>
          <a:prstGeom prst="rect">
            <a:avLst/>
          </a:prstGeom>
          <a:noFill/>
        </p:spPr>
        <p:txBody>
          <a:bodyPr wrap="square" lIns="0" rIns="0" tIns="0" bIns="0" anchor="t">
            <a:noAutofit/>
          </a:bodyPr>
          <a:lstStyle/>
          <a:p>
            <a:pPr algn="l">
              <a:lnSpc>
                <a:spcPct val="120000"/>
              </a:lnSpc>
              <a:spcAft>
                <a:spcPts val="0"/>
              </a:spcAft>
            </a:pPr>
            <a:r>
              <a:rPr sz="1150" b="0" i="0">
                <a:solidFill>
                  <a:srgbClr val="17172F"/>
                </a:solidFill>
                <a:latin typeface="Calibri"/>
              </a:rPr>
              <a:t>Current vitals, activity state and band presence — green means all good</a:t>
            </a:r>
          </a:p>
        </p:txBody>
      </p:sp>
      <p:cxnSp>
        <p:nvCxnSpPr>
          <p:cNvPr id="8" name="Connector 7"/>
          <p:cNvCxnSpPr/>
          <p:nvPr/>
        </p:nvCxnSpPr>
        <p:spPr>
          <a:xfrm>
            <a:off x="6172200" y="3044952"/>
            <a:ext cx="539496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943600" y="3227832"/>
            <a:ext cx="73152" cy="457200"/>
          </a:xfrm>
          <a:prstGeom prst="roundRect">
            <a:avLst>
              <a:gd name="adj" fmla="val 50000"/>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172200" y="3154680"/>
            <a:ext cx="1188720" cy="320040"/>
          </a:xfrm>
          <a:prstGeom prst="rect">
            <a:avLst/>
          </a:prstGeom>
          <a:noFill/>
        </p:spPr>
        <p:txBody>
          <a:bodyPr wrap="square" lIns="0" rIns="0" tIns="0" bIns="0" anchor="t">
            <a:noAutofit/>
          </a:bodyPr>
          <a:lstStyle/>
          <a:p>
            <a:pPr algn="l">
              <a:lnSpc>
                <a:spcPct val="108000"/>
              </a:lnSpc>
              <a:spcAft>
                <a:spcPts val="0"/>
              </a:spcAft>
            </a:pPr>
            <a:r>
              <a:rPr sz="1000" b="1" i="0" spc="120">
                <a:solidFill>
                  <a:srgbClr val="3B5BFF"/>
                </a:solidFill>
                <a:latin typeface="Calibri"/>
              </a:rPr>
              <a:t>TRENDS</a:t>
            </a:r>
          </a:p>
        </p:txBody>
      </p:sp>
      <p:sp>
        <p:nvSpPr>
          <p:cNvPr id="11" name="TextBox 10"/>
          <p:cNvSpPr txBox="1"/>
          <p:nvPr/>
        </p:nvSpPr>
        <p:spPr>
          <a:xfrm>
            <a:off x="7315200" y="3136392"/>
            <a:ext cx="4297680" cy="640080"/>
          </a:xfrm>
          <a:prstGeom prst="rect">
            <a:avLst/>
          </a:prstGeom>
          <a:noFill/>
        </p:spPr>
        <p:txBody>
          <a:bodyPr wrap="square" lIns="0" rIns="0" tIns="0" bIns="0" anchor="t">
            <a:noAutofit/>
          </a:bodyPr>
          <a:lstStyle/>
          <a:p>
            <a:pPr algn="l">
              <a:lnSpc>
                <a:spcPct val="120000"/>
              </a:lnSpc>
              <a:spcAft>
                <a:spcPts val="0"/>
              </a:spcAft>
            </a:pPr>
            <a:r>
              <a:rPr sz="1150" b="0" i="0">
                <a:solidFill>
                  <a:srgbClr val="17172F"/>
                </a:solidFill>
                <a:latin typeface="Calibri"/>
              </a:rPr>
              <a:t>HRV, temperature and anomaly history to catch slow deterioration</a:t>
            </a:r>
          </a:p>
        </p:txBody>
      </p:sp>
      <p:cxnSp>
        <p:nvCxnSpPr>
          <p:cNvPr id="12" name="Connector 11"/>
          <p:cNvCxnSpPr/>
          <p:nvPr/>
        </p:nvCxnSpPr>
        <p:spPr>
          <a:xfrm>
            <a:off x="6172200" y="3776472"/>
            <a:ext cx="539496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0" y="3959352"/>
            <a:ext cx="73152" cy="457200"/>
          </a:xfrm>
          <a:prstGeom prst="roundRect">
            <a:avLst>
              <a:gd name="adj" fmla="val 50000"/>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172200" y="3886200"/>
            <a:ext cx="1188720" cy="320040"/>
          </a:xfrm>
          <a:prstGeom prst="rect">
            <a:avLst/>
          </a:prstGeom>
          <a:noFill/>
        </p:spPr>
        <p:txBody>
          <a:bodyPr wrap="square" lIns="0" rIns="0" tIns="0" bIns="0" anchor="t">
            <a:noAutofit/>
          </a:bodyPr>
          <a:lstStyle/>
          <a:p>
            <a:pPr algn="l">
              <a:lnSpc>
                <a:spcPct val="108000"/>
              </a:lnSpc>
              <a:spcAft>
                <a:spcPts val="0"/>
              </a:spcAft>
            </a:pPr>
            <a:r>
              <a:rPr sz="1000" b="1" i="0" spc="120">
                <a:solidFill>
                  <a:srgbClr val="6C3CE9"/>
                </a:solidFill>
                <a:latin typeface="Calibri"/>
              </a:rPr>
              <a:t>ADVICE</a:t>
            </a:r>
          </a:p>
        </p:txBody>
      </p:sp>
      <p:sp>
        <p:nvSpPr>
          <p:cNvPr id="15" name="TextBox 14"/>
          <p:cNvSpPr txBox="1"/>
          <p:nvPr/>
        </p:nvSpPr>
        <p:spPr>
          <a:xfrm>
            <a:off x="7315200" y="3867912"/>
            <a:ext cx="4297680" cy="640080"/>
          </a:xfrm>
          <a:prstGeom prst="rect">
            <a:avLst/>
          </a:prstGeom>
          <a:noFill/>
        </p:spPr>
        <p:txBody>
          <a:bodyPr wrap="square" lIns="0" rIns="0" tIns="0" bIns="0" anchor="t">
            <a:noAutofit/>
          </a:bodyPr>
          <a:lstStyle/>
          <a:p>
            <a:pPr algn="l">
              <a:lnSpc>
                <a:spcPct val="120000"/>
              </a:lnSpc>
              <a:spcAft>
                <a:spcPts val="0"/>
              </a:spcAft>
            </a:pPr>
            <a:r>
              <a:rPr sz="1150" b="0" i="0">
                <a:solidFill>
                  <a:srgbClr val="17172F"/>
                </a:solidFill>
                <a:latin typeface="Calibri"/>
              </a:rPr>
              <a:t>LLM-written explanations and personalised next steps for the wearer</a:t>
            </a:r>
          </a:p>
        </p:txBody>
      </p:sp>
      <p:cxnSp>
        <p:nvCxnSpPr>
          <p:cNvPr id="16" name="Connector 15"/>
          <p:cNvCxnSpPr/>
          <p:nvPr/>
        </p:nvCxnSpPr>
        <p:spPr>
          <a:xfrm>
            <a:off x="6172200" y="4507992"/>
            <a:ext cx="539496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943600" y="4690872"/>
            <a:ext cx="73152" cy="457200"/>
          </a:xfrm>
          <a:prstGeom prst="roundRect">
            <a:avLst>
              <a:gd name="adj" fmla="val 50000"/>
            </a:avLst>
          </a:prstGeom>
          <a:solidFill>
            <a:srgbClr val="F5B3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172200" y="4617720"/>
            <a:ext cx="1188720" cy="320040"/>
          </a:xfrm>
          <a:prstGeom prst="rect">
            <a:avLst/>
          </a:prstGeom>
          <a:noFill/>
        </p:spPr>
        <p:txBody>
          <a:bodyPr wrap="square" lIns="0" rIns="0" tIns="0" bIns="0" anchor="t">
            <a:noAutofit/>
          </a:bodyPr>
          <a:lstStyle/>
          <a:p>
            <a:pPr algn="l">
              <a:lnSpc>
                <a:spcPct val="108000"/>
              </a:lnSpc>
              <a:spcAft>
                <a:spcPts val="0"/>
              </a:spcAft>
            </a:pPr>
            <a:r>
              <a:rPr sz="1000" b="1" i="0" spc="120">
                <a:solidFill>
                  <a:srgbClr val="17172F"/>
                </a:solidFill>
                <a:latin typeface="Calibri"/>
              </a:rPr>
              <a:t>ALERTS</a:t>
            </a:r>
          </a:p>
        </p:txBody>
      </p:sp>
      <p:sp>
        <p:nvSpPr>
          <p:cNvPr id="19" name="TextBox 18"/>
          <p:cNvSpPr txBox="1"/>
          <p:nvPr/>
        </p:nvSpPr>
        <p:spPr>
          <a:xfrm>
            <a:off x="7315200" y="4599432"/>
            <a:ext cx="4297680" cy="640080"/>
          </a:xfrm>
          <a:prstGeom prst="rect">
            <a:avLst/>
          </a:prstGeom>
          <a:noFill/>
        </p:spPr>
        <p:txBody>
          <a:bodyPr wrap="square" lIns="0" rIns="0" tIns="0" bIns="0" anchor="t">
            <a:noAutofit/>
          </a:bodyPr>
          <a:lstStyle/>
          <a:p>
            <a:pPr algn="l">
              <a:lnSpc>
                <a:spcPct val="120000"/>
              </a:lnSpc>
              <a:spcAft>
                <a:spcPts val="0"/>
              </a:spcAft>
            </a:pPr>
            <a:r>
              <a:rPr sz="1150" b="0" i="0">
                <a:solidFill>
                  <a:srgbClr val="17172F"/>
                </a:solidFill>
                <a:latin typeface="Calibri"/>
              </a:rPr>
              <a:t>Stress, fever, low oxygen and fall notifications, graded by severity</a:t>
            </a:r>
          </a:p>
        </p:txBody>
      </p:sp>
      <p:cxnSp>
        <p:nvCxnSpPr>
          <p:cNvPr id="20" name="Connector 19"/>
          <p:cNvCxnSpPr/>
          <p:nvPr/>
        </p:nvCxnSpPr>
        <p:spPr>
          <a:xfrm>
            <a:off x="6172200" y="5239512"/>
            <a:ext cx="539496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943600" y="5422392"/>
            <a:ext cx="73152" cy="457200"/>
          </a:xfrm>
          <a:prstGeom prst="roundRect">
            <a:avLst>
              <a:gd name="adj" fmla="val 50000"/>
            </a:avLst>
          </a:prstGeom>
          <a:solidFill>
            <a:srgbClr val="F43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172200" y="5349240"/>
            <a:ext cx="1188720" cy="320040"/>
          </a:xfrm>
          <a:prstGeom prst="rect">
            <a:avLst/>
          </a:prstGeom>
          <a:noFill/>
        </p:spPr>
        <p:txBody>
          <a:bodyPr wrap="square" lIns="0" rIns="0" tIns="0" bIns="0" anchor="t">
            <a:noAutofit/>
          </a:bodyPr>
          <a:lstStyle/>
          <a:p>
            <a:pPr algn="l">
              <a:lnSpc>
                <a:spcPct val="108000"/>
              </a:lnSpc>
              <a:spcAft>
                <a:spcPts val="0"/>
              </a:spcAft>
            </a:pPr>
            <a:r>
              <a:rPr sz="1000" b="1" i="0" spc="120">
                <a:solidFill>
                  <a:srgbClr val="F43F7A"/>
                </a:solidFill>
                <a:latin typeface="Calibri"/>
              </a:rPr>
              <a:t>SAFETY</a:t>
            </a:r>
          </a:p>
        </p:txBody>
      </p:sp>
      <p:sp>
        <p:nvSpPr>
          <p:cNvPr id="23" name="TextBox 22"/>
          <p:cNvSpPr txBox="1"/>
          <p:nvPr/>
        </p:nvSpPr>
        <p:spPr>
          <a:xfrm>
            <a:off x="7315200" y="5330952"/>
            <a:ext cx="4297680" cy="640080"/>
          </a:xfrm>
          <a:prstGeom prst="rect">
            <a:avLst/>
          </a:prstGeom>
          <a:noFill/>
        </p:spPr>
        <p:txBody>
          <a:bodyPr wrap="square" lIns="0" rIns="0" tIns="0" bIns="0" anchor="t">
            <a:noAutofit/>
          </a:bodyPr>
          <a:lstStyle/>
          <a:p>
            <a:pPr algn="l">
              <a:lnSpc>
                <a:spcPct val="120000"/>
              </a:lnSpc>
              <a:spcAft>
                <a:spcPts val="0"/>
              </a:spcAft>
            </a:pPr>
            <a:r>
              <a:rPr sz="1150" b="0" i="0">
                <a:solidFill>
                  <a:srgbClr val="17172F"/>
                </a:solidFill>
                <a:latin typeface="Calibri"/>
              </a:rPr>
              <a:t>Emergency contacts, GPS context and a full alert timeline</a:t>
            </a:r>
          </a:p>
        </p:txBody>
      </p:sp>
      <p:cxnSp>
        <p:nvCxnSpPr>
          <p:cNvPr id="24" name="Connector 23"/>
          <p:cNvCxnSpPr/>
          <p:nvPr/>
        </p:nvCxnSpPr>
        <p:spPr>
          <a:xfrm>
            <a:off x="6172200" y="5971031"/>
            <a:ext cx="539496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5B5B7A"/>
                </a:solidFill>
                <a:latin typeface="Calibri"/>
              </a:rPr>
              <a:t>PRODUCT</a:t>
            </a:r>
            <a:r>
              <a:rPr sz="800" b="0" i="0" spc="140">
                <a:solidFill>
                  <a:srgbClr val="5B5B7A"/>
                </a:solidFill>
                <a:latin typeface="Calibri"/>
              </a:rPr>
              <a:t>   |   CAREGIVER APP AND DASHBOARD</a:t>
            </a:r>
          </a:p>
        </p:txBody>
      </p:sp>
      <p:sp>
        <p:nvSpPr>
          <p:cNvPr id="26" name="TextBox 25"/>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6C3CE9"/>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0E2A"/>
        </a:solidFill>
        <a:effectLst/>
      </p:bgPr>
    </p:bg>
    <p:spTree>
      <p:nvGrpSpPr>
        <p:cNvPr id="1" name=""/>
        <p:cNvGrpSpPr/>
        <p:nvPr/>
      </p:nvGrpSpPr>
      <p:grpSpPr/>
      <p:sp>
        <p:nvSpPr>
          <p:cNvPr id="2" name="TextBox 1"/>
          <p:cNvSpPr txBox="1"/>
          <p:nvPr/>
        </p:nvSpPr>
        <p:spPr>
          <a:xfrm>
            <a:off x="548640" y="502920"/>
            <a:ext cx="9326880" cy="603504"/>
          </a:xfrm>
          <a:prstGeom prst="rect">
            <a:avLst/>
          </a:prstGeom>
          <a:noFill/>
        </p:spPr>
        <p:txBody>
          <a:bodyPr wrap="square" lIns="0" rIns="0" tIns="0" bIns="0" anchor="t">
            <a:noAutofit/>
          </a:bodyPr>
          <a:lstStyle/>
          <a:p>
            <a:pPr algn="l">
              <a:lnSpc>
                <a:spcPct val="100000"/>
              </a:lnSpc>
              <a:spcAft>
                <a:spcPts val="0"/>
              </a:spcAft>
            </a:pPr>
            <a:r>
              <a:rPr sz="3200" b="1" i="0">
                <a:solidFill>
                  <a:srgbClr val="FFFFFF"/>
                </a:solidFill>
                <a:latin typeface="Calibri"/>
              </a:rPr>
              <a:t>What is already built</a:t>
            </a:r>
          </a:p>
        </p:txBody>
      </p:sp>
      <p:sp>
        <p:nvSpPr>
          <p:cNvPr id="3" name="TextBox 2"/>
          <p:cNvSpPr txBox="1"/>
          <p:nvPr/>
        </p:nvSpPr>
        <p:spPr>
          <a:xfrm>
            <a:off x="548640" y="1143000"/>
            <a:ext cx="9326880" cy="548640"/>
          </a:xfrm>
          <a:prstGeom prst="rect">
            <a:avLst/>
          </a:prstGeom>
          <a:noFill/>
        </p:spPr>
        <p:txBody>
          <a:bodyPr wrap="square" lIns="0" rIns="0" tIns="0" bIns="0" anchor="t">
            <a:noAutofit/>
          </a:bodyPr>
          <a:lstStyle/>
          <a:p>
            <a:pPr algn="l">
              <a:lnSpc>
                <a:spcPct val="115000"/>
              </a:lnSpc>
              <a:spcAft>
                <a:spcPts val="0"/>
              </a:spcAft>
            </a:pPr>
            <a:r>
              <a:rPr sz="1400" b="0" i="0">
                <a:solidFill>
                  <a:srgbClr val="A9A9C7"/>
                </a:solidFill>
                <a:latin typeface="Calibri"/>
              </a:rPr>
              <a:t>Prototype stage — every layer of the stack exists end to end.</a:t>
            </a:r>
          </a:p>
        </p:txBody>
      </p:sp>
      <p:sp>
        <p:nvSpPr>
          <p:cNvPr id="4" name="Rounded Rectangle 3"/>
          <p:cNvSpPr/>
          <p:nvPr/>
        </p:nvSpPr>
        <p:spPr>
          <a:xfrm>
            <a:off x="548640" y="2103120"/>
            <a:ext cx="2606040" cy="2148840"/>
          </a:xfrm>
          <a:prstGeom prst="roundRect">
            <a:avLst>
              <a:gd name="adj" fmla="val 6808"/>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548640" y="2103120"/>
            <a:ext cx="2606040" cy="91440"/>
          </a:xfrm>
          <a:prstGeom prst="roundRect">
            <a:avLst>
              <a:gd name="adj" fmla="val 50000"/>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2377440"/>
            <a:ext cx="2148840" cy="640080"/>
          </a:xfrm>
          <a:prstGeom prst="rect">
            <a:avLst/>
          </a:prstGeom>
          <a:noFill/>
        </p:spPr>
        <p:txBody>
          <a:bodyPr wrap="square" lIns="0" rIns="0" tIns="0" bIns="0" anchor="t">
            <a:noAutofit/>
          </a:bodyPr>
          <a:lstStyle/>
          <a:p>
            <a:pPr algn="l">
              <a:lnSpc>
                <a:spcPct val="108000"/>
              </a:lnSpc>
              <a:spcAft>
                <a:spcPts val="0"/>
              </a:spcAft>
            </a:pPr>
            <a:r>
              <a:rPr sz="3400" b="1" i="0">
                <a:solidFill>
                  <a:srgbClr val="FFFFFF"/>
                </a:solidFill>
                <a:latin typeface="Calibri"/>
              </a:rPr>
              <a:t>1,875</a:t>
            </a:r>
          </a:p>
        </p:txBody>
      </p:sp>
      <p:sp>
        <p:nvSpPr>
          <p:cNvPr id="7" name="TextBox 6"/>
          <p:cNvSpPr txBox="1"/>
          <p:nvPr/>
        </p:nvSpPr>
        <p:spPr>
          <a:xfrm>
            <a:off x="822959" y="3017520"/>
            <a:ext cx="2148840" cy="228600"/>
          </a:xfrm>
          <a:prstGeom prst="rect">
            <a:avLst/>
          </a:prstGeom>
          <a:noFill/>
        </p:spPr>
        <p:txBody>
          <a:bodyPr wrap="square" lIns="0" rIns="0" tIns="0" bIns="0" anchor="ctr">
            <a:noAutofit/>
          </a:bodyPr>
          <a:lstStyle/>
          <a:p>
            <a:pPr algn="l">
              <a:lnSpc>
                <a:spcPct val="108000"/>
              </a:lnSpc>
              <a:spcAft>
                <a:spcPts val="0"/>
              </a:spcAft>
            </a:pPr>
            <a:r>
              <a:rPr sz="950" b="1" i="0" spc="160">
                <a:solidFill>
                  <a:srgbClr val="6C3CE9"/>
                </a:solidFill>
                <a:latin typeface="Calibri"/>
              </a:rPr>
              <a:t>LABELLED READINGS</a:t>
            </a:r>
          </a:p>
        </p:txBody>
      </p:sp>
      <p:sp>
        <p:nvSpPr>
          <p:cNvPr id="8" name="TextBox 7"/>
          <p:cNvSpPr txBox="1"/>
          <p:nvPr/>
        </p:nvSpPr>
        <p:spPr>
          <a:xfrm>
            <a:off x="822959" y="3383280"/>
            <a:ext cx="2103120" cy="822960"/>
          </a:xfrm>
          <a:prstGeom prst="rect">
            <a:avLst/>
          </a:prstGeom>
          <a:noFill/>
        </p:spPr>
        <p:txBody>
          <a:bodyPr wrap="square" lIns="0" rIns="0" tIns="0" bIns="0" anchor="t">
            <a:noAutofit/>
          </a:bodyPr>
          <a:lstStyle/>
          <a:p>
            <a:pPr algn="l">
              <a:lnSpc>
                <a:spcPct val="120000"/>
              </a:lnSpc>
              <a:spcAft>
                <a:spcPts val="0"/>
              </a:spcAft>
            </a:pPr>
            <a:r>
              <a:rPr sz="1000" b="0" i="0">
                <a:solidFill>
                  <a:srgbClr val="A9A9C7"/>
                </a:solidFill>
                <a:latin typeface="Calibri"/>
              </a:rPr>
              <a:t>5 activity states · 14 raw signals · 21 engineered features</a:t>
            </a:r>
          </a:p>
        </p:txBody>
      </p:sp>
      <p:sp>
        <p:nvSpPr>
          <p:cNvPr id="9" name="Rounded Rectangle 8"/>
          <p:cNvSpPr/>
          <p:nvPr/>
        </p:nvSpPr>
        <p:spPr>
          <a:xfrm>
            <a:off x="3374136" y="2103120"/>
            <a:ext cx="2606040" cy="2148840"/>
          </a:xfrm>
          <a:prstGeom prst="roundRect">
            <a:avLst>
              <a:gd name="adj" fmla="val 6808"/>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374136" y="2103120"/>
            <a:ext cx="2606040" cy="91440"/>
          </a:xfrm>
          <a:prstGeom prst="roundRect">
            <a:avLst>
              <a:gd name="adj" fmla="val 50000"/>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8456" y="2377440"/>
            <a:ext cx="2148840" cy="640080"/>
          </a:xfrm>
          <a:prstGeom prst="rect">
            <a:avLst/>
          </a:prstGeom>
          <a:noFill/>
        </p:spPr>
        <p:txBody>
          <a:bodyPr wrap="square" lIns="0" rIns="0" tIns="0" bIns="0" anchor="t">
            <a:noAutofit/>
          </a:bodyPr>
          <a:lstStyle/>
          <a:p>
            <a:pPr algn="l">
              <a:lnSpc>
                <a:spcPct val="108000"/>
              </a:lnSpc>
              <a:spcAft>
                <a:spcPts val="0"/>
              </a:spcAft>
            </a:pPr>
            <a:r>
              <a:rPr sz="3400" b="1" i="0">
                <a:solidFill>
                  <a:srgbClr val="FFFFFF"/>
                </a:solidFill>
                <a:latin typeface="Calibri"/>
              </a:rPr>
              <a:t>3 + 1</a:t>
            </a:r>
          </a:p>
        </p:txBody>
      </p:sp>
      <p:sp>
        <p:nvSpPr>
          <p:cNvPr id="12" name="TextBox 11"/>
          <p:cNvSpPr txBox="1"/>
          <p:nvPr/>
        </p:nvSpPr>
        <p:spPr>
          <a:xfrm>
            <a:off x="3648456" y="3017520"/>
            <a:ext cx="2148840" cy="228600"/>
          </a:xfrm>
          <a:prstGeom prst="rect">
            <a:avLst/>
          </a:prstGeom>
          <a:noFill/>
        </p:spPr>
        <p:txBody>
          <a:bodyPr wrap="square" lIns="0" rIns="0" tIns="0" bIns="0" anchor="ctr">
            <a:noAutofit/>
          </a:bodyPr>
          <a:lstStyle/>
          <a:p>
            <a:pPr algn="l">
              <a:lnSpc>
                <a:spcPct val="108000"/>
              </a:lnSpc>
              <a:spcAft>
                <a:spcPts val="0"/>
              </a:spcAft>
            </a:pPr>
            <a:r>
              <a:rPr sz="950" b="1" i="0" spc="160">
                <a:solidFill>
                  <a:srgbClr val="3B5BFF"/>
                </a:solidFill>
                <a:latin typeface="Calibri"/>
              </a:rPr>
              <a:t>MODEL PIPELINE</a:t>
            </a:r>
          </a:p>
        </p:txBody>
      </p:sp>
      <p:sp>
        <p:nvSpPr>
          <p:cNvPr id="13" name="TextBox 12"/>
          <p:cNvSpPr txBox="1"/>
          <p:nvPr/>
        </p:nvSpPr>
        <p:spPr>
          <a:xfrm>
            <a:off x="3648456" y="3383280"/>
            <a:ext cx="2103120" cy="822960"/>
          </a:xfrm>
          <a:prstGeom prst="rect">
            <a:avLst/>
          </a:prstGeom>
          <a:noFill/>
        </p:spPr>
        <p:txBody>
          <a:bodyPr wrap="square" lIns="0" rIns="0" tIns="0" bIns="0" anchor="t">
            <a:noAutofit/>
          </a:bodyPr>
          <a:lstStyle/>
          <a:p>
            <a:pPr algn="l">
              <a:lnSpc>
                <a:spcPct val="120000"/>
              </a:lnSpc>
              <a:spcAft>
                <a:spcPts val="0"/>
              </a:spcAft>
            </a:pPr>
            <a:r>
              <a:rPr sz="1000" b="0" i="0">
                <a:solidFill>
                  <a:srgbClr val="A9A9C7"/>
                </a:solidFill>
                <a:latin typeface="Calibri"/>
              </a:rPr>
              <a:t>Isolation Forest · LSTM autoencoder · rule classifier · optional LLM advice</a:t>
            </a:r>
          </a:p>
        </p:txBody>
      </p:sp>
      <p:sp>
        <p:nvSpPr>
          <p:cNvPr id="14" name="Rounded Rectangle 13"/>
          <p:cNvSpPr/>
          <p:nvPr/>
        </p:nvSpPr>
        <p:spPr>
          <a:xfrm>
            <a:off x="6199631" y="2103120"/>
            <a:ext cx="2606040" cy="2148840"/>
          </a:xfrm>
          <a:prstGeom prst="roundRect">
            <a:avLst>
              <a:gd name="adj" fmla="val 6808"/>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199631" y="2103120"/>
            <a:ext cx="2606040" cy="91440"/>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73951" y="2377440"/>
            <a:ext cx="2148840" cy="640080"/>
          </a:xfrm>
          <a:prstGeom prst="rect">
            <a:avLst/>
          </a:prstGeom>
          <a:noFill/>
        </p:spPr>
        <p:txBody>
          <a:bodyPr wrap="square" lIns="0" rIns="0" tIns="0" bIns="0" anchor="t">
            <a:noAutofit/>
          </a:bodyPr>
          <a:lstStyle/>
          <a:p>
            <a:pPr algn="l">
              <a:lnSpc>
                <a:spcPct val="108000"/>
              </a:lnSpc>
              <a:spcAft>
                <a:spcPts val="0"/>
              </a:spcAft>
            </a:pPr>
            <a:r>
              <a:rPr sz="3400" b="1" i="0">
                <a:solidFill>
                  <a:srgbClr val="FFFFFF"/>
                </a:solidFill>
                <a:latin typeface="Calibri"/>
              </a:rPr>
              <a:t>v1.0</a:t>
            </a:r>
          </a:p>
        </p:txBody>
      </p:sp>
      <p:sp>
        <p:nvSpPr>
          <p:cNvPr id="17" name="TextBox 16"/>
          <p:cNvSpPr txBox="1"/>
          <p:nvPr/>
        </p:nvSpPr>
        <p:spPr>
          <a:xfrm>
            <a:off x="6473951" y="3017520"/>
            <a:ext cx="2148840" cy="228600"/>
          </a:xfrm>
          <a:prstGeom prst="rect">
            <a:avLst/>
          </a:prstGeom>
          <a:noFill/>
        </p:spPr>
        <p:txBody>
          <a:bodyPr wrap="square" lIns="0" rIns="0" tIns="0" bIns="0" anchor="ctr">
            <a:noAutofit/>
          </a:bodyPr>
          <a:lstStyle/>
          <a:p>
            <a:pPr algn="l">
              <a:lnSpc>
                <a:spcPct val="108000"/>
              </a:lnSpc>
              <a:spcAft>
                <a:spcPts val="0"/>
              </a:spcAft>
            </a:pPr>
            <a:r>
              <a:rPr sz="950" b="1" i="0" spc="160">
                <a:solidFill>
                  <a:srgbClr val="22D3EE"/>
                </a:solidFill>
                <a:latin typeface="Calibri"/>
              </a:rPr>
              <a:t>ESP32 FIRMWARE</a:t>
            </a:r>
          </a:p>
        </p:txBody>
      </p:sp>
      <p:sp>
        <p:nvSpPr>
          <p:cNvPr id="18" name="TextBox 17"/>
          <p:cNvSpPr txBox="1"/>
          <p:nvPr/>
        </p:nvSpPr>
        <p:spPr>
          <a:xfrm>
            <a:off x="6473951" y="3383280"/>
            <a:ext cx="2103120" cy="822960"/>
          </a:xfrm>
          <a:prstGeom prst="rect">
            <a:avLst/>
          </a:prstGeom>
          <a:noFill/>
        </p:spPr>
        <p:txBody>
          <a:bodyPr wrap="square" lIns="0" rIns="0" tIns="0" bIns="0" anchor="t">
            <a:noAutofit/>
          </a:bodyPr>
          <a:lstStyle/>
          <a:p>
            <a:pPr algn="l">
              <a:lnSpc>
                <a:spcPct val="120000"/>
              </a:lnSpc>
              <a:spcAft>
                <a:spcPts val="0"/>
              </a:spcAft>
            </a:pPr>
            <a:r>
              <a:rPr sz="1000" b="0" i="0">
                <a:solidFill>
                  <a:srgbClr val="A9A9C7"/>
                </a:solidFill>
                <a:latin typeface="Calibri"/>
              </a:rPr>
              <a:t>Full sensor stack, fall/SOS workflow, TLS MQTT — 87 automated checks</a:t>
            </a:r>
          </a:p>
        </p:txBody>
      </p:sp>
      <p:sp>
        <p:nvSpPr>
          <p:cNvPr id="19" name="Rounded Rectangle 18"/>
          <p:cNvSpPr/>
          <p:nvPr/>
        </p:nvSpPr>
        <p:spPr>
          <a:xfrm>
            <a:off x="9025128" y="2103120"/>
            <a:ext cx="2606040" cy="2148840"/>
          </a:xfrm>
          <a:prstGeom prst="roundRect">
            <a:avLst>
              <a:gd name="adj" fmla="val 6808"/>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9025128" y="2103120"/>
            <a:ext cx="2606040" cy="91440"/>
          </a:xfrm>
          <a:prstGeom prst="roundRect">
            <a:avLst>
              <a:gd name="adj" fmla="val 5000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99448" y="2377440"/>
            <a:ext cx="2148840" cy="640080"/>
          </a:xfrm>
          <a:prstGeom prst="rect">
            <a:avLst/>
          </a:prstGeom>
          <a:noFill/>
        </p:spPr>
        <p:txBody>
          <a:bodyPr wrap="square" lIns="0" rIns="0" tIns="0" bIns="0" anchor="t">
            <a:noAutofit/>
          </a:bodyPr>
          <a:lstStyle/>
          <a:p>
            <a:pPr algn="l">
              <a:lnSpc>
                <a:spcPct val="108000"/>
              </a:lnSpc>
              <a:spcAft>
                <a:spcPts val="0"/>
              </a:spcAft>
            </a:pPr>
            <a:r>
              <a:rPr sz="3400" b="1" i="0">
                <a:solidFill>
                  <a:srgbClr val="FFFFFF"/>
                </a:solidFill>
                <a:latin typeface="Calibri"/>
              </a:rPr>
              <a:t>Live</a:t>
            </a:r>
          </a:p>
        </p:txBody>
      </p:sp>
      <p:sp>
        <p:nvSpPr>
          <p:cNvPr id="22" name="TextBox 21"/>
          <p:cNvSpPr txBox="1"/>
          <p:nvPr/>
        </p:nvSpPr>
        <p:spPr>
          <a:xfrm>
            <a:off x="9299448" y="3017520"/>
            <a:ext cx="2148840" cy="228600"/>
          </a:xfrm>
          <a:prstGeom prst="rect">
            <a:avLst/>
          </a:prstGeom>
          <a:noFill/>
        </p:spPr>
        <p:txBody>
          <a:bodyPr wrap="square" lIns="0" rIns="0" tIns="0" bIns="0" anchor="ctr">
            <a:noAutofit/>
          </a:bodyPr>
          <a:lstStyle/>
          <a:p>
            <a:pPr algn="l">
              <a:lnSpc>
                <a:spcPct val="108000"/>
              </a:lnSpc>
              <a:spcAft>
                <a:spcPts val="0"/>
              </a:spcAft>
            </a:pPr>
            <a:r>
              <a:rPr sz="950" b="1" i="0" spc="160">
                <a:solidFill>
                  <a:srgbClr val="34D399"/>
                </a:solidFill>
                <a:latin typeface="Calibri"/>
              </a:rPr>
              <a:t>CLOUD PATH</a:t>
            </a:r>
          </a:p>
        </p:txBody>
      </p:sp>
      <p:sp>
        <p:nvSpPr>
          <p:cNvPr id="23" name="TextBox 22"/>
          <p:cNvSpPr txBox="1"/>
          <p:nvPr/>
        </p:nvSpPr>
        <p:spPr>
          <a:xfrm>
            <a:off x="9299448" y="3383280"/>
            <a:ext cx="2103120" cy="822960"/>
          </a:xfrm>
          <a:prstGeom prst="rect">
            <a:avLst/>
          </a:prstGeom>
          <a:noFill/>
        </p:spPr>
        <p:txBody>
          <a:bodyPr wrap="square" lIns="0" rIns="0" tIns="0" bIns="0" anchor="t">
            <a:noAutofit/>
          </a:bodyPr>
          <a:lstStyle/>
          <a:p>
            <a:pPr algn="l">
              <a:lnSpc>
                <a:spcPct val="120000"/>
              </a:lnSpc>
              <a:spcAft>
                <a:spcPts val="0"/>
              </a:spcAft>
            </a:pPr>
            <a:r>
              <a:rPr sz="1000" b="0" i="0">
                <a:solidFill>
                  <a:srgbClr val="A9A9C7"/>
                </a:solidFill>
                <a:latin typeface="Calibri"/>
              </a:rPr>
              <a:t>HiveMQ Cloud broker · FastAPI service · web dashboard</a:t>
            </a:r>
          </a:p>
        </p:txBody>
      </p:sp>
      <p:cxnSp>
        <p:nvCxnSpPr>
          <p:cNvPr id="24" name="Connector 23"/>
          <p:cNvCxnSpPr/>
          <p:nvPr/>
        </p:nvCxnSpPr>
        <p:spPr>
          <a:xfrm>
            <a:off x="914400" y="5074920"/>
            <a:ext cx="10332720" cy="0"/>
          </a:xfrm>
          <a:prstGeom prst="line">
            <a:avLst/>
          </a:prstGeom>
          <a:ln w="25400">
            <a:solidFill>
              <a:srgbClr val="262552"/>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22960" y="4983480"/>
            <a:ext cx="182880" cy="182880"/>
          </a:xfrm>
          <a:prstGeom prst="ellipse">
            <a:avLst/>
          </a:prstGeom>
          <a:solidFill>
            <a:srgbClr val="A9A9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349240"/>
            <a:ext cx="1737360" cy="274320"/>
          </a:xfrm>
          <a:prstGeom prst="rect">
            <a:avLst/>
          </a:prstGeom>
          <a:noFill/>
        </p:spPr>
        <p:txBody>
          <a:bodyPr wrap="square" lIns="0" rIns="0" tIns="0" bIns="0" anchor="t">
            <a:noAutofit/>
          </a:bodyPr>
          <a:lstStyle/>
          <a:p>
            <a:pPr algn="l">
              <a:lnSpc>
                <a:spcPct val="108000"/>
              </a:lnSpc>
              <a:spcAft>
                <a:spcPts val="0"/>
              </a:spcAft>
            </a:pPr>
            <a:r>
              <a:rPr sz="1200" b="1" i="0">
                <a:solidFill>
                  <a:srgbClr val="A9A9C7"/>
                </a:solidFill>
                <a:latin typeface="Calibri"/>
              </a:rPr>
              <a:t>Concept</a:t>
            </a:r>
          </a:p>
        </p:txBody>
      </p:sp>
      <p:sp>
        <p:nvSpPr>
          <p:cNvPr id="27" name="TextBox 26"/>
          <p:cNvSpPr txBox="1"/>
          <p:nvPr/>
        </p:nvSpPr>
        <p:spPr>
          <a:xfrm>
            <a:off x="731520" y="5623559"/>
            <a:ext cx="1737360" cy="548640"/>
          </a:xfrm>
          <a:prstGeom prst="rect">
            <a:avLst/>
          </a:prstGeom>
          <a:noFill/>
        </p:spPr>
        <p:txBody>
          <a:bodyPr wrap="square" lIns="0" rIns="0" tIns="0" bIns="0" anchor="t">
            <a:noAutofit/>
          </a:bodyPr>
          <a:lstStyle/>
          <a:p>
            <a:pPr algn="l">
              <a:lnSpc>
                <a:spcPct val="115000"/>
              </a:lnSpc>
              <a:spcAft>
                <a:spcPts val="0"/>
              </a:spcAft>
            </a:pPr>
            <a:r>
              <a:rPr sz="950" b="0" i="0">
                <a:solidFill>
                  <a:srgbClr val="A9A9C7"/>
                </a:solidFill>
                <a:latin typeface="Calibri"/>
              </a:rPr>
              <a:t>system design, dataset, models</a:t>
            </a:r>
          </a:p>
        </p:txBody>
      </p:sp>
      <p:sp>
        <p:nvSpPr>
          <p:cNvPr id="28" name="Oval 27"/>
          <p:cNvSpPr/>
          <p:nvPr/>
        </p:nvSpPr>
        <p:spPr>
          <a:xfrm>
            <a:off x="4160520" y="4937759"/>
            <a:ext cx="274320" cy="27432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4023360" y="4800600"/>
            <a:ext cx="548640" cy="548640"/>
          </a:xfrm>
          <a:prstGeom prst="ellipse">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3886200" y="4297680"/>
            <a:ext cx="868680"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886200" y="4297680"/>
            <a:ext cx="868680" cy="256032"/>
          </a:xfrm>
          <a:prstGeom prst="rect">
            <a:avLst/>
          </a:prstGeom>
          <a:noFill/>
        </p:spPr>
        <p:txBody>
          <a:bodyPr wrap="square" lIns="0" rIns="0" tIns="0" bIns="0" anchor="ctr">
            <a:noAutofit/>
          </a:bodyPr>
          <a:lstStyle/>
          <a:p>
            <a:pPr algn="ctr">
              <a:lnSpc>
                <a:spcPct val="108000"/>
              </a:lnSpc>
              <a:spcAft>
                <a:spcPts val="0"/>
              </a:spcAft>
            </a:pPr>
            <a:r>
              <a:rPr sz="750" b="1" i="0" spc="120">
                <a:solidFill>
                  <a:srgbClr val="0F0E2A"/>
                </a:solidFill>
                <a:latin typeface="Calibri"/>
              </a:rPr>
              <a:t>WE ARE HERE</a:t>
            </a:r>
          </a:p>
        </p:txBody>
      </p:sp>
      <p:sp>
        <p:nvSpPr>
          <p:cNvPr id="32" name="TextBox 31"/>
          <p:cNvSpPr txBox="1"/>
          <p:nvPr/>
        </p:nvSpPr>
        <p:spPr>
          <a:xfrm>
            <a:off x="4114800" y="5349240"/>
            <a:ext cx="1737360" cy="274320"/>
          </a:xfrm>
          <a:prstGeom prst="rect">
            <a:avLst/>
          </a:prstGeom>
          <a:noFill/>
        </p:spPr>
        <p:txBody>
          <a:bodyPr wrap="square" lIns="0" rIns="0" tIns="0" bIns="0" anchor="t">
            <a:noAutofit/>
          </a:bodyPr>
          <a:lstStyle/>
          <a:p>
            <a:pPr algn="l">
              <a:lnSpc>
                <a:spcPct val="108000"/>
              </a:lnSpc>
              <a:spcAft>
                <a:spcPts val="0"/>
              </a:spcAft>
            </a:pPr>
            <a:r>
              <a:rPr sz="1200" b="1" i="0">
                <a:solidFill>
                  <a:srgbClr val="FFFFFF"/>
                </a:solidFill>
                <a:latin typeface="Calibri"/>
              </a:rPr>
              <a:t>Prototype</a:t>
            </a:r>
          </a:p>
        </p:txBody>
      </p:sp>
      <p:sp>
        <p:nvSpPr>
          <p:cNvPr id="33" name="TextBox 32"/>
          <p:cNvSpPr txBox="1"/>
          <p:nvPr/>
        </p:nvSpPr>
        <p:spPr>
          <a:xfrm>
            <a:off x="4114800" y="5623559"/>
            <a:ext cx="1737360" cy="548640"/>
          </a:xfrm>
          <a:prstGeom prst="rect">
            <a:avLst/>
          </a:prstGeom>
          <a:noFill/>
        </p:spPr>
        <p:txBody>
          <a:bodyPr wrap="square" lIns="0" rIns="0" tIns="0" bIns="0" anchor="t">
            <a:noAutofit/>
          </a:bodyPr>
          <a:lstStyle/>
          <a:p>
            <a:pPr algn="l">
              <a:lnSpc>
                <a:spcPct val="115000"/>
              </a:lnSpc>
              <a:spcAft>
                <a:spcPts val="0"/>
              </a:spcAft>
            </a:pPr>
            <a:r>
              <a:rPr sz="950" b="0" i="0">
                <a:solidFill>
                  <a:srgbClr val="A9A9C7"/>
                </a:solidFill>
                <a:latin typeface="Calibri"/>
              </a:rPr>
              <a:t>firmware + cloud + dashboard</a:t>
            </a:r>
          </a:p>
        </p:txBody>
      </p:sp>
      <p:sp>
        <p:nvSpPr>
          <p:cNvPr id="34" name="Oval 33"/>
          <p:cNvSpPr/>
          <p:nvPr/>
        </p:nvSpPr>
        <p:spPr>
          <a:xfrm>
            <a:off x="7589520" y="4983480"/>
            <a:ext cx="182880" cy="182880"/>
          </a:xfrm>
          <a:prstGeom prst="ellipse">
            <a:avLst/>
          </a:prstGeom>
          <a:solidFill>
            <a:srgbClr val="A9A9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498080" y="5349240"/>
            <a:ext cx="1737360" cy="274320"/>
          </a:xfrm>
          <a:prstGeom prst="rect">
            <a:avLst/>
          </a:prstGeom>
          <a:noFill/>
        </p:spPr>
        <p:txBody>
          <a:bodyPr wrap="square" lIns="0" rIns="0" tIns="0" bIns="0" anchor="t">
            <a:noAutofit/>
          </a:bodyPr>
          <a:lstStyle/>
          <a:p>
            <a:pPr algn="l">
              <a:lnSpc>
                <a:spcPct val="108000"/>
              </a:lnSpc>
              <a:spcAft>
                <a:spcPts val="0"/>
              </a:spcAft>
            </a:pPr>
            <a:r>
              <a:rPr sz="1200" b="1" i="0">
                <a:solidFill>
                  <a:srgbClr val="A9A9C7"/>
                </a:solidFill>
                <a:latin typeface="Calibri"/>
              </a:rPr>
              <a:t>Pilot</a:t>
            </a:r>
          </a:p>
        </p:txBody>
      </p:sp>
      <p:sp>
        <p:nvSpPr>
          <p:cNvPr id="36" name="TextBox 35"/>
          <p:cNvSpPr txBox="1"/>
          <p:nvPr/>
        </p:nvSpPr>
        <p:spPr>
          <a:xfrm>
            <a:off x="7498080" y="5623559"/>
            <a:ext cx="1737360" cy="548640"/>
          </a:xfrm>
          <a:prstGeom prst="rect">
            <a:avLst/>
          </a:prstGeom>
          <a:noFill/>
        </p:spPr>
        <p:txBody>
          <a:bodyPr wrap="square" lIns="0" rIns="0" tIns="0" bIns="0" anchor="t">
            <a:noAutofit/>
          </a:bodyPr>
          <a:lstStyle/>
          <a:p>
            <a:pPr algn="l">
              <a:lnSpc>
                <a:spcPct val="115000"/>
              </a:lnSpc>
              <a:spcAft>
                <a:spcPts val="0"/>
              </a:spcAft>
            </a:pPr>
            <a:r>
              <a:rPr sz="950" b="0" i="0">
                <a:solidFill>
                  <a:srgbClr val="A9A9C7"/>
                </a:solidFill>
                <a:latin typeface="Calibri"/>
              </a:rPr>
              <a:t>30–50 households, 3 months</a:t>
            </a:r>
          </a:p>
        </p:txBody>
      </p:sp>
      <p:sp>
        <p:nvSpPr>
          <p:cNvPr id="37" name="Oval 36"/>
          <p:cNvSpPr/>
          <p:nvPr/>
        </p:nvSpPr>
        <p:spPr>
          <a:xfrm>
            <a:off x="10972800" y="4983480"/>
            <a:ext cx="182880" cy="182880"/>
          </a:xfrm>
          <a:prstGeom prst="ellipse">
            <a:avLst/>
          </a:prstGeom>
          <a:solidFill>
            <a:srgbClr val="A9A9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881360" y="5349240"/>
            <a:ext cx="1737360" cy="274320"/>
          </a:xfrm>
          <a:prstGeom prst="rect">
            <a:avLst/>
          </a:prstGeom>
          <a:noFill/>
        </p:spPr>
        <p:txBody>
          <a:bodyPr wrap="square" lIns="0" rIns="0" tIns="0" bIns="0" anchor="t">
            <a:noAutofit/>
          </a:bodyPr>
          <a:lstStyle/>
          <a:p>
            <a:pPr algn="l">
              <a:lnSpc>
                <a:spcPct val="108000"/>
              </a:lnSpc>
              <a:spcAft>
                <a:spcPts val="0"/>
              </a:spcAft>
            </a:pPr>
            <a:r>
              <a:rPr sz="1200" b="1" i="0">
                <a:solidFill>
                  <a:srgbClr val="A9A9C7"/>
                </a:solidFill>
                <a:latin typeface="Calibri"/>
              </a:rPr>
              <a:t>Launch</a:t>
            </a:r>
          </a:p>
        </p:txBody>
      </p:sp>
      <p:sp>
        <p:nvSpPr>
          <p:cNvPr id="39" name="TextBox 38"/>
          <p:cNvSpPr txBox="1"/>
          <p:nvPr/>
        </p:nvSpPr>
        <p:spPr>
          <a:xfrm>
            <a:off x="10881360" y="5623559"/>
            <a:ext cx="1737360" cy="548640"/>
          </a:xfrm>
          <a:prstGeom prst="rect">
            <a:avLst/>
          </a:prstGeom>
          <a:noFill/>
        </p:spPr>
        <p:txBody>
          <a:bodyPr wrap="square" lIns="0" rIns="0" tIns="0" bIns="0" anchor="t">
            <a:noAutofit/>
          </a:bodyPr>
          <a:lstStyle/>
          <a:p>
            <a:pPr algn="l">
              <a:lnSpc>
                <a:spcPct val="115000"/>
              </a:lnSpc>
              <a:spcAft>
                <a:spcPts val="0"/>
              </a:spcAft>
            </a:pPr>
            <a:r>
              <a:rPr sz="950" b="0" i="0">
                <a:solidFill>
                  <a:srgbClr val="A9A9C7"/>
                </a:solidFill>
                <a:latin typeface="Calibri"/>
              </a:rPr>
              <a:t>Egypt, then MENA</a:t>
            </a:r>
          </a:p>
        </p:txBody>
      </p:sp>
      <p:sp>
        <p:nvSpPr>
          <p:cNvPr id="40" name="TextBox 39"/>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A9A9C7"/>
                </a:solidFill>
                <a:latin typeface="Calibri"/>
              </a:rPr>
              <a:t>TRACTION</a:t>
            </a:r>
            <a:r>
              <a:rPr sz="800" b="0" i="0" spc="140">
                <a:solidFill>
                  <a:srgbClr val="A9A9C7"/>
                </a:solidFill>
                <a:latin typeface="Calibri"/>
              </a:rPr>
              <a:t>   |   PROTOTYPE STATUS</a:t>
            </a:r>
          </a:p>
        </p:txBody>
      </p:sp>
      <p:sp>
        <p:nvSpPr>
          <p:cNvPr id="41" name="TextBox 40"/>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22D3E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TextBox 1"/>
          <p:cNvSpPr txBox="1"/>
          <p:nvPr/>
        </p:nvSpPr>
        <p:spPr>
          <a:xfrm>
            <a:off x="548640" y="502920"/>
            <a:ext cx="8686800" cy="1115568"/>
          </a:xfrm>
          <a:prstGeom prst="rect">
            <a:avLst/>
          </a:prstGeom>
          <a:noFill/>
        </p:spPr>
        <p:txBody>
          <a:bodyPr wrap="square" lIns="0" rIns="0" tIns="0" bIns="0" anchor="t">
            <a:noAutofit/>
          </a:bodyPr>
          <a:lstStyle/>
          <a:p>
            <a:pPr algn="l">
              <a:lnSpc>
                <a:spcPct val="100000"/>
              </a:lnSpc>
              <a:spcAft>
                <a:spcPts val="0"/>
              </a:spcAft>
            </a:pPr>
            <a:r>
              <a:rPr sz="3200" b="1" i="0">
                <a:solidFill>
                  <a:srgbClr val="17172F"/>
                </a:solidFill>
                <a:latin typeface="Calibri"/>
              </a:rPr>
              <a:t>Start with independent aging in Egypt,
expand across MENA</a:t>
            </a:r>
          </a:p>
        </p:txBody>
      </p:sp>
      <p:sp>
        <p:nvSpPr>
          <p:cNvPr id="3" name="Rounded Rectangle 2"/>
          <p:cNvSpPr/>
          <p:nvPr/>
        </p:nvSpPr>
        <p:spPr>
          <a:xfrm>
            <a:off x="548640" y="2103120"/>
            <a:ext cx="3520440" cy="2834640"/>
          </a:xfrm>
          <a:prstGeom prst="roundRect">
            <a:avLst>
              <a:gd name="adj" fmla="val 5806"/>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22959" y="2331720"/>
            <a:ext cx="1129284" cy="256032"/>
          </a:xfrm>
          <a:prstGeom prst="roundRect">
            <a:avLst>
              <a:gd name="adj" fmla="val 50000"/>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59" y="2331720"/>
            <a:ext cx="1129284" cy="256032"/>
          </a:xfrm>
          <a:prstGeom prst="rect">
            <a:avLst/>
          </a:prstGeom>
          <a:noFill/>
        </p:spPr>
        <p:txBody>
          <a:bodyPr wrap="square" lIns="0" rIns="0" tIns="0" bIns="0" anchor="ctr">
            <a:noAutofit/>
          </a:bodyPr>
          <a:lstStyle/>
          <a:p>
            <a:pPr algn="ctr">
              <a:lnSpc>
                <a:spcPct val="108000"/>
              </a:lnSpc>
              <a:spcAft>
                <a:spcPts val="0"/>
              </a:spcAft>
            </a:pPr>
            <a:r>
              <a:rPr sz="800" b="1" i="0" spc="120">
                <a:solidFill>
                  <a:srgbClr val="FFFFFF"/>
                </a:solidFill>
                <a:latin typeface="Calibri"/>
              </a:rPr>
              <a:t>FIRST WEDGE</a:t>
            </a:r>
          </a:p>
        </p:txBody>
      </p:sp>
      <p:sp>
        <p:nvSpPr>
          <p:cNvPr id="6" name="TextBox 5"/>
          <p:cNvSpPr txBox="1"/>
          <p:nvPr/>
        </p:nvSpPr>
        <p:spPr>
          <a:xfrm>
            <a:off x="822959" y="2788920"/>
            <a:ext cx="2971800" cy="457200"/>
          </a:xfrm>
          <a:prstGeom prst="rect">
            <a:avLst/>
          </a:prstGeom>
          <a:noFill/>
        </p:spPr>
        <p:txBody>
          <a:bodyPr wrap="square" lIns="0" rIns="0" tIns="0" bIns="0" anchor="t">
            <a:noAutofit/>
          </a:bodyPr>
          <a:lstStyle/>
          <a:p>
            <a:pPr algn="l">
              <a:lnSpc>
                <a:spcPct val="108000"/>
              </a:lnSpc>
              <a:spcAft>
                <a:spcPts val="0"/>
              </a:spcAft>
            </a:pPr>
            <a:r>
              <a:rPr sz="1800" b="1" i="0">
                <a:solidFill>
                  <a:srgbClr val="17172F"/>
                </a:solidFill>
                <a:latin typeface="Calibri"/>
              </a:rPr>
              <a:t>Independent aging</a:t>
            </a:r>
          </a:p>
        </p:txBody>
      </p:sp>
      <p:sp>
        <p:nvSpPr>
          <p:cNvPr id="7" name="TextBox 6"/>
          <p:cNvSpPr txBox="1"/>
          <p:nvPr/>
        </p:nvSpPr>
        <p:spPr>
          <a:xfrm>
            <a:off x="822959" y="3291840"/>
            <a:ext cx="2971800" cy="914400"/>
          </a:xfrm>
          <a:prstGeom prst="rect">
            <a:avLst/>
          </a:prstGeom>
          <a:noFill/>
        </p:spPr>
        <p:txBody>
          <a:bodyPr wrap="square" lIns="0" rIns="0" tIns="0" bIns="0" anchor="t">
            <a:noAutofit/>
          </a:bodyPr>
          <a:lstStyle/>
          <a:p>
            <a:pPr algn="l">
              <a:lnSpc>
                <a:spcPct val="120000"/>
              </a:lnSpc>
              <a:spcAft>
                <a:spcPts val="0"/>
              </a:spcAft>
            </a:pPr>
            <a:r>
              <a:rPr sz="1100" b="0" i="0">
                <a:solidFill>
                  <a:srgbClr val="5B5B7A"/>
                </a:solidFill>
                <a:latin typeface="Calibri"/>
              </a:rPr>
              <a:t>Older adults living at home who benefit from fall detection and proactive monitoring.</a:t>
            </a:r>
          </a:p>
        </p:txBody>
      </p:sp>
      <p:cxnSp>
        <p:nvCxnSpPr>
          <p:cNvPr id="8" name="Connector 7"/>
          <p:cNvCxnSpPr/>
          <p:nvPr/>
        </p:nvCxnSpPr>
        <p:spPr>
          <a:xfrm>
            <a:off x="822959" y="4251960"/>
            <a:ext cx="2971801"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59" y="4370832"/>
            <a:ext cx="2971800" cy="457200"/>
          </a:xfrm>
          <a:prstGeom prst="rect">
            <a:avLst/>
          </a:prstGeom>
          <a:noFill/>
        </p:spPr>
        <p:txBody>
          <a:bodyPr wrap="square" lIns="0" rIns="0" tIns="0" bIns="0" anchor="t">
            <a:noAutofit/>
          </a:bodyPr>
          <a:lstStyle/>
          <a:p>
            <a:pPr algn="l">
              <a:lnSpc>
                <a:spcPct val="115000"/>
              </a:lnSpc>
              <a:spcAft>
                <a:spcPts val="0"/>
              </a:spcAft>
            </a:pPr>
            <a:r>
              <a:rPr sz="1000" b="1" i="0">
                <a:solidFill>
                  <a:srgbClr val="6C3CE9"/>
                </a:solidFill>
                <a:latin typeface="Calibri"/>
              </a:rPr>
              <a:t>9.3 M Egyptians aged 60+ (8.8%) — CAPMAS 2024</a:t>
            </a:r>
          </a:p>
        </p:txBody>
      </p:sp>
      <p:sp>
        <p:nvSpPr>
          <p:cNvPr id="10" name="Rounded Rectangle 9"/>
          <p:cNvSpPr/>
          <p:nvPr/>
        </p:nvSpPr>
        <p:spPr>
          <a:xfrm>
            <a:off x="4334255" y="2103120"/>
            <a:ext cx="3520440" cy="2834640"/>
          </a:xfrm>
          <a:prstGeom prst="roundRect">
            <a:avLst>
              <a:gd name="adj" fmla="val 5806"/>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608575" y="2331720"/>
            <a:ext cx="973836" cy="256032"/>
          </a:xfrm>
          <a:prstGeom prst="roundRect">
            <a:avLst>
              <a:gd name="adj" fmla="val 50000"/>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08575" y="2331720"/>
            <a:ext cx="973836" cy="256032"/>
          </a:xfrm>
          <a:prstGeom prst="rect">
            <a:avLst/>
          </a:prstGeom>
          <a:noFill/>
        </p:spPr>
        <p:txBody>
          <a:bodyPr wrap="square" lIns="0" rIns="0" tIns="0" bIns="0" anchor="ctr">
            <a:noAutofit/>
          </a:bodyPr>
          <a:lstStyle/>
          <a:p>
            <a:pPr algn="ctr">
              <a:lnSpc>
                <a:spcPct val="108000"/>
              </a:lnSpc>
              <a:spcAft>
                <a:spcPts val="0"/>
              </a:spcAft>
            </a:pPr>
            <a:r>
              <a:rPr sz="800" b="1" i="0" spc="120">
                <a:solidFill>
                  <a:srgbClr val="FFFFFF"/>
                </a:solidFill>
                <a:latin typeface="Calibri"/>
              </a:rPr>
              <a:t>THE BUYER</a:t>
            </a:r>
          </a:p>
        </p:txBody>
      </p:sp>
      <p:sp>
        <p:nvSpPr>
          <p:cNvPr id="13" name="TextBox 12"/>
          <p:cNvSpPr txBox="1"/>
          <p:nvPr/>
        </p:nvSpPr>
        <p:spPr>
          <a:xfrm>
            <a:off x="4608575" y="2788920"/>
            <a:ext cx="2971800" cy="457200"/>
          </a:xfrm>
          <a:prstGeom prst="rect">
            <a:avLst/>
          </a:prstGeom>
          <a:noFill/>
        </p:spPr>
        <p:txBody>
          <a:bodyPr wrap="square" lIns="0" rIns="0" tIns="0" bIns="0" anchor="t">
            <a:noAutofit/>
          </a:bodyPr>
          <a:lstStyle/>
          <a:p>
            <a:pPr algn="l">
              <a:lnSpc>
                <a:spcPct val="108000"/>
              </a:lnSpc>
              <a:spcAft>
                <a:spcPts val="0"/>
              </a:spcAft>
            </a:pPr>
            <a:r>
              <a:rPr sz="1800" b="1" i="0">
                <a:solidFill>
                  <a:srgbClr val="17172F"/>
                </a:solidFill>
                <a:latin typeface="Calibri"/>
              </a:rPr>
              <a:t>Family &amp; caregivers</a:t>
            </a:r>
          </a:p>
        </p:txBody>
      </p:sp>
      <p:sp>
        <p:nvSpPr>
          <p:cNvPr id="14" name="TextBox 13"/>
          <p:cNvSpPr txBox="1"/>
          <p:nvPr/>
        </p:nvSpPr>
        <p:spPr>
          <a:xfrm>
            <a:off x="4608575" y="3291840"/>
            <a:ext cx="2971800" cy="914400"/>
          </a:xfrm>
          <a:prstGeom prst="rect">
            <a:avLst/>
          </a:prstGeom>
          <a:noFill/>
        </p:spPr>
        <p:txBody>
          <a:bodyPr wrap="square" lIns="0" rIns="0" tIns="0" bIns="0" anchor="t">
            <a:noAutofit/>
          </a:bodyPr>
          <a:lstStyle/>
          <a:p>
            <a:pPr algn="l">
              <a:lnSpc>
                <a:spcPct val="120000"/>
              </a:lnSpc>
              <a:spcAft>
                <a:spcPts val="0"/>
              </a:spcAft>
            </a:pPr>
            <a:r>
              <a:rPr sz="1100" b="0" i="0">
                <a:solidFill>
                  <a:srgbClr val="5B5B7A"/>
                </a:solidFill>
                <a:latin typeface="Calibri"/>
              </a:rPr>
              <a:t>Adult children who want alerts, location context and peace of mind while at work.</a:t>
            </a:r>
          </a:p>
        </p:txBody>
      </p:sp>
      <p:cxnSp>
        <p:nvCxnSpPr>
          <p:cNvPr id="15" name="Connector 14"/>
          <p:cNvCxnSpPr/>
          <p:nvPr/>
        </p:nvCxnSpPr>
        <p:spPr>
          <a:xfrm>
            <a:off x="4608575" y="4251960"/>
            <a:ext cx="297180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608575" y="4370832"/>
            <a:ext cx="2971800" cy="457200"/>
          </a:xfrm>
          <a:prstGeom prst="rect">
            <a:avLst/>
          </a:prstGeom>
          <a:noFill/>
        </p:spPr>
        <p:txBody>
          <a:bodyPr wrap="square" lIns="0" rIns="0" tIns="0" bIns="0" anchor="t">
            <a:noAutofit/>
          </a:bodyPr>
          <a:lstStyle/>
          <a:p>
            <a:pPr algn="l">
              <a:lnSpc>
                <a:spcPct val="115000"/>
              </a:lnSpc>
              <a:spcAft>
                <a:spcPts val="0"/>
              </a:spcAft>
            </a:pPr>
            <a:r>
              <a:rPr sz="1000" b="1" i="0">
                <a:solidFill>
                  <a:srgbClr val="3B5BFF"/>
                </a:solidFill>
                <a:latin typeface="Calibri"/>
              </a:rPr>
              <a:t>Household decision-maker; subscription payer</a:t>
            </a:r>
          </a:p>
        </p:txBody>
      </p:sp>
      <p:sp>
        <p:nvSpPr>
          <p:cNvPr id="17" name="Rounded Rectangle 16"/>
          <p:cNvSpPr/>
          <p:nvPr/>
        </p:nvSpPr>
        <p:spPr>
          <a:xfrm>
            <a:off x="8119871" y="2103120"/>
            <a:ext cx="3520440" cy="2834640"/>
          </a:xfrm>
          <a:prstGeom prst="roundRect">
            <a:avLst>
              <a:gd name="adj" fmla="val 5806"/>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394192" y="2331720"/>
            <a:ext cx="973836" cy="256032"/>
          </a:xfrm>
          <a:prstGeom prst="roundRect">
            <a:avLst>
              <a:gd name="adj" fmla="val 50000"/>
            </a:avLst>
          </a:prstGeom>
          <a:solidFill>
            <a:srgbClr val="0F9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94192" y="2331720"/>
            <a:ext cx="973836" cy="256032"/>
          </a:xfrm>
          <a:prstGeom prst="rect">
            <a:avLst/>
          </a:prstGeom>
          <a:noFill/>
        </p:spPr>
        <p:txBody>
          <a:bodyPr wrap="square" lIns="0" rIns="0" tIns="0" bIns="0" anchor="ctr">
            <a:noAutofit/>
          </a:bodyPr>
          <a:lstStyle/>
          <a:p>
            <a:pPr algn="ctr">
              <a:lnSpc>
                <a:spcPct val="108000"/>
              </a:lnSpc>
              <a:spcAft>
                <a:spcPts val="0"/>
              </a:spcAft>
            </a:pPr>
            <a:r>
              <a:rPr sz="800" b="1" i="0" spc="120">
                <a:solidFill>
                  <a:srgbClr val="FFFFFF"/>
                </a:solidFill>
                <a:latin typeface="Calibri"/>
              </a:rPr>
              <a:t>EXPANSION</a:t>
            </a:r>
          </a:p>
        </p:txBody>
      </p:sp>
      <p:sp>
        <p:nvSpPr>
          <p:cNvPr id="20" name="TextBox 19"/>
          <p:cNvSpPr txBox="1"/>
          <p:nvPr/>
        </p:nvSpPr>
        <p:spPr>
          <a:xfrm>
            <a:off x="8394192" y="2788920"/>
            <a:ext cx="2971800" cy="457200"/>
          </a:xfrm>
          <a:prstGeom prst="rect">
            <a:avLst/>
          </a:prstGeom>
          <a:noFill/>
        </p:spPr>
        <p:txBody>
          <a:bodyPr wrap="square" lIns="0" rIns="0" tIns="0" bIns="0" anchor="t">
            <a:noAutofit/>
          </a:bodyPr>
          <a:lstStyle/>
          <a:p>
            <a:pPr algn="l">
              <a:lnSpc>
                <a:spcPct val="108000"/>
              </a:lnSpc>
              <a:spcAft>
                <a:spcPts val="0"/>
              </a:spcAft>
            </a:pPr>
            <a:r>
              <a:rPr sz="1800" b="1" i="0">
                <a:solidFill>
                  <a:srgbClr val="17172F"/>
                </a:solidFill>
                <a:latin typeface="Calibri"/>
              </a:rPr>
              <a:t>Wellness &amp; stress</a:t>
            </a:r>
          </a:p>
        </p:txBody>
      </p:sp>
      <p:sp>
        <p:nvSpPr>
          <p:cNvPr id="21" name="TextBox 20"/>
          <p:cNvSpPr txBox="1"/>
          <p:nvPr/>
        </p:nvSpPr>
        <p:spPr>
          <a:xfrm>
            <a:off x="8394192" y="3291840"/>
            <a:ext cx="2971800" cy="914400"/>
          </a:xfrm>
          <a:prstGeom prst="rect">
            <a:avLst/>
          </a:prstGeom>
          <a:noFill/>
        </p:spPr>
        <p:txBody>
          <a:bodyPr wrap="square" lIns="0" rIns="0" tIns="0" bIns="0" anchor="t">
            <a:noAutofit/>
          </a:bodyPr>
          <a:lstStyle/>
          <a:p>
            <a:pPr algn="l">
              <a:lnSpc>
                <a:spcPct val="120000"/>
              </a:lnSpc>
              <a:spcAft>
                <a:spcPts val="0"/>
              </a:spcAft>
            </a:pPr>
            <a:r>
              <a:rPr sz="1100" b="0" i="0">
                <a:solidFill>
                  <a:srgbClr val="5B5B7A"/>
                </a:solidFill>
                <a:latin typeface="Calibri"/>
              </a:rPr>
              <a:t>Professionals who want context on stress, sleep and recovery — not another raw score.</a:t>
            </a:r>
          </a:p>
        </p:txBody>
      </p:sp>
      <p:cxnSp>
        <p:nvCxnSpPr>
          <p:cNvPr id="22" name="Connector 21"/>
          <p:cNvCxnSpPr/>
          <p:nvPr/>
        </p:nvCxnSpPr>
        <p:spPr>
          <a:xfrm>
            <a:off x="8394192" y="4251960"/>
            <a:ext cx="297180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94192" y="4370832"/>
            <a:ext cx="2971800" cy="457200"/>
          </a:xfrm>
          <a:prstGeom prst="rect">
            <a:avLst/>
          </a:prstGeom>
          <a:noFill/>
        </p:spPr>
        <p:txBody>
          <a:bodyPr wrap="square" lIns="0" rIns="0" tIns="0" bIns="0" anchor="t">
            <a:noAutofit/>
          </a:bodyPr>
          <a:lstStyle/>
          <a:p>
            <a:pPr algn="l">
              <a:lnSpc>
                <a:spcPct val="115000"/>
              </a:lnSpc>
              <a:spcAft>
                <a:spcPts val="0"/>
              </a:spcAft>
            </a:pPr>
            <a:r>
              <a:rPr sz="1000" b="1" i="0">
                <a:solidFill>
                  <a:srgbClr val="0F9F6E"/>
                </a:solidFill>
                <a:latin typeface="Calibri"/>
              </a:rPr>
              <a:t>Same band, different app mode</a:t>
            </a:r>
          </a:p>
        </p:txBody>
      </p:sp>
      <p:sp>
        <p:nvSpPr>
          <p:cNvPr id="24" name="Rounded Rectangle 23"/>
          <p:cNvSpPr/>
          <p:nvPr/>
        </p:nvSpPr>
        <p:spPr>
          <a:xfrm>
            <a:off x="548640" y="5257800"/>
            <a:ext cx="11094415" cy="868680"/>
          </a:xfrm>
          <a:prstGeom prst="roundRect">
            <a:avLst>
              <a:gd name="adj" fmla="val 14736"/>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68680" y="5349240"/>
            <a:ext cx="1371600" cy="685800"/>
          </a:xfrm>
          <a:prstGeom prst="rect">
            <a:avLst/>
          </a:prstGeom>
          <a:noFill/>
        </p:spPr>
        <p:txBody>
          <a:bodyPr wrap="square" lIns="0" rIns="0" tIns="0" bIns="0" anchor="ctr">
            <a:noAutofit/>
          </a:bodyPr>
          <a:lstStyle/>
          <a:p>
            <a:pPr algn="l">
              <a:lnSpc>
                <a:spcPct val="108000"/>
              </a:lnSpc>
              <a:spcAft>
                <a:spcPts val="0"/>
              </a:spcAft>
            </a:pPr>
            <a:r>
              <a:rPr sz="2200" b="1" i="0">
                <a:solidFill>
                  <a:srgbClr val="FFFFFF"/>
                </a:solidFill>
                <a:latin typeface="Calibri"/>
              </a:rPr>
              <a:t>684 000</a:t>
            </a:r>
          </a:p>
        </p:txBody>
      </p:sp>
      <p:sp>
        <p:nvSpPr>
          <p:cNvPr id="26" name="TextBox 25"/>
          <p:cNvSpPr txBox="1"/>
          <p:nvPr/>
        </p:nvSpPr>
        <p:spPr>
          <a:xfrm>
            <a:off x="2240280" y="5349240"/>
            <a:ext cx="2103120" cy="685800"/>
          </a:xfrm>
          <a:prstGeom prst="rect">
            <a:avLst/>
          </a:prstGeom>
          <a:noFill/>
        </p:spPr>
        <p:txBody>
          <a:bodyPr wrap="square" lIns="0" rIns="0" tIns="0" bIns="0" anchor="ctr">
            <a:noAutofit/>
          </a:bodyPr>
          <a:lstStyle/>
          <a:p>
            <a:pPr algn="l">
              <a:lnSpc>
                <a:spcPct val="115000"/>
              </a:lnSpc>
              <a:spcAft>
                <a:spcPts val="0"/>
              </a:spcAft>
            </a:pPr>
            <a:r>
              <a:rPr sz="950" b="0" i="0">
                <a:solidFill>
                  <a:srgbClr val="A9A9C7"/>
                </a:solidFill>
                <a:latin typeface="Calibri"/>
              </a:rPr>
              <a:t>fatal falls per year worldwide (WHO)</a:t>
            </a:r>
          </a:p>
        </p:txBody>
      </p:sp>
      <p:sp>
        <p:nvSpPr>
          <p:cNvPr id="27" name="TextBox 26"/>
          <p:cNvSpPr txBox="1"/>
          <p:nvPr/>
        </p:nvSpPr>
        <p:spPr>
          <a:xfrm>
            <a:off x="4526280" y="5349240"/>
            <a:ext cx="1371600" cy="685800"/>
          </a:xfrm>
          <a:prstGeom prst="rect">
            <a:avLst/>
          </a:prstGeom>
          <a:noFill/>
        </p:spPr>
        <p:txBody>
          <a:bodyPr wrap="square" lIns="0" rIns="0" tIns="0" bIns="0" anchor="ctr">
            <a:noAutofit/>
          </a:bodyPr>
          <a:lstStyle/>
          <a:p>
            <a:pPr algn="l">
              <a:lnSpc>
                <a:spcPct val="108000"/>
              </a:lnSpc>
              <a:spcAft>
                <a:spcPts val="0"/>
              </a:spcAft>
            </a:pPr>
            <a:r>
              <a:rPr sz="2200" b="1" i="0">
                <a:solidFill>
                  <a:srgbClr val="FFFFFF"/>
                </a:solidFill>
                <a:latin typeface="Calibri"/>
              </a:rPr>
              <a:t>37.3 M</a:t>
            </a:r>
          </a:p>
        </p:txBody>
      </p:sp>
      <p:sp>
        <p:nvSpPr>
          <p:cNvPr id="28" name="TextBox 27"/>
          <p:cNvSpPr txBox="1"/>
          <p:nvPr/>
        </p:nvSpPr>
        <p:spPr>
          <a:xfrm>
            <a:off x="5897880" y="5349240"/>
            <a:ext cx="2103120" cy="685800"/>
          </a:xfrm>
          <a:prstGeom prst="rect">
            <a:avLst/>
          </a:prstGeom>
          <a:noFill/>
        </p:spPr>
        <p:txBody>
          <a:bodyPr wrap="square" lIns="0" rIns="0" tIns="0" bIns="0" anchor="ctr">
            <a:noAutofit/>
          </a:bodyPr>
          <a:lstStyle/>
          <a:p>
            <a:pPr algn="l">
              <a:lnSpc>
                <a:spcPct val="115000"/>
              </a:lnSpc>
              <a:spcAft>
                <a:spcPts val="0"/>
              </a:spcAft>
            </a:pPr>
            <a:r>
              <a:rPr sz="950" b="0" i="0">
                <a:solidFill>
                  <a:srgbClr val="A9A9C7"/>
                </a:solidFill>
                <a:latin typeface="Calibri"/>
              </a:rPr>
              <a:t>falls a year need medical attention (WHO)</a:t>
            </a:r>
          </a:p>
        </p:txBody>
      </p:sp>
      <p:sp>
        <p:nvSpPr>
          <p:cNvPr id="29" name="TextBox 28"/>
          <p:cNvSpPr txBox="1"/>
          <p:nvPr/>
        </p:nvSpPr>
        <p:spPr>
          <a:xfrm>
            <a:off x="8183879" y="5349240"/>
            <a:ext cx="1371600" cy="685800"/>
          </a:xfrm>
          <a:prstGeom prst="rect">
            <a:avLst/>
          </a:prstGeom>
          <a:noFill/>
        </p:spPr>
        <p:txBody>
          <a:bodyPr wrap="square" lIns="0" rIns="0" tIns="0" bIns="0" anchor="ctr">
            <a:noAutofit/>
          </a:bodyPr>
          <a:lstStyle/>
          <a:p>
            <a:pPr algn="l">
              <a:lnSpc>
                <a:spcPct val="108000"/>
              </a:lnSpc>
              <a:spcAft>
                <a:spcPts val="0"/>
              </a:spcAft>
            </a:pPr>
            <a:r>
              <a:rPr sz="2200" b="1" i="0">
                <a:solidFill>
                  <a:srgbClr val="FFFFFF"/>
                </a:solidFill>
                <a:latin typeface="Calibri"/>
              </a:rPr>
              <a:t>80%+</a:t>
            </a:r>
          </a:p>
        </p:txBody>
      </p:sp>
      <p:sp>
        <p:nvSpPr>
          <p:cNvPr id="30" name="TextBox 29"/>
          <p:cNvSpPr txBox="1"/>
          <p:nvPr/>
        </p:nvSpPr>
        <p:spPr>
          <a:xfrm>
            <a:off x="9555480" y="5349240"/>
            <a:ext cx="2103120" cy="685800"/>
          </a:xfrm>
          <a:prstGeom prst="rect">
            <a:avLst/>
          </a:prstGeom>
          <a:noFill/>
        </p:spPr>
        <p:txBody>
          <a:bodyPr wrap="square" lIns="0" rIns="0" tIns="0" bIns="0" anchor="ctr">
            <a:noAutofit/>
          </a:bodyPr>
          <a:lstStyle/>
          <a:p>
            <a:pPr algn="l">
              <a:lnSpc>
                <a:spcPct val="115000"/>
              </a:lnSpc>
              <a:spcAft>
                <a:spcPts val="0"/>
              </a:spcAft>
            </a:pPr>
            <a:r>
              <a:rPr sz="950" b="0" i="0">
                <a:solidFill>
                  <a:srgbClr val="A9A9C7"/>
                </a:solidFill>
                <a:latin typeface="Calibri"/>
              </a:rPr>
              <a:t>of fall deaths are in low- and middle-income countries</a:t>
            </a:r>
          </a:p>
        </p:txBody>
      </p:sp>
      <p:sp>
        <p:nvSpPr>
          <p:cNvPr id="31" name="TextBox 30"/>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5B5B7A"/>
                </a:solidFill>
                <a:latin typeface="Calibri"/>
              </a:rPr>
              <a:t>MARKET</a:t>
            </a:r>
            <a:r>
              <a:rPr sz="800" b="0" i="0" spc="140">
                <a:solidFill>
                  <a:srgbClr val="5B5B7A"/>
                </a:solidFill>
                <a:latin typeface="Calibri"/>
              </a:rPr>
              <a:t>   |   ENTRY WEDGE AND EXPANSION</a:t>
            </a:r>
          </a:p>
        </p:txBody>
      </p:sp>
      <p:sp>
        <p:nvSpPr>
          <p:cNvPr id="32" name="TextBox 31"/>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6C3CE9"/>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TextBox 1"/>
          <p:cNvSpPr txBox="1"/>
          <p:nvPr/>
        </p:nvSpPr>
        <p:spPr>
          <a:xfrm>
            <a:off x="548640" y="502920"/>
            <a:ext cx="9326880" cy="603504"/>
          </a:xfrm>
          <a:prstGeom prst="rect">
            <a:avLst/>
          </a:prstGeom>
          <a:noFill/>
        </p:spPr>
        <p:txBody>
          <a:bodyPr wrap="square" lIns="0" rIns="0" tIns="0" bIns="0" anchor="t">
            <a:noAutofit/>
          </a:bodyPr>
          <a:lstStyle/>
          <a:p>
            <a:pPr algn="l">
              <a:lnSpc>
                <a:spcPct val="100000"/>
              </a:lnSpc>
              <a:spcAft>
                <a:spcPts val="0"/>
              </a:spcAft>
            </a:pPr>
            <a:r>
              <a:rPr sz="3200" b="1" i="0">
                <a:solidFill>
                  <a:srgbClr val="17172F"/>
                </a:solidFill>
                <a:latin typeface="Calibri"/>
              </a:rPr>
              <a:t>Commercial model</a:t>
            </a:r>
          </a:p>
        </p:txBody>
      </p:sp>
      <p:sp>
        <p:nvSpPr>
          <p:cNvPr id="3" name="TextBox 2"/>
          <p:cNvSpPr txBox="1"/>
          <p:nvPr/>
        </p:nvSpPr>
        <p:spPr>
          <a:xfrm>
            <a:off x="548640" y="1143000"/>
            <a:ext cx="9326880" cy="548640"/>
          </a:xfrm>
          <a:prstGeom prst="rect">
            <a:avLst/>
          </a:prstGeom>
          <a:noFill/>
        </p:spPr>
        <p:txBody>
          <a:bodyPr wrap="square" lIns="0" rIns="0" tIns="0" bIns="0" anchor="t">
            <a:noAutofit/>
          </a:bodyPr>
          <a:lstStyle/>
          <a:p>
            <a:pPr algn="l">
              <a:lnSpc>
                <a:spcPct val="115000"/>
              </a:lnSpc>
              <a:spcAft>
                <a:spcPts val="0"/>
              </a:spcAft>
            </a:pPr>
            <a:r>
              <a:rPr sz="1400" b="0" i="0">
                <a:solidFill>
                  <a:srgbClr val="5B5B7A"/>
                </a:solidFill>
                <a:latin typeface="Calibri"/>
              </a:rPr>
              <a:t>Hypotheses for a prototype-stage company — pricing and unit economics are validated in the pilot.</a:t>
            </a:r>
          </a:p>
        </p:txBody>
      </p:sp>
      <p:sp>
        <p:nvSpPr>
          <p:cNvPr id="4" name="TextBox 3"/>
          <p:cNvSpPr txBox="1"/>
          <p:nvPr/>
        </p:nvSpPr>
        <p:spPr>
          <a:xfrm>
            <a:off x="548640" y="2057400"/>
            <a:ext cx="3657600" cy="228600"/>
          </a:xfrm>
          <a:prstGeom prst="rect">
            <a:avLst/>
          </a:prstGeom>
          <a:noFill/>
        </p:spPr>
        <p:txBody>
          <a:bodyPr wrap="square" lIns="0" rIns="0" tIns="0" bIns="0" anchor="ctr">
            <a:noAutofit/>
          </a:bodyPr>
          <a:lstStyle/>
          <a:p>
            <a:pPr algn="l">
              <a:lnSpc>
                <a:spcPct val="108000"/>
              </a:lnSpc>
              <a:spcAft>
                <a:spcPts val="0"/>
              </a:spcAft>
            </a:pPr>
            <a:r>
              <a:rPr sz="1000" b="1" i="0" spc="160">
                <a:solidFill>
                  <a:srgbClr val="6C3CE9"/>
                </a:solidFill>
                <a:latin typeface="Calibri"/>
              </a:rPr>
              <a:t>REVENUE STREAMS</a:t>
            </a:r>
          </a:p>
        </p:txBody>
      </p:sp>
      <p:sp>
        <p:nvSpPr>
          <p:cNvPr id="5" name="Oval 4"/>
          <p:cNvSpPr/>
          <p:nvPr/>
        </p:nvSpPr>
        <p:spPr>
          <a:xfrm>
            <a:off x="557784" y="2478024"/>
            <a:ext cx="384048" cy="384048"/>
          </a:xfrm>
          <a:prstGeom prst="ellipse">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57784" y="2478024"/>
            <a:ext cx="384048" cy="384048"/>
          </a:xfrm>
          <a:prstGeom prst="rect">
            <a:avLst/>
          </a:prstGeom>
          <a:noFill/>
        </p:spPr>
        <p:txBody>
          <a:bodyPr wrap="square" lIns="0" rIns="0" tIns="0" bIns="0" anchor="ctr">
            <a:noAutofit/>
          </a:bodyPr>
          <a:lstStyle/>
          <a:p>
            <a:pPr algn="ctr">
              <a:lnSpc>
                <a:spcPct val="108000"/>
              </a:lnSpc>
              <a:spcAft>
                <a:spcPts val="0"/>
              </a:spcAft>
            </a:pPr>
            <a:r>
              <a:rPr sz="1100" b="1" i="0">
                <a:solidFill>
                  <a:srgbClr val="FFFFFF"/>
                </a:solidFill>
                <a:latin typeface="Calibri"/>
              </a:rPr>
              <a:t>1</a:t>
            </a:r>
          </a:p>
        </p:txBody>
      </p:sp>
      <p:sp>
        <p:nvSpPr>
          <p:cNvPr id="7" name="TextBox 6"/>
          <p:cNvSpPr txBox="1"/>
          <p:nvPr/>
        </p:nvSpPr>
        <p:spPr>
          <a:xfrm>
            <a:off x="1234440" y="2450592"/>
            <a:ext cx="2377440" cy="365760"/>
          </a:xfrm>
          <a:prstGeom prst="rect">
            <a:avLst/>
          </a:prstGeom>
          <a:noFill/>
        </p:spPr>
        <p:txBody>
          <a:bodyPr wrap="square" lIns="0" rIns="0" tIns="0" bIns="0" anchor="t">
            <a:noAutofit/>
          </a:bodyPr>
          <a:lstStyle/>
          <a:p>
            <a:pPr algn="l">
              <a:lnSpc>
                <a:spcPct val="108000"/>
              </a:lnSpc>
              <a:spcAft>
                <a:spcPts val="0"/>
              </a:spcAft>
            </a:pPr>
            <a:r>
              <a:rPr sz="1400" b="1" i="0">
                <a:solidFill>
                  <a:srgbClr val="17172F"/>
                </a:solidFill>
                <a:latin typeface="Calibri"/>
              </a:rPr>
              <a:t>Device sale</a:t>
            </a:r>
          </a:p>
        </p:txBody>
      </p:sp>
      <p:sp>
        <p:nvSpPr>
          <p:cNvPr id="8" name="TextBox 7"/>
          <p:cNvSpPr txBox="1"/>
          <p:nvPr/>
        </p:nvSpPr>
        <p:spPr>
          <a:xfrm>
            <a:off x="1234440" y="2788920"/>
            <a:ext cx="4754880" cy="731520"/>
          </a:xfrm>
          <a:prstGeom prst="rect">
            <a:avLst/>
          </a:prstGeom>
          <a:noFill/>
        </p:spPr>
        <p:txBody>
          <a:bodyPr wrap="square" lIns="0" rIns="0" tIns="0" bIns="0" anchor="t">
            <a:noAutofit/>
          </a:bodyPr>
          <a:lstStyle/>
          <a:p>
            <a:pPr algn="l">
              <a:lnSpc>
                <a:spcPct val="120000"/>
              </a:lnSpc>
              <a:spcAft>
                <a:spcPts val="0"/>
              </a:spcAft>
            </a:pPr>
            <a:r>
              <a:rPr sz="1050" b="0" i="0">
                <a:solidFill>
                  <a:srgbClr val="5B5B7A"/>
                </a:solidFill>
                <a:latin typeface="Calibri"/>
              </a:rPr>
              <a:t>One-time revenue from the band and charger; target hardware margin ≥ 35 % at volume.</a:t>
            </a:r>
          </a:p>
        </p:txBody>
      </p:sp>
      <p:sp>
        <p:nvSpPr>
          <p:cNvPr id="9" name="Oval 8"/>
          <p:cNvSpPr/>
          <p:nvPr/>
        </p:nvSpPr>
        <p:spPr>
          <a:xfrm>
            <a:off x="557784" y="3529584"/>
            <a:ext cx="384048" cy="384048"/>
          </a:xfrm>
          <a:prstGeom prst="ellipse">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57784" y="3529584"/>
            <a:ext cx="384048" cy="384048"/>
          </a:xfrm>
          <a:prstGeom prst="rect">
            <a:avLst/>
          </a:prstGeom>
          <a:noFill/>
        </p:spPr>
        <p:txBody>
          <a:bodyPr wrap="square" lIns="0" rIns="0" tIns="0" bIns="0" anchor="ctr">
            <a:noAutofit/>
          </a:bodyPr>
          <a:lstStyle/>
          <a:p>
            <a:pPr algn="ctr">
              <a:lnSpc>
                <a:spcPct val="108000"/>
              </a:lnSpc>
              <a:spcAft>
                <a:spcPts val="0"/>
              </a:spcAft>
            </a:pPr>
            <a:r>
              <a:rPr sz="1100" b="1" i="0">
                <a:solidFill>
                  <a:srgbClr val="FFFFFF"/>
                </a:solidFill>
                <a:latin typeface="Calibri"/>
              </a:rPr>
              <a:t>2</a:t>
            </a:r>
          </a:p>
        </p:txBody>
      </p:sp>
      <p:sp>
        <p:nvSpPr>
          <p:cNvPr id="11" name="TextBox 10"/>
          <p:cNvSpPr txBox="1"/>
          <p:nvPr/>
        </p:nvSpPr>
        <p:spPr>
          <a:xfrm>
            <a:off x="1234440" y="3502152"/>
            <a:ext cx="2377440" cy="365760"/>
          </a:xfrm>
          <a:prstGeom prst="rect">
            <a:avLst/>
          </a:prstGeom>
          <a:noFill/>
        </p:spPr>
        <p:txBody>
          <a:bodyPr wrap="square" lIns="0" rIns="0" tIns="0" bIns="0" anchor="t">
            <a:noAutofit/>
          </a:bodyPr>
          <a:lstStyle/>
          <a:p>
            <a:pPr algn="l">
              <a:lnSpc>
                <a:spcPct val="108000"/>
              </a:lnSpc>
              <a:spcAft>
                <a:spcPts val="0"/>
              </a:spcAft>
            </a:pPr>
            <a:r>
              <a:rPr sz="1400" b="1" i="0">
                <a:solidFill>
                  <a:srgbClr val="17172F"/>
                </a:solidFill>
                <a:latin typeface="Calibri"/>
              </a:rPr>
              <a:t>Family subscription</a:t>
            </a:r>
          </a:p>
        </p:txBody>
      </p:sp>
      <p:sp>
        <p:nvSpPr>
          <p:cNvPr id="12" name="TextBox 11"/>
          <p:cNvSpPr txBox="1"/>
          <p:nvPr/>
        </p:nvSpPr>
        <p:spPr>
          <a:xfrm>
            <a:off x="1234440" y="3840480"/>
            <a:ext cx="4754880" cy="731520"/>
          </a:xfrm>
          <a:prstGeom prst="rect">
            <a:avLst/>
          </a:prstGeom>
          <a:noFill/>
        </p:spPr>
        <p:txBody>
          <a:bodyPr wrap="square" lIns="0" rIns="0" tIns="0" bIns="0" anchor="t">
            <a:noAutofit/>
          </a:bodyPr>
          <a:lstStyle/>
          <a:p>
            <a:pPr algn="l">
              <a:lnSpc>
                <a:spcPct val="120000"/>
              </a:lnSpc>
              <a:spcAft>
                <a:spcPts val="0"/>
              </a:spcAft>
            </a:pPr>
            <a:r>
              <a:rPr sz="1050" b="0" i="0">
                <a:solidFill>
                  <a:srgbClr val="5B5B7A"/>
                </a:solidFill>
                <a:latin typeface="Calibri"/>
              </a:rPr>
              <a:t>Monthly access to AI insights, longer history, multi-caregiver alerts and emergency dispatch.</a:t>
            </a:r>
          </a:p>
        </p:txBody>
      </p:sp>
      <p:sp>
        <p:nvSpPr>
          <p:cNvPr id="13" name="Oval 12"/>
          <p:cNvSpPr/>
          <p:nvPr/>
        </p:nvSpPr>
        <p:spPr>
          <a:xfrm>
            <a:off x="557784" y="4581144"/>
            <a:ext cx="384048" cy="384048"/>
          </a:xfrm>
          <a:prstGeom prst="ellipse">
            <a:avLst/>
          </a:prstGeom>
          <a:solidFill>
            <a:srgbClr val="0F9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57784" y="4581144"/>
            <a:ext cx="384048" cy="384048"/>
          </a:xfrm>
          <a:prstGeom prst="rect">
            <a:avLst/>
          </a:prstGeom>
          <a:noFill/>
        </p:spPr>
        <p:txBody>
          <a:bodyPr wrap="square" lIns="0" rIns="0" tIns="0" bIns="0" anchor="ctr">
            <a:noAutofit/>
          </a:bodyPr>
          <a:lstStyle/>
          <a:p>
            <a:pPr algn="ctr">
              <a:lnSpc>
                <a:spcPct val="108000"/>
              </a:lnSpc>
              <a:spcAft>
                <a:spcPts val="0"/>
              </a:spcAft>
            </a:pPr>
            <a:r>
              <a:rPr sz="1100" b="1" i="0">
                <a:solidFill>
                  <a:srgbClr val="FFFFFF"/>
                </a:solidFill>
                <a:latin typeface="Calibri"/>
              </a:rPr>
              <a:t>3</a:t>
            </a:r>
          </a:p>
        </p:txBody>
      </p:sp>
      <p:sp>
        <p:nvSpPr>
          <p:cNvPr id="15" name="TextBox 14"/>
          <p:cNvSpPr txBox="1"/>
          <p:nvPr/>
        </p:nvSpPr>
        <p:spPr>
          <a:xfrm>
            <a:off x="1234440" y="4553712"/>
            <a:ext cx="2377440" cy="365760"/>
          </a:xfrm>
          <a:prstGeom prst="rect">
            <a:avLst/>
          </a:prstGeom>
          <a:noFill/>
        </p:spPr>
        <p:txBody>
          <a:bodyPr wrap="square" lIns="0" rIns="0" tIns="0" bIns="0" anchor="t">
            <a:noAutofit/>
          </a:bodyPr>
          <a:lstStyle/>
          <a:p>
            <a:pPr algn="l">
              <a:lnSpc>
                <a:spcPct val="108000"/>
              </a:lnSpc>
              <a:spcAft>
                <a:spcPts val="0"/>
              </a:spcAft>
            </a:pPr>
            <a:r>
              <a:rPr sz="1400" b="1" i="0">
                <a:solidFill>
                  <a:srgbClr val="17172F"/>
                </a:solidFill>
                <a:latin typeface="Calibri"/>
              </a:rPr>
              <a:t>B2B / B2B2C</a:t>
            </a:r>
          </a:p>
        </p:txBody>
      </p:sp>
      <p:sp>
        <p:nvSpPr>
          <p:cNvPr id="16" name="TextBox 15"/>
          <p:cNvSpPr txBox="1"/>
          <p:nvPr/>
        </p:nvSpPr>
        <p:spPr>
          <a:xfrm>
            <a:off x="1234440" y="4892040"/>
            <a:ext cx="4754880" cy="731520"/>
          </a:xfrm>
          <a:prstGeom prst="rect">
            <a:avLst/>
          </a:prstGeom>
          <a:noFill/>
        </p:spPr>
        <p:txBody>
          <a:bodyPr wrap="square" lIns="0" rIns="0" tIns="0" bIns="0" anchor="t">
            <a:noAutofit/>
          </a:bodyPr>
          <a:lstStyle/>
          <a:p>
            <a:pPr algn="l">
              <a:lnSpc>
                <a:spcPct val="120000"/>
              </a:lnSpc>
              <a:spcAft>
                <a:spcPts val="0"/>
              </a:spcAft>
            </a:pPr>
            <a:r>
              <a:rPr sz="1050" b="0" i="0">
                <a:solidFill>
                  <a:srgbClr val="5B5B7A"/>
                </a:solidFill>
                <a:latin typeface="Calibri"/>
              </a:rPr>
              <a:t>Pilots with senior-care providers, insurers, employers and remote-care partners; per-seat pricing.</a:t>
            </a:r>
          </a:p>
        </p:txBody>
      </p:sp>
      <p:cxnSp>
        <p:nvCxnSpPr>
          <p:cNvPr id="17" name="Connector 16"/>
          <p:cNvCxnSpPr/>
          <p:nvPr/>
        </p:nvCxnSpPr>
        <p:spPr>
          <a:xfrm>
            <a:off x="6492240" y="2103120"/>
            <a:ext cx="0" cy="3566159"/>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0" y="2057400"/>
            <a:ext cx="4572000" cy="228600"/>
          </a:xfrm>
          <a:prstGeom prst="rect">
            <a:avLst/>
          </a:prstGeom>
          <a:noFill/>
        </p:spPr>
        <p:txBody>
          <a:bodyPr wrap="square" lIns="0" rIns="0" tIns="0" bIns="0" anchor="ctr">
            <a:noAutofit/>
          </a:bodyPr>
          <a:lstStyle/>
          <a:p>
            <a:pPr algn="l">
              <a:lnSpc>
                <a:spcPct val="108000"/>
              </a:lnSpc>
              <a:spcAft>
                <a:spcPts val="0"/>
              </a:spcAft>
            </a:pPr>
            <a:r>
              <a:rPr sz="1000" b="1" i="0" spc="160">
                <a:solidFill>
                  <a:srgbClr val="6C3CE9"/>
                </a:solidFill>
                <a:latin typeface="Calibri"/>
              </a:rPr>
              <a:t>UNIT ECONOMICS — WORKING ASSUMPTIONS</a:t>
            </a:r>
          </a:p>
        </p:txBody>
      </p:sp>
      <p:sp>
        <p:nvSpPr>
          <p:cNvPr id="19" name="Rectangle 18"/>
          <p:cNvSpPr/>
          <p:nvPr/>
        </p:nvSpPr>
        <p:spPr>
          <a:xfrm>
            <a:off x="6858000" y="2468880"/>
            <a:ext cx="4754880" cy="365760"/>
          </a:xfrm>
          <a:prstGeom prst="rect">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67728" y="2468880"/>
            <a:ext cx="1143000" cy="365760"/>
          </a:xfrm>
          <a:prstGeom prst="rect">
            <a:avLst/>
          </a:prstGeom>
          <a:noFill/>
        </p:spPr>
        <p:txBody>
          <a:bodyPr wrap="square" lIns="0" rIns="0" tIns="0" bIns="0" anchor="ctr">
            <a:noAutofit/>
          </a:bodyPr>
          <a:lstStyle/>
          <a:p>
            <a:pPr algn="l">
              <a:lnSpc>
                <a:spcPct val="108000"/>
              </a:lnSpc>
              <a:spcAft>
                <a:spcPts val="0"/>
              </a:spcAft>
            </a:pPr>
            <a:r>
              <a:rPr sz="850" b="1" i="0" spc="120">
                <a:solidFill>
                  <a:srgbClr val="FFFFFF"/>
                </a:solidFill>
                <a:latin typeface="Calibri"/>
              </a:rPr>
              <a:t>LINE</a:t>
            </a:r>
          </a:p>
        </p:txBody>
      </p:sp>
      <p:sp>
        <p:nvSpPr>
          <p:cNvPr id="21" name="TextBox 20"/>
          <p:cNvSpPr txBox="1"/>
          <p:nvPr/>
        </p:nvSpPr>
        <p:spPr>
          <a:xfrm>
            <a:off x="8293607" y="2468880"/>
            <a:ext cx="1234440" cy="365760"/>
          </a:xfrm>
          <a:prstGeom prst="rect">
            <a:avLst/>
          </a:prstGeom>
          <a:noFill/>
        </p:spPr>
        <p:txBody>
          <a:bodyPr wrap="square" lIns="0" rIns="0" tIns="0" bIns="0" anchor="ctr">
            <a:noAutofit/>
          </a:bodyPr>
          <a:lstStyle/>
          <a:p>
            <a:pPr algn="l">
              <a:lnSpc>
                <a:spcPct val="108000"/>
              </a:lnSpc>
              <a:spcAft>
                <a:spcPts val="0"/>
              </a:spcAft>
            </a:pPr>
            <a:r>
              <a:rPr sz="850" b="1" i="0" spc="120">
                <a:solidFill>
                  <a:srgbClr val="FFFFFF"/>
                </a:solidFill>
                <a:latin typeface="Calibri"/>
              </a:rPr>
              <a:t>PROTOTYPE</a:t>
            </a:r>
          </a:p>
        </p:txBody>
      </p:sp>
      <p:sp>
        <p:nvSpPr>
          <p:cNvPr id="22" name="TextBox 21"/>
          <p:cNvSpPr txBox="1"/>
          <p:nvPr/>
        </p:nvSpPr>
        <p:spPr>
          <a:xfrm>
            <a:off x="9710928" y="2468880"/>
            <a:ext cx="1828800" cy="365760"/>
          </a:xfrm>
          <a:prstGeom prst="rect">
            <a:avLst/>
          </a:prstGeom>
          <a:noFill/>
        </p:spPr>
        <p:txBody>
          <a:bodyPr wrap="square" lIns="0" rIns="0" tIns="0" bIns="0" anchor="ctr">
            <a:noAutofit/>
          </a:bodyPr>
          <a:lstStyle/>
          <a:p>
            <a:pPr algn="l">
              <a:lnSpc>
                <a:spcPct val="108000"/>
              </a:lnSpc>
              <a:spcAft>
                <a:spcPts val="0"/>
              </a:spcAft>
            </a:pPr>
            <a:r>
              <a:rPr sz="850" b="1" i="0" spc="120">
                <a:solidFill>
                  <a:srgbClr val="FFFFFF"/>
                </a:solidFill>
                <a:latin typeface="Calibri"/>
              </a:rPr>
              <a:t>VOLUME TARGET</a:t>
            </a:r>
          </a:p>
        </p:txBody>
      </p:sp>
      <p:sp>
        <p:nvSpPr>
          <p:cNvPr id="23" name="Rectangle 22"/>
          <p:cNvSpPr/>
          <p:nvPr/>
        </p:nvSpPr>
        <p:spPr>
          <a:xfrm>
            <a:off x="6858000" y="2834640"/>
            <a:ext cx="475488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4" name="Connector 23"/>
          <p:cNvCxnSpPr/>
          <p:nvPr/>
        </p:nvCxnSpPr>
        <p:spPr>
          <a:xfrm>
            <a:off x="6858000" y="3255264"/>
            <a:ext cx="475488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967728" y="2834640"/>
            <a:ext cx="1143000" cy="420624"/>
          </a:xfrm>
          <a:prstGeom prst="rect">
            <a:avLst/>
          </a:prstGeom>
          <a:noFill/>
        </p:spPr>
        <p:txBody>
          <a:bodyPr wrap="square" lIns="0" rIns="0" tIns="0" bIns="0" anchor="ctr">
            <a:noAutofit/>
          </a:bodyPr>
          <a:lstStyle/>
          <a:p>
            <a:pPr algn="l">
              <a:lnSpc>
                <a:spcPct val="100000"/>
              </a:lnSpc>
              <a:spcAft>
                <a:spcPts val="0"/>
              </a:spcAft>
            </a:pPr>
            <a:r>
              <a:rPr sz="950" b="1" i="0">
                <a:solidFill>
                  <a:srgbClr val="6C3CE9"/>
                </a:solidFill>
                <a:latin typeface="Calibri"/>
              </a:rPr>
              <a:t>Bill of materials</a:t>
            </a:r>
          </a:p>
        </p:txBody>
      </p:sp>
      <p:sp>
        <p:nvSpPr>
          <p:cNvPr id="26" name="TextBox 25"/>
          <p:cNvSpPr txBox="1"/>
          <p:nvPr/>
        </p:nvSpPr>
        <p:spPr>
          <a:xfrm>
            <a:off x="8293607" y="2834640"/>
            <a:ext cx="1234440" cy="420624"/>
          </a:xfrm>
          <a:prstGeom prst="rect">
            <a:avLst/>
          </a:prstGeom>
          <a:noFill/>
        </p:spPr>
        <p:txBody>
          <a:bodyPr wrap="square" lIns="0" rIns="0" tIns="0" bIns="0" anchor="ctr">
            <a:noAutofit/>
          </a:bodyPr>
          <a:lstStyle/>
          <a:p>
            <a:pPr algn="l">
              <a:lnSpc>
                <a:spcPct val="100000"/>
              </a:lnSpc>
              <a:spcAft>
                <a:spcPts val="0"/>
              </a:spcAft>
            </a:pPr>
            <a:r>
              <a:rPr sz="950" b="0" i="0">
                <a:solidFill>
                  <a:srgbClr val="17172F"/>
                </a:solidFill>
                <a:latin typeface="Calibri"/>
              </a:rPr>
              <a:t>≈ US$ 45–60 (modules)</a:t>
            </a:r>
          </a:p>
        </p:txBody>
      </p:sp>
      <p:sp>
        <p:nvSpPr>
          <p:cNvPr id="27" name="TextBox 26"/>
          <p:cNvSpPr txBox="1"/>
          <p:nvPr/>
        </p:nvSpPr>
        <p:spPr>
          <a:xfrm>
            <a:off x="9710928" y="2834640"/>
            <a:ext cx="1828800" cy="420624"/>
          </a:xfrm>
          <a:prstGeom prst="rect">
            <a:avLst/>
          </a:prstGeom>
          <a:noFill/>
        </p:spPr>
        <p:txBody>
          <a:bodyPr wrap="square" lIns="0" rIns="0" tIns="0" bIns="0" anchor="ctr">
            <a:noAutofit/>
          </a:bodyPr>
          <a:lstStyle/>
          <a:p>
            <a:pPr algn="l">
              <a:lnSpc>
                <a:spcPct val="100000"/>
              </a:lnSpc>
              <a:spcAft>
                <a:spcPts val="0"/>
              </a:spcAft>
            </a:pPr>
            <a:r>
              <a:rPr sz="950" b="0" i="0">
                <a:solidFill>
                  <a:srgbClr val="17172F"/>
                </a:solidFill>
                <a:latin typeface="Calibri"/>
              </a:rPr>
              <a:t>&lt; US$ 30 (custom PCB, 5k units)</a:t>
            </a:r>
          </a:p>
        </p:txBody>
      </p:sp>
      <p:sp>
        <p:nvSpPr>
          <p:cNvPr id="28" name="Rectangle 27"/>
          <p:cNvSpPr/>
          <p:nvPr/>
        </p:nvSpPr>
        <p:spPr>
          <a:xfrm>
            <a:off x="6858000" y="3255264"/>
            <a:ext cx="4754880" cy="420624"/>
          </a:xfrm>
          <a:prstGeom prst="rect">
            <a:avLst/>
          </a:prstGeom>
          <a:solidFill>
            <a:srgbClr val="F5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9" name="Connector 28"/>
          <p:cNvCxnSpPr/>
          <p:nvPr/>
        </p:nvCxnSpPr>
        <p:spPr>
          <a:xfrm>
            <a:off x="6858000" y="3675888"/>
            <a:ext cx="475488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967728" y="3255264"/>
            <a:ext cx="1143000" cy="420624"/>
          </a:xfrm>
          <a:prstGeom prst="rect">
            <a:avLst/>
          </a:prstGeom>
          <a:noFill/>
        </p:spPr>
        <p:txBody>
          <a:bodyPr wrap="square" lIns="0" rIns="0" tIns="0" bIns="0" anchor="ctr">
            <a:noAutofit/>
          </a:bodyPr>
          <a:lstStyle/>
          <a:p>
            <a:pPr algn="l">
              <a:lnSpc>
                <a:spcPct val="100000"/>
              </a:lnSpc>
              <a:spcAft>
                <a:spcPts val="0"/>
              </a:spcAft>
            </a:pPr>
            <a:r>
              <a:rPr sz="950" b="1" i="0">
                <a:solidFill>
                  <a:srgbClr val="6C3CE9"/>
                </a:solidFill>
                <a:latin typeface="Calibri"/>
              </a:rPr>
              <a:t>Device price</a:t>
            </a:r>
          </a:p>
        </p:txBody>
      </p:sp>
      <p:sp>
        <p:nvSpPr>
          <p:cNvPr id="31" name="TextBox 30"/>
          <p:cNvSpPr txBox="1"/>
          <p:nvPr/>
        </p:nvSpPr>
        <p:spPr>
          <a:xfrm>
            <a:off x="8293607" y="3255264"/>
            <a:ext cx="1234440" cy="420624"/>
          </a:xfrm>
          <a:prstGeom prst="rect">
            <a:avLst/>
          </a:prstGeom>
          <a:noFill/>
        </p:spPr>
        <p:txBody>
          <a:bodyPr wrap="square" lIns="0" rIns="0" tIns="0" bIns="0" anchor="ctr">
            <a:noAutofit/>
          </a:bodyPr>
          <a:lstStyle/>
          <a:p>
            <a:pPr algn="l">
              <a:lnSpc>
                <a:spcPct val="100000"/>
              </a:lnSpc>
              <a:spcAft>
                <a:spcPts val="0"/>
              </a:spcAft>
            </a:pPr>
            <a:r>
              <a:rPr sz="950" b="0" i="0">
                <a:solidFill>
                  <a:srgbClr val="17172F"/>
                </a:solidFill>
                <a:latin typeface="Calibri"/>
              </a:rPr>
              <a:t>—</a:t>
            </a:r>
          </a:p>
        </p:txBody>
      </p:sp>
      <p:sp>
        <p:nvSpPr>
          <p:cNvPr id="32" name="TextBox 31"/>
          <p:cNvSpPr txBox="1"/>
          <p:nvPr/>
        </p:nvSpPr>
        <p:spPr>
          <a:xfrm>
            <a:off x="9710928" y="3255264"/>
            <a:ext cx="1828800" cy="420624"/>
          </a:xfrm>
          <a:prstGeom prst="rect">
            <a:avLst/>
          </a:prstGeom>
          <a:noFill/>
        </p:spPr>
        <p:txBody>
          <a:bodyPr wrap="square" lIns="0" rIns="0" tIns="0" bIns="0" anchor="ctr">
            <a:noAutofit/>
          </a:bodyPr>
          <a:lstStyle/>
          <a:p>
            <a:pPr algn="l">
              <a:lnSpc>
                <a:spcPct val="100000"/>
              </a:lnSpc>
              <a:spcAft>
                <a:spcPts val="0"/>
              </a:spcAft>
            </a:pPr>
            <a:r>
              <a:rPr sz="950" b="0" i="0">
                <a:solidFill>
                  <a:srgbClr val="17172F"/>
                </a:solidFill>
                <a:latin typeface="Calibri"/>
              </a:rPr>
              <a:t>US$ 79–99 equivalent, local pricing</a:t>
            </a:r>
          </a:p>
        </p:txBody>
      </p:sp>
      <p:sp>
        <p:nvSpPr>
          <p:cNvPr id="33" name="Rectangle 32"/>
          <p:cNvSpPr/>
          <p:nvPr/>
        </p:nvSpPr>
        <p:spPr>
          <a:xfrm>
            <a:off x="6858000" y="3675888"/>
            <a:ext cx="4754880"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4" name="Connector 33"/>
          <p:cNvCxnSpPr/>
          <p:nvPr/>
        </p:nvCxnSpPr>
        <p:spPr>
          <a:xfrm>
            <a:off x="6858000" y="4096512"/>
            <a:ext cx="475488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967728" y="3675888"/>
            <a:ext cx="1143000" cy="420624"/>
          </a:xfrm>
          <a:prstGeom prst="rect">
            <a:avLst/>
          </a:prstGeom>
          <a:noFill/>
        </p:spPr>
        <p:txBody>
          <a:bodyPr wrap="square" lIns="0" rIns="0" tIns="0" bIns="0" anchor="ctr">
            <a:noAutofit/>
          </a:bodyPr>
          <a:lstStyle/>
          <a:p>
            <a:pPr algn="l">
              <a:lnSpc>
                <a:spcPct val="100000"/>
              </a:lnSpc>
              <a:spcAft>
                <a:spcPts val="0"/>
              </a:spcAft>
            </a:pPr>
            <a:r>
              <a:rPr sz="950" b="1" i="0">
                <a:solidFill>
                  <a:srgbClr val="6C3CE9"/>
                </a:solidFill>
                <a:latin typeface="Calibri"/>
              </a:rPr>
              <a:t>Subscription</a:t>
            </a:r>
          </a:p>
        </p:txBody>
      </p:sp>
      <p:sp>
        <p:nvSpPr>
          <p:cNvPr id="36" name="TextBox 35"/>
          <p:cNvSpPr txBox="1"/>
          <p:nvPr/>
        </p:nvSpPr>
        <p:spPr>
          <a:xfrm>
            <a:off x="8293607" y="3675888"/>
            <a:ext cx="1234440" cy="420624"/>
          </a:xfrm>
          <a:prstGeom prst="rect">
            <a:avLst/>
          </a:prstGeom>
          <a:noFill/>
        </p:spPr>
        <p:txBody>
          <a:bodyPr wrap="square" lIns="0" rIns="0" tIns="0" bIns="0" anchor="ctr">
            <a:noAutofit/>
          </a:bodyPr>
          <a:lstStyle/>
          <a:p>
            <a:pPr algn="l">
              <a:lnSpc>
                <a:spcPct val="100000"/>
              </a:lnSpc>
              <a:spcAft>
                <a:spcPts val="0"/>
              </a:spcAft>
            </a:pPr>
            <a:r>
              <a:rPr sz="950" b="0" i="0">
                <a:solidFill>
                  <a:srgbClr val="17172F"/>
                </a:solidFill>
                <a:latin typeface="Calibri"/>
              </a:rPr>
              <a:t>—</a:t>
            </a:r>
          </a:p>
        </p:txBody>
      </p:sp>
      <p:sp>
        <p:nvSpPr>
          <p:cNvPr id="37" name="TextBox 36"/>
          <p:cNvSpPr txBox="1"/>
          <p:nvPr/>
        </p:nvSpPr>
        <p:spPr>
          <a:xfrm>
            <a:off x="9710928" y="3675888"/>
            <a:ext cx="1828800" cy="420624"/>
          </a:xfrm>
          <a:prstGeom prst="rect">
            <a:avLst/>
          </a:prstGeom>
          <a:noFill/>
        </p:spPr>
        <p:txBody>
          <a:bodyPr wrap="square" lIns="0" rIns="0" tIns="0" bIns="0" anchor="ctr">
            <a:noAutofit/>
          </a:bodyPr>
          <a:lstStyle/>
          <a:p>
            <a:pPr algn="l">
              <a:lnSpc>
                <a:spcPct val="100000"/>
              </a:lnSpc>
              <a:spcAft>
                <a:spcPts val="0"/>
              </a:spcAft>
            </a:pPr>
            <a:r>
              <a:rPr sz="950" b="0" i="0">
                <a:solidFill>
                  <a:srgbClr val="17172F"/>
                </a:solidFill>
                <a:latin typeface="Calibri"/>
              </a:rPr>
              <a:t>US$ 3–6 / month per household</a:t>
            </a:r>
          </a:p>
        </p:txBody>
      </p:sp>
      <p:sp>
        <p:nvSpPr>
          <p:cNvPr id="38" name="Rectangle 37"/>
          <p:cNvSpPr/>
          <p:nvPr/>
        </p:nvSpPr>
        <p:spPr>
          <a:xfrm>
            <a:off x="6858000" y="4096512"/>
            <a:ext cx="4754880" cy="420624"/>
          </a:xfrm>
          <a:prstGeom prst="rect">
            <a:avLst/>
          </a:prstGeom>
          <a:solidFill>
            <a:srgbClr val="F5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9" name="Connector 38"/>
          <p:cNvCxnSpPr/>
          <p:nvPr/>
        </p:nvCxnSpPr>
        <p:spPr>
          <a:xfrm>
            <a:off x="6858000" y="4517136"/>
            <a:ext cx="475488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967728" y="4096512"/>
            <a:ext cx="1143000" cy="420624"/>
          </a:xfrm>
          <a:prstGeom prst="rect">
            <a:avLst/>
          </a:prstGeom>
          <a:noFill/>
        </p:spPr>
        <p:txBody>
          <a:bodyPr wrap="square" lIns="0" rIns="0" tIns="0" bIns="0" anchor="ctr">
            <a:noAutofit/>
          </a:bodyPr>
          <a:lstStyle/>
          <a:p>
            <a:pPr algn="l">
              <a:lnSpc>
                <a:spcPct val="100000"/>
              </a:lnSpc>
              <a:spcAft>
                <a:spcPts val="0"/>
              </a:spcAft>
            </a:pPr>
            <a:r>
              <a:rPr sz="950" b="1" i="0">
                <a:solidFill>
                  <a:srgbClr val="6C3CE9"/>
                </a:solidFill>
                <a:latin typeface="Calibri"/>
              </a:rPr>
              <a:t>Gross margin</a:t>
            </a:r>
          </a:p>
        </p:txBody>
      </p:sp>
      <p:sp>
        <p:nvSpPr>
          <p:cNvPr id="41" name="TextBox 40"/>
          <p:cNvSpPr txBox="1"/>
          <p:nvPr/>
        </p:nvSpPr>
        <p:spPr>
          <a:xfrm>
            <a:off x="8293607" y="4096512"/>
            <a:ext cx="1234440" cy="420624"/>
          </a:xfrm>
          <a:prstGeom prst="rect">
            <a:avLst/>
          </a:prstGeom>
          <a:noFill/>
        </p:spPr>
        <p:txBody>
          <a:bodyPr wrap="square" lIns="0" rIns="0" tIns="0" bIns="0" anchor="ctr">
            <a:noAutofit/>
          </a:bodyPr>
          <a:lstStyle/>
          <a:p>
            <a:pPr algn="l">
              <a:lnSpc>
                <a:spcPct val="100000"/>
              </a:lnSpc>
              <a:spcAft>
                <a:spcPts val="0"/>
              </a:spcAft>
            </a:pPr>
            <a:r>
              <a:rPr sz="950" b="0" i="0">
                <a:solidFill>
                  <a:srgbClr val="17172F"/>
                </a:solidFill>
                <a:latin typeface="Calibri"/>
              </a:rPr>
              <a:t>n/a</a:t>
            </a:r>
          </a:p>
        </p:txBody>
      </p:sp>
      <p:sp>
        <p:nvSpPr>
          <p:cNvPr id="42" name="TextBox 41"/>
          <p:cNvSpPr txBox="1"/>
          <p:nvPr/>
        </p:nvSpPr>
        <p:spPr>
          <a:xfrm>
            <a:off x="9710928" y="4096512"/>
            <a:ext cx="1828800" cy="420624"/>
          </a:xfrm>
          <a:prstGeom prst="rect">
            <a:avLst/>
          </a:prstGeom>
          <a:noFill/>
        </p:spPr>
        <p:txBody>
          <a:bodyPr wrap="square" lIns="0" rIns="0" tIns="0" bIns="0" anchor="ctr">
            <a:noAutofit/>
          </a:bodyPr>
          <a:lstStyle/>
          <a:p>
            <a:pPr algn="l">
              <a:lnSpc>
                <a:spcPct val="100000"/>
              </a:lnSpc>
              <a:spcAft>
                <a:spcPts val="0"/>
              </a:spcAft>
            </a:pPr>
            <a:r>
              <a:rPr sz="950" b="0" i="0">
                <a:solidFill>
                  <a:srgbClr val="17172F"/>
                </a:solidFill>
                <a:latin typeface="Calibri"/>
              </a:rPr>
              <a:t>≥ 60 % blended after year 1</a:t>
            </a:r>
          </a:p>
        </p:txBody>
      </p:sp>
      <p:cxnSp>
        <p:nvCxnSpPr>
          <p:cNvPr id="43" name="Connector 42"/>
          <p:cNvCxnSpPr/>
          <p:nvPr/>
        </p:nvCxnSpPr>
        <p:spPr>
          <a:xfrm>
            <a:off x="6858000" y="2834640"/>
            <a:ext cx="4754880" cy="0"/>
          </a:xfrm>
          <a:prstGeom prst="line">
            <a:avLst/>
          </a:prstGeom>
          <a:ln w="9525">
            <a:solidFill>
              <a:srgbClr val="E6E6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858000" y="4892040"/>
            <a:ext cx="4754880" cy="640080"/>
          </a:xfrm>
          <a:prstGeom prst="rect">
            <a:avLst/>
          </a:prstGeom>
          <a:noFill/>
        </p:spPr>
        <p:txBody>
          <a:bodyPr wrap="square" lIns="0" rIns="0" tIns="0" bIns="0" anchor="t">
            <a:noAutofit/>
          </a:bodyPr>
          <a:lstStyle/>
          <a:p>
            <a:pPr algn="l">
              <a:lnSpc>
                <a:spcPct val="120000"/>
              </a:lnSpc>
              <a:spcAft>
                <a:spcPts val="0"/>
              </a:spcAft>
            </a:pPr>
            <a:r>
              <a:rPr sz="950" b="0" i="1">
                <a:solidFill>
                  <a:srgbClr val="5B5B7A"/>
                </a:solidFill>
                <a:latin typeface="Calibri"/>
              </a:rPr>
              <a:t>Assumptions to validate: willingness to pay in EGP, churn after the first alert, and B2B2C reimbursement partners.</a:t>
            </a:r>
          </a:p>
        </p:txBody>
      </p:sp>
      <p:sp>
        <p:nvSpPr>
          <p:cNvPr id="45" name="TextBox 44"/>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5B5B7A"/>
                </a:solidFill>
                <a:latin typeface="Calibri"/>
              </a:rPr>
              <a:t>BUSINESS</a:t>
            </a:r>
            <a:r>
              <a:rPr sz="800" b="0" i="0" spc="140">
                <a:solidFill>
                  <a:srgbClr val="5B5B7A"/>
                </a:solidFill>
                <a:latin typeface="Calibri"/>
              </a:rPr>
              <a:t>   |   COMMERCIAL MODEL</a:t>
            </a:r>
          </a:p>
        </p:txBody>
      </p:sp>
      <p:sp>
        <p:nvSpPr>
          <p:cNvPr id="46" name="TextBox 45"/>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6C3CE9"/>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0E2A"/>
        </a:solidFill>
        <a:effectLst/>
      </p:bgPr>
    </p:bg>
    <p:spTree>
      <p:nvGrpSpPr>
        <p:cNvPr id="1" name=""/>
        <p:cNvGrpSpPr/>
        <p:nvPr/>
      </p:nvGrpSpPr>
      <p:grpSpPr/>
      <p:sp>
        <p:nvSpPr>
          <p:cNvPr id="2" name="TextBox 1"/>
          <p:cNvSpPr txBox="1"/>
          <p:nvPr/>
        </p:nvSpPr>
        <p:spPr>
          <a:xfrm>
            <a:off x="548640" y="502920"/>
            <a:ext cx="8229600" cy="1115568"/>
          </a:xfrm>
          <a:prstGeom prst="rect">
            <a:avLst/>
          </a:prstGeom>
          <a:noFill/>
        </p:spPr>
        <p:txBody>
          <a:bodyPr wrap="square" lIns="0" rIns="0" tIns="0" bIns="0" anchor="t">
            <a:noAutofit/>
          </a:bodyPr>
          <a:lstStyle/>
          <a:p>
            <a:pPr algn="l">
              <a:lnSpc>
                <a:spcPct val="100000"/>
              </a:lnSpc>
              <a:spcAft>
                <a:spcPts val="0"/>
              </a:spcAft>
            </a:pPr>
            <a:r>
              <a:rPr sz="3200" b="1" i="0">
                <a:solidFill>
                  <a:srgbClr val="FFFFFF"/>
                </a:solidFill>
                <a:latin typeface="Calibri"/>
              </a:rPr>
              <a:t>Positioned between fitness bands
and medical alert pendants</a:t>
            </a:r>
          </a:p>
        </p:txBody>
      </p:sp>
      <p:sp>
        <p:nvSpPr>
          <p:cNvPr id="3" name="Rounded Rectangle 2"/>
          <p:cNvSpPr/>
          <p:nvPr/>
        </p:nvSpPr>
        <p:spPr>
          <a:xfrm>
            <a:off x="548640" y="2057400"/>
            <a:ext cx="11064240" cy="457200"/>
          </a:xfrm>
          <a:prstGeom prst="roundRect">
            <a:avLst>
              <a:gd name="adj" fmla="val 16000"/>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9829800" y="2057400"/>
            <a:ext cx="1783080" cy="3639311"/>
          </a:xfrm>
          <a:prstGeom prst="roundRect">
            <a:avLst>
              <a:gd name="adj" fmla="val 4102"/>
            </a:avLst>
          </a:prstGeom>
          <a:solidFill>
            <a:srgbClr val="6C3CE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2057400"/>
            <a:ext cx="4297680" cy="457200"/>
          </a:xfrm>
          <a:prstGeom prst="rect">
            <a:avLst/>
          </a:prstGeom>
          <a:noFill/>
        </p:spPr>
        <p:txBody>
          <a:bodyPr wrap="square" lIns="0" rIns="0" tIns="0" bIns="0" anchor="ctr">
            <a:noAutofit/>
          </a:bodyPr>
          <a:lstStyle/>
          <a:p>
            <a:pPr algn="l">
              <a:lnSpc>
                <a:spcPct val="108000"/>
              </a:lnSpc>
              <a:spcAft>
                <a:spcPts val="0"/>
              </a:spcAft>
            </a:pPr>
            <a:r>
              <a:rPr sz="850" b="1" i="0" spc="110">
                <a:solidFill>
                  <a:srgbClr val="A9A9C7"/>
                </a:solidFill>
                <a:latin typeface="Calibri"/>
              </a:rPr>
              <a:t>CAPABILITY</a:t>
            </a:r>
          </a:p>
        </p:txBody>
      </p:sp>
      <p:sp>
        <p:nvSpPr>
          <p:cNvPr id="6" name="TextBox 5"/>
          <p:cNvSpPr txBox="1"/>
          <p:nvPr/>
        </p:nvSpPr>
        <p:spPr>
          <a:xfrm>
            <a:off x="5166360" y="2057400"/>
            <a:ext cx="1417320" cy="457200"/>
          </a:xfrm>
          <a:prstGeom prst="rect">
            <a:avLst/>
          </a:prstGeom>
          <a:noFill/>
        </p:spPr>
        <p:txBody>
          <a:bodyPr wrap="square" lIns="0" rIns="0" tIns="0" bIns="0" anchor="ctr">
            <a:noAutofit/>
          </a:bodyPr>
          <a:lstStyle/>
          <a:p>
            <a:pPr algn="ctr">
              <a:lnSpc>
                <a:spcPct val="108000"/>
              </a:lnSpc>
              <a:spcAft>
                <a:spcPts val="0"/>
              </a:spcAft>
            </a:pPr>
            <a:r>
              <a:rPr sz="850" b="1" i="0" spc="110">
                <a:solidFill>
                  <a:srgbClr val="A9A9C7"/>
                </a:solidFill>
                <a:latin typeface="Calibri"/>
              </a:rPr>
              <a:t>FITNESS BANDS</a:t>
            </a:r>
          </a:p>
        </p:txBody>
      </p:sp>
      <p:sp>
        <p:nvSpPr>
          <p:cNvPr id="7" name="TextBox 6"/>
          <p:cNvSpPr txBox="1"/>
          <p:nvPr/>
        </p:nvSpPr>
        <p:spPr>
          <a:xfrm>
            <a:off x="6766560" y="2057400"/>
            <a:ext cx="1417320" cy="457200"/>
          </a:xfrm>
          <a:prstGeom prst="rect">
            <a:avLst/>
          </a:prstGeom>
          <a:noFill/>
        </p:spPr>
        <p:txBody>
          <a:bodyPr wrap="square" lIns="0" rIns="0" tIns="0" bIns="0" anchor="ctr">
            <a:noAutofit/>
          </a:bodyPr>
          <a:lstStyle/>
          <a:p>
            <a:pPr algn="ctr">
              <a:lnSpc>
                <a:spcPct val="108000"/>
              </a:lnSpc>
              <a:spcAft>
                <a:spcPts val="0"/>
              </a:spcAft>
            </a:pPr>
            <a:r>
              <a:rPr sz="850" b="1" i="0" spc="110">
                <a:solidFill>
                  <a:srgbClr val="A9A9C7"/>
                </a:solidFill>
                <a:latin typeface="Calibri"/>
              </a:rPr>
              <a:t>PREMIUM SMARTWATCHES</a:t>
            </a:r>
          </a:p>
        </p:txBody>
      </p:sp>
      <p:sp>
        <p:nvSpPr>
          <p:cNvPr id="8" name="TextBox 7"/>
          <p:cNvSpPr txBox="1"/>
          <p:nvPr/>
        </p:nvSpPr>
        <p:spPr>
          <a:xfrm>
            <a:off x="8366760" y="2057400"/>
            <a:ext cx="1417320" cy="457200"/>
          </a:xfrm>
          <a:prstGeom prst="rect">
            <a:avLst/>
          </a:prstGeom>
          <a:noFill/>
        </p:spPr>
        <p:txBody>
          <a:bodyPr wrap="square" lIns="0" rIns="0" tIns="0" bIns="0" anchor="ctr">
            <a:noAutofit/>
          </a:bodyPr>
          <a:lstStyle/>
          <a:p>
            <a:pPr algn="ctr">
              <a:lnSpc>
                <a:spcPct val="108000"/>
              </a:lnSpc>
              <a:spcAft>
                <a:spcPts val="0"/>
              </a:spcAft>
            </a:pPr>
            <a:r>
              <a:rPr sz="850" b="1" i="0" spc="110">
                <a:solidFill>
                  <a:srgbClr val="A9A9C7"/>
                </a:solidFill>
                <a:latin typeface="Calibri"/>
              </a:rPr>
              <a:t>MEDICAL ALERT PENDANTS</a:t>
            </a:r>
          </a:p>
        </p:txBody>
      </p:sp>
      <p:sp>
        <p:nvSpPr>
          <p:cNvPr id="9" name="TextBox 8"/>
          <p:cNvSpPr txBox="1"/>
          <p:nvPr/>
        </p:nvSpPr>
        <p:spPr>
          <a:xfrm>
            <a:off x="9966960" y="2057400"/>
            <a:ext cx="1600200" cy="457200"/>
          </a:xfrm>
          <a:prstGeom prst="rect">
            <a:avLst/>
          </a:prstGeom>
          <a:noFill/>
        </p:spPr>
        <p:txBody>
          <a:bodyPr wrap="square" lIns="0" rIns="0" tIns="0" bIns="0" anchor="ctr">
            <a:noAutofit/>
          </a:bodyPr>
          <a:lstStyle/>
          <a:p>
            <a:pPr algn="ctr">
              <a:lnSpc>
                <a:spcPct val="108000"/>
              </a:lnSpc>
              <a:spcAft>
                <a:spcPts val="0"/>
              </a:spcAft>
            </a:pPr>
            <a:r>
              <a:rPr sz="850" b="1" i="0" spc="110">
                <a:solidFill>
                  <a:srgbClr val="22D3EE"/>
                </a:solidFill>
                <a:latin typeface="Calibri"/>
              </a:rPr>
              <a:t>NEUROLINK WEAR</a:t>
            </a:r>
          </a:p>
        </p:txBody>
      </p:sp>
      <p:sp>
        <p:nvSpPr>
          <p:cNvPr id="10" name="TextBox 9"/>
          <p:cNvSpPr txBox="1"/>
          <p:nvPr/>
        </p:nvSpPr>
        <p:spPr>
          <a:xfrm>
            <a:off x="685800" y="2514600"/>
            <a:ext cx="4206240" cy="530352"/>
          </a:xfrm>
          <a:prstGeom prst="rect">
            <a:avLst/>
          </a:prstGeom>
          <a:noFill/>
        </p:spPr>
        <p:txBody>
          <a:bodyPr wrap="square" lIns="0" rIns="0" tIns="0" bIns="0" anchor="ctr">
            <a:noAutofit/>
          </a:bodyPr>
          <a:lstStyle/>
          <a:p>
            <a:pPr algn="l">
              <a:lnSpc>
                <a:spcPct val="105000"/>
              </a:lnSpc>
              <a:spcAft>
                <a:spcPts val="0"/>
              </a:spcAft>
            </a:pPr>
            <a:r>
              <a:rPr sz="1050" b="0" i="0">
                <a:solidFill>
                  <a:srgbClr val="FFFFFF"/>
                </a:solidFill>
                <a:latin typeface="Calibri"/>
              </a:rPr>
              <a:t>Continuous multi-signal vitals (HR, SpO₂, HRV, temp, GSR)</a:t>
            </a:r>
          </a:p>
        </p:txBody>
      </p:sp>
      <p:sp>
        <p:nvSpPr>
          <p:cNvPr id="11" name="Oval 10"/>
          <p:cNvSpPr/>
          <p:nvPr/>
        </p:nvSpPr>
        <p:spPr>
          <a:xfrm>
            <a:off x="5737860" y="2688336"/>
            <a:ext cx="182880" cy="182880"/>
          </a:xfrm>
          <a:prstGeom prst="ellipse">
            <a:avLst/>
          </a:prstGeom>
          <a:noFill/>
          <a:ln w="15875">
            <a:solidFill>
              <a:srgbClr val="A9A9C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7338060" y="2688336"/>
            <a:ext cx="182880" cy="182880"/>
          </a:xfrm>
          <a:prstGeom prst="ellipse">
            <a:avLst/>
          </a:prstGeom>
          <a:solidFill>
            <a:srgbClr val="A9A9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956548" y="2766060"/>
            <a:ext cx="146304" cy="27432"/>
          </a:xfrm>
          <a:prstGeom prst="rect">
            <a:avLst/>
          </a:prstGeom>
          <a:solidFill>
            <a:srgbClr val="262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629900" y="2688336"/>
            <a:ext cx="182880" cy="18288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5" name="Connector 14"/>
          <p:cNvCxnSpPr/>
          <p:nvPr/>
        </p:nvCxnSpPr>
        <p:spPr>
          <a:xfrm>
            <a:off x="548640" y="3044952"/>
            <a:ext cx="11064240"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044952"/>
            <a:ext cx="4206240" cy="530352"/>
          </a:xfrm>
          <a:prstGeom prst="rect">
            <a:avLst/>
          </a:prstGeom>
          <a:noFill/>
        </p:spPr>
        <p:txBody>
          <a:bodyPr wrap="square" lIns="0" rIns="0" tIns="0" bIns="0" anchor="ctr">
            <a:noAutofit/>
          </a:bodyPr>
          <a:lstStyle/>
          <a:p>
            <a:pPr algn="l">
              <a:lnSpc>
                <a:spcPct val="105000"/>
              </a:lnSpc>
              <a:spcAft>
                <a:spcPts val="0"/>
              </a:spcAft>
            </a:pPr>
            <a:r>
              <a:rPr sz="1050" b="0" i="0">
                <a:solidFill>
                  <a:srgbClr val="FFFFFF"/>
                </a:solidFill>
                <a:latin typeface="Calibri"/>
              </a:rPr>
              <a:t>Predictive anomaly detection (stress, fever, fatigue)</a:t>
            </a:r>
          </a:p>
        </p:txBody>
      </p:sp>
      <p:sp>
        <p:nvSpPr>
          <p:cNvPr id="17" name="Rectangle 16"/>
          <p:cNvSpPr/>
          <p:nvPr/>
        </p:nvSpPr>
        <p:spPr>
          <a:xfrm>
            <a:off x="5756148" y="3296412"/>
            <a:ext cx="146304" cy="27432"/>
          </a:xfrm>
          <a:prstGeom prst="rect">
            <a:avLst/>
          </a:prstGeom>
          <a:solidFill>
            <a:srgbClr val="262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338060" y="3218688"/>
            <a:ext cx="182880" cy="182880"/>
          </a:xfrm>
          <a:prstGeom prst="ellipse">
            <a:avLst/>
          </a:prstGeom>
          <a:noFill/>
          <a:ln w="15875">
            <a:solidFill>
              <a:srgbClr val="A9A9C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956548" y="3296412"/>
            <a:ext cx="146304" cy="27432"/>
          </a:xfrm>
          <a:prstGeom prst="rect">
            <a:avLst/>
          </a:prstGeom>
          <a:solidFill>
            <a:srgbClr val="262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0629900" y="3218688"/>
            <a:ext cx="182880" cy="18288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1" name="Connector 20"/>
          <p:cNvCxnSpPr/>
          <p:nvPr/>
        </p:nvCxnSpPr>
        <p:spPr>
          <a:xfrm>
            <a:off x="548640" y="3575304"/>
            <a:ext cx="11064240"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575304"/>
            <a:ext cx="4206240" cy="530352"/>
          </a:xfrm>
          <a:prstGeom prst="rect">
            <a:avLst/>
          </a:prstGeom>
          <a:noFill/>
        </p:spPr>
        <p:txBody>
          <a:bodyPr wrap="square" lIns="0" rIns="0" tIns="0" bIns="0" anchor="ctr">
            <a:noAutofit/>
          </a:bodyPr>
          <a:lstStyle/>
          <a:p>
            <a:pPr algn="l">
              <a:lnSpc>
                <a:spcPct val="105000"/>
              </a:lnSpc>
              <a:spcAft>
                <a:spcPts val="0"/>
              </a:spcAft>
            </a:pPr>
            <a:r>
              <a:rPr sz="1050" b="0" i="0">
                <a:solidFill>
                  <a:srgbClr val="FFFFFF"/>
                </a:solidFill>
                <a:latin typeface="Calibri"/>
              </a:rPr>
              <a:t>On-device fall verification + wearer prompt</a:t>
            </a:r>
          </a:p>
        </p:txBody>
      </p:sp>
      <p:sp>
        <p:nvSpPr>
          <p:cNvPr id="23" name="Rectangle 22"/>
          <p:cNvSpPr/>
          <p:nvPr/>
        </p:nvSpPr>
        <p:spPr>
          <a:xfrm>
            <a:off x="5756148" y="3826764"/>
            <a:ext cx="146304" cy="27432"/>
          </a:xfrm>
          <a:prstGeom prst="rect">
            <a:avLst/>
          </a:prstGeom>
          <a:solidFill>
            <a:srgbClr val="262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338060" y="3749040"/>
            <a:ext cx="182880" cy="182880"/>
          </a:xfrm>
          <a:prstGeom prst="ellipse">
            <a:avLst/>
          </a:prstGeom>
          <a:solidFill>
            <a:srgbClr val="A9A9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938260" y="3749040"/>
            <a:ext cx="182880" cy="182880"/>
          </a:xfrm>
          <a:prstGeom prst="ellipse">
            <a:avLst/>
          </a:prstGeom>
          <a:noFill/>
          <a:ln w="15875">
            <a:solidFill>
              <a:srgbClr val="A9A9C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629900" y="3749040"/>
            <a:ext cx="182880" cy="18288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7" name="Connector 26"/>
          <p:cNvCxnSpPr/>
          <p:nvPr/>
        </p:nvCxnSpPr>
        <p:spPr>
          <a:xfrm>
            <a:off x="548640" y="4105656"/>
            <a:ext cx="11064240"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105656"/>
            <a:ext cx="4206240" cy="530352"/>
          </a:xfrm>
          <a:prstGeom prst="rect">
            <a:avLst/>
          </a:prstGeom>
          <a:noFill/>
        </p:spPr>
        <p:txBody>
          <a:bodyPr wrap="square" lIns="0" rIns="0" tIns="0" bIns="0" anchor="ctr">
            <a:noAutofit/>
          </a:bodyPr>
          <a:lstStyle/>
          <a:p>
            <a:pPr algn="l">
              <a:lnSpc>
                <a:spcPct val="105000"/>
              </a:lnSpc>
              <a:spcAft>
                <a:spcPts val="0"/>
              </a:spcAft>
            </a:pPr>
            <a:r>
              <a:rPr sz="1050" b="0" i="0">
                <a:solidFill>
                  <a:srgbClr val="FFFFFF"/>
                </a:solidFill>
                <a:latin typeface="Calibri"/>
              </a:rPr>
              <a:t>Caregiver escalation with vitals and GPS link</a:t>
            </a:r>
          </a:p>
        </p:txBody>
      </p:sp>
      <p:sp>
        <p:nvSpPr>
          <p:cNvPr id="29" name="Rectangle 28"/>
          <p:cNvSpPr/>
          <p:nvPr/>
        </p:nvSpPr>
        <p:spPr>
          <a:xfrm>
            <a:off x="5756148" y="4357116"/>
            <a:ext cx="146304" cy="27432"/>
          </a:xfrm>
          <a:prstGeom prst="rect">
            <a:avLst/>
          </a:prstGeom>
          <a:solidFill>
            <a:srgbClr val="262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7338060" y="4279392"/>
            <a:ext cx="182880" cy="182880"/>
          </a:xfrm>
          <a:prstGeom prst="ellipse">
            <a:avLst/>
          </a:prstGeom>
          <a:noFill/>
          <a:ln w="15875">
            <a:solidFill>
              <a:srgbClr val="A9A9C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8938260" y="4279392"/>
            <a:ext cx="182880" cy="182880"/>
          </a:xfrm>
          <a:prstGeom prst="ellipse">
            <a:avLst/>
          </a:prstGeom>
          <a:solidFill>
            <a:srgbClr val="A9A9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629900" y="4279392"/>
            <a:ext cx="182880" cy="18288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3" name="Connector 32"/>
          <p:cNvCxnSpPr/>
          <p:nvPr/>
        </p:nvCxnSpPr>
        <p:spPr>
          <a:xfrm>
            <a:off x="548640" y="4636008"/>
            <a:ext cx="11064240"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 y="4636008"/>
            <a:ext cx="4206240" cy="530352"/>
          </a:xfrm>
          <a:prstGeom prst="rect">
            <a:avLst/>
          </a:prstGeom>
          <a:noFill/>
        </p:spPr>
        <p:txBody>
          <a:bodyPr wrap="square" lIns="0" rIns="0" tIns="0" bIns="0" anchor="ctr">
            <a:noAutofit/>
          </a:bodyPr>
          <a:lstStyle/>
          <a:p>
            <a:pPr algn="l">
              <a:lnSpc>
                <a:spcPct val="105000"/>
              </a:lnSpc>
              <a:spcAft>
                <a:spcPts val="0"/>
              </a:spcAft>
            </a:pPr>
            <a:r>
              <a:rPr sz="1050" b="0" i="0">
                <a:solidFill>
                  <a:srgbClr val="FFFFFF"/>
                </a:solidFill>
                <a:latin typeface="Calibri"/>
              </a:rPr>
              <a:t>Explains the signal in plain language</a:t>
            </a:r>
          </a:p>
        </p:txBody>
      </p:sp>
      <p:sp>
        <p:nvSpPr>
          <p:cNvPr id="35" name="Rectangle 34"/>
          <p:cNvSpPr/>
          <p:nvPr/>
        </p:nvSpPr>
        <p:spPr>
          <a:xfrm>
            <a:off x="5756148" y="4887468"/>
            <a:ext cx="146304" cy="27432"/>
          </a:xfrm>
          <a:prstGeom prst="rect">
            <a:avLst/>
          </a:prstGeom>
          <a:solidFill>
            <a:srgbClr val="262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356348" y="4887468"/>
            <a:ext cx="146304" cy="27432"/>
          </a:xfrm>
          <a:prstGeom prst="rect">
            <a:avLst/>
          </a:prstGeom>
          <a:solidFill>
            <a:srgbClr val="262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8956548" y="4887468"/>
            <a:ext cx="146304" cy="27432"/>
          </a:xfrm>
          <a:prstGeom prst="rect">
            <a:avLst/>
          </a:prstGeom>
          <a:solidFill>
            <a:srgbClr val="262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629900" y="4809744"/>
            <a:ext cx="182880" cy="18288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9" name="Connector 38"/>
          <p:cNvCxnSpPr/>
          <p:nvPr/>
        </p:nvCxnSpPr>
        <p:spPr>
          <a:xfrm>
            <a:off x="548640" y="5166360"/>
            <a:ext cx="11064240"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5166360"/>
            <a:ext cx="4206240" cy="530352"/>
          </a:xfrm>
          <a:prstGeom prst="rect">
            <a:avLst/>
          </a:prstGeom>
          <a:noFill/>
        </p:spPr>
        <p:txBody>
          <a:bodyPr wrap="square" lIns="0" rIns="0" tIns="0" bIns="0" anchor="ctr">
            <a:noAutofit/>
          </a:bodyPr>
          <a:lstStyle/>
          <a:p>
            <a:pPr algn="l">
              <a:lnSpc>
                <a:spcPct val="105000"/>
              </a:lnSpc>
              <a:spcAft>
                <a:spcPts val="0"/>
              </a:spcAft>
            </a:pPr>
            <a:r>
              <a:rPr sz="1050" b="0" i="0">
                <a:solidFill>
                  <a:srgbClr val="FFFFFF"/>
                </a:solidFill>
                <a:latin typeface="Calibri"/>
              </a:rPr>
              <a:t>Affordable for LMIC families, no smartphone needed to wear</a:t>
            </a:r>
          </a:p>
        </p:txBody>
      </p:sp>
      <p:sp>
        <p:nvSpPr>
          <p:cNvPr id="41" name="Oval 40"/>
          <p:cNvSpPr/>
          <p:nvPr/>
        </p:nvSpPr>
        <p:spPr>
          <a:xfrm>
            <a:off x="5737860" y="5340096"/>
            <a:ext cx="182880" cy="182880"/>
          </a:xfrm>
          <a:prstGeom prst="ellipse">
            <a:avLst/>
          </a:prstGeom>
          <a:solidFill>
            <a:srgbClr val="A9A9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7356348" y="5417820"/>
            <a:ext cx="146304" cy="27432"/>
          </a:xfrm>
          <a:prstGeom prst="rect">
            <a:avLst/>
          </a:prstGeom>
          <a:solidFill>
            <a:srgbClr val="262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8938260" y="5340096"/>
            <a:ext cx="182880" cy="182880"/>
          </a:xfrm>
          <a:prstGeom prst="ellipse">
            <a:avLst/>
          </a:prstGeom>
          <a:noFill/>
          <a:ln w="15875">
            <a:solidFill>
              <a:srgbClr val="A9A9C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10629900" y="5340096"/>
            <a:ext cx="182880" cy="18288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5" name="Connector 44"/>
          <p:cNvCxnSpPr/>
          <p:nvPr/>
        </p:nvCxnSpPr>
        <p:spPr>
          <a:xfrm>
            <a:off x="548640" y="5696712"/>
            <a:ext cx="11064240" cy="0"/>
          </a:xfrm>
          <a:prstGeom prst="line">
            <a:avLst/>
          </a:prstGeom>
          <a:ln w="9525">
            <a:solidFill>
              <a:srgbClr val="262552"/>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566928" y="5897880"/>
            <a:ext cx="146304" cy="146304"/>
          </a:xfrm>
          <a:prstGeom prst="ellipse">
            <a:avLst/>
          </a:prstGeom>
          <a:solidFill>
            <a:srgbClr val="A9A9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5861304"/>
            <a:ext cx="1097280" cy="228600"/>
          </a:xfrm>
          <a:prstGeom prst="rect">
            <a:avLst/>
          </a:prstGeom>
          <a:noFill/>
        </p:spPr>
        <p:txBody>
          <a:bodyPr wrap="square" lIns="0" rIns="0" tIns="0" bIns="0" anchor="t">
            <a:noAutofit/>
          </a:bodyPr>
          <a:lstStyle/>
          <a:p>
            <a:pPr algn="l">
              <a:lnSpc>
                <a:spcPct val="108000"/>
              </a:lnSpc>
              <a:spcAft>
                <a:spcPts val="0"/>
              </a:spcAft>
            </a:pPr>
            <a:r>
              <a:rPr sz="900" b="0" i="0">
                <a:solidFill>
                  <a:srgbClr val="A9A9C7"/>
                </a:solidFill>
                <a:latin typeface="Calibri"/>
              </a:rPr>
              <a:t>Full</a:t>
            </a:r>
          </a:p>
        </p:txBody>
      </p:sp>
      <p:sp>
        <p:nvSpPr>
          <p:cNvPr id="48" name="Oval 47"/>
          <p:cNvSpPr/>
          <p:nvPr/>
        </p:nvSpPr>
        <p:spPr>
          <a:xfrm>
            <a:off x="1554480" y="5897880"/>
            <a:ext cx="146304" cy="146304"/>
          </a:xfrm>
          <a:prstGeom prst="ellipse">
            <a:avLst/>
          </a:prstGeom>
          <a:noFill/>
          <a:ln w="15875">
            <a:solidFill>
              <a:srgbClr val="A9A9C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783080" y="5861304"/>
            <a:ext cx="1097280" cy="228600"/>
          </a:xfrm>
          <a:prstGeom prst="rect">
            <a:avLst/>
          </a:prstGeom>
          <a:noFill/>
        </p:spPr>
        <p:txBody>
          <a:bodyPr wrap="square" lIns="0" rIns="0" tIns="0" bIns="0" anchor="t">
            <a:noAutofit/>
          </a:bodyPr>
          <a:lstStyle/>
          <a:p>
            <a:pPr algn="l">
              <a:lnSpc>
                <a:spcPct val="108000"/>
              </a:lnSpc>
              <a:spcAft>
                <a:spcPts val="0"/>
              </a:spcAft>
            </a:pPr>
            <a:r>
              <a:rPr sz="900" b="0" i="0">
                <a:solidFill>
                  <a:srgbClr val="A9A9C7"/>
                </a:solidFill>
                <a:latin typeface="Calibri"/>
              </a:rPr>
              <a:t>Partial</a:t>
            </a:r>
          </a:p>
        </p:txBody>
      </p:sp>
      <p:sp>
        <p:nvSpPr>
          <p:cNvPr id="50" name="Rectangle 49"/>
          <p:cNvSpPr/>
          <p:nvPr/>
        </p:nvSpPr>
        <p:spPr>
          <a:xfrm>
            <a:off x="2697480" y="5957316"/>
            <a:ext cx="128016" cy="27432"/>
          </a:xfrm>
          <a:prstGeom prst="rect">
            <a:avLst/>
          </a:prstGeom>
          <a:solidFill>
            <a:srgbClr val="2625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2926080" y="5861304"/>
            <a:ext cx="1097280" cy="228600"/>
          </a:xfrm>
          <a:prstGeom prst="rect">
            <a:avLst/>
          </a:prstGeom>
          <a:noFill/>
        </p:spPr>
        <p:txBody>
          <a:bodyPr wrap="square" lIns="0" rIns="0" tIns="0" bIns="0" anchor="t">
            <a:noAutofit/>
          </a:bodyPr>
          <a:lstStyle/>
          <a:p>
            <a:pPr algn="l">
              <a:lnSpc>
                <a:spcPct val="108000"/>
              </a:lnSpc>
              <a:spcAft>
                <a:spcPts val="0"/>
              </a:spcAft>
            </a:pPr>
            <a:r>
              <a:rPr sz="900" b="0" i="0">
                <a:solidFill>
                  <a:srgbClr val="A9A9C7"/>
                </a:solidFill>
                <a:latin typeface="Calibri"/>
              </a:rPr>
              <a:t>None</a:t>
            </a:r>
          </a:p>
        </p:txBody>
      </p:sp>
      <p:sp>
        <p:nvSpPr>
          <p:cNvPr id="52" name="TextBox 51"/>
          <p:cNvSpPr txBox="1"/>
          <p:nvPr/>
        </p:nvSpPr>
        <p:spPr>
          <a:xfrm>
            <a:off x="6400800" y="5833872"/>
            <a:ext cx="5212080" cy="365760"/>
          </a:xfrm>
          <a:prstGeom prst="rect">
            <a:avLst/>
          </a:prstGeom>
          <a:noFill/>
        </p:spPr>
        <p:txBody>
          <a:bodyPr wrap="square" lIns="0" rIns="0" tIns="0" bIns="0" anchor="t">
            <a:noAutofit/>
          </a:bodyPr>
          <a:lstStyle/>
          <a:p>
            <a:pPr algn="r">
              <a:lnSpc>
                <a:spcPct val="115000"/>
              </a:lnSpc>
              <a:spcAft>
                <a:spcPts val="0"/>
              </a:spcAft>
            </a:pPr>
            <a:r>
              <a:rPr sz="950" b="0" i="1">
                <a:solidFill>
                  <a:srgbClr val="A9A9C7"/>
                </a:solidFill>
                <a:latin typeface="Calibri"/>
              </a:rPr>
              <a:t>Premium watches do parts of this at 5–10× the price and assume a paired smartphone; pendants react but never predict.</a:t>
            </a:r>
          </a:p>
        </p:txBody>
      </p:sp>
      <p:sp>
        <p:nvSpPr>
          <p:cNvPr id="53" name="TextBox 52"/>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A9A9C7"/>
                </a:solidFill>
                <a:latin typeface="Calibri"/>
              </a:rPr>
              <a:t>POSITIONING</a:t>
            </a:r>
            <a:r>
              <a:rPr sz="800" b="0" i="0" spc="140">
                <a:solidFill>
                  <a:srgbClr val="A9A9C7"/>
                </a:solidFill>
                <a:latin typeface="Calibri"/>
              </a:rPr>
              <a:t>   |   WHY WE WIN</a:t>
            </a:r>
          </a:p>
        </p:txBody>
      </p:sp>
      <p:sp>
        <p:nvSpPr>
          <p:cNvPr id="54" name="TextBox 53"/>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22D3EE"/>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5FA"/>
        </a:solidFill>
        <a:effectLst/>
      </p:bgPr>
    </p:bg>
    <p:spTree>
      <p:nvGrpSpPr>
        <p:cNvPr id="1" name=""/>
        <p:cNvGrpSpPr/>
        <p:nvPr/>
      </p:nvGrpSpPr>
      <p:grpSpPr/>
      <p:sp>
        <p:nvSpPr>
          <p:cNvPr id="2" name="TextBox 1"/>
          <p:cNvSpPr txBox="1"/>
          <p:nvPr/>
        </p:nvSpPr>
        <p:spPr>
          <a:xfrm>
            <a:off x="548640" y="502920"/>
            <a:ext cx="9326880" cy="603504"/>
          </a:xfrm>
          <a:prstGeom prst="rect">
            <a:avLst/>
          </a:prstGeom>
          <a:noFill/>
        </p:spPr>
        <p:txBody>
          <a:bodyPr wrap="square" lIns="0" rIns="0" tIns="0" bIns="0" anchor="t">
            <a:noAutofit/>
          </a:bodyPr>
          <a:lstStyle/>
          <a:p>
            <a:pPr algn="l">
              <a:lnSpc>
                <a:spcPct val="100000"/>
              </a:lnSpc>
              <a:spcAft>
                <a:spcPts val="0"/>
              </a:spcAft>
            </a:pPr>
            <a:r>
              <a:rPr sz="3200" b="1" i="0">
                <a:solidFill>
                  <a:srgbClr val="17172F"/>
                </a:solidFill>
                <a:latin typeface="Calibri"/>
              </a:rPr>
              <a:t>Validation roadmap</a:t>
            </a:r>
          </a:p>
        </p:txBody>
      </p:sp>
      <p:sp>
        <p:nvSpPr>
          <p:cNvPr id="3" name="TextBox 2"/>
          <p:cNvSpPr txBox="1"/>
          <p:nvPr/>
        </p:nvSpPr>
        <p:spPr>
          <a:xfrm>
            <a:off x="548640" y="1143000"/>
            <a:ext cx="9326880" cy="548640"/>
          </a:xfrm>
          <a:prstGeom prst="rect">
            <a:avLst/>
          </a:prstGeom>
          <a:noFill/>
        </p:spPr>
        <p:txBody>
          <a:bodyPr wrap="square" lIns="0" rIns="0" tIns="0" bIns="0" anchor="t">
            <a:noAutofit/>
          </a:bodyPr>
          <a:lstStyle/>
          <a:p>
            <a:pPr algn="l">
              <a:lnSpc>
                <a:spcPct val="115000"/>
              </a:lnSpc>
              <a:spcAft>
                <a:spcPts val="0"/>
              </a:spcAft>
            </a:pPr>
            <a:r>
              <a:rPr sz="1400" b="0" i="0">
                <a:solidFill>
                  <a:srgbClr val="5B5B7A"/>
                </a:solidFill>
                <a:latin typeface="Calibri"/>
              </a:rPr>
              <a:t>From a working prototype to a validated safety product in 18 months.</a:t>
            </a:r>
          </a:p>
        </p:txBody>
      </p:sp>
      <p:cxnSp>
        <p:nvCxnSpPr>
          <p:cNvPr id="4" name="Connector 3"/>
          <p:cNvCxnSpPr/>
          <p:nvPr/>
        </p:nvCxnSpPr>
        <p:spPr>
          <a:xfrm>
            <a:off x="914400" y="2240280"/>
            <a:ext cx="10332720" cy="0"/>
          </a:xfrm>
          <a:prstGeom prst="line">
            <a:avLst/>
          </a:prstGeom>
          <a:ln w="25400">
            <a:solidFill>
              <a:srgbClr val="E6E6F0"/>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758952" y="2084832"/>
            <a:ext cx="310896" cy="310896"/>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58952" y="2084832"/>
            <a:ext cx="310896" cy="310896"/>
          </a:xfrm>
          <a:prstGeom prst="rect">
            <a:avLst/>
          </a:prstGeom>
          <a:noFill/>
        </p:spPr>
        <p:txBody>
          <a:bodyPr wrap="square" lIns="0" rIns="0" tIns="0" bIns="0" anchor="ctr">
            <a:noAutofit/>
          </a:bodyPr>
          <a:lstStyle/>
          <a:p>
            <a:pPr algn="ctr">
              <a:lnSpc>
                <a:spcPct val="108000"/>
              </a:lnSpc>
              <a:spcAft>
                <a:spcPts val="0"/>
              </a:spcAft>
            </a:pPr>
            <a:r>
              <a:rPr sz="900" b="1" i="0">
                <a:solidFill>
                  <a:srgbClr val="0F0E2A"/>
                </a:solidFill>
                <a:latin typeface="Calibri"/>
              </a:rPr>
              <a:t>01</a:t>
            </a:r>
          </a:p>
        </p:txBody>
      </p:sp>
      <p:sp>
        <p:nvSpPr>
          <p:cNvPr id="7" name="Rounded Rectangle 6"/>
          <p:cNvSpPr/>
          <p:nvPr/>
        </p:nvSpPr>
        <p:spPr>
          <a:xfrm>
            <a:off x="548640" y="2651760"/>
            <a:ext cx="2606040" cy="3017520"/>
          </a:xfrm>
          <a:prstGeom prst="roundRect">
            <a:avLst>
              <a:gd name="adj" fmla="val 5614"/>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59" y="2880360"/>
            <a:ext cx="2148840" cy="365760"/>
          </a:xfrm>
          <a:prstGeom prst="rect">
            <a:avLst/>
          </a:prstGeom>
          <a:noFill/>
        </p:spPr>
        <p:txBody>
          <a:bodyPr wrap="square" lIns="0" rIns="0" tIns="0" bIns="0" anchor="t">
            <a:noAutofit/>
          </a:bodyPr>
          <a:lstStyle/>
          <a:p>
            <a:pPr algn="l">
              <a:lnSpc>
                <a:spcPct val="108000"/>
              </a:lnSpc>
              <a:spcAft>
                <a:spcPts val="0"/>
              </a:spcAft>
            </a:pPr>
            <a:r>
              <a:rPr sz="1500" b="1" i="0">
                <a:solidFill>
                  <a:srgbClr val="17172F"/>
                </a:solidFill>
                <a:latin typeface="Calibri"/>
              </a:rPr>
              <a:t>Bench &amp; on-body</a:t>
            </a:r>
          </a:p>
        </p:txBody>
      </p:sp>
      <p:sp>
        <p:nvSpPr>
          <p:cNvPr id="9" name="TextBox 8"/>
          <p:cNvSpPr txBox="1"/>
          <p:nvPr/>
        </p:nvSpPr>
        <p:spPr>
          <a:xfrm>
            <a:off x="822959" y="3246120"/>
            <a:ext cx="2148840" cy="228600"/>
          </a:xfrm>
          <a:prstGeom prst="rect">
            <a:avLst/>
          </a:prstGeom>
          <a:noFill/>
        </p:spPr>
        <p:txBody>
          <a:bodyPr wrap="square" lIns="0" rIns="0" tIns="0" bIns="0" anchor="ctr">
            <a:noAutofit/>
          </a:bodyPr>
          <a:lstStyle/>
          <a:p>
            <a:pPr algn="l">
              <a:lnSpc>
                <a:spcPct val="108000"/>
              </a:lnSpc>
              <a:spcAft>
                <a:spcPts val="0"/>
              </a:spcAft>
            </a:pPr>
            <a:r>
              <a:rPr sz="900" b="1" i="0" spc="160">
                <a:solidFill>
                  <a:srgbClr val="0891B2"/>
                </a:solidFill>
                <a:latin typeface="Calibri"/>
              </a:rPr>
              <a:t>Q4 2026</a:t>
            </a:r>
          </a:p>
        </p:txBody>
      </p:sp>
      <p:sp>
        <p:nvSpPr>
          <p:cNvPr id="10" name="TextBox 9"/>
          <p:cNvSpPr txBox="1"/>
          <p:nvPr/>
        </p:nvSpPr>
        <p:spPr>
          <a:xfrm>
            <a:off x="822959" y="3657600"/>
            <a:ext cx="2103120" cy="1828800"/>
          </a:xfrm>
          <a:prstGeom prst="rect">
            <a:avLst/>
          </a:prstGeom>
          <a:noFill/>
        </p:spPr>
        <p:txBody>
          <a:bodyPr wrap="square" lIns="0" rIns="0" tIns="0" bIns="0" anchor="t">
            <a:noAutofit/>
          </a:bodyPr>
          <a:lstStyle/>
          <a:p>
            <a:pPr algn="l">
              <a:lnSpc>
                <a:spcPct val="115000"/>
              </a:lnSpc>
              <a:spcAft>
                <a:spcPts val="600"/>
              </a:spcAft>
            </a:pPr>
            <a:r>
              <a:rPr sz="1100" b="0" i="0">
                <a:solidFill>
                  <a:srgbClr val="5B5B7A"/>
                </a:solidFill>
                <a:latin typeface="Calibri"/>
              </a:rPr>
              <a:t>–  Sensor accuracy vs. reference devices</a:t>
            </a:r>
          </a:p>
          <a:p>
            <a:pPr algn="l">
              <a:lnSpc>
                <a:spcPct val="115000"/>
              </a:lnSpc>
              <a:spcAft>
                <a:spcPts val="600"/>
              </a:spcAft>
            </a:pPr>
            <a:r>
              <a:rPr sz="1100" b="0" i="0">
                <a:solidFill>
                  <a:srgbClr val="5B5B7A"/>
                </a:solidFill>
                <a:latin typeface="Calibri"/>
              </a:rPr>
              <a:t>–  Fall thresholds on 20+ scripted falls</a:t>
            </a:r>
          </a:p>
          <a:p>
            <a:pPr algn="l">
              <a:lnSpc>
                <a:spcPct val="115000"/>
              </a:lnSpc>
              <a:spcAft>
                <a:spcPts val="600"/>
              </a:spcAft>
            </a:pPr>
            <a:r>
              <a:rPr sz="1100" b="0" i="0">
                <a:solidFill>
                  <a:srgbClr val="5B5B7A"/>
                </a:solidFill>
                <a:latin typeface="Calibri"/>
              </a:rPr>
              <a:t>–  Battery life, strap &amp; enclosure v1</a:t>
            </a:r>
          </a:p>
        </p:txBody>
      </p:sp>
      <p:sp>
        <p:nvSpPr>
          <p:cNvPr id="11" name="Oval 10"/>
          <p:cNvSpPr/>
          <p:nvPr/>
        </p:nvSpPr>
        <p:spPr>
          <a:xfrm>
            <a:off x="3584448" y="2084832"/>
            <a:ext cx="310896" cy="310896"/>
          </a:xfrm>
          <a:prstGeom prst="ellipse">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584448" y="2084832"/>
            <a:ext cx="310896" cy="310896"/>
          </a:xfrm>
          <a:prstGeom prst="rect">
            <a:avLst/>
          </a:prstGeom>
          <a:noFill/>
        </p:spPr>
        <p:txBody>
          <a:bodyPr wrap="square" lIns="0" rIns="0" tIns="0" bIns="0" anchor="ctr">
            <a:noAutofit/>
          </a:bodyPr>
          <a:lstStyle/>
          <a:p>
            <a:pPr algn="ctr">
              <a:lnSpc>
                <a:spcPct val="108000"/>
              </a:lnSpc>
              <a:spcAft>
                <a:spcPts val="0"/>
              </a:spcAft>
            </a:pPr>
            <a:r>
              <a:rPr sz="900" b="1" i="0">
                <a:solidFill>
                  <a:srgbClr val="FFFFFF"/>
                </a:solidFill>
                <a:latin typeface="Calibri"/>
              </a:rPr>
              <a:t>02</a:t>
            </a:r>
          </a:p>
        </p:txBody>
      </p:sp>
      <p:sp>
        <p:nvSpPr>
          <p:cNvPr id="13" name="Rounded Rectangle 12"/>
          <p:cNvSpPr/>
          <p:nvPr/>
        </p:nvSpPr>
        <p:spPr>
          <a:xfrm>
            <a:off x="3374136" y="2651760"/>
            <a:ext cx="2606040" cy="3017520"/>
          </a:xfrm>
          <a:prstGeom prst="roundRect">
            <a:avLst>
              <a:gd name="adj" fmla="val 5614"/>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648456" y="2880360"/>
            <a:ext cx="2148840" cy="365760"/>
          </a:xfrm>
          <a:prstGeom prst="rect">
            <a:avLst/>
          </a:prstGeom>
          <a:noFill/>
        </p:spPr>
        <p:txBody>
          <a:bodyPr wrap="square" lIns="0" rIns="0" tIns="0" bIns="0" anchor="t">
            <a:noAutofit/>
          </a:bodyPr>
          <a:lstStyle/>
          <a:p>
            <a:pPr algn="l">
              <a:lnSpc>
                <a:spcPct val="108000"/>
              </a:lnSpc>
              <a:spcAft>
                <a:spcPts val="0"/>
              </a:spcAft>
            </a:pPr>
            <a:r>
              <a:rPr sz="1500" b="1" i="0">
                <a:solidFill>
                  <a:srgbClr val="17172F"/>
                </a:solidFill>
                <a:latin typeface="Calibri"/>
              </a:rPr>
              <a:t>Controlled pilot</a:t>
            </a:r>
          </a:p>
        </p:txBody>
      </p:sp>
      <p:sp>
        <p:nvSpPr>
          <p:cNvPr id="15" name="TextBox 14"/>
          <p:cNvSpPr txBox="1"/>
          <p:nvPr/>
        </p:nvSpPr>
        <p:spPr>
          <a:xfrm>
            <a:off x="3648456" y="3246120"/>
            <a:ext cx="2148840" cy="228600"/>
          </a:xfrm>
          <a:prstGeom prst="rect">
            <a:avLst/>
          </a:prstGeom>
          <a:noFill/>
        </p:spPr>
        <p:txBody>
          <a:bodyPr wrap="square" lIns="0" rIns="0" tIns="0" bIns="0" anchor="ctr">
            <a:noAutofit/>
          </a:bodyPr>
          <a:lstStyle/>
          <a:p>
            <a:pPr algn="l">
              <a:lnSpc>
                <a:spcPct val="108000"/>
              </a:lnSpc>
              <a:spcAft>
                <a:spcPts val="0"/>
              </a:spcAft>
            </a:pPr>
            <a:r>
              <a:rPr sz="900" b="1" i="0" spc="160">
                <a:solidFill>
                  <a:srgbClr val="6C3CE9"/>
                </a:solidFill>
                <a:latin typeface="Calibri"/>
              </a:rPr>
              <a:t>H1 2027</a:t>
            </a:r>
          </a:p>
        </p:txBody>
      </p:sp>
      <p:sp>
        <p:nvSpPr>
          <p:cNvPr id="16" name="TextBox 15"/>
          <p:cNvSpPr txBox="1"/>
          <p:nvPr/>
        </p:nvSpPr>
        <p:spPr>
          <a:xfrm>
            <a:off x="3648456" y="3657600"/>
            <a:ext cx="2103120" cy="1828800"/>
          </a:xfrm>
          <a:prstGeom prst="rect">
            <a:avLst/>
          </a:prstGeom>
          <a:noFill/>
        </p:spPr>
        <p:txBody>
          <a:bodyPr wrap="square" lIns="0" rIns="0" tIns="0" bIns="0" anchor="t">
            <a:noAutofit/>
          </a:bodyPr>
          <a:lstStyle/>
          <a:p>
            <a:pPr algn="l">
              <a:lnSpc>
                <a:spcPct val="115000"/>
              </a:lnSpc>
              <a:spcAft>
                <a:spcPts val="600"/>
              </a:spcAft>
            </a:pPr>
            <a:r>
              <a:rPr sz="1100" b="0" i="0">
                <a:solidFill>
                  <a:srgbClr val="5B5B7A"/>
                </a:solidFill>
                <a:latin typeface="Calibri"/>
              </a:rPr>
              <a:t>–  30–50 households in Giza &amp; Cairo</a:t>
            </a:r>
          </a:p>
          <a:p>
            <a:pPr algn="l">
              <a:lnSpc>
                <a:spcPct val="115000"/>
              </a:lnSpc>
              <a:spcAft>
                <a:spcPts val="600"/>
              </a:spcAft>
            </a:pPr>
            <a:r>
              <a:rPr sz="1100" b="0" i="0">
                <a:solidFill>
                  <a:srgbClr val="5B5B7A"/>
                </a:solidFill>
                <a:latin typeface="Calibri"/>
              </a:rPr>
              <a:t>–  Detection reliability, false-alarm rate</a:t>
            </a:r>
          </a:p>
          <a:p>
            <a:pPr algn="l">
              <a:lnSpc>
                <a:spcPct val="115000"/>
              </a:lnSpc>
              <a:spcAft>
                <a:spcPts val="600"/>
              </a:spcAft>
            </a:pPr>
            <a:r>
              <a:rPr sz="1100" b="0" i="0">
                <a:solidFill>
                  <a:srgbClr val="5B5B7A"/>
                </a:solidFill>
                <a:latin typeface="Calibri"/>
              </a:rPr>
              <a:t>–  Caregiver app, willingness to pay</a:t>
            </a:r>
          </a:p>
        </p:txBody>
      </p:sp>
      <p:sp>
        <p:nvSpPr>
          <p:cNvPr id="17" name="Oval 16"/>
          <p:cNvSpPr/>
          <p:nvPr/>
        </p:nvSpPr>
        <p:spPr>
          <a:xfrm>
            <a:off x="6409944" y="2084832"/>
            <a:ext cx="310896" cy="310896"/>
          </a:xfrm>
          <a:prstGeom prst="ellipse">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09944" y="2084832"/>
            <a:ext cx="310896" cy="310896"/>
          </a:xfrm>
          <a:prstGeom prst="rect">
            <a:avLst/>
          </a:prstGeom>
          <a:noFill/>
        </p:spPr>
        <p:txBody>
          <a:bodyPr wrap="square" lIns="0" rIns="0" tIns="0" bIns="0" anchor="ctr">
            <a:noAutofit/>
          </a:bodyPr>
          <a:lstStyle/>
          <a:p>
            <a:pPr algn="ctr">
              <a:lnSpc>
                <a:spcPct val="108000"/>
              </a:lnSpc>
              <a:spcAft>
                <a:spcPts val="0"/>
              </a:spcAft>
            </a:pPr>
            <a:r>
              <a:rPr sz="900" b="1" i="0">
                <a:solidFill>
                  <a:srgbClr val="FFFFFF"/>
                </a:solidFill>
                <a:latin typeface="Calibri"/>
              </a:rPr>
              <a:t>03</a:t>
            </a:r>
          </a:p>
        </p:txBody>
      </p:sp>
      <p:sp>
        <p:nvSpPr>
          <p:cNvPr id="19" name="Rounded Rectangle 18"/>
          <p:cNvSpPr/>
          <p:nvPr/>
        </p:nvSpPr>
        <p:spPr>
          <a:xfrm>
            <a:off x="6199631" y="2651760"/>
            <a:ext cx="2606040" cy="3017520"/>
          </a:xfrm>
          <a:prstGeom prst="roundRect">
            <a:avLst>
              <a:gd name="adj" fmla="val 5614"/>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73951" y="2880360"/>
            <a:ext cx="2148840" cy="365760"/>
          </a:xfrm>
          <a:prstGeom prst="rect">
            <a:avLst/>
          </a:prstGeom>
          <a:noFill/>
        </p:spPr>
        <p:txBody>
          <a:bodyPr wrap="square" lIns="0" rIns="0" tIns="0" bIns="0" anchor="t">
            <a:noAutofit/>
          </a:bodyPr>
          <a:lstStyle/>
          <a:p>
            <a:pPr algn="l">
              <a:lnSpc>
                <a:spcPct val="108000"/>
              </a:lnSpc>
              <a:spcAft>
                <a:spcPts val="0"/>
              </a:spcAft>
            </a:pPr>
            <a:r>
              <a:rPr sz="1500" b="1" i="0">
                <a:solidFill>
                  <a:srgbClr val="17172F"/>
                </a:solidFill>
                <a:latin typeface="Calibri"/>
              </a:rPr>
              <a:t>Safety &amp; compliance</a:t>
            </a:r>
          </a:p>
        </p:txBody>
      </p:sp>
      <p:sp>
        <p:nvSpPr>
          <p:cNvPr id="21" name="TextBox 20"/>
          <p:cNvSpPr txBox="1"/>
          <p:nvPr/>
        </p:nvSpPr>
        <p:spPr>
          <a:xfrm>
            <a:off x="6473951" y="3246120"/>
            <a:ext cx="2148840" cy="228600"/>
          </a:xfrm>
          <a:prstGeom prst="rect">
            <a:avLst/>
          </a:prstGeom>
          <a:noFill/>
        </p:spPr>
        <p:txBody>
          <a:bodyPr wrap="square" lIns="0" rIns="0" tIns="0" bIns="0" anchor="ctr">
            <a:noAutofit/>
          </a:bodyPr>
          <a:lstStyle/>
          <a:p>
            <a:pPr algn="l">
              <a:lnSpc>
                <a:spcPct val="108000"/>
              </a:lnSpc>
              <a:spcAft>
                <a:spcPts val="0"/>
              </a:spcAft>
            </a:pPr>
            <a:r>
              <a:rPr sz="900" b="1" i="0" spc="160">
                <a:solidFill>
                  <a:srgbClr val="3B5BFF"/>
                </a:solidFill>
                <a:latin typeface="Calibri"/>
              </a:rPr>
              <a:t>H2 2027</a:t>
            </a:r>
          </a:p>
        </p:txBody>
      </p:sp>
      <p:sp>
        <p:nvSpPr>
          <p:cNvPr id="22" name="TextBox 21"/>
          <p:cNvSpPr txBox="1"/>
          <p:nvPr/>
        </p:nvSpPr>
        <p:spPr>
          <a:xfrm>
            <a:off x="6473951" y="3657600"/>
            <a:ext cx="2103120" cy="1828800"/>
          </a:xfrm>
          <a:prstGeom prst="rect">
            <a:avLst/>
          </a:prstGeom>
          <a:noFill/>
        </p:spPr>
        <p:txBody>
          <a:bodyPr wrap="square" lIns="0" rIns="0" tIns="0" bIns="0" anchor="t">
            <a:noAutofit/>
          </a:bodyPr>
          <a:lstStyle/>
          <a:p>
            <a:pPr algn="l">
              <a:lnSpc>
                <a:spcPct val="115000"/>
              </a:lnSpc>
              <a:spcAft>
                <a:spcPts val="600"/>
              </a:spcAft>
            </a:pPr>
            <a:r>
              <a:rPr sz="1100" b="0" i="0">
                <a:solidFill>
                  <a:srgbClr val="5B5B7A"/>
                </a:solidFill>
                <a:latin typeface="Calibri"/>
              </a:rPr>
              <a:t>–  Escalation SOPs, consent, privacy</a:t>
            </a:r>
          </a:p>
          <a:p>
            <a:pPr algn="l">
              <a:lnSpc>
                <a:spcPct val="115000"/>
              </a:lnSpc>
              <a:spcAft>
                <a:spcPts val="600"/>
              </a:spcAft>
            </a:pPr>
            <a:r>
              <a:rPr sz="1100" b="0" i="0">
                <a:solidFill>
                  <a:srgbClr val="5B5B7A"/>
                </a:solidFill>
                <a:latin typeface="Calibri"/>
              </a:rPr>
              <a:t>–  Regulatory pathway assessment</a:t>
            </a:r>
          </a:p>
          <a:p>
            <a:pPr algn="l">
              <a:lnSpc>
                <a:spcPct val="115000"/>
              </a:lnSpc>
              <a:spcAft>
                <a:spcPts val="600"/>
              </a:spcAft>
            </a:pPr>
            <a:r>
              <a:rPr sz="1100" b="0" i="0">
                <a:solidFill>
                  <a:srgbClr val="5B5B7A"/>
                </a:solidFill>
                <a:latin typeface="Calibri"/>
              </a:rPr>
              <a:t>–  Custom PCB, DFM, supplier quotes</a:t>
            </a:r>
          </a:p>
        </p:txBody>
      </p:sp>
      <p:sp>
        <p:nvSpPr>
          <p:cNvPr id="23" name="Oval 22"/>
          <p:cNvSpPr/>
          <p:nvPr/>
        </p:nvSpPr>
        <p:spPr>
          <a:xfrm>
            <a:off x="9235440" y="2084832"/>
            <a:ext cx="310896" cy="310896"/>
          </a:xfrm>
          <a:prstGeom prst="ellipse">
            <a:avLst/>
          </a:prstGeom>
          <a:solidFill>
            <a:srgbClr val="0F9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35440" y="2084832"/>
            <a:ext cx="310896" cy="310896"/>
          </a:xfrm>
          <a:prstGeom prst="rect">
            <a:avLst/>
          </a:prstGeom>
          <a:noFill/>
        </p:spPr>
        <p:txBody>
          <a:bodyPr wrap="square" lIns="0" rIns="0" tIns="0" bIns="0" anchor="ctr">
            <a:noAutofit/>
          </a:bodyPr>
          <a:lstStyle/>
          <a:p>
            <a:pPr algn="ctr">
              <a:lnSpc>
                <a:spcPct val="108000"/>
              </a:lnSpc>
              <a:spcAft>
                <a:spcPts val="0"/>
              </a:spcAft>
            </a:pPr>
            <a:r>
              <a:rPr sz="900" b="1" i="0">
                <a:solidFill>
                  <a:srgbClr val="FFFFFF"/>
                </a:solidFill>
                <a:latin typeface="Calibri"/>
              </a:rPr>
              <a:t>04</a:t>
            </a:r>
          </a:p>
        </p:txBody>
      </p:sp>
      <p:sp>
        <p:nvSpPr>
          <p:cNvPr id="25" name="Rounded Rectangle 24"/>
          <p:cNvSpPr/>
          <p:nvPr/>
        </p:nvSpPr>
        <p:spPr>
          <a:xfrm>
            <a:off x="9025128" y="2651760"/>
            <a:ext cx="2606040" cy="3017520"/>
          </a:xfrm>
          <a:prstGeom prst="roundRect">
            <a:avLst>
              <a:gd name="adj" fmla="val 5614"/>
            </a:avLst>
          </a:prstGeom>
          <a:solidFill>
            <a:srgbClr val="FFFFFF"/>
          </a:solidFill>
          <a:ln w="9525">
            <a:solidFill>
              <a:srgbClr val="E6E6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299448" y="2880360"/>
            <a:ext cx="2148840" cy="365760"/>
          </a:xfrm>
          <a:prstGeom prst="rect">
            <a:avLst/>
          </a:prstGeom>
          <a:noFill/>
        </p:spPr>
        <p:txBody>
          <a:bodyPr wrap="square" lIns="0" rIns="0" tIns="0" bIns="0" anchor="t">
            <a:noAutofit/>
          </a:bodyPr>
          <a:lstStyle/>
          <a:p>
            <a:pPr algn="l">
              <a:lnSpc>
                <a:spcPct val="108000"/>
              </a:lnSpc>
              <a:spcAft>
                <a:spcPts val="0"/>
              </a:spcAft>
            </a:pPr>
            <a:r>
              <a:rPr sz="1500" b="1" i="0">
                <a:solidFill>
                  <a:srgbClr val="17172F"/>
                </a:solidFill>
                <a:latin typeface="Calibri"/>
              </a:rPr>
              <a:t>Scale</a:t>
            </a:r>
          </a:p>
        </p:txBody>
      </p:sp>
      <p:sp>
        <p:nvSpPr>
          <p:cNvPr id="27" name="TextBox 26"/>
          <p:cNvSpPr txBox="1"/>
          <p:nvPr/>
        </p:nvSpPr>
        <p:spPr>
          <a:xfrm>
            <a:off x="9299448" y="3246120"/>
            <a:ext cx="2148840" cy="228600"/>
          </a:xfrm>
          <a:prstGeom prst="rect">
            <a:avLst/>
          </a:prstGeom>
          <a:noFill/>
        </p:spPr>
        <p:txBody>
          <a:bodyPr wrap="square" lIns="0" rIns="0" tIns="0" bIns="0" anchor="ctr">
            <a:noAutofit/>
          </a:bodyPr>
          <a:lstStyle/>
          <a:p>
            <a:pPr algn="l">
              <a:lnSpc>
                <a:spcPct val="108000"/>
              </a:lnSpc>
              <a:spcAft>
                <a:spcPts val="0"/>
              </a:spcAft>
            </a:pPr>
            <a:r>
              <a:rPr sz="900" b="1" i="0" spc="160">
                <a:solidFill>
                  <a:srgbClr val="0F9F6E"/>
                </a:solidFill>
                <a:latin typeface="Calibri"/>
              </a:rPr>
              <a:t>2028</a:t>
            </a:r>
          </a:p>
        </p:txBody>
      </p:sp>
      <p:sp>
        <p:nvSpPr>
          <p:cNvPr id="28" name="TextBox 27"/>
          <p:cNvSpPr txBox="1"/>
          <p:nvPr/>
        </p:nvSpPr>
        <p:spPr>
          <a:xfrm>
            <a:off x="9299448" y="3657600"/>
            <a:ext cx="2103120" cy="1828800"/>
          </a:xfrm>
          <a:prstGeom prst="rect">
            <a:avLst/>
          </a:prstGeom>
          <a:noFill/>
        </p:spPr>
        <p:txBody>
          <a:bodyPr wrap="square" lIns="0" rIns="0" tIns="0" bIns="0" anchor="t">
            <a:noAutofit/>
          </a:bodyPr>
          <a:lstStyle/>
          <a:p>
            <a:pPr algn="l">
              <a:lnSpc>
                <a:spcPct val="115000"/>
              </a:lnSpc>
              <a:spcAft>
                <a:spcPts val="600"/>
              </a:spcAft>
            </a:pPr>
            <a:r>
              <a:rPr sz="1100" b="0" i="0">
                <a:solidFill>
                  <a:srgbClr val="5B5B7A"/>
                </a:solidFill>
                <a:latin typeface="Calibri"/>
              </a:rPr>
              <a:t>–  Egypt launch with care partners</a:t>
            </a:r>
          </a:p>
          <a:p>
            <a:pPr algn="l">
              <a:lnSpc>
                <a:spcPct val="115000"/>
              </a:lnSpc>
              <a:spcAft>
                <a:spcPts val="600"/>
              </a:spcAft>
            </a:pPr>
            <a:r>
              <a:rPr sz="1100" b="0" i="0">
                <a:solidFill>
                  <a:srgbClr val="5B5B7A"/>
                </a:solidFill>
                <a:latin typeface="Calibri"/>
              </a:rPr>
              <a:t>–  B2B2C insurer / employer pilots</a:t>
            </a:r>
          </a:p>
          <a:p>
            <a:pPr algn="l">
              <a:lnSpc>
                <a:spcPct val="115000"/>
              </a:lnSpc>
              <a:spcAft>
                <a:spcPts val="600"/>
              </a:spcAft>
            </a:pPr>
            <a:r>
              <a:rPr sz="1100" b="0" i="0">
                <a:solidFill>
                  <a:srgbClr val="5B5B7A"/>
                </a:solidFill>
                <a:latin typeface="Calibri"/>
              </a:rPr>
              <a:t>–  GCC &amp; MENA expansion</a:t>
            </a:r>
          </a:p>
        </p:txBody>
      </p:sp>
      <p:sp>
        <p:nvSpPr>
          <p:cNvPr id="29" name="TextBox 28"/>
          <p:cNvSpPr txBox="1"/>
          <p:nvPr/>
        </p:nvSpPr>
        <p:spPr>
          <a:xfrm>
            <a:off x="548640" y="5852160"/>
            <a:ext cx="10972800" cy="365760"/>
          </a:xfrm>
          <a:prstGeom prst="rect">
            <a:avLst/>
          </a:prstGeom>
          <a:noFill/>
        </p:spPr>
        <p:txBody>
          <a:bodyPr wrap="square" lIns="0" rIns="0" tIns="0" bIns="0" anchor="t">
            <a:noAutofit/>
          </a:bodyPr>
          <a:lstStyle/>
          <a:p>
            <a:pPr algn="l">
              <a:lnSpc>
                <a:spcPct val="108000"/>
              </a:lnSpc>
              <a:spcAft>
                <a:spcPts val="0"/>
              </a:spcAft>
            </a:pPr>
            <a:r>
              <a:rPr sz="950" b="0" i="1">
                <a:solidFill>
                  <a:srgbClr val="5B5B7A"/>
                </a:solidFill>
                <a:latin typeface="Calibri"/>
              </a:rPr>
              <a:t>Key risks we track: clinical validity of wrist PPG · false-alarm fatigue · battery life with GPS · data privacy and consent · hardware supply.</a:t>
            </a:r>
          </a:p>
        </p:txBody>
      </p:sp>
      <p:sp>
        <p:nvSpPr>
          <p:cNvPr id="30" name="TextBox 29"/>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5B5B7A"/>
                </a:solidFill>
                <a:latin typeface="Calibri"/>
              </a:rPr>
              <a:t>ROADMAP</a:t>
            </a:r>
            <a:r>
              <a:rPr sz="800" b="0" i="0" spc="140">
                <a:solidFill>
                  <a:srgbClr val="5B5B7A"/>
                </a:solidFill>
                <a:latin typeface="Calibri"/>
              </a:rPr>
              <a:t>   |   VALIDATION PATH</a:t>
            </a:r>
          </a:p>
        </p:txBody>
      </p:sp>
      <p:sp>
        <p:nvSpPr>
          <p:cNvPr id="31" name="TextBox 30"/>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6C3CE9"/>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0E2A"/>
        </a:solidFill>
        <a:effectLst/>
      </p:bgPr>
    </p:bg>
    <p:spTree>
      <p:nvGrpSpPr>
        <p:cNvPr id="1" name=""/>
        <p:cNvGrpSpPr/>
        <p:nvPr/>
      </p:nvGrpSpPr>
      <p:grpSpPr/>
      <p:sp>
        <p:nvSpPr>
          <p:cNvPr id="2" name="TextBox 1"/>
          <p:cNvSpPr txBox="1"/>
          <p:nvPr/>
        </p:nvSpPr>
        <p:spPr>
          <a:xfrm>
            <a:off x="548640" y="502920"/>
            <a:ext cx="9326880" cy="603504"/>
          </a:xfrm>
          <a:prstGeom prst="rect">
            <a:avLst/>
          </a:prstGeom>
          <a:noFill/>
        </p:spPr>
        <p:txBody>
          <a:bodyPr wrap="square" lIns="0" rIns="0" tIns="0" bIns="0" anchor="t">
            <a:noAutofit/>
          </a:bodyPr>
          <a:lstStyle/>
          <a:p>
            <a:pPr algn="l">
              <a:lnSpc>
                <a:spcPct val="100000"/>
              </a:lnSpc>
              <a:spcAft>
                <a:spcPts val="0"/>
              </a:spcAft>
            </a:pPr>
            <a:r>
              <a:rPr sz="3200" b="1" i="0">
                <a:solidFill>
                  <a:srgbClr val="FFFFFF"/>
                </a:solidFill>
                <a:latin typeface="Calibri"/>
              </a:rPr>
              <a:t>Team</a:t>
            </a:r>
          </a:p>
        </p:txBody>
      </p:sp>
      <p:sp>
        <p:nvSpPr>
          <p:cNvPr id="3" name="TextBox 2"/>
          <p:cNvSpPr txBox="1"/>
          <p:nvPr/>
        </p:nvSpPr>
        <p:spPr>
          <a:xfrm>
            <a:off x="548640" y="1143000"/>
            <a:ext cx="9326880" cy="548640"/>
          </a:xfrm>
          <a:prstGeom prst="rect">
            <a:avLst/>
          </a:prstGeom>
          <a:noFill/>
        </p:spPr>
        <p:txBody>
          <a:bodyPr wrap="square" lIns="0" rIns="0" tIns="0" bIns="0" anchor="t">
            <a:noAutofit/>
          </a:bodyPr>
          <a:lstStyle/>
          <a:p>
            <a:pPr algn="l">
              <a:lnSpc>
                <a:spcPct val="115000"/>
              </a:lnSpc>
              <a:spcAft>
                <a:spcPts val="0"/>
              </a:spcAft>
            </a:pPr>
            <a:r>
              <a:rPr sz="1400" b="0" i="0">
                <a:solidFill>
                  <a:srgbClr val="A9A9C7"/>
                </a:solidFill>
                <a:latin typeface="Calibri"/>
              </a:rPr>
              <a:t>Five seats across embedded systems, data science, product and care — advisors marked as recruiting.</a:t>
            </a:r>
          </a:p>
        </p:txBody>
      </p:sp>
      <p:sp>
        <p:nvSpPr>
          <p:cNvPr id="4" name="Rounded Rectangle 3"/>
          <p:cNvSpPr/>
          <p:nvPr/>
        </p:nvSpPr>
        <p:spPr>
          <a:xfrm>
            <a:off x="502920" y="2103120"/>
            <a:ext cx="2139696" cy="3310128"/>
          </a:xfrm>
          <a:prstGeom prst="roundRect">
            <a:avLst>
              <a:gd name="adj" fmla="val 6837"/>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225295" y="2414016"/>
            <a:ext cx="694944" cy="694944"/>
          </a:xfrm>
          <a:prstGeom prst="ellipse">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25295" y="2414016"/>
            <a:ext cx="694944" cy="694944"/>
          </a:xfrm>
          <a:prstGeom prst="rect">
            <a:avLst/>
          </a:prstGeom>
          <a:noFill/>
        </p:spPr>
        <p:txBody>
          <a:bodyPr wrap="square" lIns="0" rIns="0" tIns="0" bIns="0" anchor="ctr">
            <a:noAutofit/>
          </a:bodyPr>
          <a:lstStyle/>
          <a:p>
            <a:pPr algn="ctr">
              <a:lnSpc>
                <a:spcPct val="108000"/>
              </a:lnSpc>
              <a:spcAft>
                <a:spcPts val="0"/>
              </a:spcAft>
            </a:pPr>
            <a:r>
              <a:rPr sz="1300" b="1" i="0">
                <a:solidFill>
                  <a:srgbClr val="FFFFFF"/>
                </a:solidFill>
                <a:latin typeface="Calibri"/>
              </a:rPr>
              <a:t>DS</a:t>
            </a:r>
          </a:p>
        </p:txBody>
      </p:sp>
      <p:sp>
        <p:nvSpPr>
          <p:cNvPr id="7" name="TextBox 6"/>
          <p:cNvSpPr txBox="1"/>
          <p:nvPr/>
        </p:nvSpPr>
        <p:spPr>
          <a:xfrm>
            <a:off x="667512" y="3218688"/>
            <a:ext cx="1810512" cy="438912"/>
          </a:xfrm>
          <a:prstGeom prst="rect">
            <a:avLst/>
          </a:prstGeom>
          <a:noFill/>
        </p:spPr>
        <p:txBody>
          <a:bodyPr wrap="square" lIns="0" rIns="0" tIns="0" bIns="0" anchor="t">
            <a:noAutofit/>
          </a:bodyPr>
          <a:lstStyle/>
          <a:p>
            <a:pPr algn="l">
              <a:lnSpc>
                <a:spcPct val="100000"/>
              </a:lnSpc>
              <a:spcAft>
                <a:spcPts val="0"/>
              </a:spcAft>
            </a:pPr>
            <a:r>
              <a:rPr sz="1140" b="1" i="0">
                <a:solidFill>
                  <a:srgbClr val="FFFFFF"/>
                </a:solidFill>
                <a:latin typeface="Calibri"/>
              </a:rPr>
              <a:t>Diaa Salah</a:t>
            </a:r>
          </a:p>
        </p:txBody>
      </p:sp>
      <p:sp>
        <p:nvSpPr>
          <p:cNvPr id="8" name="TextBox 7"/>
          <p:cNvSpPr txBox="1"/>
          <p:nvPr/>
        </p:nvSpPr>
        <p:spPr>
          <a:xfrm>
            <a:off x="667512" y="3675887"/>
            <a:ext cx="1810512" cy="576072"/>
          </a:xfrm>
          <a:prstGeom prst="rect">
            <a:avLst/>
          </a:prstGeom>
          <a:noFill/>
        </p:spPr>
        <p:txBody>
          <a:bodyPr wrap="square" lIns="0" rIns="0" tIns="0" bIns="0" anchor="t">
            <a:noAutofit/>
          </a:bodyPr>
          <a:lstStyle/>
          <a:p>
            <a:pPr algn="l">
              <a:lnSpc>
                <a:spcPct val="108000"/>
              </a:lnSpc>
              <a:spcAft>
                <a:spcPts val="0"/>
              </a:spcAft>
            </a:pPr>
            <a:r>
              <a:rPr sz="880" b="1" i="0">
                <a:solidFill>
                  <a:srgbClr val="6C3CE9"/>
                </a:solidFill>
                <a:latin typeface="Calibri"/>
              </a:rPr>
              <a:t>CEO · Product &amp; embedded systems</a:t>
            </a:r>
          </a:p>
        </p:txBody>
      </p:sp>
      <p:sp>
        <p:nvSpPr>
          <p:cNvPr id="9" name="TextBox 8"/>
          <p:cNvSpPr txBox="1"/>
          <p:nvPr/>
        </p:nvSpPr>
        <p:spPr>
          <a:xfrm>
            <a:off x="667512" y="4315968"/>
            <a:ext cx="1810512" cy="896112"/>
          </a:xfrm>
          <a:prstGeom prst="rect">
            <a:avLst/>
          </a:prstGeom>
          <a:noFill/>
        </p:spPr>
        <p:txBody>
          <a:bodyPr wrap="square" lIns="0" rIns="0" tIns="0" bIns="0" anchor="t">
            <a:noAutofit/>
          </a:bodyPr>
          <a:lstStyle/>
          <a:p>
            <a:pPr algn="l">
              <a:lnSpc>
                <a:spcPct val="113000"/>
              </a:lnSpc>
              <a:spcAft>
                <a:spcPts val="0"/>
              </a:spcAft>
            </a:pPr>
            <a:r>
              <a:rPr sz="880" b="0" i="0">
                <a:solidFill>
                  <a:srgbClr val="A9A9C7"/>
                </a:solidFill>
                <a:latin typeface="Calibri"/>
              </a:rPr>
              <a:t>Firmware, sensor integration, system architecture.</a:t>
            </a:r>
          </a:p>
        </p:txBody>
      </p:sp>
      <p:sp>
        <p:nvSpPr>
          <p:cNvPr id="10" name="Rounded Rectangle 9"/>
          <p:cNvSpPr/>
          <p:nvPr/>
        </p:nvSpPr>
        <p:spPr>
          <a:xfrm>
            <a:off x="2807208" y="2103120"/>
            <a:ext cx="2139696" cy="3310128"/>
          </a:xfrm>
          <a:prstGeom prst="roundRect">
            <a:avLst>
              <a:gd name="adj" fmla="val 6837"/>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3529584" y="2414016"/>
            <a:ext cx="694944" cy="694944"/>
          </a:xfrm>
          <a:prstGeom prst="ellipse">
            <a:avLst/>
          </a:prstGeom>
          <a:solidFill>
            <a:srgbClr val="3B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529584" y="2414016"/>
            <a:ext cx="694944" cy="694944"/>
          </a:xfrm>
          <a:prstGeom prst="rect">
            <a:avLst/>
          </a:prstGeom>
          <a:noFill/>
        </p:spPr>
        <p:txBody>
          <a:bodyPr wrap="square" lIns="0" rIns="0" tIns="0" bIns="0" anchor="ctr">
            <a:noAutofit/>
          </a:bodyPr>
          <a:lstStyle/>
          <a:p>
            <a:pPr algn="ctr">
              <a:lnSpc>
                <a:spcPct val="108000"/>
              </a:lnSpc>
              <a:spcAft>
                <a:spcPts val="0"/>
              </a:spcAft>
            </a:pPr>
            <a:r>
              <a:rPr sz="1300" b="1" i="0">
                <a:solidFill>
                  <a:srgbClr val="FFFFFF"/>
                </a:solidFill>
                <a:latin typeface="Calibri"/>
              </a:rPr>
              <a:t>ML</a:t>
            </a:r>
          </a:p>
        </p:txBody>
      </p:sp>
      <p:sp>
        <p:nvSpPr>
          <p:cNvPr id="13" name="TextBox 12"/>
          <p:cNvSpPr txBox="1"/>
          <p:nvPr/>
        </p:nvSpPr>
        <p:spPr>
          <a:xfrm>
            <a:off x="2971800" y="3218688"/>
            <a:ext cx="1810512" cy="438912"/>
          </a:xfrm>
          <a:prstGeom prst="rect">
            <a:avLst/>
          </a:prstGeom>
          <a:noFill/>
        </p:spPr>
        <p:txBody>
          <a:bodyPr wrap="square" lIns="0" rIns="0" tIns="0" bIns="0" anchor="t">
            <a:noAutofit/>
          </a:bodyPr>
          <a:lstStyle/>
          <a:p>
            <a:pPr algn="l">
              <a:lnSpc>
                <a:spcPct val="100000"/>
              </a:lnSpc>
              <a:spcAft>
                <a:spcPts val="0"/>
              </a:spcAft>
            </a:pPr>
            <a:r>
              <a:rPr sz="1140" b="1" i="0">
                <a:solidFill>
                  <a:srgbClr val="FFFFFF"/>
                </a:solidFill>
                <a:latin typeface="Calibri"/>
              </a:rPr>
              <a:t>[Co-founder name]</a:t>
            </a:r>
          </a:p>
        </p:txBody>
      </p:sp>
      <p:sp>
        <p:nvSpPr>
          <p:cNvPr id="14" name="TextBox 13"/>
          <p:cNvSpPr txBox="1"/>
          <p:nvPr/>
        </p:nvSpPr>
        <p:spPr>
          <a:xfrm>
            <a:off x="2971800" y="3675887"/>
            <a:ext cx="1810512" cy="576072"/>
          </a:xfrm>
          <a:prstGeom prst="rect">
            <a:avLst/>
          </a:prstGeom>
          <a:noFill/>
        </p:spPr>
        <p:txBody>
          <a:bodyPr wrap="square" lIns="0" rIns="0" tIns="0" bIns="0" anchor="t">
            <a:noAutofit/>
          </a:bodyPr>
          <a:lstStyle/>
          <a:p>
            <a:pPr algn="l">
              <a:lnSpc>
                <a:spcPct val="108000"/>
              </a:lnSpc>
              <a:spcAft>
                <a:spcPts val="0"/>
              </a:spcAft>
            </a:pPr>
            <a:r>
              <a:rPr sz="880" b="1" i="0">
                <a:solidFill>
                  <a:srgbClr val="3B5BFF"/>
                </a:solidFill>
                <a:latin typeface="Calibri"/>
              </a:rPr>
              <a:t>CTO · AI &amp; data</a:t>
            </a:r>
          </a:p>
        </p:txBody>
      </p:sp>
      <p:sp>
        <p:nvSpPr>
          <p:cNvPr id="15" name="TextBox 14"/>
          <p:cNvSpPr txBox="1"/>
          <p:nvPr/>
        </p:nvSpPr>
        <p:spPr>
          <a:xfrm>
            <a:off x="2971800" y="4315968"/>
            <a:ext cx="1810512" cy="896112"/>
          </a:xfrm>
          <a:prstGeom prst="rect">
            <a:avLst/>
          </a:prstGeom>
          <a:noFill/>
        </p:spPr>
        <p:txBody>
          <a:bodyPr wrap="square" lIns="0" rIns="0" tIns="0" bIns="0" anchor="t">
            <a:noAutofit/>
          </a:bodyPr>
          <a:lstStyle/>
          <a:p>
            <a:pPr algn="l">
              <a:lnSpc>
                <a:spcPct val="113000"/>
              </a:lnSpc>
              <a:spcAft>
                <a:spcPts val="0"/>
              </a:spcAft>
            </a:pPr>
            <a:r>
              <a:rPr sz="880" b="0" i="0">
                <a:solidFill>
                  <a:srgbClr val="A9A9C7"/>
                </a:solidFill>
                <a:latin typeface="Calibri"/>
              </a:rPr>
              <a:t>Anomaly models, pipeline, cloud services and dashboard.</a:t>
            </a:r>
          </a:p>
        </p:txBody>
      </p:sp>
      <p:sp>
        <p:nvSpPr>
          <p:cNvPr id="16" name="Rounded Rectangle 15"/>
          <p:cNvSpPr/>
          <p:nvPr/>
        </p:nvSpPr>
        <p:spPr>
          <a:xfrm>
            <a:off x="5111496" y="2103120"/>
            <a:ext cx="2139696" cy="3310128"/>
          </a:xfrm>
          <a:prstGeom prst="roundRect">
            <a:avLst>
              <a:gd name="adj" fmla="val 6837"/>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5833872" y="2414016"/>
            <a:ext cx="694944" cy="694944"/>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833872" y="2414016"/>
            <a:ext cx="694944" cy="694944"/>
          </a:xfrm>
          <a:prstGeom prst="rect">
            <a:avLst/>
          </a:prstGeom>
          <a:noFill/>
        </p:spPr>
        <p:txBody>
          <a:bodyPr wrap="square" lIns="0" rIns="0" tIns="0" bIns="0" anchor="ctr">
            <a:noAutofit/>
          </a:bodyPr>
          <a:lstStyle/>
          <a:p>
            <a:pPr algn="ctr">
              <a:lnSpc>
                <a:spcPct val="108000"/>
              </a:lnSpc>
              <a:spcAft>
                <a:spcPts val="0"/>
              </a:spcAft>
            </a:pPr>
            <a:r>
              <a:rPr sz="1300" b="1" i="0">
                <a:solidFill>
                  <a:srgbClr val="FFFFFF"/>
                </a:solidFill>
                <a:latin typeface="Calibri"/>
              </a:rPr>
              <a:t>TM</a:t>
            </a:r>
          </a:p>
        </p:txBody>
      </p:sp>
      <p:sp>
        <p:nvSpPr>
          <p:cNvPr id="19" name="TextBox 18"/>
          <p:cNvSpPr txBox="1"/>
          <p:nvPr/>
        </p:nvSpPr>
        <p:spPr>
          <a:xfrm>
            <a:off x="5276088" y="3218688"/>
            <a:ext cx="1810512" cy="438912"/>
          </a:xfrm>
          <a:prstGeom prst="rect">
            <a:avLst/>
          </a:prstGeom>
          <a:noFill/>
        </p:spPr>
        <p:txBody>
          <a:bodyPr wrap="square" lIns="0" rIns="0" tIns="0" bIns="0" anchor="t">
            <a:noAutofit/>
          </a:bodyPr>
          <a:lstStyle/>
          <a:p>
            <a:pPr algn="l">
              <a:lnSpc>
                <a:spcPct val="100000"/>
              </a:lnSpc>
              <a:spcAft>
                <a:spcPts val="0"/>
              </a:spcAft>
            </a:pPr>
            <a:r>
              <a:rPr sz="1140" b="1" i="0">
                <a:solidFill>
                  <a:srgbClr val="FFFFFF"/>
                </a:solidFill>
                <a:latin typeface="Calibri"/>
              </a:rPr>
              <a:t>[Team member 3]</a:t>
            </a:r>
          </a:p>
        </p:txBody>
      </p:sp>
      <p:sp>
        <p:nvSpPr>
          <p:cNvPr id="20" name="TextBox 19"/>
          <p:cNvSpPr txBox="1"/>
          <p:nvPr/>
        </p:nvSpPr>
        <p:spPr>
          <a:xfrm>
            <a:off x="5276088" y="3675887"/>
            <a:ext cx="1810512" cy="576072"/>
          </a:xfrm>
          <a:prstGeom prst="rect">
            <a:avLst/>
          </a:prstGeom>
          <a:noFill/>
        </p:spPr>
        <p:txBody>
          <a:bodyPr wrap="square" lIns="0" rIns="0" tIns="0" bIns="0" anchor="t">
            <a:noAutofit/>
          </a:bodyPr>
          <a:lstStyle/>
          <a:p>
            <a:pPr algn="l">
              <a:lnSpc>
                <a:spcPct val="108000"/>
              </a:lnSpc>
              <a:spcAft>
                <a:spcPts val="0"/>
              </a:spcAft>
            </a:pPr>
            <a:r>
              <a:rPr sz="880" b="1" i="0">
                <a:solidFill>
                  <a:srgbClr val="8B5CF6"/>
                </a:solidFill>
                <a:latin typeface="Calibri"/>
              </a:rPr>
              <a:t>[Role / specialty]</a:t>
            </a:r>
          </a:p>
        </p:txBody>
      </p:sp>
      <p:sp>
        <p:nvSpPr>
          <p:cNvPr id="21" name="TextBox 20"/>
          <p:cNvSpPr txBox="1"/>
          <p:nvPr/>
        </p:nvSpPr>
        <p:spPr>
          <a:xfrm>
            <a:off x="5276088" y="4315968"/>
            <a:ext cx="1810512" cy="896112"/>
          </a:xfrm>
          <a:prstGeom prst="rect">
            <a:avLst/>
          </a:prstGeom>
          <a:noFill/>
        </p:spPr>
        <p:txBody>
          <a:bodyPr wrap="square" lIns="0" rIns="0" tIns="0" bIns="0" anchor="t">
            <a:noAutofit/>
          </a:bodyPr>
          <a:lstStyle/>
          <a:p>
            <a:pPr algn="l">
              <a:lnSpc>
                <a:spcPct val="113000"/>
              </a:lnSpc>
              <a:spcAft>
                <a:spcPts val="0"/>
              </a:spcAft>
            </a:pPr>
            <a:r>
              <a:rPr sz="880" b="0" i="0">
                <a:solidFill>
                  <a:srgbClr val="A9A9C7"/>
                </a:solidFill>
                <a:latin typeface="Calibri"/>
              </a:rPr>
              <a:t>Add their contribution or one shipped proof point.</a:t>
            </a:r>
          </a:p>
        </p:txBody>
      </p:sp>
      <p:sp>
        <p:nvSpPr>
          <p:cNvPr id="22" name="Rounded Rectangle 21"/>
          <p:cNvSpPr/>
          <p:nvPr/>
        </p:nvSpPr>
        <p:spPr>
          <a:xfrm>
            <a:off x="7415783" y="2103120"/>
            <a:ext cx="2139696" cy="3310128"/>
          </a:xfrm>
          <a:prstGeom prst="roundRect">
            <a:avLst>
              <a:gd name="adj" fmla="val 6837"/>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138159" y="2414016"/>
            <a:ext cx="694944" cy="694944"/>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138159" y="2414016"/>
            <a:ext cx="694944" cy="694944"/>
          </a:xfrm>
          <a:prstGeom prst="rect">
            <a:avLst/>
          </a:prstGeom>
          <a:noFill/>
        </p:spPr>
        <p:txBody>
          <a:bodyPr wrap="square" lIns="0" rIns="0" tIns="0" bIns="0" anchor="ctr">
            <a:noAutofit/>
          </a:bodyPr>
          <a:lstStyle/>
          <a:p>
            <a:pPr algn="ctr">
              <a:lnSpc>
                <a:spcPct val="108000"/>
              </a:lnSpc>
              <a:spcAft>
                <a:spcPts val="0"/>
              </a:spcAft>
            </a:pPr>
            <a:r>
              <a:rPr sz="1300" b="1" i="0">
                <a:solidFill>
                  <a:srgbClr val="0F0E2A"/>
                </a:solidFill>
                <a:latin typeface="Calibri"/>
              </a:rPr>
              <a:t>CA</a:t>
            </a:r>
          </a:p>
        </p:txBody>
      </p:sp>
      <p:sp>
        <p:nvSpPr>
          <p:cNvPr id="25" name="TextBox 24"/>
          <p:cNvSpPr txBox="1"/>
          <p:nvPr/>
        </p:nvSpPr>
        <p:spPr>
          <a:xfrm>
            <a:off x="7580375" y="3218688"/>
            <a:ext cx="1810512" cy="438912"/>
          </a:xfrm>
          <a:prstGeom prst="rect">
            <a:avLst/>
          </a:prstGeom>
          <a:noFill/>
        </p:spPr>
        <p:txBody>
          <a:bodyPr wrap="square" lIns="0" rIns="0" tIns="0" bIns="0" anchor="t">
            <a:noAutofit/>
          </a:bodyPr>
          <a:lstStyle/>
          <a:p>
            <a:pPr algn="l">
              <a:lnSpc>
                <a:spcPct val="100000"/>
              </a:lnSpc>
              <a:spcAft>
                <a:spcPts val="0"/>
              </a:spcAft>
            </a:pPr>
            <a:r>
              <a:rPr sz="1140" b="1" i="0">
                <a:solidFill>
                  <a:srgbClr val="FFFFFF"/>
                </a:solidFill>
                <a:latin typeface="Calibri"/>
              </a:rPr>
              <a:t>[Clinical advisor]</a:t>
            </a:r>
          </a:p>
        </p:txBody>
      </p:sp>
      <p:sp>
        <p:nvSpPr>
          <p:cNvPr id="26" name="TextBox 25"/>
          <p:cNvSpPr txBox="1"/>
          <p:nvPr/>
        </p:nvSpPr>
        <p:spPr>
          <a:xfrm>
            <a:off x="7580375" y="3675887"/>
            <a:ext cx="1810512" cy="576072"/>
          </a:xfrm>
          <a:prstGeom prst="rect">
            <a:avLst/>
          </a:prstGeom>
          <a:noFill/>
        </p:spPr>
        <p:txBody>
          <a:bodyPr wrap="square" lIns="0" rIns="0" tIns="0" bIns="0" anchor="t">
            <a:noAutofit/>
          </a:bodyPr>
          <a:lstStyle/>
          <a:p>
            <a:pPr algn="l">
              <a:lnSpc>
                <a:spcPct val="108000"/>
              </a:lnSpc>
              <a:spcAft>
                <a:spcPts val="0"/>
              </a:spcAft>
            </a:pPr>
            <a:r>
              <a:rPr sz="880" b="1" i="0">
                <a:solidFill>
                  <a:srgbClr val="22D3EE"/>
                </a:solidFill>
                <a:latin typeface="Calibri"/>
              </a:rPr>
              <a:t>Geriatrics / family medicine — recruiting</a:t>
            </a:r>
          </a:p>
        </p:txBody>
      </p:sp>
      <p:sp>
        <p:nvSpPr>
          <p:cNvPr id="27" name="TextBox 26"/>
          <p:cNvSpPr txBox="1"/>
          <p:nvPr/>
        </p:nvSpPr>
        <p:spPr>
          <a:xfrm>
            <a:off x="7580375" y="4315968"/>
            <a:ext cx="1810512" cy="896112"/>
          </a:xfrm>
          <a:prstGeom prst="rect">
            <a:avLst/>
          </a:prstGeom>
          <a:noFill/>
        </p:spPr>
        <p:txBody>
          <a:bodyPr wrap="square" lIns="0" rIns="0" tIns="0" bIns="0" anchor="t">
            <a:noAutofit/>
          </a:bodyPr>
          <a:lstStyle/>
          <a:p>
            <a:pPr algn="l">
              <a:lnSpc>
                <a:spcPct val="113000"/>
              </a:lnSpc>
              <a:spcAft>
                <a:spcPts val="0"/>
              </a:spcAft>
            </a:pPr>
            <a:r>
              <a:rPr sz="880" b="0" i="0">
                <a:solidFill>
                  <a:srgbClr val="A9A9C7"/>
                </a:solidFill>
                <a:latin typeface="Calibri"/>
              </a:rPr>
              <a:t>Protocol design, clinical validity, pilot ethics.</a:t>
            </a:r>
          </a:p>
        </p:txBody>
      </p:sp>
      <p:sp>
        <p:nvSpPr>
          <p:cNvPr id="28" name="Rounded Rectangle 27"/>
          <p:cNvSpPr/>
          <p:nvPr/>
        </p:nvSpPr>
        <p:spPr>
          <a:xfrm>
            <a:off x="9720072" y="2103120"/>
            <a:ext cx="2139696" cy="3310128"/>
          </a:xfrm>
          <a:prstGeom prst="roundRect">
            <a:avLst>
              <a:gd name="adj" fmla="val 6837"/>
            </a:avLst>
          </a:prstGeom>
          <a:solidFill>
            <a:srgbClr val="1B1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442447" y="2414016"/>
            <a:ext cx="694944" cy="69494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442447" y="2414016"/>
            <a:ext cx="694944" cy="694944"/>
          </a:xfrm>
          <a:prstGeom prst="rect">
            <a:avLst/>
          </a:prstGeom>
          <a:noFill/>
        </p:spPr>
        <p:txBody>
          <a:bodyPr wrap="square" lIns="0" rIns="0" tIns="0" bIns="0" anchor="ctr">
            <a:noAutofit/>
          </a:bodyPr>
          <a:lstStyle/>
          <a:p>
            <a:pPr algn="ctr">
              <a:lnSpc>
                <a:spcPct val="108000"/>
              </a:lnSpc>
              <a:spcAft>
                <a:spcPts val="0"/>
              </a:spcAft>
            </a:pPr>
            <a:r>
              <a:rPr sz="1300" b="1" i="0">
                <a:solidFill>
                  <a:srgbClr val="0F0E2A"/>
                </a:solidFill>
                <a:latin typeface="Calibri"/>
              </a:rPr>
              <a:t>GP</a:t>
            </a:r>
          </a:p>
        </p:txBody>
      </p:sp>
      <p:sp>
        <p:nvSpPr>
          <p:cNvPr id="31" name="TextBox 30"/>
          <p:cNvSpPr txBox="1"/>
          <p:nvPr/>
        </p:nvSpPr>
        <p:spPr>
          <a:xfrm>
            <a:off x="9884663" y="3218688"/>
            <a:ext cx="1810512" cy="438912"/>
          </a:xfrm>
          <a:prstGeom prst="rect">
            <a:avLst/>
          </a:prstGeom>
          <a:noFill/>
        </p:spPr>
        <p:txBody>
          <a:bodyPr wrap="square" lIns="0" rIns="0" tIns="0" bIns="0" anchor="t">
            <a:noAutofit/>
          </a:bodyPr>
          <a:lstStyle/>
          <a:p>
            <a:pPr algn="l">
              <a:lnSpc>
                <a:spcPct val="100000"/>
              </a:lnSpc>
              <a:spcAft>
                <a:spcPts val="0"/>
              </a:spcAft>
            </a:pPr>
            <a:r>
              <a:rPr sz="1140" b="1" i="0">
                <a:solidFill>
                  <a:srgbClr val="FFFFFF"/>
                </a:solidFill>
                <a:latin typeface="Calibri"/>
              </a:rPr>
              <a:t>[Growth lead]</a:t>
            </a:r>
          </a:p>
        </p:txBody>
      </p:sp>
      <p:sp>
        <p:nvSpPr>
          <p:cNvPr id="32" name="TextBox 31"/>
          <p:cNvSpPr txBox="1"/>
          <p:nvPr/>
        </p:nvSpPr>
        <p:spPr>
          <a:xfrm>
            <a:off x="9884663" y="3675887"/>
            <a:ext cx="1810512" cy="576072"/>
          </a:xfrm>
          <a:prstGeom prst="rect">
            <a:avLst/>
          </a:prstGeom>
          <a:noFill/>
        </p:spPr>
        <p:txBody>
          <a:bodyPr wrap="square" lIns="0" rIns="0" tIns="0" bIns="0" anchor="t">
            <a:noAutofit/>
          </a:bodyPr>
          <a:lstStyle/>
          <a:p>
            <a:pPr algn="l">
              <a:lnSpc>
                <a:spcPct val="108000"/>
              </a:lnSpc>
              <a:spcAft>
                <a:spcPts val="0"/>
              </a:spcAft>
            </a:pPr>
            <a:r>
              <a:rPr sz="880" b="1" i="0">
                <a:solidFill>
                  <a:srgbClr val="34D399"/>
                </a:solidFill>
                <a:latin typeface="Calibri"/>
              </a:rPr>
              <a:t>Partnerships &amp; go-to-market — recruiting</a:t>
            </a:r>
          </a:p>
        </p:txBody>
      </p:sp>
      <p:sp>
        <p:nvSpPr>
          <p:cNvPr id="33" name="TextBox 32"/>
          <p:cNvSpPr txBox="1"/>
          <p:nvPr/>
        </p:nvSpPr>
        <p:spPr>
          <a:xfrm>
            <a:off x="9884663" y="4315968"/>
            <a:ext cx="1810512" cy="896112"/>
          </a:xfrm>
          <a:prstGeom prst="rect">
            <a:avLst/>
          </a:prstGeom>
          <a:noFill/>
        </p:spPr>
        <p:txBody>
          <a:bodyPr wrap="square" lIns="0" rIns="0" tIns="0" bIns="0" anchor="t">
            <a:noAutofit/>
          </a:bodyPr>
          <a:lstStyle/>
          <a:p>
            <a:pPr algn="l">
              <a:lnSpc>
                <a:spcPct val="113000"/>
              </a:lnSpc>
              <a:spcAft>
                <a:spcPts val="0"/>
              </a:spcAft>
            </a:pPr>
            <a:r>
              <a:rPr sz="880" b="0" i="0">
                <a:solidFill>
                  <a:srgbClr val="A9A9C7"/>
                </a:solidFill>
                <a:latin typeface="Calibri"/>
              </a:rPr>
              <a:t>Senior-care providers, insurers, distribution.</a:t>
            </a:r>
          </a:p>
        </p:txBody>
      </p:sp>
      <p:sp>
        <p:nvSpPr>
          <p:cNvPr id="34" name="TextBox 33"/>
          <p:cNvSpPr txBox="1"/>
          <p:nvPr/>
        </p:nvSpPr>
        <p:spPr>
          <a:xfrm>
            <a:off x="548640" y="5669280"/>
            <a:ext cx="10972800" cy="365760"/>
          </a:xfrm>
          <a:prstGeom prst="rect">
            <a:avLst/>
          </a:prstGeom>
          <a:noFill/>
        </p:spPr>
        <p:txBody>
          <a:bodyPr wrap="square" lIns="0" rIns="0" tIns="0" bIns="0" anchor="t">
            <a:noAutofit/>
          </a:bodyPr>
          <a:lstStyle/>
          <a:p>
            <a:pPr algn="l">
              <a:lnSpc>
                <a:spcPct val="108000"/>
              </a:lnSpc>
              <a:spcAft>
                <a:spcPts val="0"/>
              </a:spcAft>
            </a:pPr>
            <a:r>
              <a:rPr sz="950" b="0" i="1">
                <a:solidFill>
                  <a:srgbClr val="A9A9C7"/>
                </a:solidFill>
                <a:latin typeface="Calibri"/>
              </a:rPr>
              <a:t>Customize card 3 with the fifth teammate’s name, photo and one proof point.</a:t>
            </a:r>
          </a:p>
        </p:txBody>
      </p:sp>
      <p:sp>
        <p:nvSpPr>
          <p:cNvPr id="35" name="TextBox 34"/>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A9A9C7"/>
                </a:solidFill>
                <a:latin typeface="Calibri"/>
              </a:rPr>
              <a:t>TEAM</a:t>
            </a:r>
            <a:r>
              <a:rPr sz="800" b="0" i="0" spc="140">
                <a:solidFill>
                  <a:srgbClr val="A9A9C7"/>
                </a:solidFill>
                <a:latin typeface="Calibri"/>
              </a:rPr>
              <a:t>   |   WHO IS BUILDING IT</a:t>
            </a:r>
          </a:p>
        </p:txBody>
      </p:sp>
      <p:sp>
        <p:nvSpPr>
          <p:cNvPr id="36" name="TextBox 35"/>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22D3EE"/>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F0E2A"/>
        </a:solidFill>
        <a:effectLst/>
      </p:bgPr>
    </p:bg>
    <p:spTree>
      <p:nvGrpSpPr>
        <p:cNvPr id="1" name=""/>
        <p:cNvGrpSpPr/>
        <p:nvPr/>
      </p:nvGrpSpPr>
      <p:grpSpPr/>
      <p:pic>
        <p:nvPicPr>
          <p:cNvPr id="2" name="Picture 1" descr="hero_band.jpg"/>
          <p:cNvPicPr>
            <a:picLocks noChangeAspect="1"/>
          </p:cNvPicPr>
          <p:nvPr/>
        </p:nvPicPr>
        <p:blipFill>
          <a:blip r:embed="rId2"/>
          <a:srcRect l="32431" r="17463"/>
          <a:stretch>
            <a:fillRect/>
          </a:stretch>
        </p:blipFill>
        <p:spPr>
          <a:xfrm>
            <a:off x="6035040" y="0"/>
            <a:ext cx="6156655" cy="6858000"/>
          </a:xfrm>
          <a:prstGeom prst="rect">
            <a:avLst/>
          </a:prstGeom>
        </p:spPr>
      </p:pic>
      <p:sp>
        <p:nvSpPr>
          <p:cNvPr id="3" name="Rectangle 2"/>
          <p:cNvSpPr/>
          <p:nvPr/>
        </p:nvSpPr>
        <p:spPr>
          <a:xfrm>
            <a:off x="6035040" y="0"/>
            <a:ext cx="2743200" cy="6858000"/>
          </a:xfrm>
          <a:prstGeom prst="rect">
            <a:avLst/>
          </a:prstGeom>
          <a:gradFill rotWithShape="1">
            <a:gsLst>
              <a:gs pos="0">
                <a:srgbClr val="0F0E2A"/>
              </a:gs>
              <a:gs pos="100000">
                <a:srgbClr val="0F0E2A">
                  <a:alpha val="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6044184" cy="6858000"/>
          </a:xfrm>
          <a:prstGeom prst="rect">
            <a:avLst/>
          </a:prstGeom>
          <a:solidFill>
            <a:srgbClr val="0F0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59" y="5669280"/>
            <a:ext cx="2194560" cy="2194560"/>
          </a:xfrm>
          <a:prstGeom prst="ellipse">
            <a:avLst/>
          </a:prstGeom>
          <a:solidFill>
            <a:srgbClr val="6C3CE9">
              <a:alpha val="63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449884" y="6042355"/>
            <a:ext cx="1448409" cy="1448409"/>
          </a:xfrm>
          <a:prstGeom prst="ellipse">
            <a:avLst/>
          </a:prstGeom>
          <a:solidFill>
            <a:srgbClr val="6C3CE9">
              <a:alpha val="10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64592" y="6327648"/>
            <a:ext cx="877824" cy="877824"/>
          </a:xfrm>
          <a:prstGeom prst="ellipse">
            <a:avLst/>
          </a:prstGeom>
          <a:solidFill>
            <a:srgbClr val="6C3CE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777240"/>
            <a:ext cx="502920" cy="6400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1051560"/>
            <a:ext cx="5760720" cy="1371600"/>
          </a:xfrm>
          <a:prstGeom prst="rect">
            <a:avLst/>
          </a:prstGeom>
          <a:noFill/>
        </p:spPr>
        <p:txBody>
          <a:bodyPr wrap="square" lIns="0" rIns="0" tIns="0" bIns="0" anchor="t">
            <a:noAutofit/>
          </a:bodyPr>
          <a:lstStyle/>
          <a:p>
            <a:pPr algn="l">
              <a:lnSpc>
                <a:spcPct val="105000"/>
              </a:lnSpc>
              <a:spcAft>
                <a:spcPts val="0"/>
              </a:spcAft>
            </a:pPr>
            <a:r>
              <a:rPr sz="2800" b="1" i="0">
                <a:solidFill>
                  <a:srgbClr val="FFFFFF"/>
                </a:solidFill>
                <a:latin typeface="Calibri"/>
              </a:rPr>
              <a:t>Help us close the gap between
a reading and a response.</a:t>
            </a:r>
          </a:p>
        </p:txBody>
      </p:sp>
      <p:sp>
        <p:nvSpPr>
          <p:cNvPr id="10" name="TextBox 9"/>
          <p:cNvSpPr txBox="1"/>
          <p:nvPr/>
        </p:nvSpPr>
        <p:spPr>
          <a:xfrm>
            <a:off x="548640" y="2606040"/>
            <a:ext cx="3657600" cy="228600"/>
          </a:xfrm>
          <a:prstGeom prst="rect">
            <a:avLst/>
          </a:prstGeom>
          <a:noFill/>
        </p:spPr>
        <p:txBody>
          <a:bodyPr wrap="square" lIns="0" rIns="0" tIns="0" bIns="0" anchor="ctr">
            <a:noAutofit/>
          </a:bodyPr>
          <a:lstStyle/>
          <a:p>
            <a:pPr algn="l">
              <a:lnSpc>
                <a:spcPct val="108000"/>
              </a:lnSpc>
              <a:spcAft>
                <a:spcPts val="0"/>
              </a:spcAft>
            </a:pPr>
            <a:r>
              <a:rPr sz="1000" b="1" i="0" spc="160">
                <a:solidFill>
                  <a:srgbClr val="22D3EE"/>
                </a:solidFill>
                <a:latin typeface="Calibri"/>
              </a:rPr>
              <a:t>THE ASK</a:t>
            </a:r>
          </a:p>
        </p:txBody>
      </p:sp>
      <p:sp>
        <p:nvSpPr>
          <p:cNvPr id="11" name="Rounded Rectangle 10"/>
          <p:cNvSpPr/>
          <p:nvPr/>
        </p:nvSpPr>
        <p:spPr>
          <a:xfrm>
            <a:off x="548640" y="2990088"/>
            <a:ext cx="73152" cy="457200"/>
          </a:xfrm>
          <a:prstGeom prst="roundRect">
            <a:avLst>
              <a:gd name="adj" fmla="val 50000"/>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59" y="2926080"/>
            <a:ext cx="5212080" cy="320040"/>
          </a:xfrm>
          <a:prstGeom prst="rect">
            <a:avLst/>
          </a:prstGeom>
          <a:noFill/>
        </p:spPr>
        <p:txBody>
          <a:bodyPr wrap="square" lIns="0" rIns="0" tIns="0" bIns="0" anchor="t">
            <a:noAutofit/>
          </a:bodyPr>
          <a:lstStyle/>
          <a:p>
            <a:pPr algn="l">
              <a:lnSpc>
                <a:spcPct val="108000"/>
              </a:lnSpc>
              <a:spcAft>
                <a:spcPts val="0"/>
              </a:spcAft>
            </a:pPr>
            <a:r>
              <a:rPr sz="1350" b="1" i="0">
                <a:solidFill>
                  <a:srgbClr val="FFFFFF"/>
                </a:solidFill>
                <a:latin typeface="Calibri"/>
              </a:rPr>
              <a:t>Pilot partners</a:t>
            </a:r>
          </a:p>
        </p:txBody>
      </p:sp>
      <p:sp>
        <p:nvSpPr>
          <p:cNvPr id="13" name="TextBox 12"/>
          <p:cNvSpPr txBox="1"/>
          <p:nvPr/>
        </p:nvSpPr>
        <p:spPr>
          <a:xfrm>
            <a:off x="822959" y="3227832"/>
            <a:ext cx="5212080" cy="548640"/>
          </a:xfrm>
          <a:prstGeom prst="rect">
            <a:avLst/>
          </a:prstGeom>
          <a:noFill/>
        </p:spPr>
        <p:txBody>
          <a:bodyPr wrap="square" lIns="0" rIns="0" tIns="0" bIns="0" anchor="t">
            <a:noAutofit/>
          </a:bodyPr>
          <a:lstStyle/>
          <a:p>
            <a:pPr algn="l">
              <a:lnSpc>
                <a:spcPct val="120000"/>
              </a:lnSpc>
              <a:spcAft>
                <a:spcPts val="0"/>
              </a:spcAft>
            </a:pPr>
            <a:r>
              <a:rPr sz="1050" b="0" i="0">
                <a:solidFill>
                  <a:srgbClr val="A9A9C7"/>
                </a:solidFill>
                <a:latin typeface="Calibri"/>
              </a:rPr>
              <a:t>Senior-care providers, clinics and insurers in Egypt for a 30–50 household pilot.</a:t>
            </a:r>
          </a:p>
        </p:txBody>
      </p:sp>
      <p:sp>
        <p:nvSpPr>
          <p:cNvPr id="14" name="Rounded Rectangle 13"/>
          <p:cNvSpPr/>
          <p:nvPr/>
        </p:nvSpPr>
        <p:spPr>
          <a:xfrm>
            <a:off x="548640" y="3767328"/>
            <a:ext cx="73152" cy="457200"/>
          </a:xfrm>
          <a:prstGeom prst="roundRect">
            <a:avLst>
              <a:gd name="adj" fmla="val 50000"/>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959" y="3703320"/>
            <a:ext cx="5212080" cy="320040"/>
          </a:xfrm>
          <a:prstGeom prst="rect">
            <a:avLst/>
          </a:prstGeom>
          <a:noFill/>
        </p:spPr>
        <p:txBody>
          <a:bodyPr wrap="square" lIns="0" rIns="0" tIns="0" bIns="0" anchor="t">
            <a:noAutofit/>
          </a:bodyPr>
          <a:lstStyle/>
          <a:p>
            <a:pPr algn="l">
              <a:lnSpc>
                <a:spcPct val="108000"/>
              </a:lnSpc>
              <a:spcAft>
                <a:spcPts val="0"/>
              </a:spcAft>
            </a:pPr>
            <a:r>
              <a:rPr sz="1350" b="1" i="0">
                <a:solidFill>
                  <a:srgbClr val="FFFFFF"/>
                </a:solidFill>
                <a:latin typeface="Calibri"/>
              </a:rPr>
              <a:t>Clinical validation support</a:t>
            </a:r>
          </a:p>
        </p:txBody>
      </p:sp>
      <p:sp>
        <p:nvSpPr>
          <p:cNvPr id="16" name="TextBox 15"/>
          <p:cNvSpPr txBox="1"/>
          <p:nvPr/>
        </p:nvSpPr>
        <p:spPr>
          <a:xfrm>
            <a:off x="822959" y="4005072"/>
            <a:ext cx="5212080" cy="548640"/>
          </a:xfrm>
          <a:prstGeom prst="rect">
            <a:avLst/>
          </a:prstGeom>
          <a:noFill/>
        </p:spPr>
        <p:txBody>
          <a:bodyPr wrap="square" lIns="0" rIns="0" tIns="0" bIns="0" anchor="t">
            <a:noAutofit/>
          </a:bodyPr>
          <a:lstStyle/>
          <a:p>
            <a:pPr algn="l">
              <a:lnSpc>
                <a:spcPct val="120000"/>
              </a:lnSpc>
              <a:spcAft>
                <a:spcPts val="0"/>
              </a:spcAft>
            </a:pPr>
            <a:r>
              <a:rPr sz="1050" b="0" i="0">
                <a:solidFill>
                  <a:srgbClr val="A9A9C7"/>
                </a:solidFill>
                <a:latin typeface="Calibri"/>
              </a:rPr>
              <a:t>A geriatrics advisor and access to reference devices for accuracy studies.</a:t>
            </a:r>
          </a:p>
        </p:txBody>
      </p:sp>
      <p:sp>
        <p:nvSpPr>
          <p:cNvPr id="17" name="Rounded Rectangle 16"/>
          <p:cNvSpPr/>
          <p:nvPr/>
        </p:nvSpPr>
        <p:spPr>
          <a:xfrm>
            <a:off x="548640" y="4544568"/>
            <a:ext cx="73152" cy="457200"/>
          </a:xfrm>
          <a:prstGeom prst="roundRect">
            <a:avLst>
              <a:gd name="adj" fmla="val 50000"/>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2959" y="4480559"/>
            <a:ext cx="5212080" cy="320040"/>
          </a:xfrm>
          <a:prstGeom prst="rect">
            <a:avLst/>
          </a:prstGeom>
          <a:noFill/>
        </p:spPr>
        <p:txBody>
          <a:bodyPr wrap="square" lIns="0" rIns="0" tIns="0" bIns="0" anchor="t">
            <a:noAutofit/>
          </a:bodyPr>
          <a:lstStyle/>
          <a:p>
            <a:pPr algn="l">
              <a:lnSpc>
                <a:spcPct val="108000"/>
              </a:lnSpc>
              <a:spcAft>
                <a:spcPts val="0"/>
              </a:spcAft>
            </a:pPr>
            <a:r>
              <a:rPr sz="1350" b="1" i="0">
                <a:solidFill>
                  <a:srgbClr val="FFFFFF"/>
                </a:solidFill>
                <a:latin typeface="Calibri"/>
              </a:rPr>
              <a:t>Pre-seed funding</a:t>
            </a:r>
          </a:p>
        </p:txBody>
      </p:sp>
      <p:sp>
        <p:nvSpPr>
          <p:cNvPr id="19" name="TextBox 18"/>
          <p:cNvSpPr txBox="1"/>
          <p:nvPr/>
        </p:nvSpPr>
        <p:spPr>
          <a:xfrm>
            <a:off x="822959" y="4782312"/>
            <a:ext cx="5212080" cy="548640"/>
          </a:xfrm>
          <a:prstGeom prst="rect">
            <a:avLst/>
          </a:prstGeom>
          <a:noFill/>
        </p:spPr>
        <p:txBody>
          <a:bodyPr wrap="square" lIns="0" rIns="0" tIns="0" bIns="0" anchor="t">
            <a:noAutofit/>
          </a:bodyPr>
          <a:lstStyle/>
          <a:p>
            <a:pPr algn="l">
              <a:lnSpc>
                <a:spcPct val="120000"/>
              </a:lnSpc>
              <a:spcAft>
                <a:spcPts val="0"/>
              </a:spcAft>
            </a:pPr>
            <a:r>
              <a:rPr sz="1050" b="0" i="0">
                <a:solidFill>
                  <a:srgbClr val="A9A9C7"/>
                </a:solidFill>
                <a:latin typeface="Calibri"/>
              </a:rPr>
              <a:t>[US$ ___ k] for 18 months — bench validation, pilot, custom PCB and the mobile app.</a:t>
            </a:r>
          </a:p>
        </p:txBody>
      </p:sp>
      <p:sp>
        <p:nvSpPr>
          <p:cNvPr id="20" name="TextBox 19"/>
          <p:cNvSpPr txBox="1"/>
          <p:nvPr/>
        </p:nvSpPr>
        <p:spPr>
          <a:xfrm>
            <a:off x="548640" y="5230368"/>
            <a:ext cx="3657600" cy="228600"/>
          </a:xfrm>
          <a:prstGeom prst="rect">
            <a:avLst/>
          </a:prstGeom>
          <a:noFill/>
        </p:spPr>
        <p:txBody>
          <a:bodyPr wrap="square" lIns="0" rIns="0" tIns="0" bIns="0" anchor="ctr">
            <a:noAutofit/>
          </a:bodyPr>
          <a:lstStyle/>
          <a:p>
            <a:pPr algn="l">
              <a:lnSpc>
                <a:spcPct val="108000"/>
              </a:lnSpc>
              <a:spcAft>
                <a:spcPts val="0"/>
              </a:spcAft>
            </a:pPr>
            <a:r>
              <a:rPr sz="850" b="1" i="0" spc="160">
                <a:solidFill>
                  <a:srgbClr val="A9A9C7"/>
                </a:solidFill>
                <a:latin typeface="Calibri"/>
              </a:rPr>
              <a:t>INDICATIVE USE OF FUNDS</a:t>
            </a:r>
          </a:p>
        </p:txBody>
      </p:sp>
      <p:sp>
        <p:nvSpPr>
          <p:cNvPr id="21" name="Rounded Rectangle 20"/>
          <p:cNvSpPr/>
          <p:nvPr/>
        </p:nvSpPr>
        <p:spPr>
          <a:xfrm>
            <a:off x="548640" y="5504688"/>
            <a:ext cx="2121408" cy="146304"/>
          </a:xfrm>
          <a:prstGeom prst="roundRect">
            <a:avLst>
              <a:gd name="adj" fmla="val 31250"/>
            </a:avLst>
          </a:prstGeom>
          <a:solidFill>
            <a:srgbClr val="6C3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8640" y="5687568"/>
            <a:ext cx="2157984" cy="274320"/>
          </a:xfrm>
          <a:prstGeom prst="rect">
            <a:avLst/>
          </a:prstGeom>
          <a:noFill/>
        </p:spPr>
        <p:txBody>
          <a:bodyPr wrap="square" lIns="0" rIns="0" tIns="0" bIns="0" anchor="t">
            <a:noAutofit/>
          </a:bodyPr>
          <a:lstStyle/>
          <a:p>
            <a:pPr algn="l">
              <a:lnSpc>
                <a:spcPct val="108000"/>
              </a:lnSpc>
              <a:spcAft>
                <a:spcPts val="0"/>
              </a:spcAft>
            </a:pPr>
            <a:r>
              <a:rPr sz="850" b="0" i="0">
                <a:solidFill>
                  <a:srgbClr val="A9A9C7"/>
                </a:solidFill>
                <a:latin typeface="Calibri"/>
              </a:rPr>
              <a:t>40%  Hardware &amp; compliance</a:t>
            </a:r>
          </a:p>
        </p:txBody>
      </p:sp>
      <p:sp>
        <p:nvSpPr>
          <p:cNvPr id="23" name="Rounded Rectangle 22"/>
          <p:cNvSpPr/>
          <p:nvPr/>
        </p:nvSpPr>
        <p:spPr>
          <a:xfrm>
            <a:off x="2706624" y="5504688"/>
            <a:ext cx="1851660" cy="146304"/>
          </a:xfrm>
          <a:prstGeom prst="roundRect">
            <a:avLst>
              <a:gd name="adj" fmla="val 3125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706624" y="5687568"/>
            <a:ext cx="1888236" cy="274320"/>
          </a:xfrm>
          <a:prstGeom prst="rect">
            <a:avLst/>
          </a:prstGeom>
          <a:noFill/>
        </p:spPr>
        <p:txBody>
          <a:bodyPr wrap="square" lIns="0" rIns="0" tIns="0" bIns="0" anchor="t">
            <a:noAutofit/>
          </a:bodyPr>
          <a:lstStyle/>
          <a:p>
            <a:pPr algn="l">
              <a:lnSpc>
                <a:spcPct val="108000"/>
              </a:lnSpc>
              <a:spcAft>
                <a:spcPts val="0"/>
              </a:spcAft>
            </a:pPr>
            <a:r>
              <a:rPr sz="850" b="0" i="0">
                <a:solidFill>
                  <a:srgbClr val="A9A9C7"/>
                </a:solidFill>
                <a:latin typeface="Calibri"/>
              </a:rPr>
              <a:t>35%  Pilot &amp; validation</a:t>
            </a:r>
          </a:p>
        </p:txBody>
      </p:sp>
      <p:sp>
        <p:nvSpPr>
          <p:cNvPr id="25" name="Rounded Rectangle 24"/>
          <p:cNvSpPr/>
          <p:nvPr/>
        </p:nvSpPr>
        <p:spPr>
          <a:xfrm>
            <a:off x="4594860" y="5504688"/>
            <a:ext cx="1312164" cy="146304"/>
          </a:xfrm>
          <a:prstGeom prst="roundRect">
            <a:avLst>
              <a:gd name="adj" fmla="val 31250"/>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594860" y="5687568"/>
            <a:ext cx="1348740" cy="274320"/>
          </a:xfrm>
          <a:prstGeom prst="rect">
            <a:avLst/>
          </a:prstGeom>
          <a:noFill/>
        </p:spPr>
        <p:txBody>
          <a:bodyPr wrap="square" lIns="0" rIns="0" tIns="0" bIns="0" anchor="t">
            <a:noAutofit/>
          </a:bodyPr>
          <a:lstStyle/>
          <a:p>
            <a:pPr algn="l">
              <a:lnSpc>
                <a:spcPct val="108000"/>
              </a:lnSpc>
              <a:spcAft>
                <a:spcPts val="0"/>
              </a:spcAft>
            </a:pPr>
            <a:r>
              <a:rPr sz="850" b="0" i="0">
                <a:solidFill>
                  <a:srgbClr val="A9A9C7"/>
                </a:solidFill>
                <a:latin typeface="Calibri"/>
              </a:rPr>
              <a:t>25%  Team &amp; app</a:t>
            </a:r>
          </a:p>
        </p:txBody>
      </p:sp>
      <p:sp>
        <p:nvSpPr>
          <p:cNvPr id="27" name="TextBox 26"/>
          <p:cNvSpPr txBox="1"/>
          <p:nvPr/>
        </p:nvSpPr>
        <p:spPr>
          <a:xfrm>
            <a:off x="548640" y="6035040"/>
            <a:ext cx="5669280" cy="274320"/>
          </a:xfrm>
          <a:prstGeom prst="rect">
            <a:avLst/>
          </a:prstGeom>
          <a:noFill/>
        </p:spPr>
        <p:txBody>
          <a:bodyPr wrap="square" lIns="0" rIns="0" tIns="0" bIns="0" anchor="t">
            <a:noAutofit/>
          </a:bodyPr>
          <a:lstStyle/>
          <a:p>
            <a:pPr algn="l">
              <a:lnSpc>
                <a:spcPct val="108000"/>
              </a:lnSpc>
              <a:spcAft>
                <a:spcPts val="0"/>
              </a:spcAft>
            </a:pPr>
            <a:r>
              <a:rPr sz="850" b="0" i="0">
                <a:solidFill>
                  <a:srgbClr val="A9A9C7"/>
                </a:solidFill>
                <a:latin typeface="Calibri"/>
              </a:rPr>
              <a:t>[founder@neurolinkwear.example]  ·  [+20 1xx xxx xxxx]  ·  github.com/DiaaSalah57/Neuro-Link-Wear_SmartBand</a:t>
            </a:r>
          </a:p>
        </p:txBody>
      </p:sp>
      <p:sp>
        <p:nvSpPr>
          <p:cNvPr id="28" name="TextBox 27"/>
          <p:cNvSpPr txBox="1"/>
          <p:nvPr/>
        </p:nvSpPr>
        <p:spPr>
          <a:xfrm>
            <a:off x="548640" y="6419088"/>
            <a:ext cx="7315200" cy="228600"/>
          </a:xfrm>
          <a:prstGeom prst="rect">
            <a:avLst/>
          </a:prstGeom>
          <a:noFill/>
        </p:spPr>
        <p:txBody>
          <a:bodyPr wrap="square" lIns="0" rIns="0" tIns="0" bIns="0" anchor="ctr">
            <a:noAutofit/>
          </a:bodyPr>
          <a:lstStyle/>
          <a:p>
            <a:pPr algn="l">
              <a:lnSpc>
                <a:spcPct val="108000"/>
              </a:lnSpc>
              <a:spcAft>
                <a:spcPts val="0"/>
              </a:spcAft>
            </a:pPr>
            <a:r>
              <a:rPr sz="800" b="1" i="0" spc="140">
                <a:solidFill>
                  <a:srgbClr val="A9A9C7"/>
                </a:solidFill>
                <a:latin typeface="Calibri"/>
              </a:rPr>
              <a:t>NEXT STEP</a:t>
            </a:r>
            <a:r>
              <a:rPr sz="800" b="0" i="0" spc="140">
                <a:solidFill>
                  <a:srgbClr val="A9A9C7"/>
                </a:solidFill>
                <a:latin typeface="Calibri"/>
              </a:rPr>
              <a:t>   |   PILOT, VALIDATION, FUNDING</a:t>
            </a:r>
          </a:p>
        </p:txBody>
      </p:sp>
      <p:sp>
        <p:nvSpPr>
          <p:cNvPr id="29" name="TextBox 28"/>
          <p:cNvSpPr txBox="1"/>
          <p:nvPr/>
        </p:nvSpPr>
        <p:spPr>
          <a:xfrm>
            <a:off x="10911535" y="457200"/>
            <a:ext cx="731520" cy="274320"/>
          </a:xfrm>
          <a:prstGeom prst="rect">
            <a:avLst/>
          </a:prstGeom>
          <a:noFill/>
        </p:spPr>
        <p:txBody>
          <a:bodyPr wrap="square" lIns="0" rIns="0" tIns="0" bIns="0" anchor="ctr">
            <a:noAutofit/>
          </a:bodyPr>
          <a:lstStyle/>
          <a:p>
            <a:pPr algn="r">
              <a:lnSpc>
                <a:spcPct val="108000"/>
              </a:lnSpc>
              <a:spcAft>
                <a:spcPts val="0"/>
              </a:spcAft>
            </a:pPr>
            <a:r>
              <a:rPr sz="1100" b="1" i="0">
                <a:solidFill>
                  <a:srgbClr val="22D3EE"/>
                </a:solidFill>
                <a:latin typeface="Calibri"/>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